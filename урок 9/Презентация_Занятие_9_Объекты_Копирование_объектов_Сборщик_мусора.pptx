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6">
  <p:sldMasterIdLst>
    <p:sldMasterId id="2147483727" r:id="rId1"/>
  </p:sldMasterIdLst>
  <p:notesMasterIdLst>
    <p:notesMasterId r:id="rId40"/>
  </p:notesMasterIdLst>
  <p:sldIdLst>
    <p:sldId id="388" r:id="rId2"/>
    <p:sldId id="367" r:id="rId3"/>
    <p:sldId id="306" r:id="rId4"/>
    <p:sldId id="431" r:id="rId5"/>
    <p:sldId id="497" r:id="rId6"/>
    <p:sldId id="498" r:id="rId7"/>
    <p:sldId id="499" r:id="rId8"/>
    <p:sldId id="502" r:id="rId9"/>
    <p:sldId id="501" r:id="rId10"/>
    <p:sldId id="500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3" r:id="rId21"/>
    <p:sldId id="514" r:id="rId22"/>
    <p:sldId id="515" r:id="rId23"/>
    <p:sldId id="516" r:id="rId24"/>
    <p:sldId id="517" r:id="rId25"/>
    <p:sldId id="518" r:id="rId26"/>
    <p:sldId id="519" r:id="rId27"/>
    <p:sldId id="520" r:id="rId28"/>
    <p:sldId id="521" r:id="rId29"/>
    <p:sldId id="522" r:id="rId30"/>
    <p:sldId id="524" r:id="rId31"/>
    <p:sldId id="525" r:id="rId32"/>
    <p:sldId id="526" r:id="rId33"/>
    <p:sldId id="527" r:id="rId34"/>
    <p:sldId id="528" r:id="rId35"/>
    <p:sldId id="530" r:id="rId36"/>
    <p:sldId id="531" r:id="rId37"/>
    <p:sldId id="529" r:id="rId38"/>
    <p:sldId id="532" r:id="rId3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khail Matveichuk" initials="MM" lastIdx="1" clrIdx="0">
    <p:extLst>
      <p:ext uri="{19B8F6BF-5375-455C-9EA6-DF929625EA0E}">
        <p15:presenceInfo xmlns:p15="http://schemas.microsoft.com/office/powerpoint/2012/main" userId="a99a9a51dadd0b2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7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269" autoAdjust="0"/>
  </p:normalViewPr>
  <p:slideViewPr>
    <p:cSldViewPr>
      <p:cViewPr>
        <p:scale>
          <a:sx n="150" d="100"/>
          <a:sy n="150" d="100"/>
        </p:scale>
        <p:origin x="678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9DF2A5-73EA-4FCB-B5AE-B8580AC4EEA4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5874F-DCBC-4EDB-9D62-895E1B6670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006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926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616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1126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619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506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763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5874F-DCBC-4EDB-9D62-895E1B6670F6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490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11/1/2024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23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23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83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10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31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515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392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2208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802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1012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4240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4295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889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4570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51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01175-608E-4CF0-AFCE-88287FB87CEA}" type="datetimeFigureOut">
              <a:rPr lang="ru-RU" smtClean="0"/>
              <a:t>01.11.2024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978F1F4F-1E4F-42ED-93FE-07B9E91825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9971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javascript.ru/garbage-collectio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JavaScript/Reference/Global_Objects/Object/hasOwnPropert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63588" y="2247714"/>
            <a:ext cx="7092788" cy="648072"/>
          </a:xfrm>
        </p:spPr>
        <p:txBody>
          <a:bodyPr anchor="t"/>
          <a:lstStyle/>
          <a:p>
            <a:pPr algn="ctr"/>
            <a:r>
              <a:rPr lang="ru-RU" sz="2800" dirty="0">
                <a:latin typeface="+mn-lt"/>
              </a:rPr>
              <a:t>Копирование объектов. Сборщик мусора.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517AB04-330B-455B-B5F8-13F8090D8F72}"/>
              </a:ext>
            </a:extLst>
          </p:cNvPr>
          <p:cNvSpPr txBox="1">
            <a:spLocks/>
          </p:cNvSpPr>
          <p:nvPr/>
        </p:nvSpPr>
        <p:spPr>
          <a:xfrm>
            <a:off x="323528" y="3939902"/>
            <a:ext cx="1835696" cy="7920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342900" rtl="0" eaLnBrk="1" latinLnBrk="0" hangingPunct="1">
              <a:spcBef>
                <a:spcPct val="0"/>
              </a:spcBef>
              <a:buNone/>
              <a:defRPr sz="405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ru-RU" sz="1400" dirty="0">
                <a:solidFill>
                  <a:schemeClr val="tx1"/>
                </a:solidFill>
              </a:rPr>
              <a:t>Матвейчук Михаил</a:t>
            </a:r>
            <a:br>
              <a:rPr lang="ru-RU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Frontend Team Lead </a:t>
            </a:r>
            <a:br>
              <a:rPr lang="en-US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Codes Commanders </a:t>
            </a:r>
            <a:endParaRPr lang="ru-RU" sz="1400" dirty="0">
              <a:solidFill>
                <a:schemeClr val="tx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1468D0-A03D-473D-82E5-22A9FF92E76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674" t="26096" r="6477" b="16733"/>
          <a:stretch/>
        </p:blipFill>
        <p:spPr>
          <a:xfrm>
            <a:off x="6588224" y="267494"/>
            <a:ext cx="2249811" cy="82359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effectLst>
            <a:outerShdw dist="50800" sx="1000" sy="1000" algn="ctr" rotWithShape="0">
              <a:srgbClr val="000000"/>
            </a:outerShdw>
            <a:reflection endPos="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90953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7" y="267494"/>
            <a:ext cx="1553966" cy="50405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Объекты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92D050"/>
                </a:solidFill>
              </a:rPr>
              <a:t>Что изучили ранее</a:t>
            </a:r>
            <a:r>
              <a:rPr lang="en-US" altLang="ru-RU" sz="1600" dirty="0">
                <a:solidFill>
                  <a:srgbClr val="92D050"/>
                </a:solidFill>
              </a:rPr>
              <a:t>?</a:t>
            </a:r>
            <a:endParaRPr lang="ru-RU" altLang="ru-RU" sz="1600" dirty="0">
              <a:solidFill>
                <a:srgbClr val="92D050"/>
              </a:solidFill>
            </a:endParaRP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Что такое тип данных объект?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Изменение объектов, объявленных как ключевое слово </a:t>
            </a:r>
            <a:r>
              <a:rPr lang="en-US" altLang="ru-RU" sz="1600" dirty="0">
                <a:solidFill>
                  <a:schemeClr val="tx1"/>
                </a:solidFill>
              </a:rPr>
              <a:t>const.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Действия со свойствами объекта (чтение, изменение, добавление, удаление).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Каким образом можно обратиться к свойству, имя которого является результатом выражения?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Сокращенная форма записи свойств объекта.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Ограничения на имена свойств.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Оператор </a:t>
            </a:r>
            <a:r>
              <a:rPr lang="en-US" altLang="ru-RU" sz="1600" dirty="0">
                <a:solidFill>
                  <a:schemeClr val="tx1"/>
                </a:solidFill>
              </a:rPr>
              <a:t>in </a:t>
            </a:r>
            <a:r>
              <a:rPr lang="ru-RU" altLang="ru-RU" sz="1600" dirty="0">
                <a:solidFill>
                  <a:schemeClr val="tx1"/>
                </a:solidFill>
              </a:rPr>
              <a:t>для чего он нужен?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AutoNum type="arabicPeriod"/>
            </a:pPr>
            <a:r>
              <a:rPr lang="ru-RU" altLang="ru-RU" sz="1600" dirty="0">
                <a:solidFill>
                  <a:schemeClr val="tx1"/>
                </a:solidFill>
              </a:rPr>
              <a:t>Как упорядочиваются имена свойств?</a:t>
            </a:r>
          </a:p>
        </p:txBody>
      </p:sp>
    </p:spTree>
    <p:extLst>
      <p:ext uri="{BB962C8B-B14F-4D97-AF65-F5344CB8AC3E}">
        <p14:creationId xmlns:p14="http://schemas.microsoft.com/office/powerpoint/2010/main" val="814192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CBA4E2-D840-44AD-A8C5-B07E96BD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584" y="1989257"/>
            <a:ext cx="7560840" cy="798517"/>
          </a:xfrm>
        </p:spPr>
        <p:txBody>
          <a:bodyPr>
            <a:noAutofit/>
          </a:bodyPr>
          <a:lstStyle/>
          <a:p>
            <a:r>
              <a:rPr lang="ru-RU" sz="3600" dirty="0"/>
              <a:t>Домашнее задание </a:t>
            </a:r>
            <a:r>
              <a:rPr lang="ru-RU" sz="3600" dirty="0" err="1"/>
              <a:t>лайфкодинг</a:t>
            </a:r>
            <a:r>
              <a:rPr lang="ru-RU" sz="3600" dirty="0"/>
              <a:t> </a:t>
            </a:r>
            <a:r>
              <a:rPr lang="ru-RU" sz="3600" dirty="0">
                <a:sym typeface="Wingdings" panose="05000000000000000000" pitchFamily="2" charset="2"/>
              </a:rPr>
              <a:t>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988592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kern="100" dirty="0">
                <a:solidFill>
                  <a:srgbClr val="FFFF00"/>
                </a:solidFill>
              </a:rPr>
              <a:t>Заходим в папку со своим локальным репозиторием и создаем новую ветку!!!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kern="100" dirty="0">
                <a:solidFill>
                  <a:srgbClr val="FFFF00"/>
                </a:solidFill>
              </a:rPr>
              <a:t>После решения задачек отправить код на удаленный репозиторий.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kern="100" dirty="0">
                <a:solidFill>
                  <a:schemeClr val="tx1"/>
                </a:solidFill>
              </a:rPr>
              <a:t>1. </a:t>
            </a:r>
            <a:r>
              <a:rPr lang="ru-RU" altLang="ru-RU" sz="1400" dirty="0">
                <a:solidFill>
                  <a:schemeClr val="tx1"/>
                </a:solidFill>
              </a:rPr>
              <a:t>Напишите код, выполнив задание из каждого пункта отдельной строкой: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Создайте пустой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Добавьте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со значением </a:t>
            </a:r>
            <a:r>
              <a:rPr lang="ru-RU" altLang="ru-RU" sz="1400" dirty="0" err="1">
                <a:solidFill>
                  <a:schemeClr val="tx1"/>
                </a:solidFill>
              </a:rPr>
              <a:t>John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Добавьте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surname</a:t>
            </a:r>
            <a:r>
              <a:rPr lang="ru-RU" altLang="ru-RU" sz="1400" dirty="0">
                <a:solidFill>
                  <a:schemeClr val="tx1"/>
                </a:solidFill>
              </a:rPr>
              <a:t> со значением </a:t>
            </a:r>
            <a:r>
              <a:rPr lang="ru-RU" altLang="ru-RU" sz="1400" dirty="0" err="1">
                <a:solidFill>
                  <a:schemeClr val="tx1"/>
                </a:solidFill>
              </a:rPr>
              <a:t>Smith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Измените значение свойства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на </a:t>
            </a:r>
            <a:r>
              <a:rPr lang="ru-RU" altLang="ru-RU" sz="1400" dirty="0" err="1">
                <a:solidFill>
                  <a:schemeClr val="tx1"/>
                </a:solidFill>
              </a:rPr>
              <a:t>Pete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altLang="ru-RU" sz="1400" dirty="0">
                <a:solidFill>
                  <a:schemeClr val="tx1"/>
                </a:solidFill>
              </a:rPr>
              <a:t>Удалите свойство </a:t>
            </a:r>
            <a:r>
              <a:rPr lang="ru-RU" altLang="ru-RU" sz="1400" dirty="0" err="1">
                <a:solidFill>
                  <a:schemeClr val="tx1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 из объекта.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Напишите функцию </a:t>
            </a:r>
            <a:r>
              <a:rPr lang="en-US" altLang="ru-RU" sz="1400" dirty="0" err="1">
                <a:solidFill>
                  <a:schemeClr val="tx1"/>
                </a:solidFill>
              </a:rPr>
              <a:t>isEmpty</a:t>
            </a:r>
            <a:r>
              <a:rPr lang="en-US" altLang="ru-RU" sz="1400" dirty="0">
                <a:solidFill>
                  <a:schemeClr val="tx1"/>
                </a:solidFill>
              </a:rPr>
              <a:t>(object), </a:t>
            </a:r>
            <a:r>
              <a:rPr lang="ru-RU" altLang="ru-RU" sz="1400" dirty="0">
                <a:solidFill>
                  <a:schemeClr val="tx1"/>
                </a:solidFill>
              </a:rPr>
              <a:t>которая возвращает </a:t>
            </a:r>
            <a:r>
              <a:rPr lang="en-US" altLang="ru-RU" sz="1400" dirty="0">
                <a:solidFill>
                  <a:schemeClr val="tx1"/>
                </a:solidFill>
              </a:rPr>
              <a:t>true, </a:t>
            </a:r>
            <a:r>
              <a:rPr lang="ru-RU" altLang="ru-RU" sz="1400" dirty="0">
                <a:solidFill>
                  <a:schemeClr val="tx1"/>
                </a:solidFill>
              </a:rPr>
              <a:t>если у объекта нет свойств, иначе </a:t>
            </a:r>
            <a:r>
              <a:rPr lang="en-US" altLang="ru-RU" sz="1400" dirty="0">
                <a:solidFill>
                  <a:schemeClr val="tx1"/>
                </a:solidFill>
              </a:rPr>
              <a:t>false.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3. </a:t>
            </a:r>
            <a:r>
              <a:rPr lang="ru-RU" altLang="ru-RU" sz="1400" dirty="0">
                <a:solidFill>
                  <a:schemeClr val="tx1"/>
                </a:solidFill>
              </a:rPr>
              <a:t>Есть объект, в котором хранятся зарплаты футбольной команды: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salaries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{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100,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Ann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160,  </a:t>
            </a:r>
            <a:r>
              <a:rPr lang="ru-RU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Pete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130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Напишите код для суммирования всех зарплат и сохраните результат в переменной </a:t>
            </a:r>
            <a:r>
              <a:rPr lang="ru-RU" altLang="ru-RU" sz="1400" dirty="0" err="1">
                <a:solidFill>
                  <a:schemeClr val="tx1"/>
                </a:solidFill>
              </a:rPr>
              <a:t>sum</a:t>
            </a:r>
            <a:r>
              <a:rPr lang="ru-RU" altLang="ru-RU" sz="1400" dirty="0">
                <a:solidFill>
                  <a:schemeClr val="tx1"/>
                </a:solidFill>
              </a:rPr>
              <a:t>. </a:t>
            </a:r>
            <a:r>
              <a:rPr lang="ru-RU" altLang="ru-RU" sz="1400" dirty="0">
                <a:solidFill>
                  <a:srgbClr val="FFFF00"/>
                </a:solidFill>
              </a:rPr>
              <a:t>Должно получиться 390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Если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salaries</a:t>
            </a:r>
            <a:r>
              <a:rPr lang="ru-RU" altLang="ru-RU" sz="1400" dirty="0">
                <a:solidFill>
                  <a:schemeClr val="tx1"/>
                </a:solidFill>
              </a:rPr>
              <a:t> пуст, то результат должен быть 0.</a:t>
            </a:r>
            <a:endParaRPr lang="en-US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29433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kern="100" dirty="0">
                <a:solidFill>
                  <a:schemeClr val="tx1"/>
                </a:solidFill>
              </a:rPr>
              <a:t>4. Создайте функцию </a:t>
            </a:r>
            <a:r>
              <a:rPr lang="en-US" sz="1400" kern="100" dirty="0" err="1">
                <a:solidFill>
                  <a:schemeClr val="tx1"/>
                </a:solidFill>
              </a:rPr>
              <a:t>multiplyNumeric</a:t>
            </a:r>
            <a:r>
              <a:rPr lang="en-US" sz="1400" kern="100" dirty="0">
                <a:solidFill>
                  <a:schemeClr val="tx1"/>
                </a:solidFill>
              </a:rPr>
              <a:t>(obj), </a:t>
            </a:r>
            <a:r>
              <a:rPr lang="ru-RU" sz="1400" kern="100" dirty="0">
                <a:solidFill>
                  <a:schemeClr val="tx1"/>
                </a:solidFill>
              </a:rPr>
              <a:t>которая умножает все числовые свойства объекта </a:t>
            </a:r>
            <a:r>
              <a:rPr lang="en-US" sz="1400" kern="100" dirty="0">
                <a:solidFill>
                  <a:schemeClr val="tx1"/>
                </a:solidFill>
              </a:rPr>
              <a:t>obj </a:t>
            </a:r>
            <a:r>
              <a:rPr lang="ru-RU" sz="1400" kern="100" dirty="0">
                <a:solidFill>
                  <a:schemeClr val="tx1"/>
                </a:solidFill>
              </a:rPr>
              <a:t>на 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Например: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// до вызова функции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 menu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width: 200,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height: 300,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title: </a:t>
            </a: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"My menu"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 err="1">
                <a:solidFill>
                  <a:srgbClr val="00B0F0"/>
                </a:solidFill>
                <a:latin typeface="Consolas" panose="020B0609020204030204" pitchFamily="49" charset="0"/>
              </a:rPr>
              <a:t>multiplyNumeric</a:t>
            </a:r>
            <a:r>
              <a:rPr lang="en-US" sz="1400" kern="100" dirty="0">
                <a:solidFill>
                  <a:schemeClr val="tx1"/>
                </a:solidFill>
                <a:latin typeface="Consolas" panose="020B0609020204030204" pitchFamily="49" charset="0"/>
              </a:rPr>
              <a:t>(menu);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после вызова функции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menu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width: 400,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height: 600,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  title: "My menu"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100" dirty="0">
                <a:solidFill>
                  <a:srgbClr val="FFFF00"/>
                </a:solidFill>
                <a:latin typeface="Consolas" panose="020B0609020204030204" pitchFamily="49" charset="0"/>
              </a:rPr>
              <a:t>};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ru-RU" sz="1600" dirty="0">
              <a:solidFill>
                <a:schemeClr val="tx1"/>
              </a:solidFill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096667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15616" y="2139702"/>
            <a:ext cx="6768752" cy="648072"/>
          </a:xfrm>
        </p:spPr>
        <p:txBody>
          <a:bodyPr anchor="t"/>
          <a:lstStyle/>
          <a:p>
            <a:pPr algn="ctr"/>
            <a:r>
              <a:rPr lang="ru-RU" sz="3200" b="1" dirty="0"/>
              <a:t>Копирование объектов</a:t>
            </a:r>
            <a:br>
              <a:rPr lang="ru-RU" b="1" dirty="0"/>
            </a:b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989395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Одно из фундаментальных отличий объектов от примитивов заключается в том, что объекты хранятся и копируются </a:t>
            </a:r>
            <a:r>
              <a:rPr lang="ru-RU" altLang="ru-RU" sz="1500" dirty="0">
                <a:solidFill>
                  <a:srgbClr val="FFFF00"/>
                </a:solidFill>
              </a:rPr>
              <a:t>«по ссылке», </a:t>
            </a:r>
            <a:r>
              <a:rPr lang="ru-RU" altLang="ru-RU" sz="1500" dirty="0">
                <a:solidFill>
                  <a:schemeClr val="tx1"/>
                </a:solidFill>
              </a:rPr>
              <a:t>тогда как примитивные значения: строки, числа, логические значения и т.д. – всегда копируются </a:t>
            </a:r>
            <a:r>
              <a:rPr lang="ru-RU" altLang="ru-RU" sz="1500" dirty="0">
                <a:solidFill>
                  <a:srgbClr val="FFFF00"/>
                </a:solidFill>
              </a:rPr>
              <a:t>«как целое значение»</a:t>
            </a:r>
            <a:r>
              <a:rPr lang="ru-RU" altLang="ru-RU" sz="1500" dirty="0">
                <a:solidFill>
                  <a:schemeClr val="tx1"/>
                </a:solidFill>
              </a:rPr>
              <a:t>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da-DK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message = </a:t>
            </a:r>
            <a:r>
              <a:rPr lang="da-DK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"Привет!"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da-DK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da-DK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phrase = message;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В результате мы имеем две независимые переменные, каждая из которых хранит строку 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"Привет!"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.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Объекты ведут себя иначе.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Переменная, которой присвоен объект, хранит не сам объект, а его «адрес в памяти» – другими словами, «ссылку» на него.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Объект хранится где-то в памяти (справа от изображения), в то время как переменная </a:t>
            </a:r>
            <a:r>
              <a:rPr lang="ru-RU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600" dirty="0">
                <a:solidFill>
                  <a:srgbClr val="E2E3E7"/>
                </a:solidFill>
                <a:latin typeface="BlinkMacSystemFont"/>
              </a:rPr>
              <a:t> (слева) имеет лишь «ссылку» на него.</a:t>
            </a:r>
            <a:r>
              <a:rPr lang="ru-RU" altLang="ru-RU" sz="800" dirty="0">
                <a:solidFill>
                  <a:schemeClr val="tx1"/>
                </a:solidFill>
              </a:rPr>
              <a:t> </a:t>
            </a:r>
            <a:endParaRPr lang="ru-RU" altLang="ru-RU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32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выполняется действия над объектом, к примеру, берём свойство user.name, движок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просматривает то, что находится по этому адресу, и выполняет операцию с самим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объектом.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ВАЖНО!!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</a:rPr>
              <a:t>При копировании переменной объекта копируется ссылка, но сам объект не дублируется.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копируется ссылка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есть две переменные, каждая из которых содержит ссылку на один и тот же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Можно использовать любую переменную для доступа к объекту и изменения его содержимого: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'John'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admin.name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'Pete'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изменено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admin"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alert(user.name);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'Pete',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изменения видны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user"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195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Копирование объектов и ссылки</a:t>
            </a:r>
            <a:br>
              <a:rPr lang="ru-RU" b="1" dirty="0"/>
            </a:b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Когда выполняется действия над объектом, к примеру, берём свойство user.name, движок </a:t>
            </a:r>
            <a:r>
              <a:rPr lang="ru-RU" altLang="ru-RU" sz="1400" dirty="0" err="1">
                <a:solidFill>
                  <a:schemeClr val="tx1"/>
                </a:solidFill>
              </a:rPr>
              <a:t>JavaScript</a:t>
            </a:r>
            <a:r>
              <a:rPr lang="ru-RU" altLang="ru-RU" sz="1400" dirty="0">
                <a:solidFill>
                  <a:schemeClr val="tx1"/>
                </a:solidFill>
              </a:rPr>
              <a:t> просматривает то, что находится по этому адресу, и выполняет операцию с самим</a:t>
            </a:r>
            <a:r>
              <a:rPr lang="ru-RU" altLang="ru-RU" sz="1400" dirty="0">
                <a:solidFill>
                  <a:schemeClr val="tx1"/>
                </a:solidFill>
                <a:latin typeface="BlinkMacSystemFont"/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объектом.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ВАЖНО!!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chemeClr val="tx1"/>
                </a:solidFill>
              </a:rPr>
              <a:t>При копировании переменной объекта копируется ссылка, но сам объект не дублируется.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копируется ссылка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есть две переменные, каждая из которых содержит ссылку на один и тот же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Можно использовать любую переменную для доступа к объекту и изменения его содержимого: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'John'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user;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admin.name =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'Pete'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изменено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admin"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alert(user.name);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'Pete',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изменения видны по ссылке из переменной "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user"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28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Сравнение по ссылке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sz="1600" dirty="0">
                <a:solidFill>
                  <a:schemeClr val="tx1"/>
                </a:solidFill>
              </a:rPr>
              <a:t>Два объекта равны только в том случае, если это один и тот же объект.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Например, здесь </a:t>
            </a:r>
            <a:r>
              <a:rPr lang="ru-RU" altLang="ru-RU" sz="1600" dirty="0">
                <a:solidFill>
                  <a:srgbClr val="FFFF00"/>
                </a:solidFill>
              </a:rPr>
              <a:t>a</a:t>
            </a:r>
            <a:r>
              <a:rPr lang="ru-RU" altLang="ru-RU" sz="1600" dirty="0">
                <a:solidFill>
                  <a:srgbClr val="E2E3E7"/>
                </a:solidFill>
              </a:rPr>
              <a:t> и </a:t>
            </a:r>
            <a:r>
              <a:rPr lang="ru-RU" altLang="ru-RU" sz="1600" dirty="0">
                <a:solidFill>
                  <a:srgbClr val="FFFF00"/>
                </a:solidFill>
              </a:rPr>
              <a:t>b</a:t>
            </a:r>
            <a:r>
              <a:rPr lang="ru-RU" altLang="ru-RU" sz="1600" dirty="0">
                <a:solidFill>
                  <a:srgbClr val="E2E3E7"/>
                </a:solidFill>
              </a:rPr>
              <a:t> ссылаются на один и тот же объект, поэтому они равны:</a:t>
            </a:r>
            <a:endParaRPr lang="en-US" altLang="ru-RU" sz="1600" dirty="0">
              <a:solidFill>
                <a:srgbClr val="E2E3E7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= {};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b = a;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копирование по ссылке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 b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, обе переменные ссылаются на один и тот же объект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=== b );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 err="1">
                <a:solidFill>
                  <a:srgbClr val="FFFF00"/>
                </a:solidFill>
                <a:latin typeface="Consolas" panose="020B0609020204030204" pitchFamily="49" charset="0"/>
              </a:rPr>
              <a:t>true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  <a:endParaRPr lang="en-US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И здесь два независимых объекта не равны, даже если они выглядят одинаково (оба пусты):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a = {};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b = {};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два независимых объекта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 a == b 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false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Для сравнений типа </a:t>
            </a:r>
            <a:r>
              <a:rPr lang="ru-RU" altLang="ru-RU" sz="1600" dirty="0">
                <a:solidFill>
                  <a:schemeClr val="tx1"/>
                </a:solidFill>
              </a:rPr>
              <a:t>obj1 &gt; obj2</a:t>
            </a:r>
            <a:r>
              <a:rPr lang="ru-RU" altLang="ru-RU" sz="1600" dirty="0">
                <a:solidFill>
                  <a:srgbClr val="E2E3E7"/>
                </a:solidFill>
              </a:rPr>
              <a:t> или для сравнения с примитивом </a:t>
            </a:r>
            <a:r>
              <a:rPr lang="ru-RU" altLang="ru-RU" sz="1600" dirty="0" err="1">
                <a:solidFill>
                  <a:schemeClr val="tx1"/>
                </a:solidFill>
              </a:rPr>
              <a:t>obj</a:t>
            </a:r>
            <a:r>
              <a:rPr lang="ru-RU" altLang="ru-RU" sz="1600" dirty="0">
                <a:solidFill>
                  <a:schemeClr val="tx1"/>
                </a:solidFill>
              </a:rPr>
              <a:t> == 5</a:t>
            </a:r>
            <a:r>
              <a:rPr lang="ru-RU" altLang="ru-RU" sz="1600" dirty="0">
                <a:solidFill>
                  <a:srgbClr val="E2E3E7"/>
                </a:solidFill>
              </a:rPr>
              <a:t> объекты преобразуются в примитивы.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54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Клонирование и объединение, </a:t>
            </a:r>
            <a:r>
              <a:rPr lang="ru-RU" altLang="ru-RU" sz="2800" b="1" dirty="0" err="1">
                <a:solidFill>
                  <a:srgbClr val="92D050"/>
                </a:solidFill>
              </a:rPr>
              <a:t>Object.assign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Копирование объектной переменной создаёт ещё одну ссылку на тот же объект. Но что, если нам нужно дублировать объект? Создать независимую копию, клон? Н</a:t>
            </a:r>
            <a:r>
              <a:rPr lang="ru-RU" sz="1500" dirty="0"/>
              <a:t>ужно создать новый объект и воспроизвести структуру существующего, перебрав его свойства и скопировав их на примитивном уровне.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5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clone = {};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новый пустой объект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давайте скопируем все свойства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user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 него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key </a:t>
            </a: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clone[key] = user[key];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теперь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clone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это полностью независимый объект с тем же содержимым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clone.name =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"Pete"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изменим в нём данные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user.name 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все ещё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в первоначальном объекте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98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Клонирование и объединение, </a:t>
            </a:r>
            <a:r>
              <a:rPr lang="ru-RU" altLang="ru-RU" sz="2800" b="1" dirty="0" err="1">
                <a:solidFill>
                  <a:srgbClr val="92D050"/>
                </a:solidFill>
              </a:rPr>
              <a:t>Object.assign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Также можно использовать для этого метод </a:t>
            </a:r>
            <a:r>
              <a:rPr lang="ru-RU" altLang="ru-RU" sz="1400" dirty="0" err="1">
                <a:solidFill>
                  <a:srgbClr val="FFFF00"/>
                </a:solidFill>
              </a:rPr>
              <a:t>Object.assign</a:t>
            </a:r>
            <a:r>
              <a:rPr lang="ru-RU" altLang="ru-RU" sz="14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Синтаксис: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</a:rPr>
              <a:t>Object.</a:t>
            </a:r>
            <a:r>
              <a:rPr lang="en-US" altLang="ru-RU" sz="1400" dirty="0" err="1">
                <a:solidFill>
                  <a:srgbClr val="00B0F0"/>
                </a:solidFill>
              </a:rPr>
              <a:t>assign</a:t>
            </a:r>
            <a:r>
              <a:rPr lang="en-US" altLang="ru-RU" sz="1400" dirty="0">
                <a:solidFill>
                  <a:schemeClr val="tx1"/>
                </a:solidFill>
              </a:rPr>
              <a:t>(</a:t>
            </a:r>
            <a:r>
              <a:rPr lang="en-US" altLang="ru-RU" sz="1400" dirty="0" err="1">
                <a:solidFill>
                  <a:srgbClr val="FFFF00"/>
                </a:solidFill>
              </a:rPr>
              <a:t>dest</a:t>
            </a:r>
            <a:r>
              <a:rPr lang="en-US" altLang="ru-RU" sz="1400" dirty="0">
                <a:solidFill>
                  <a:schemeClr val="tx1"/>
                </a:solidFill>
              </a:rPr>
              <a:t>, [</a:t>
            </a:r>
            <a:r>
              <a:rPr lang="en-US" altLang="ru-RU" sz="1400" dirty="0">
                <a:solidFill>
                  <a:srgbClr val="92D050"/>
                </a:solidFill>
              </a:rPr>
              <a:t>src1</a:t>
            </a:r>
            <a:r>
              <a:rPr lang="en-US" altLang="ru-RU" sz="1400" dirty="0">
                <a:solidFill>
                  <a:schemeClr val="tx1"/>
                </a:solidFill>
              </a:rPr>
              <a:t>, </a:t>
            </a:r>
            <a:r>
              <a:rPr lang="en-US" altLang="ru-RU" sz="1400" dirty="0">
                <a:solidFill>
                  <a:srgbClr val="92D050"/>
                </a:solidFill>
              </a:rPr>
              <a:t>src2</a:t>
            </a:r>
            <a:r>
              <a:rPr lang="en-US" altLang="ru-RU" sz="1400" dirty="0">
                <a:solidFill>
                  <a:schemeClr val="tx1"/>
                </a:solidFill>
              </a:rPr>
              <a:t>, </a:t>
            </a:r>
            <a:r>
              <a:rPr lang="en-US" altLang="ru-RU" sz="1400" dirty="0">
                <a:solidFill>
                  <a:srgbClr val="92D050"/>
                </a:solidFill>
              </a:rPr>
              <a:t>src3</a:t>
            </a:r>
            <a:r>
              <a:rPr lang="en-US" altLang="ru-RU" sz="1400" dirty="0">
                <a:solidFill>
                  <a:schemeClr val="tx1"/>
                </a:solidFill>
              </a:rPr>
              <a:t>...])</a:t>
            </a:r>
            <a:endParaRPr lang="ru-RU" altLang="ru-RU" sz="1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E2E3E7"/>
                </a:solidFill>
              </a:rPr>
              <a:t>Первый аргумент </a:t>
            </a:r>
            <a:r>
              <a:rPr lang="ru-RU" altLang="ru-RU" sz="1400" dirty="0" err="1">
                <a:solidFill>
                  <a:srgbClr val="FFFF00"/>
                </a:solidFill>
              </a:rPr>
              <a:t>dest</a:t>
            </a:r>
            <a:r>
              <a:rPr lang="ru-RU" altLang="ru-RU" sz="1400" dirty="0">
                <a:solidFill>
                  <a:srgbClr val="E2E3E7"/>
                </a:solidFill>
              </a:rPr>
              <a:t> — целевой объект.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E2E3E7"/>
                </a:solidFill>
              </a:rPr>
              <a:t>Остальные аргументы </a:t>
            </a:r>
            <a:r>
              <a:rPr lang="ru-RU" altLang="ru-RU" sz="1400" dirty="0">
                <a:solidFill>
                  <a:srgbClr val="92D050"/>
                </a:solidFill>
              </a:rPr>
              <a:t>src1</a:t>
            </a:r>
            <a:r>
              <a:rPr lang="ru-RU" altLang="ru-RU" sz="1400" dirty="0">
                <a:solidFill>
                  <a:srgbClr val="E2E3E7"/>
                </a:solidFill>
              </a:rPr>
              <a:t>, ..., </a:t>
            </a:r>
            <a:r>
              <a:rPr lang="ru-RU" altLang="ru-RU" sz="1400" dirty="0" err="1">
                <a:solidFill>
                  <a:srgbClr val="92D050"/>
                </a:solidFill>
              </a:rPr>
              <a:t>srcN</a:t>
            </a:r>
            <a:r>
              <a:rPr lang="ru-RU" altLang="ru-RU" sz="1400" dirty="0">
                <a:solidFill>
                  <a:srgbClr val="E2E3E7"/>
                </a:solidFill>
              </a:rPr>
              <a:t> (может быть столько, сколько необходимо) являются исходными объектами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E2E3E7"/>
                </a:solidFill>
              </a:rPr>
              <a:t>Метод копирует свойства всех исходных объектов </a:t>
            </a:r>
            <a:r>
              <a:rPr lang="ru-RU" altLang="ru-RU" sz="1400" dirty="0">
                <a:solidFill>
                  <a:srgbClr val="92D050"/>
                </a:solidFill>
              </a:rPr>
              <a:t>src1</a:t>
            </a:r>
            <a:r>
              <a:rPr lang="ru-RU" altLang="ru-RU" sz="1400" dirty="0">
                <a:solidFill>
                  <a:srgbClr val="E2E3E7"/>
                </a:solidFill>
              </a:rPr>
              <a:t>, ..., </a:t>
            </a:r>
            <a:r>
              <a:rPr lang="ru-RU" altLang="ru-RU" sz="1400" dirty="0" err="1">
                <a:solidFill>
                  <a:srgbClr val="92D050"/>
                </a:solidFill>
              </a:rPr>
              <a:t>srcN</a:t>
            </a:r>
            <a:r>
              <a:rPr lang="ru-RU" altLang="ru-RU" sz="1400" dirty="0">
                <a:solidFill>
                  <a:srgbClr val="E2E3E7"/>
                </a:solidFill>
              </a:rPr>
              <a:t> в целевой объект </a:t>
            </a:r>
            <a:r>
              <a:rPr lang="ru-RU" altLang="ru-RU" sz="1400" dirty="0" err="1">
                <a:solidFill>
                  <a:srgbClr val="FFFF00"/>
                </a:solidFill>
              </a:rPr>
              <a:t>dest</a:t>
            </a:r>
            <a:r>
              <a:rPr lang="ru-RU" altLang="ru-RU" sz="1400" dirty="0">
                <a:solidFill>
                  <a:srgbClr val="E2E3E7"/>
                </a:solidFill>
              </a:rPr>
              <a:t>. Другими словами, свойства всех аргументов, начиная со второго, копируются в первый объект.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400" dirty="0">
                <a:solidFill>
                  <a:srgbClr val="E2E3E7"/>
                </a:solidFill>
              </a:rPr>
              <a:t>Возвращает объект </a:t>
            </a:r>
            <a:r>
              <a:rPr lang="ru-RU" altLang="ru-RU" sz="1400" dirty="0" err="1">
                <a:solidFill>
                  <a:srgbClr val="FFFF00"/>
                </a:solidFill>
              </a:rPr>
              <a:t>dest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permissions1 = { </a:t>
            </a:r>
            <a:r>
              <a:rPr lang="en-US" altLang="ru-RU" sz="1400" dirty="0" err="1">
                <a:solidFill>
                  <a:srgbClr val="E2E3E7"/>
                </a:solidFill>
                <a:latin typeface="Consolas" panose="020B0609020204030204" pitchFamily="49" charset="0"/>
              </a:rPr>
              <a:t>canView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: true 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permissions2 = { </a:t>
            </a:r>
            <a:r>
              <a:rPr lang="en-US" altLang="ru-RU" sz="1400" dirty="0" err="1">
                <a:solidFill>
                  <a:srgbClr val="E2E3E7"/>
                </a:solidFill>
                <a:latin typeface="Consolas" panose="020B0609020204030204" pitchFamily="49" charset="0"/>
              </a:rPr>
              <a:t>canEdit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: true 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копируем все свойства из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permissions1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permissions2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E2E3E7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(user, permissions1, permissions2);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теперь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 = { name: "John",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canView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: true,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canEdit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: true }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265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Клонирование и объединение, </a:t>
            </a:r>
            <a:r>
              <a:rPr lang="ru-RU" altLang="ru-RU" sz="2800" b="1" dirty="0" err="1">
                <a:solidFill>
                  <a:srgbClr val="92D050"/>
                </a:solidFill>
              </a:rPr>
              <a:t>Object.assign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Если скопированное имя свойства уже существует, оно будет перезаписано: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(user, {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"Pete" 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теперь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user = { name: "Pete" }</a:t>
            </a:r>
            <a:endParaRPr lang="ru-RU" altLang="ru-RU" sz="16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E2E3E7"/>
                </a:solidFill>
              </a:rPr>
              <a:t>Можно также использовать </a:t>
            </a:r>
            <a:r>
              <a:rPr lang="ru-RU" altLang="ru-RU" sz="1600" dirty="0" err="1">
                <a:solidFill>
                  <a:srgbClr val="FFFF00"/>
                </a:solidFill>
              </a:rPr>
              <a:t>Object.assign</a:t>
            </a:r>
            <a:r>
              <a:rPr lang="ru-RU" altLang="ru-RU" sz="1600" dirty="0">
                <a:solidFill>
                  <a:srgbClr val="FFFF00"/>
                </a:solidFill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</a:rPr>
              <a:t>для замены цикла </a:t>
            </a:r>
            <a:r>
              <a:rPr lang="ru-RU" altLang="ru-RU" sz="1600" dirty="0" err="1">
                <a:solidFill>
                  <a:srgbClr val="FFFF00"/>
                </a:solidFill>
              </a:rPr>
              <a:t>for</a:t>
            </a:r>
            <a:r>
              <a:rPr lang="ru-RU" altLang="ru-RU" sz="1600" dirty="0">
                <a:solidFill>
                  <a:srgbClr val="FFFF00"/>
                </a:solidFill>
              </a:rPr>
              <a:t>..</a:t>
            </a:r>
            <a:r>
              <a:rPr lang="ru-RU" altLang="ru-RU" sz="1600" dirty="0" err="1">
                <a:solidFill>
                  <a:srgbClr val="FFFF00"/>
                </a:solidFill>
              </a:rPr>
              <a:t>in</a:t>
            </a:r>
            <a:r>
              <a:rPr lang="ru-RU" altLang="ru-RU" sz="1600" dirty="0">
                <a:solidFill>
                  <a:srgbClr val="FFFF00"/>
                </a:solidFill>
              </a:rPr>
              <a:t> </a:t>
            </a:r>
            <a:r>
              <a:rPr lang="ru-RU" altLang="ru-RU" sz="1600" dirty="0">
                <a:solidFill>
                  <a:srgbClr val="E2E3E7"/>
                </a:solidFill>
              </a:rPr>
              <a:t>для простого клонирования: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6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clone = </a:t>
            </a: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({}, user);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Он копирует все свойства </a:t>
            </a:r>
            <a:r>
              <a:rPr lang="ru-RU" altLang="ru-RU" sz="1600" dirty="0" err="1">
                <a:solidFill>
                  <a:schemeClr val="tx1"/>
                </a:solidFill>
              </a:rPr>
              <a:t>user</a:t>
            </a:r>
            <a:r>
              <a:rPr lang="ru-RU" altLang="ru-RU" sz="1600" dirty="0">
                <a:solidFill>
                  <a:schemeClr val="tx1"/>
                </a:solidFill>
              </a:rPr>
              <a:t> в пустой объект и возвращает его.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Также существуют и другие методы клонирования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25318969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Вложенное клонирование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До сих пор все свойства </a:t>
            </a:r>
            <a:r>
              <a:rPr lang="ru-RU" altLang="ru-RU" sz="1500" dirty="0" err="1">
                <a:solidFill>
                  <a:srgbClr val="E2E3E7"/>
                </a:solidFill>
              </a:rPr>
              <a:t>user</a:t>
            </a:r>
            <a:r>
              <a:rPr lang="ru-RU" altLang="ru-RU" sz="1500" dirty="0">
                <a:solidFill>
                  <a:srgbClr val="E2E3E7"/>
                </a:solidFill>
              </a:rPr>
              <a:t> были </a:t>
            </a:r>
            <a:r>
              <a:rPr lang="ru-RU" altLang="ru-RU" sz="1500" dirty="0" err="1">
                <a:solidFill>
                  <a:srgbClr val="E2E3E7"/>
                </a:solidFill>
              </a:rPr>
              <a:t>примитивныe</a:t>
            </a:r>
            <a:r>
              <a:rPr lang="ru-RU" altLang="ru-RU" sz="1500" dirty="0">
                <a:solidFill>
                  <a:srgbClr val="E2E3E7"/>
                </a:solidFill>
              </a:rPr>
              <a:t>. Но свойства могут быть и объектами.</a:t>
            </a:r>
            <a:endParaRPr lang="ru-RU" altLang="ru-RU" sz="1500" dirty="0">
              <a:solidFill>
                <a:schemeClr val="tx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E2E3E7"/>
                </a:solidFill>
              </a:rPr>
              <a:t>Например: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sizes: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height: 182,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width: 50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user.sizes.height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182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10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Вложенное клонирование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Теперь недостаточно просто скопировать </a:t>
            </a:r>
            <a:r>
              <a:rPr lang="ru-RU" altLang="ru-RU" sz="1500" dirty="0" err="1">
                <a:solidFill>
                  <a:schemeClr val="tx1"/>
                </a:solidFill>
              </a:rPr>
              <a:t>clone.sizes</a:t>
            </a:r>
            <a:r>
              <a:rPr lang="ru-RU" altLang="ru-RU" sz="1500" dirty="0">
                <a:solidFill>
                  <a:schemeClr val="tx1"/>
                </a:solidFill>
              </a:rPr>
              <a:t> = </a:t>
            </a:r>
            <a:r>
              <a:rPr lang="ru-RU" altLang="ru-RU" sz="1500" dirty="0" err="1">
                <a:solidFill>
                  <a:schemeClr val="tx1"/>
                </a:solidFill>
              </a:rPr>
              <a:t>user.sizes</a:t>
            </a:r>
            <a:r>
              <a:rPr lang="ru-RU" altLang="ru-RU" sz="1500" dirty="0">
                <a:solidFill>
                  <a:schemeClr val="tx1"/>
                </a:solidFill>
              </a:rPr>
              <a:t>, потому что </a:t>
            </a:r>
            <a:r>
              <a:rPr lang="ru-RU" altLang="ru-RU" sz="1500" dirty="0" err="1">
                <a:solidFill>
                  <a:schemeClr val="tx1"/>
                </a:solidFill>
              </a:rPr>
              <a:t>user.sizes</a:t>
            </a:r>
            <a:r>
              <a:rPr lang="ru-RU" altLang="ru-RU" sz="1500" dirty="0">
                <a:solidFill>
                  <a:schemeClr val="tx1"/>
                </a:solidFill>
              </a:rPr>
              <a:t> – это объект, он будет скопирован по ссылке. Таким образом, </a:t>
            </a:r>
            <a:r>
              <a:rPr lang="ru-RU" altLang="ru-RU" sz="1500" dirty="0" err="1">
                <a:solidFill>
                  <a:schemeClr val="tx1"/>
                </a:solidFill>
              </a:rPr>
              <a:t>clone</a:t>
            </a:r>
            <a:r>
              <a:rPr lang="ru-RU" altLang="ru-RU" sz="1500" dirty="0">
                <a:solidFill>
                  <a:schemeClr val="tx1"/>
                </a:solidFill>
              </a:rPr>
              <a:t> и 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 будут иметь общий объект </a:t>
            </a:r>
            <a:r>
              <a:rPr lang="ru-RU" altLang="ru-RU" sz="1500" dirty="0" err="1">
                <a:solidFill>
                  <a:schemeClr val="tx1"/>
                </a:solidFill>
              </a:rPr>
              <a:t>sizes</a:t>
            </a:r>
            <a:r>
              <a:rPr lang="ru-RU" altLang="ru-RU" sz="1500" dirty="0">
                <a:solidFill>
                  <a:schemeClr val="tx1"/>
                </a:solidFill>
              </a:rPr>
              <a:t>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name: "John",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sizes: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height: 182,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  width: 50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clone 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({}, user);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user.sizes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=== 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clone.sizes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true,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тот же объект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user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clone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обладают общим свойством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sizes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user.sizes.width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++;      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изменяем свойства в первом объекте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5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clone.sizes.width</a:t>
            </a:r>
            <a:r>
              <a:rPr lang="en-US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51,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видим результат в другом</a:t>
            </a:r>
          </a:p>
        </p:txBody>
      </p:sp>
    </p:spTree>
    <p:extLst>
      <p:ext uri="{BB962C8B-B14F-4D97-AF65-F5344CB8AC3E}">
        <p14:creationId xmlns:p14="http://schemas.microsoft.com/office/powerpoint/2010/main" val="1375322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Вложенное клонирование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Теперь недостаточно просто скопировать </a:t>
            </a:r>
            <a:r>
              <a:rPr lang="ru-RU" altLang="ru-RU" sz="1400" dirty="0" err="1">
                <a:solidFill>
                  <a:schemeClr val="tx1"/>
                </a:solidFill>
              </a:rPr>
              <a:t>clone.sizes</a:t>
            </a:r>
            <a:r>
              <a:rPr lang="ru-RU" altLang="ru-RU" sz="1400" dirty="0">
                <a:solidFill>
                  <a:schemeClr val="tx1"/>
                </a:solidFill>
              </a:rPr>
              <a:t> = </a:t>
            </a:r>
            <a:r>
              <a:rPr lang="ru-RU" altLang="ru-RU" sz="1400" dirty="0" err="1">
                <a:solidFill>
                  <a:schemeClr val="tx1"/>
                </a:solidFill>
              </a:rPr>
              <a:t>user.sizes</a:t>
            </a:r>
            <a:r>
              <a:rPr lang="ru-RU" altLang="ru-RU" sz="1400" dirty="0">
                <a:solidFill>
                  <a:schemeClr val="tx1"/>
                </a:solidFill>
              </a:rPr>
              <a:t>, потому что </a:t>
            </a:r>
            <a:r>
              <a:rPr lang="ru-RU" altLang="ru-RU" sz="1400" dirty="0" err="1">
                <a:solidFill>
                  <a:schemeClr val="tx1"/>
                </a:solidFill>
              </a:rPr>
              <a:t>user.sizes</a:t>
            </a:r>
            <a:r>
              <a:rPr lang="ru-RU" altLang="ru-RU" sz="1400" dirty="0">
                <a:solidFill>
                  <a:schemeClr val="tx1"/>
                </a:solidFill>
              </a:rPr>
              <a:t> – это объект, он будет скопирован по ссылке. Таким образом, </a:t>
            </a:r>
            <a:r>
              <a:rPr lang="ru-RU" altLang="ru-RU" sz="1400" dirty="0" err="1">
                <a:solidFill>
                  <a:schemeClr val="tx1"/>
                </a:solidFill>
              </a:rPr>
              <a:t>clone</a:t>
            </a:r>
            <a:r>
              <a:rPr lang="ru-RU" altLang="ru-RU" sz="1400" dirty="0">
                <a:solidFill>
                  <a:schemeClr val="tx1"/>
                </a:solidFill>
              </a:rPr>
              <a:t> и 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 будут иметь общий объект </a:t>
            </a:r>
            <a:r>
              <a:rPr lang="ru-RU" altLang="ru-RU" sz="1400" dirty="0" err="1">
                <a:solidFill>
                  <a:schemeClr val="tx1"/>
                </a:solidFill>
              </a:rPr>
              <a:t>sizes</a:t>
            </a:r>
            <a:r>
              <a:rPr lang="ru-RU" altLang="ru-RU" sz="1400" dirty="0">
                <a:solidFill>
                  <a:schemeClr val="tx1"/>
                </a:solidFill>
              </a:rPr>
              <a:t>: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name: "John",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sizes: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height: 182,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width: 50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clone 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({}, user);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user.sizes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===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clone.sizes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true,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тот же объект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user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clone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обладают общим свойством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sizes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user.sizes.width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++;      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изменяем свойства в первом объекте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clone.sizes.width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51,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видим результат в другом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Чтобы исправить это, нужно использовать цикл клонирования, который проверяет каждое значение 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chemeClr val="tx1"/>
                </a:solidFill>
              </a:rPr>
              <a:t>[</a:t>
            </a:r>
            <a:r>
              <a:rPr lang="ru-RU" altLang="ru-RU" sz="1400" dirty="0" err="1">
                <a:solidFill>
                  <a:schemeClr val="tx1"/>
                </a:solidFill>
              </a:rPr>
              <a:t>key</a:t>
            </a:r>
            <a:r>
              <a:rPr lang="ru-RU" altLang="ru-RU" sz="1400" dirty="0">
                <a:solidFill>
                  <a:schemeClr val="tx1"/>
                </a:solidFill>
              </a:rPr>
              <a:t>]</a:t>
            </a:r>
            <a:r>
              <a:rPr lang="ru-RU" altLang="ru-RU" sz="1400" dirty="0">
                <a:solidFill>
                  <a:srgbClr val="E2E3E7"/>
                </a:solidFill>
              </a:rPr>
              <a:t> и, если это объект, тогда также копирует его структуру. Это называется «глубоким клонированием».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75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7386614" cy="504056"/>
          </a:xfrm>
        </p:spPr>
        <p:txBody>
          <a:bodyPr>
            <a:normAutofit fontScale="90000"/>
          </a:bodyPr>
          <a:lstStyle/>
          <a:p>
            <a:pPr lvl="0" defTabSz="914400" eaLnBrk="0" fontAlgn="base" hangingPunct="0">
              <a:spcAft>
                <a:spcPct val="0"/>
              </a:spcAft>
            </a:pPr>
            <a:r>
              <a:rPr lang="ru-RU" altLang="ru-RU" sz="2800" b="1" dirty="0">
                <a:solidFill>
                  <a:srgbClr val="92D050"/>
                </a:solidFill>
              </a:rPr>
              <a:t>Вложенное клонирование</a:t>
            </a:r>
            <a:endParaRPr lang="en-US" altLang="ru-RU" sz="2800" b="1" dirty="0">
              <a:solidFill>
                <a:srgbClr val="92D050"/>
              </a:solidFill>
            </a:endParaRP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887577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b="1" dirty="0">
                <a:solidFill>
                  <a:srgbClr val="FFFF00"/>
                </a:solidFill>
              </a:rPr>
              <a:t>Объекты, объявленные как константа, могут быть изменены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Важным побочным эффектом хранения объектов в качестве ссылок является то, что объект, объявленный как </a:t>
            </a:r>
            <a:r>
              <a:rPr lang="ru-RU" altLang="ru-RU" sz="1500" dirty="0" err="1">
                <a:solidFill>
                  <a:srgbClr val="FFFF00"/>
                </a:solidFill>
              </a:rPr>
              <a:t>const</a:t>
            </a:r>
            <a:r>
              <a:rPr lang="ru-RU" altLang="ru-RU" sz="1500" dirty="0">
                <a:solidFill>
                  <a:schemeClr val="tx1"/>
                </a:solidFill>
              </a:rPr>
              <a:t>, может быть изменён.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Например: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name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user.name =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Pete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 // (*)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 err="1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(user.name); </a:t>
            </a: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500" dirty="0" err="1">
                <a:solidFill>
                  <a:srgbClr val="FFFF00"/>
                </a:solidFill>
                <a:latin typeface="Consolas" panose="020B0609020204030204" pitchFamily="49" charset="0"/>
              </a:rPr>
              <a:t>Pete</a:t>
            </a: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Может показаться, что строка (*) вызовет ошибку, но, это не так. Значение 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 это константа, оно всегда должно ссылаться на один и тот же объект, но свойства этого объекта могут свободно изменяться.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Другими словами, </a:t>
            </a:r>
            <a:r>
              <a:rPr lang="ru-RU" altLang="ru-RU" sz="1500" dirty="0" err="1">
                <a:solidFill>
                  <a:schemeClr val="tx1"/>
                </a:solidFill>
              </a:rPr>
              <a:t>const</a:t>
            </a:r>
            <a:r>
              <a:rPr lang="ru-RU" altLang="ru-RU" sz="1500" dirty="0">
                <a:solidFill>
                  <a:schemeClr val="tx1"/>
                </a:solidFill>
              </a:rPr>
              <a:t> 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 выдаст ошибку только в том случае, если попытаться задать </a:t>
            </a:r>
            <a:r>
              <a:rPr lang="ru-RU" altLang="ru-RU" sz="1500" dirty="0" err="1">
                <a:solidFill>
                  <a:schemeClr val="tx1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=... в целом.</a:t>
            </a:r>
          </a:p>
        </p:txBody>
      </p:sp>
    </p:spTree>
    <p:extLst>
      <p:ext uri="{BB962C8B-B14F-4D97-AF65-F5344CB8AC3E}">
        <p14:creationId xmlns:p14="http://schemas.microsoft.com/office/powerpoint/2010/main" val="858207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4290269" cy="504056"/>
          </a:xfrm>
        </p:spPr>
        <p:txBody>
          <a:bodyPr>
            <a:normAutofit fontScale="90000"/>
          </a:bodyPr>
          <a:lstStyle/>
          <a:p>
            <a:r>
              <a:rPr lang="ru-RU" altLang="ru-RU" sz="2800" b="1" dirty="0">
                <a:solidFill>
                  <a:srgbClr val="92D050"/>
                </a:solidFill>
              </a:rPr>
              <a:t>Вложенное клонирование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455529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b="1" dirty="0">
                <a:solidFill>
                  <a:srgbClr val="92D050"/>
                </a:solidFill>
              </a:rPr>
              <a:t>Итого: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Объекты присваиваются и копируются по ссылке. Другими словами, переменная хранит не «значение объекта», а «ссылку» (адрес в памяти) на это значение. Таким образом, копирование такой переменной или передача её в качестве аргумента функции копирует эту ссылку, а не сам объект.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Все операции с использованием скопированных ссылок (например, добавление/удаление свойств) выполняются с одним и тем же объектом.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Чтобы создать «реальную копию» (клон), мы можем использовать </a:t>
            </a:r>
            <a:r>
              <a:rPr lang="ru-RU" sz="1600" dirty="0" err="1">
                <a:solidFill>
                  <a:srgbClr val="FFFF00"/>
                </a:solidFill>
              </a:rPr>
              <a:t>Object.assign</a:t>
            </a:r>
            <a:r>
              <a:rPr lang="ru-RU" sz="1600" dirty="0">
                <a:solidFill>
                  <a:srgbClr val="FFFF00"/>
                </a:solidFill>
              </a:rPr>
              <a:t> </a:t>
            </a:r>
            <a:r>
              <a:rPr lang="ru-RU" sz="1600" dirty="0">
                <a:solidFill>
                  <a:schemeClr val="tx1"/>
                </a:solidFill>
              </a:rPr>
              <a:t>для так называемой «поверхностной копии» (вложенные объекты копируются по ссылке) или цикл для «глубокого клонирования».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B088A4F-88A8-44A7-9782-F7BFE4D60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6176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kern="100" dirty="0">
                <a:solidFill>
                  <a:srgbClr val="FFFF00"/>
                </a:solidFill>
              </a:rPr>
              <a:t>Заходим в папку со своим локальным репозиторием и создаем новую ветку!!!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kern="100" dirty="0">
                <a:solidFill>
                  <a:srgbClr val="FFFF00"/>
                </a:solidFill>
              </a:rPr>
              <a:t>После решения задачек отправить код на удаленный репозиторий.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kern="100" dirty="0">
                <a:solidFill>
                  <a:schemeClr val="tx1"/>
                </a:solidFill>
              </a:rPr>
              <a:t>1. Поверхностное клонирование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kern="100" dirty="0">
                <a:solidFill>
                  <a:schemeClr val="tx1"/>
                </a:solidFill>
              </a:rPr>
              <a:t>Напишите функцию </a:t>
            </a:r>
            <a:r>
              <a:rPr lang="ru-RU" sz="1400" kern="100" dirty="0" err="1">
                <a:solidFill>
                  <a:schemeClr val="tx1"/>
                </a:solidFill>
              </a:rPr>
              <a:t>shallowClone</a:t>
            </a:r>
            <a:r>
              <a:rPr lang="ru-RU" sz="1400" kern="100" dirty="0">
                <a:solidFill>
                  <a:schemeClr val="tx1"/>
                </a:solidFill>
              </a:rPr>
              <a:t>, которая создает поверхностную копию объекта </a:t>
            </a:r>
            <a:r>
              <a:rPr lang="ru-RU" sz="1400" kern="100" dirty="0" err="1">
                <a:solidFill>
                  <a:schemeClr val="tx1"/>
                </a:solidFill>
              </a:rPr>
              <a:t>original</a:t>
            </a:r>
            <a:r>
              <a:rPr lang="ru-RU" sz="1400" kern="100" dirty="0">
                <a:solidFill>
                  <a:schemeClr val="tx1"/>
                </a:solidFill>
              </a:rPr>
              <a:t>. Функция должна вернуть новый объект, который имеет те же свойства и значения, что и </a:t>
            </a:r>
            <a:r>
              <a:rPr lang="ru-RU" sz="1400" kern="100" dirty="0" err="1">
                <a:solidFill>
                  <a:schemeClr val="tx1"/>
                </a:solidFill>
              </a:rPr>
              <a:t>original</a:t>
            </a:r>
            <a:r>
              <a:rPr lang="ru-RU" sz="1400" kern="100" dirty="0">
                <a:solidFill>
                  <a:schemeClr val="tx1"/>
                </a:solidFill>
              </a:rPr>
              <a:t>, но не имеет ссылок на исходные значения.</a:t>
            </a:r>
            <a:endParaRPr lang="en-US" sz="1400" kern="1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original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a: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1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b: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c: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clone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shallowClone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(original);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console.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(clone);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{ a: 1, b: { c: 2 } }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clone.b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ru-RU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с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ru-RU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console.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log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(original);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{ a: 1, b: { c: 2 } }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441723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600" kern="100" dirty="0" err="1">
                <a:solidFill>
                  <a:srgbClr val="00B0F0"/>
                </a:solidFill>
                <a:latin typeface="Consolas" panose="020B0609020204030204" pitchFamily="49" charset="0"/>
              </a:rPr>
              <a:t>shallowClone</a:t>
            </a:r>
            <a:r>
              <a:rPr lang="en-US" altLang="ru-RU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(original)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altLang="ru-RU" sz="1600" kern="100" dirty="0" err="1">
                <a:solidFill>
                  <a:schemeClr val="tx1"/>
                </a:solidFill>
                <a:latin typeface="Consolas" panose="020B0609020204030204" pitchFamily="49" charset="0"/>
              </a:rPr>
              <a:t>Object.</a:t>
            </a:r>
            <a:r>
              <a:rPr lang="en-US" altLang="ru-RU" sz="1600" kern="100" dirty="0" err="1">
                <a:solidFill>
                  <a:srgbClr val="00B0F0"/>
                </a:solidFill>
                <a:latin typeface="Consolas" panose="020B0609020204030204" pitchFamily="49" charset="0"/>
              </a:rPr>
              <a:t>assign</a:t>
            </a:r>
            <a:r>
              <a:rPr lang="en-US" altLang="ru-RU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({}, original);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ru-RU" sz="1600" kern="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ru-RU" altLang="ru-RU" sz="1600" kern="1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650671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83768" y="2247714"/>
            <a:ext cx="3960440" cy="648072"/>
          </a:xfrm>
        </p:spPr>
        <p:txBody>
          <a:bodyPr anchor="t"/>
          <a:lstStyle/>
          <a:p>
            <a:pPr algn="ctr"/>
            <a:r>
              <a:rPr lang="ru-RU" b="1" dirty="0"/>
              <a:t>Сборка мусора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667231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Сборка мусора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Что такое сборщик мусора в </a:t>
            </a:r>
            <a:r>
              <a:rPr lang="ru-RU" altLang="ru-RU" sz="1600" dirty="0" err="1">
                <a:solidFill>
                  <a:srgbClr val="FFFF00"/>
                </a:solidFill>
              </a:rPr>
              <a:t>JavaScript</a:t>
            </a:r>
            <a:r>
              <a:rPr lang="ru-RU" altLang="ru-RU" sz="1600" dirty="0">
                <a:solidFill>
                  <a:srgbClr val="FFFF00"/>
                </a:solidFill>
              </a:rPr>
              <a:t>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Управление памятью в </a:t>
            </a:r>
            <a:r>
              <a:rPr lang="ru-RU" sz="1600" dirty="0" err="1"/>
              <a:t>JavaScript</a:t>
            </a:r>
            <a:r>
              <a:rPr lang="ru-RU" sz="1600" dirty="0"/>
              <a:t> выполняется автоматически и незаметно. Создаются примитивы, объекты, функции… Всё это занимает память.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Для очистки памяти компьютера в </a:t>
            </a:r>
            <a:r>
              <a:rPr lang="ru-RU" altLang="ru-RU" sz="1600" dirty="0" err="1">
                <a:solidFill>
                  <a:schemeClr val="tx1"/>
                </a:solidFill>
              </a:rPr>
              <a:t>JavaScript</a:t>
            </a:r>
            <a:r>
              <a:rPr lang="ru-RU" altLang="ru-RU" sz="1600" dirty="0">
                <a:solidFill>
                  <a:schemeClr val="tx1"/>
                </a:solidFill>
              </a:rPr>
              <a:t> есть концепция </a:t>
            </a:r>
            <a:r>
              <a:rPr lang="ru-RU" altLang="ru-RU" sz="1600" dirty="0">
                <a:solidFill>
                  <a:srgbClr val="FFFF00"/>
                </a:solidFill>
              </a:rPr>
              <a:t>"сборщика мусора" (</a:t>
            </a:r>
            <a:r>
              <a:rPr lang="ru-RU" altLang="ru-RU" sz="1600" dirty="0" err="1">
                <a:solidFill>
                  <a:srgbClr val="FFFF00"/>
                </a:solidFill>
              </a:rPr>
              <a:t>Garbage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 err="1">
                <a:solidFill>
                  <a:srgbClr val="FFFF00"/>
                </a:solidFill>
              </a:rPr>
              <a:t>Collector</a:t>
            </a:r>
            <a:r>
              <a:rPr lang="ru-RU" altLang="ru-RU" sz="1600" dirty="0">
                <a:solidFill>
                  <a:srgbClr val="FFFF00"/>
                </a:solidFill>
              </a:rPr>
              <a:t>)</a:t>
            </a:r>
            <a:r>
              <a:rPr lang="ru-RU" altLang="ru-RU" sz="1600" dirty="0">
                <a:solidFill>
                  <a:schemeClr val="tx1"/>
                </a:solidFill>
              </a:rPr>
              <a:t>,</a:t>
            </a:r>
            <a:r>
              <a:rPr lang="ru-RU" altLang="ru-RU" sz="1600" dirty="0">
                <a:solidFill>
                  <a:srgbClr val="FFFF00"/>
                </a:solidFill>
              </a:rPr>
              <a:t> </a:t>
            </a:r>
            <a:r>
              <a:rPr lang="ru-RU" altLang="ru-RU" sz="1600" dirty="0">
                <a:solidFill>
                  <a:schemeClr val="tx1"/>
                </a:solidFill>
              </a:rPr>
              <a:t>который помогает очищать её от ненужных данных.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Память компьютера - это место, где хранятся все данные, которые используются программой.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Как работает сборщик мусора?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Когда больше не используются переменные, объекты или функции, которые были написаны ранее, они не исчезают сами по себе. Они продолжают занимать место в памяти, что может привести к проблемам с производительностью и даже к ошибкам.</a:t>
            </a:r>
          </a:p>
        </p:txBody>
      </p:sp>
    </p:spTree>
    <p:extLst>
      <p:ext uri="{BB962C8B-B14F-4D97-AF65-F5344CB8AC3E}">
        <p14:creationId xmlns:p14="http://schemas.microsoft.com/office/powerpoint/2010/main" val="159039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Сборка мусора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Сборщик мусора работает следующим образом: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Обнаружение мусора: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Сборщик мусора периодически сканирует память компьютера в поисках переменных, объектов и функций, которые больше не используются. Это называется "обходом графа объектов" (</a:t>
            </a:r>
            <a:r>
              <a:rPr lang="ru-RU" altLang="ru-RU" sz="1600" dirty="0" err="1">
                <a:solidFill>
                  <a:schemeClr val="tx1"/>
                </a:solidFill>
              </a:rPr>
              <a:t>Object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Graph</a:t>
            </a:r>
            <a:r>
              <a:rPr lang="ru-RU" altLang="ru-RU" sz="1600" dirty="0">
                <a:solidFill>
                  <a:schemeClr val="tx1"/>
                </a:solidFill>
              </a:rPr>
              <a:t> </a:t>
            </a:r>
            <a:r>
              <a:rPr lang="ru-RU" altLang="ru-RU" sz="1600" dirty="0" err="1">
                <a:solidFill>
                  <a:schemeClr val="tx1"/>
                </a:solidFill>
              </a:rPr>
              <a:t>Traversal</a:t>
            </a:r>
            <a:r>
              <a:rPr lang="ru-RU" altLang="ru-RU" sz="1600" dirty="0">
                <a:solidFill>
                  <a:schemeClr val="tx1"/>
                </a:solidFill>
              </a:rPr>
              <a:t>).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Маркировка мусора: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Когда сборщик мусора находит ненужные данные, он помечает их как "мусор". Это делается с помощью специального флага, который устанавливается в объекте.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Удаление мусора: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После маркировки мусора сборщик мусора удаляет эти данные из памяти компьютера. Это делается с помощью специальной операции, которая освобождает память, занятую объектом.</a:t>
            </a:r>
          </a:p>
        </p:txBody>
      </p:sp>
    </p:spTree>
    <p:extLst>
      <p:ext uri="{BB962C8B-B14F-4D97-AF65-F5344CB8AC3E}">
        <p14:creationId xmlns:p14="http://schemas.microsoft.com/office/powerpoint/2010/main" val="3695438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Сборка мусора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Пример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Допустим, есть переменная x, которая хранит значение 5.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 x = 5;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Позже она больше не используется и для чего присваивается ей новое значение </a:t>
            </a:r>
            <a:r>
              <a:rPr lang="ru-RU" altLang="ru-RU" sz="1500" dirty="0" err="1">
                <a:solidFill>
                  <a:schemeClr val="tx1"/>
                </a:solidFill>
              </a:rPr>
              <a:t>null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x = </a:t>
            </a:r>
            <a:r>
              <a:rPr lang="ru-RU" altLang="ru-RU" sz="1500" dirty="0" err="1">
                <a:solidFill>
                  <a:schemeClr val="tx1"/>
                </a:solidFill>
                <a:latin typeface="Consolas" panose="020B0609020204030204" pitchFamily="49" charset="0"/>
              </a:rPr>
              <a:t>null</a:t>
            </a:r>
            <a:r>
              <a:rPr lang="ru-RU" altLang="ru-RU" sz="15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В этом случае переменная x больше не нужна, и сборщик мусора может удалить ее из памяти компьютера.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Виды мусора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Существует два типа мусора в </a:t>
            </a:r>
            <a:r>
              <a:rPr lang="ru-RU" altLang="ru-RU" sz="1500" dirty="0" err="1">
                <a:solidFill>
                  <a:schemeClr val="tx1"/>
                </a:solidFill>
              </a:rPr>
              <a:t>JavaScript</a:t>
            </a:r>
            <a:r>
              <a:rPr lang="ru-RU" altLang="ru-RU" sz="1500" dirty="0">
                <a:solidFill>
                  <a:schemeClr val="tx1"/>
                </a:solidFill>
              </a:rPr>
              <a:t>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Достижимый мусор (</a:t>
            </a:r>
            <a:r>
              <a:rPr lang="ru-RU" altLang="ru-RU" sz="1500" dirty="0" err="1">
                <a:solidFill>
                  <a:srgbClr val="FFFF00"/>
                </a:solidFill>
              </a:rPr>
              <a:t>Reachable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Garbage</a:t>
            </a:r>
            <a:r>
              <a:rPr lang="ru-RU" altLang="ru-RU" sz="1500" dirty="0">
                <a:solidFill>
                  <a:srgbClr val="FFFF00"/>
                </a:solidFill>
              </a:rPr>
              <a:t>): </a:t>
            </a:r>
            <a:r>
              <a:rPr lang="ru-RU" altLang="ru-RU" sz="1500" dirty="0">
                <a:solidFill>
                  <a:schemeClr val="tx1"/>
                </a:solidFill>
              </a:rPr>
              <a:t>это объекты, которые больше не используются, но все еще доступны через другие объекты.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Недостижимый мусор (</a:t>
            </a:r>
            <a:r>
              <a:rPr lang="ru-RU" altLang="ru-RU" sz="1500" dirty="0" err="1">
                <a:solidFill>
                  <a:srgbClr val="FFFF00"/>
                </a:solidFill>
              </a:rPr>
              <a:t>Unreachable</a:t>
            </a:r>
            <a:r>
              <a:rPr lang="ru-RU" altLang="ru-RU" sz="1500" dirty="0">
                <a:solidFill>
                  <a:srgbClr val="FFFF00"/>
                </a:solidFill>
              </a:rPr>
              <a:t> </a:t>
            </a:r>
            <a:r>
              <a:rPr lang="ru-RU" altLang="ru-RU" sz="1500" dirty="0" err="1">
                <a:solidFill>
                  <a:srgbClr val="FFFF00"/>
                </a:solidFill>
              </a:rPr>
              <a:t>Garbage</a:t>
            </a:r>
            <a:r>
              <a:rPr lang="ru-RU" altLang="ru-RU" sz="1500" dirty="0">
                <a:solidFill>
                  <a:srgbClr val="FFFF00"/>
                </a:solidFill>
              </a:rPr>
              <a:t>):</a:t>
            </a:r>
            <a:r>
              <a:rPr lang="ru-RU" altLang="ru-RU" sz="1500" dirty="0">
                <a:solidFill>
                  <a:schemeClr val="tx1"/>
                </a:solidFill>
              </a:rPr>
              <a:t> это объекты, которые больше не используются и не доступны через другие объекты.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Сборщик мусора удаляет только недостижимый мусор, поскольку достижимый мусор может быть еще нужен программе.</a:t>
            </a:r>
          </a:p>
        </p:txBody>
      </p:sp>
    </p:spTree>
    <p:extLst>
      <p:ext uri="{BB962C8B-B14F-4D97-AF65-F5344CB8AC3E}">
        <p14:creationId xmlns:p14="http://schemas.microsoft.com/office/powerpoint/2010/main" val="1456783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Сборка мусора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Пример достижимого мусора: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Допустим, у нас есть объект </a:t>
            </a:r>
            <a:r>
              <a:rPr lang="ru-RU" altLang="ru-RU" sz="1600" dirty="0" err="1">
                <a:solidFill>
                  <a:schemeClr val="tx1"/>
                </a:solidFill>
              </a:rPr>
              <a:t>person</a:t>
            </a:r>
            <a:r>
              <a:rPr lang="ru-RU" altLang="ru-RU" sz="1600" dirty="0">
                <a:solidFill>
                  <a:schemeClr val="tx1"/>
                </a:solidFill>
              </a:rPr>
              <a:t>, который имеет свойство </a:t>
            </a:r>
            <a:r>
              <a:rPr lang="ru-RU" altLang="ru-RU" sz="1600" dirty="0" err="1">
                <a:solidFill>
                  <a:schemeClr val="tx1"/>
                </a:solidFill>
              </a:rPr>
              <a:t>address</a:t>
            </a:r>
            <a:r>
              <a:rPr lang="ru-RU" altLang="ru-RU" sz="1600" dirty="0">
                <a:solidFill>
                  <a:schemeClr val="tx1"/>
                </a:solidFill>
              </a:rPr>
              <a:t>, которое является объектом с собственными свойствами </a:t>
            </a:r>
            <a:r>
              <a:rPr lang="ru-RU" altLang="ru-RU" sz="1600" dirty="0" err="1">
                <a:solidFill>
                  <a:schemeClr val="tx1"/>
                </a:solidFill>
              </a:rPr>
              <a:t>street</a:t>
            </a:r>
            <a:r>
              <a:rPr lang="ru-RU" altLang="ru-RU" sz="1600" dirty="0">
                <a:solidFill>
                  <a:schemeClr val="tx1"/>
                </a:solidFill>
              </a:rPr>
              <a:t> и </a:t>
            </a:r>
            <a:r>
              <a:rPr lang="ru-RU" altLang="ru-RU" sz="1600" dirty="0" err="1">
                <a:solidFill>
                  <a:schemeClr val="tx1"/>
                </a:solidFill>
              </a:rPr>
              <a:t>city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person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'John'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address: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street: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'123 Main St'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  city: </a:t>
            </a:r>
            <a:r>
              <a:rPr lang="en-US" altLang="ru-RU" sz="1600" dirty="0">
                <a:solidFill>
                  <a:srgbClr val="FFFF00"/>
                </a:solidFill>
                <a:latin typeface="Consolas" panose="020B0609020204030204" pitchFamily="49" charset="0"/>
              </a:rPr>
              <a:t>'Anytown'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Позже решили, что больше не нужен объект </a:t>
            </a:r>
            <a:r>
              <a:rPr lang="ru-RU" altLang="ru-RU" sz="1600" dirty="0" err="1">
                <a:solidFill>
                  <a:schemeClr val="tx1"/>
                </a:solidFill>
              </a:rPr>
              <a:t>address</a:t>
            </a:r>
            <a:r>
              <a:rPr lang="ru-RU" altLang="ru-RU" sz="1600" dirty="0">
                <a:solidFill>
                  <a:schemeClr val="tx1"/>
                </a:solidFill>
              </a:rPr>
              <a:t>, и </a:t>
            </a:r>
            <a:r>
              <a:rPr lang="ru-RU" altLang="ru-RU" sz="1600" dirty="0" err="1">
                <a:solidFill>
                  <a:schemeClr val="tx1"/>
                </a:solidFill>
              </a:rPr>
              <a:t>присваиваевается</a:t>
            </a:r>
            <a:r>
              <a:rPr lang="ru-RU" altLang="ru-RU" sz="1600" dirty="0">
                <a:solidFill>
                  <a:schemeClr val="tx1"/>
                </a:solidFill>
              </a:rPr>
              <a:t> ему новое значение </a:t>
            </a:r>
            <a:r>
              <a:rPr lang="ru-RU" altLang="ru-RU" sz="1600" dirty="0" err="1">
                <a:solidFill>
                  <a:schemeClr val="tx1"/>
                </a:solidFill>
              </a:rPr>
              <a:t>null</a:t>
            </a:r>
            <a:endParaRPr lang="ru-RU" altLang="ru-RU" sz="1600" dirty="0">
              <a:solidFill>
                <a:schemeClr val="tx1"/>
              </a:solidFill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altLang="ru-RU" sz="1600" dirty="0" err="1">
                <a:solidFill>
                  <a:schemeClr val="tx1"/>
                </a:solidFill>
                <a:latin typeface="Consolas" panose="020B0609020204030204" pitchFamily="49" charset="0"/>
              </a:rPr>
              <a:t>person.address</a:t>
            </a:r>
            <a:r>
              <a:rPr lang="en-US" altLang="ru-RU" sz="1600" dirty="0">
                <a:solidFill>
                  <a:schemeClr val="tx1"/>
                </a:solidFill>
                <a:latin typeface="Consolas" panose="020B0609020204030204" pitchFamily="49" charset="0"/>
              </a:rPr>
              <a:t> = null;</a:t>
            </a: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В этом случае объект </a:t>
            </a:r>
            <a:r>
              <a:rPr lang="ru-RU" altLang="ru-RU" sz="1600" dirty="0" err="1">
                <a:solidFill>
                  <a:schemeClr val="tx1"/>
                </a:solidFill>
              </a:rPr>
              <a:t>address</a:t>
            </a:r>
            <a:r>
              <a:rPr lang="ru-RU" altLang="ru-RU" sz="1600" dirty="0">
                <a:solidFill>
                  <a:schemeClr val="tx1"/>
                </a:solidFill>
              </a:rPr>
              <a:t> больше не доступен напрямую через переменную </a:t>
            </a:r>
            <a:r>
              <a:rPr lang="ru-RU" altLang="ru-RU" sz="1600" dirty="0" err="1">
                <a:solidFill>
                  <a:schemeClr val="tx1"/>
                </a:solidFill>
              </a:rPr>
              <a:t>person.address</a:t>
            </a:r>
            <a:r>
              <a:rPr lang="ru-RU" altLang="ru-RU" sz="1600" dirty="0">
                <a:solidFill>
                  <a:schemeClr val="tx1"/>
                </a:solidFill>
              </a:rPr>
              <a:t>, но он все еще доступен через другие объекты.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5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51446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b="1" dirty="0"/>
              <a:t>Сборка мусора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915566"/>
            <a:ext cx="738352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Итого: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Сборщик мусора в </a:t>
            </a:r>
            <a:r>
              <a:rPr lang="ru-RU" sz="1600" dirty="0" err="1"/>
              <a:t>JavaScript</a:t>
            </a:r>
            <a:r>
              <a:rPr lang="ru-RU" sz="1600" dirty="0"/>
              <a:t> помогает поддерживать чистоту и порядок в памяти компьютера, удаляя ненужные данные и предотвращая проблемы с производительностью. Это важная часть работы </a:t>
            </a:r>
            <a:r>
              <a:rPr lang="ru-RU" sz="1600" dirty="0" err="1"/>
              <a:t>JavaScript</a:t>
            </a:r>
            <a:r>
              <a:rPr lang="ru-RU" sz="1600" dirty="0"/>
              <a:t>-интерпретатора, которая происходит автоматически, без участия разработчика.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600" dirty="0"/>
              <a:t>Ссылка на ресурс</a:t>
            </a:r>
            <a:r>
              <a:rPr lang="en-US" sz="1600" dirty="0"/>
              <a:t>: </a:t>
            </a:r>
            <a:r>
              <a:rPr lang="en-US" sz="1600" dirty="0">
                <a:hlinkClick r:id="rId2"/>
              </a:rPr>
              <a:t>https://learn.javascript.ru/garbage-collection</a:t>
            </a:r>
            <a:endParaRPr lang="ru-RU" sz="16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09317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91680" y="2211710"/>
            <a:ext cx="5544616" cy="648072"/>
          </a:xfrm>
        </p:spPr>
        <p:txBody>
          <a:bodyPr anchor="t"/>
          <a:lstStyle/>
          <a:p>
            <a:pPr algn="ctr"/>
            <a:r>
              <a:rPr lang="ru-RU" sz="3600" dirty="0"/>
              <a:t>Методы объекта, </a:t>
            </a:r>
            <a:r>
              <a:rPr lang="en-US" b="1" dirty="0"/>
              <a:t>"this"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315000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объекта, </a:t>
            </a:r>
            <a:r>
              <a:rPr lang="en-US" b="1" dirty="0"/>
              <a:t>"this"</a:t>
            </a:r>
            <a:endParaRPr lang="ru-RU" sz="3200" dirty="0"/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Объекты обычно создаются, чтобы представлять сущности реального мира, будь то пользователи, заказы и так далее: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Объект пользователя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ru-RU" sz="1400" dirty="0">
                <a:latin typeface="Consolas" panose="020B0609020204030204" pitchFamily="49" charset="0"/>
              </a:rPr>
              <a:t> </a:t>
            </a:r>
            <a:r>
              <a:rPr lang="ru-RU" sz="1400" dirty="0" err="1">
                <a:latin typeface="Consolas" panose="020B0609020204030204" pitchFamily="49" charset="0"/>
              </a:rPr>
              <a:t>user</a:t>
            </a:r>
            <a:r>
              <a:rPr lang="ru-RU" sz="1400" dirty="0">
                <a:latin typeface="Consolas" panose="020B0609020204030204" pitchFamily="49" charset="0"/>
              </a:rPr>
              <a:t>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  </a:t>
            </a:r>
            <a:r>
              <a:rPr lang="ru-RU" sz="1400" dirty="0" err="1">
                <a:latin typeface="Consolas" panose="020B0609020204030204" pitchFamily="49" charset="0"/>
              </a:rPr>
              <a:t>name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John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</a:t>
            </a:r>
            <a:r>
              <a:rPr lang="ru-RU" sz="1400" dirty="0">
                <a:solidFill>
                  <a:schemeClr val="tx1">
                    <a:lumMod val="95000"/>
                  </a:schemeClr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  </a:t>
            </a:r>
            <a:r>
              <a:rPr lang="ru-RU" sz="1400" dirty="0" err="1">
                <a:latin typeface="Consolas" panose="020B0609020204030204" pitchFamily="49" charset="0"/>
              </a:rPr>
              <a:t>age</a:t>
            </a:r>
            <a:r>
              <a:rPr lang="ru-RU" sz="1400" dirty="0">
                <a:latin typeface="Consolas" panose="020B0609020204030204" pitchFamily="49" charset="0"/>
              </a:rPr>
              <a:t>: </a:t>
            </a:r>
            <a:r>
              <a:rPr 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И так же, как и в реальном мире, пользователь может совершать действия: выбирать что-то из корзины покупок, авторизовываться, выходить из системы, оплачивать и т.п.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/>
              <a:t>Такие действия в </a:t>
            </a:r>
            <a:r>
              <a:rPr lang="ru-RU" sz="1400" dirty="0" err="1"/>
              <a:t>JavaScript</a:t>
            </a:r>
            <a:r>
              <a:rPr lang="ru-RU" sz="1400" dirty="0"/>
              <a:t> представлены </a:t>
            </a:r>
            <a:r>
              <a:rPr lang="ru-RU" sz="1400" dirty="0">
                <a:solidFill>
                  <a:srgbClr val="FFFF00"/>
                </a:solidFill>
              </a:rPr>
              <a:t>функциями в свойствах</a:t>
            </a:r>
            <a:r>
              <a:rPr lang="ru-RU" sz="1400" dirty="0"/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sz="1400" dirty="0">
                <a:latin typeface="Consolas" panose="020B0609020204030204" pitchFamily="49" charset="0"/>
              </a:rPr>
              <a:t> user =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name: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"John",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age: </a:t>
            </a:r>
            <a:r>
              <a:rPr lang="en-US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 err="1">
                <a:latin typeface="Consolas" panose="020B0609020204030204" pitchFamily="49" charset="0"/>
              </a:rPr>
              <a:t>user.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sz="1400" dirty="0"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sz="1400" dirty="0">
                <a:latin typeface="Consolas" panose="020B0609020204030204" pitchFamily="49" charset="0"/>
              </a:rPr>
              <a:t>() {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("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Привет!")</a:t>
            </a:r>
            <a:r>
              <a:rPr 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sz="1400" dirty="0">
                <a:latin typeface="Consolas" panose="020B0609020204030204" pitchFamily="49" charset="0"/>
              </a:rPr>
              <a:t>};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en-US" sz="1400" dirty="0" err="1">
                <a:latin typeface="Consolas" panose="020B0609020204030204" pitchFamily="49" charset="0"/>
              </a:rPr>
              <a:t>user.</a:t>
            </a:r>
            <a:r>
              <a:rPr lang="en-US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sz="1400" dirty="0">
                <a:latin typeface="Consolas" panose="020B0609020204030204" pitchFamily="49" charset="0"/>
              </a:rPr>
              <a:t>(); </a:t>
            </a:r>
            <a:r>
              <a:rPr lang="en-US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Привет!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361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Когда пишут код, используя объекты для представления сущностей реального мира, – это называется объектно-ориентированным программированием или сокращённо: </a:t>
            </a:r>
            <a:r>
              <a:rPr lang="ru-RU" sz="1500" dirty="0">
                <a:solidFill>
                  <a:srgbClr val="FFFF00"/>
                </a:solidFill>
              </a:rPr>
              <a:t>«ООП»</a:t>
            </a:r>
            <a:r>
              <a:rPr lang="ru-RU" sz="15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500" dirty="0"/>
              <a:t>ООП является большой предметной областью и интересной наукой самой по себе. Как выбрать правильные сущности? Как организовать взаимодействие между ними?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  <a:latin typeface="Consolas" panose="020B0609020204030204" pitchFamily="49" charset="0"/>
              </a:rPr>
              <a:t>Сокращённая запись метода</a:t>
            </a: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dirty="0"/>
              <a:t>Сокращённый синтаксис является более предпочтительным.</a:t>
            </a:r>
            <a:endParaRPr lang="en-US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altLang="ru-RU" sz="15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endParaRPr lang="ru-RU" sz="1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2B2F496-0245-453D-8F30-EEBFDE6FC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460077"/>
              </p:ext>
            </p:extLst>
          </p:nvPr>
        </p:nvGraphicFramePr>
        <p:xfrm>
          <a:off x="899592" y="2571750"/>
          <a:ext cx="7200800" cy="17263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44416">
                  <a:extLst>
                    <a:ext uri="{9D8B030D-6E8A-4147-A177-3AD203B41FA5}">
                      <a16:colId xmlns:a16="http://schemas.microsoft.com/office/drawing/2014/main" val="1390612744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520860591"/>
                    </a:ext>
                  </a:extLst>
                </a:gridCol>
              </a:tblGrid>
              <a:tr h="1726312">
                <a:tc>
                  <a:txBody>
                    <a:bodyPr/>
                    <a:lstStyle/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эти объекты делают одно и то же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ru-RU" sz="15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ru-RU" altLang="ru-RU" sz="1500" dirty="0" err="1">
                          <a:latin typeface="Consolas" panose="020B0609020204030204" pitchFamily="49" charset="0"/>
                        </a:rPr>
                        <a:t>user</a:t>
                      </a: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=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ru-RU" altLang="ru-RU" sz="15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: </a:t>
                      </a:r>
                      <a:r>
                        <a:rPr lang="ru-RU" altLang="ru-RU" sz="150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()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ru-RU" altLang="ru-RU" sz="15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ru-RU" altLang="ru-RU" sz="15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ru-RU" altLang="ru-RU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"Привет"</a:t>
                      </a:r>
                      <a:r>
                        <a:rPr lang="ru-RU" altLang="ru-RU" sz="15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}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// сокращённая запись выглядит лучше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en-US" altLang="ru-RU" sz="15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altLang="ru-RU" sz="1500" dirty="0"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ru-RU" altLang="ru-RU" sz="1500" dirty="0" err="1">
                          <a:latin typeface="Consolas" panose="020B0609020204030204" pitchFamily="49" charset="0"/>
                        </a:rPr>
                        <a:t>user</a:t>
                      </a: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=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</a:t>
                      </a:r>
                      <a:r>
                        <a:rPr lang="ru-RU" altLang="ru-RU" sz="15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sayHi</a:t>
                      </a: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()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ru-RU" altLang="ru-RU" sz="1500" dirty="0" err="1">
                          <a:solidFill>
                            <a:srgbClr val="00B0F0"/>
                          </a:solidFill>
                          <a:latin typeface="Consolas" panose="020B0609020204030204" pitchFamily="49" charset="0"/>
                        </a:rPr>
                        <a:t>alert</a:t>
                      </a:r>
                      <a:r>
                        <a:rPr lang="ru-RU" altLang="ru-RU" sz="15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ru-RU" altLang="ru-RU" sz="1500" dirty="0">
                          <a:solidFill>
                            <a:srgbClr val="FFFF00"/>
                          </a:solidFill>
                          <a:latin typeface="Consolas" panose="020B0609020204030204" pitchFamily="49" charset="0"/>
                        </a:rPr>
                        <a:t>"Привет"</a:t>
                      </a:r>
                      <a:r>
                        <a:rPr lang="ru-RU" altLang="ru-RU" sz="15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  }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ru-RU" altLang="ru-RU" sz="1500" dirty="0">
                          <a:latin typeface="Consolas" panose="020B0609020204030204" pitchFamily="49" charset="0"/>
                        </a:rPr>
                        <a:t>};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315779"/>
                  </a:ext>
                </a:extLst>
              </a:tr>
            </a:tbl>
          </a:graphicData>
        </a:graphic>
      </p:graphicFrame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DC2844B-9FA9-4155-A32F-B018A84F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объекта, </a:t>
            </a:r>
            <a:r>
              <a:rPr lang="en-US" b="1" dirty="0"/>
              <a:t>"this"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729275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500" dirty="0">
                <a:solidFill>
                  <a:srgbClr val="FFFF00"/>
                </a:solidFill>
              </a:rPr>
              <a:t>Ключевое слово «</a:t>
            </a:r>
            <a:r>
              <a:rPr lang="ru-RU" altLang="ru-RU" sz="1500" dirty="0" err="1">
                <a:solidFill>
                  <a:srgbClr val="FFFF00"/>
                </a:solidFill>
              </a:rPr>
              <a:t>this</a:t>
            </a:r>
            <a:r>
              <a:rPr lang="ru-RU" altLang="ru-RU" sz="1500" dirty="0">
                <a:solidFill>
                  <a:srgbClr val="FFFF00"/>
                </a:solidFill>
              </a:rPr>
              <a:t>» в методах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Как правило, методу объекта обычно требуется доступ к информации, хранящейся в объекте, для выполнения своей работы.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500" dirty="0">
                <a:solidFill>
                  <a:schemeClr val="tx1"/>
                </a:solidFill>
              </a:rPr>
              <a:t>Например, коду внутри </a:t>
            </a:r>
            <a:r>
              <a:rPr lang="ru-RU" altLang="ru-RU" sz="1500" dirty="0" err="1">
                <a:solidFill>
                  <a:schemeClr val="tx1"/>
                </a:solidFill>
              </a:rPr>
              <a:t>user.</a:t>
            </a:r>
            <a:r>
              <a:rPr lang="ru-RU" altLang="ru-RU" sz="1500" dirty="0" err="1">
                <a:solidFill>
                  <a:srgbClr val="00B0F0"/>
                </a:solidFill>
              </a:rPr>
              <a:t>sayHi</a:t>
            </a:r>
            <a:r>
              <a:rPr lang="ru-RU" altLang="ru-RU" sz="1500" dirty="0">
                <a:solidFill>
                  <a:schemeClr val="tx1"/>
                </a:solidFill>
              </a:rPr>
              <a:t>() может потребоваться имя пользователя, которое хранится в объекте </a:t>
            </a:r>
            <a:r>
              <a:rPr lang="ru-RU" altLang="ru-RU" sz="1500" dirty="0" err="1">
                <a:solidFill>
                  <a:srgbClr val="FFFF00"/>
                </a:solidFill>
              </a:rPr>
              <a:t>user</a:t>
            </a:r>
            <a:r>
              <a:rPr lang="ru-RU" altLang="ru-RU" sz="1500" dirty="0">
                <a:solidFill>
                  <a:schemeClr val="tx1"/>
                </a:solidFill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sz="1400" dirty="0"/>
              <a:t>Для доступа к информации внутри объекта метод может использовать ключевое слово </a:t>
            </a:r>
            <a:r>
              <a:rPr lang="ru-RU" sz="1400" dirty="0" err="1">
                <a:solidFill>
                  <a:srgbClr val="FFFF00"/>
                </a:solidFill>
              </a:rPr>
              <a:t>this</a:t>
            </a:r>
            <a:r>
              <a:rPr lang="ru-RU" sz="1400" dirty="0"/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Значение 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 – это объект «перед точкой», который используется для вызова метода. 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4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C484D15-7C4C-453B-AD4D-E33D411F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Методы объекта, </a:t>
            </a:r>
            <a:r>
              <a:rPr lang="en-US" b="1" dirty="0"/>
              <a:t>"this"</a:t>
            </a:r>
            <a:endParaRPr lang="ru-RU" sz="3200" dirty="0"/>
          </a:p>
        </p:txBody>
      </p:sp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56E0EC0D-B209-403C-9AFA-D1A305233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10974"/>
              </p:ext>
            </p:extLst>
          </p:nvPr>
        </p:nvGraphicFramePr>
        <p:xfrm>
          <a:off x="899591" y="2788890"/>
          <a:ext cx="7455530" cy="201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27765">
                  <a:extLst>
                    <a:ext uri="{9D8B030D-6E8A-4147-A177-3AD203B41FA5}">
                      <a16:colId xmlns:a16="http://schemas.microsoft.com/office/drawing/2014/main" val="738775647"/>
                    </a:ext>
                  </a:extLst>
                </a:gridCol>
                <a:gridCol w="3727765">
                  <a:extLst>
                    <a:ext uri="{9D8B030D-6E8A-4147-A177-3AD203B41FA5}">
                      <a16:colId xmlns:a16="http://schemas.microsoft.com/office/drawing/2014/main" val="36648356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let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user =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name: </a:t>
                      </a:r>
                      <a:r>
                        <a:rPr lang="en-US" altLang="ru-RU" sz="1400" dirty="0">
                          <a:solidFill>
                            <a:srgbClr val="FFFF00"/>
                          </a:solidFill>
                        </a:rPr>
                        <a:t>"John",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age: </a:t>
                      </a:r>
                      <a:r>
                        <a:rPr lang="en-US" altLang="ru-RU" sz="1400" dirty="0">
                          <a:solidFill>
                            <a:srgbClr val="C907B2"/>
                          </a:solidFill>
                        </a:rPr>
                        <a:t>30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ru-RU" sz="1400" dirty="0" err="1">
                          <a:solidFill>
                            <a:srgbClr val="00B0F0"/>
                          </a:solidFill>
                        </a:rPr>
                        <a:t>sayHi</a:t>
                      </a: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()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ru-RU" sz="1400" dirty="0">
                          <a:solidFill>
                            <a:srgbClr val="FFFF00"/>
                          </a:solidFill>
                        </a:rPr>
                        <a:t>// "this" - </a:t>
                      </a:r>
                      <a:r>
                        <a:rPr lang="ru-RU" altLang="ru-RU" sz="1400" dirty="0">
                          <a:solidFill>
                            <a:srgbClr val="FFFF00"/>
                          </a:solidFill>
                        </a:rPr>
                        <a:t>это "текущий объект".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ru-RU" altLang="ru-RU" sz="1400" dirty="0">
                          <a:solidFill>
                            <a:schemeClr val="tx1"/>
                          </a:solidFill>
                        </a:rPr>
                        <a:t>    </a:t>
                      </a: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alert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this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.name);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};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 err="1">
                          <a:solidFill>
                            <a:schemeClr val="tx1"/>
                          </a:solidFill>
                        </a:rPr>
                        <a:t>user.</a:t>
                      </a:r>
                      <a:r>
                        <a:rPr lang="en-US" altLang="ru-RU" sz="1400" dirty="0" err="1">
                          <a:solidFill>
                            <a:srgbClr val="00B0F0"/>
                          </a:solidFill>
                        </a:rPr>
                        <a:t>sayHi</a:t>
                      </a: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()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altLang="ru-RU" sz="1400" dirty="0">
                          <a:solidFill>
                            <a:srgbClr val="FFFF00"/>
                          </a:solidFill>
                        </a:rPr>
                        <a:t>// John</a:t>
                      </a:r>
                      <a:endParaRPr lang="ru-RU" altLang="ru-RU" sz="1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let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user =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name: </a:t>
                      </a:r>
                      <a:r>
                        <a:rPr lang="en-US" altLang="ru-RU" sz="1400" dirty="0">
                          <a:solidFill>
                            <a:srgbClr val="FFFF00"/>
                          </a:solidFill>
                        </a:rPr>
                        <a:t>"John",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age: </a:t>
                      </a:r>
                      <a:r>
                        <a:rPr lang="en-US" altLang="ru-RU" sz="1400" dirty="0">
                          <a:solidFill>
                            <a:srgbClr val="C907B2"/>
                          </a:solidFill>
                        </a:rPr>
                        <a:t>30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,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ru-RU" sz="1400" dirty="0" err="1">
                          <a:solidFill>
                            <a:srgbClr val="00B0F0"/>
                          </a:solidFill>
                        </a:rPr>
                        <a:t>sayHi</a:t>
                      </a: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()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{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     alert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(user.name);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  }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};</a:t>
                      </a:r>
                    </a:p>
                    <a:p>
                      <a:pPr marL="0" indent="0" defTabSz="914400" eaLnBrk="0" fontAlgn="base" hangingPunct="0">
                        <a:spcBef>
                          <a:spcPct val="0"/>
                        </a:spcBef>
                        <a:buClrTx/>
                        <a:buSzTx/>
                        <a:buNone/>
                      </a:pPr>
                      <a:r>
                        <a:rPr lang="en-US" altLang="ru-RU" sz="1400" dirty="0" err="1">
                          <a:solidFill>
                            <a:schemeClr val="tx1"/>
                          </a:solidFill>
                        </a:rPr>
                        <a:t>user.</a:t>
                      </a:r>
                      <a:r>
                        <a:rPr lang="en-US" altLang="ru-RU" sz="1400" dirty="0" err="1">
                          <a:solidFill>
                            <a:srgbClr val="00B0F0"/>
                          </a:solidFill>
                        </a:rPr>
                        <a:t>sayHi</a:t>
                      </a:r>
                      <a:r>
                        <a:rPr lang="en-US" altLang="ru-RU" sz="1400" dirty="0">
                          <a:solidFill>
                            <a:srgbClr val="00B0F0"/>
                          </a:solidFill>
                        </a:rPr>
                        <a:t>()</a:t>
                      </a:r>
                      <a:r>
                        <a:rPr lang="en-US" altLang="ru-RU" sz="1400" dirty="0">
                          <a:solidFill>
                            <a:schemeClr val="tx1"/>
                          </a:solidFill>
                        </a:rPr>
                        <a:t>; </a:t>
                      </a:r>
                      <a:r>
                        <a:rPr lang="en-US" altLang="ru-RU" sz="1400" dirty="0">
                          <a:solidFill>
                            <a:srgbClr val="FFFF00"/>
                          </a:solidFill>
                        </a:rPr>
                        <a:t>// John</a:t>
                      </a:r>
                      <a:endParaRPr lang="ru-RU" altLang="ru-RU" sz="1400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96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18160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Код второй задачи ненадёжен. Если скопировать ссылку на объект 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rgbClr val="E2E3E7"/>
                </a:solidFill>
              </a:rPr>
              <a:t> в другую переменную, например, </a:t>
            </a:r>
            <a:r>
              <a:rPr lang="ru-RU" altLang="ru-RU" sz="1400" dirty="0" err="1">
                <a:solidFill>
                  <a:schemeClr val="tx1"/>
                </a:solidFill>
              </a:rPr>
              <a:t>admin</a:t>
            </a:r>
            <a:r>
              <a:rPr lang="ru-RU" altLang="ru-RU" sz="1400" dirty="0">
                <a:solidFill>
                  <a:schemeClr val="tx1"/>
                </a:solidFill>
              </a:rPr>
              <a:t> = 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rgbClr val="E2E3E7"/>
                </a:solidFill>
              </a:rPr>
              <a:t>, и перезаписать переменную </a:t>
            </a:r>
            <a:r>
              <a:rPr lang="ru-RU" altLang="ru-RU" sz="1400" dirty="0" err="1">
                <a:solidFill>
                  <a:schemeClr val="tx1"/>
                </a:solidFill>
              </a:rPr>
              <a:t>user</a:t>
            </a:r>
            <a:r>
              <a:rPr lang="ru-RU" altLang="ru-RU" sz="1400" dirty="0">
                <a:solidFill>
                  <a:srgbClr val="E2E3E7"/>
                </a:solidFill>
              </a:rPr>
              <a:t> чем-то другим, тогда будет осуществлён доступ к неправильному объекту при вызове метода из </a:t>
            </a:r>
            <a:r>
              <a:rPr lang="ru-RU" altLang="ru-RU" sz="1400" dirty="0" err="1">
                <a:solidFill>
                  <a:schemeClr val="tx1"/>
                </a:solidFill>
              </a:rPr>
              <a:t>admin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 age: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30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( user.name 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приведёт к ошибке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 admin = user;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user =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null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перезапишем переменную для наглядности, теперь она не хранит ссылку на объект.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E2E3E7"/>
                </a:solidFill>
                <a:latin typeface="Consolas" panose="020B0609020204030204" pitchFamily="49" charset="0"/>
              </a:rPr>
              <a:t>admin.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rgbClr val="E2E3E7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en-US" altLang="ru-RU" sz="1400" dirty="0" err="1">
                <a:solidFill>
                  <a:srgbClr val="FFFF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: Cannot read property 'name' of null</a:t>
            </a:r>
            <a:endParaRPr lang="ru-RU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Если использовать </a:t>
            </a:r>
            <a:r>
              <a:rPr lang="ru-RU" altLang="ru-RU" sz="1400" dirty="0">
                <a:solidFill>
                  <a:schemeClr val="tx1"/>
                </a:solidFill>
              </a:rPr>
              <a:t>this.name</a:t>
            </a:r>
            <a:r>
              <a:rPr lang="ru-RU" altLang="ru-RU" sz="1400" dirty="0">
                <a:solidFill>
                  <a:srgbClr val="E2E3E7"/>
                </a:solidFill>
              </a:rPr>
              <a:t> вместо </a:t>
            </a:r>
            <a:r>
              <a:rPr lang="ru-RU" altLang="ru-RU" sz="1400" dirty="0">
                <a:solidFill>
                  <a:schemeClr val="tx1"/>
                </a:solidFill>
              </a:rPr>
              <a:t>user.name</a:t>
            </a:r>
            <a:r>
              <a:rPr lang="ru-RU" altLang="ru-RU" sz="1400" dirty="0">
                <a:solidFill>
                  <a:srgbClr val="E2E3E7"/>
                </a:solidFill>
              </a:rPr>
              <a:t> внутри </a:t>
            </a:r>
            <a:r>
              <a:rPr lang="ru-RU" altLang="ru-RU" sz="1400" dirty="0" err="1">
                <a:solidFill>
                  <a:schemeClr val="tx1"/>
                </a:solidFill>
              </a:rPr>
              <a:t>alert</a:t>
            </a:r>
            <a:r>
              <a:rPr lang="ru-RU" altLang="ru-RU" sz="1400" dirty="0">
                <a:solidFill>
                  <a:srgbClr val="E2E3E7"/>
                </a:solidFill>
              </a:rPr>
              <a:t>, тогда этот код сработает.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  <a:endParaRPr lang="ru-RU" altLang="ru-RU" sz="1400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700" dirty="0">
                <a:solidFill>
                  <a:schemeClr val="tx1"/>
                </a:solidFill>
              </a:rPr>
              <a:t> </a:t>
            </a:r>
            <a:endParaRPr lang="ru-RU" altLang="ru-RU" sz="20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A965950-332F-44C2-BCD9-F4603F7D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/>
              <a:t>Методы объекта, </a:t>
            </a:r>
            <a:r>
              <a:rPr lang="en-US" b="1"/>
              <a:t>"this"</a:t>
            </a:r>
            <a:endParaRPr lang="ru-RU" sz="3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0900B5-B9D2-4DBB-B85E-7F0DCE872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248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Значение </a:t>
            </a:r>
            <a:r>
              <a:rPr lang="ru-RU" altLang="ru-RU" sz="1400" b="1" dirty="0" err="1">
                <a:solidFill>
                  <a:srgbClr val="FFFF00"/>
                </a:solidFill>
              </a:rPr>
              <a:t>this</a:t>
            </a:r>
            <a:r>
              <a:rPr lang="ru-RU" altLang="ru-RU" sz="1400" b="1" dirty="0">
                <a:solidFill>
                  <a:srgbClr val="FFFF00"/>
                </a:solidFill>
              </a:rPr>
              <a:t> вычисляется во время выполнения кода, в зависимости от контекста.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"John"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admin = { name: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"Admin" 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alert( </a:t>
            </a: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.name 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используем одну и ту же функцию в двух объектах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admin.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эти вызовы имеют  разное значение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this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"this" 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внутри функции - это объект "перед точкой"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John  (this == user)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admin.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Admin  (this == admin)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admin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['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showName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']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Admin (</a:t>
            </a:r>
            <a:r>
              <a:rPr lang="ru-RU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нет разницы между использованием точки или квадратных скобок для доступа к объекту)</a:t>
            </a:r>
            <a:endParaRPr lang="en-US" altLang="ru-RU" sz="14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E2E3E7"/>
                </a:solidFill>
              </a:rPr>
              <a:t>Правило простое: если вызывается </a:t>
            </a:r>
            <a:r>
              <a:rPr lang="ru-RU" altLang="ru-RU" sz="1400" dirty="0" err="1">
                <a:solidFill>
                  <a:srgbClr val="FFFF00"/>
                </a:solidFill>
              </a:rPr>
              <a:t>obj.f</a:t>
            </a:r>
            <a:r>
              <a:rPr lang="ru-RU" altLang="ru-RU" sz="1400" dirty="0">
                <a:solidFill>
                  <a:srgbClr val="FFFF00"/>
                </a:solidFill>
              </a:rPr>
              <a:t>()</a:t>
            </a:r>
            <a:r>
              <a:rPr lang="ru-RU" altLang="ru-RU" sz="1400" dirty="0">
                <a:solidFill>
                  <a:schemeClr val="tx1"/>
                </a:solidFill>
              </a:rPr>
              <a:t>,</a:t>
            </a:r>
            <a:r>
              <a:rPr lang="ru-RU" altLang="ru-RU" sz="1400" dirty="0">
                <a:solidFill>
                  <a:srgbClr val="E2E3E7"/>
                </a:solidFill>
              </a:rPr>
              <a:t> то во время вызова </a:t>
            </a:r>
            <a:r>
              <a:rPr lang="ru-RU" altLang="ru-RU" sz="1400" dirty="0">
                <a:solidFill>
                  <a:srgbClr val="FFFF00"/>
                </a:solidFill>
              </a:rPr>
              <a:t>f</a:t>
            </a:r>
            <a:r>
              <a:rPr lang="ru-RU" altLang="ru-RU" sz="1400" dirty="0">
                <a:solidFill>
                  <a:srgbClr val="E2E3E7"/>
                </a:solidFill>
              </a:rPr>
              <a:t>, 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rgbClr val="E2E3E7"/>
                </a:solidFill>
              </a:rPr>
              <a:t> – это </a:t>
            </a:r>
            <a:r>
              <a:rPr lang="ru-RU" altLang="ru-RU" sz="1400" dirty="0" err="1">
                <a:solidFill>
                  <a:srgbClr val="FFFF00"/>
                </a:solidFill>
              </a:rPr>
              <a:t>obj</a:t>
            </a:r>
            <a:r>
              <a:rPr lang="ru-RU" altLang="ru-RU" sz="1400" dirty="0">
                <a:solidFill>
                  <a:srgbClr val="E2E3E7"/>
                </a:solidFill>
              </a:rPr>
              <a:t>. Так что, в приведённом выше примере это либо </a:t>
            </a:r>
            <a:r>
              <a:rPr lang="ru-RU" altLang="ru-RU" sz="1400" dirty="0" err="1">
                <a:solidFill>
                  <a:srgbClr val="FFFF00"/>
                </a:solidFill>
              </a:rPr>
              <a:t>user</a:t>
            </a:r>
            <a:r>
              <a:rPr lang="ru-RU" altLang="ru-RU" sz="1400" dirty="0">
                <a:solidFill>
                  <a:srgbClr val="E2E3E7"/>
                </a:solidFill>
              </a:rPr>
              <a:t>, либо </a:t>
            </a:r>
            <a:r>
              <a:rPr lang="ru-RU" altLang="ru-RU" sz="1400" dirty="0" err="1">
                <a:solidFill>
                  <a:srgbClr val="FFFF00"/>
                </a:solidFill>
              </a:rPr>
              <a:t>admin</a:t>
            </a:r>
            <a:r>
              <a:rPr lang="ru-RU" altLang="ru-RU" sz="1400" dirty="0">
                <a:solidFill>
                  <a:srgbClr val="E2E3E7"/>
                </a:solidFill>
              </a:rPr>
              <a:t>.</a:t>
            </a:r>
            <a:r>
              <a:rPr lang="ru-RU" altLang="ru-RU" sz="1400" dirty="0">
                <a:solidFill>
                  <a:schemeClr val="tx1"/>
                </a:solidFill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ru-RU" altLang="ru-RU" sz="1400" b="1" dirty="0">
              <a:solidFill>
                <a:srgbClr val="FFFF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A965950-332F-44C2-BCD9-F4603F7D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/>
              <a:t>Методы объекта, </a:t>
            </a:r>
            <a:r>
              <a:rPr lang="en-US" b="1"/>
              <a:t>"this"</a:t>
            </a:r>
            <a:endParaRPr lang="ru-RU" sz="3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0900B5-B9D2-4DBB-B85E-7F0DCE872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8914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b="1" dirty="0">
                <a:solidFill>
                  <a:srgbClr val="FFFF00"/>
                </a:solidFill>
              </a:rPr>
              <a:t>Вызов без объекта: </a:t>
            </a:r>
            <a:r>
              <a:rPr lang="ru-RU" altLang="ru-RU" sz="1400" b="1" dirty="0" err="1">
                <a:solidFill>
                  <a:srgbClr val="FFFF00"/>
                </a:solidFill>
              </a:rPr>
              <a:t>this</a:t>
            </a:r>
            <a:r>
              <a:rPr lang="ru-RU" altLang="ru-RU" sz="1400" b="1" dirty="0">
                <a:solidFill>
                  <a:srgbClr val="FFFF00"/>
                </a:solidFill>
              </a:rPr>
              <a:t> == </a:t>
            </a:r>
            <a:r>
              <a:rPr lang="ru-RU" altLang="ru-RU" sz="1400" b="1" dirty="0" err="1">
                <a:solidFill>
                  <a:srgbClr val="FFFF00"/>
                </a:solidFill>
              </a:rPr>
              <a:t>undefined</a:t>
            </a:r>
            <a:endParaRPr lang="en-US" altLang="ru-RU" sz="1400" b="1" dirty="0">
              <a:solidFill>
                <a:srgbClr val="FFFF00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function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undefined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строгом режиме </a:t>
            </a:r>
            <a:r>
              <a:rPr lang="ru-RU" altLang="ru-RU" sz="1400" dirty="0">
                <a:solidFill>
                  <a:srgbClr val="FFFF00"/>
                </a:solidFill>
              </a:rPr>
              <a:t>"</a:t>
            </a:r>
            <a:r>
              <a:rPr lang="ru-RU" altLang="ru-RU" sz="1400" dirty="0" err="1">
                <a:solidFill>
                  <a:srgbClr val="FFFF00"/>
                </a:solidFill>
              </a:rPr>
              <a:t>use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 err="1">
                <a:solidFill>
                  <a:srgbClr val="FFFF00"/>
                </a:solidFill>
              </a:rPr>
              <a:t>strict</a:t>
            </a:r>
            <a:r>
              <a:rPr lang="ru-RU" altLang="ru-RU" sz="1400" dirty="0">
                <a:solidFill>
                  <a:srgbClr val="FFFF00"/>
                </a:solidFill>
              </a:rPr>
              <a:t>" </a:t>
            </a:r>
            <a:r>
              <a:rPr lang="ru-RU" altLang="ru-RU" sz="1400" dirty="0">
                <a:solidFill>
                  <a:schemeClr val="tx1"/>
                </a:solidFill>
              </a:rPr>
              <a:t>в таком коде значением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будет являться </a:t>
            </a:r>
            <a:r>
              <a:rPr lang="ru-RU" altLang="ru-RU" sz="1400" dirty="0" err="1">
                <a:solidFill>
                  <a:srgbClr val="FFFF00"/>
                </a:solidFill>
              </a:rPr>
              <a:t>undefined</a:t>
            </a:r>
            <a:r>
              <a:rPr lang="ru-RU" altLang="ru-RU" sz="1400" dirty="0">
                <a:solidFill>
                  <a:schemeClr val="tx1"/>
                </a:solidFill>
              </a:rPr>
              <a:t>. Если попытаться получить доступ к </a:t>
            </a:r>
            <a:r>
              <a:rPr lang="ru-RU" altLang="ru-RU" sz="1400" dirty="0">
                <a:solidFill>
                  <a:srgbClr val="FFFF00"/>
                </a:solidFill>
              </a:rPr>
              <a:t>this.name </a:t>
            </a:r>
            <a:r>
              <a:rPr lang="ru-RU" altLang="ru-RU" sz="1400" dirty="0">
                <a:solidFill>
                  <a:schemeClr val="tx1"/>
                </a:solidFill>
              </a:rPr>
              <a:t>– это вызовет ошибку.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В нестрогом режиме значением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в таком случае будет </a:t>
            </a:r>
            <a:r>
              <a:rPr lang="ru-RU" altLang="ru-RU" sz="1400" dirty="0">
                <a:solidFill>
                  <a:srgbClr val="FFFF00"/>
                </a:solidFill>
              </a:rPr>
              <a:t>глобальный объект </a:t>
            </a:r>
            <a:r>
              <a:rPr lang="en-US" altLang="ru-RU" sz="1400" dirty="0">
                <a:solidFill>
                  <a:srgbClr val="FFFF00"/>
                </a:solidFill>
              </a:rPr>
              <a:t>window.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rgbClr val="FFFF00"/>
                </a:solidFill>
              </a:rPr>
              <a:t>У стрелочных функций нет «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rgbClr val="FFFF00"/>
                </a:solidFill>
              </a:rPr>
              <a:t>»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он</a:t>
            </a:r>
            <a:r>
              <a:rPr lang="en-US" altLang="ru-RU" sz="1400" dirty="0">
                <a:solidFill>
                  <a:srgbClr val="FFFF00"/>
                </a:solidFill>
              </a:rPr>
              <a:t>f</a:t>
            </a:r>
            <a:r>
              <a:rPr lang="ru-RU" altLang="ru-RU" sz="1400" dirty="0">
                <a:solidFill>
                  <a:srgbClr val="FFFF00"/>
                </a:solidFill>
              </a:rPr>
              <a:t> берёт</a:t>
            </a:r>
            <a:r>
              <a:rPr lang="en-US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rgbClr val="FFFF00"/>
                </a:solidFill>
              </a:rPr>
              <a:t>его из внешней «нормальной» функции.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user =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firstName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"Ilya",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let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arrow = () </a:t>
            </a:r>
            <a:r>
              <a:rPr lang="en-US" altLang="ru-RU" sz="1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=&gt;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alert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.firstName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rgbClr val="00B0F0"/>
                </a:solidFill>
                <a:latin typeface="Consolas" panose="020B0609020204030204" pitchFamily="49" charset="0"/>
              </a:rPr>
              <a:t>arrow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user.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sayHi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Ilya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A965950-332F-44C2-BCD9-F4603F7D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/>
              <a:t>Методы объекта, </a:t>
            </a:r>
            <a:r>
              <a:rPr lang="en-US" b="1"/>
              <a:t>"this"</a:t>
            </a:r>
            <a:endParaRPr lang="ru-RU" sz="3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0900B5-B9D2-4DBB-B85E-7F0DCE872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5956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8879" y="699542"/>
            <a:ext cx="7599545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rgbClr val="FFFF00"/>
                </a:solidFill>
              </a:rPr>
              <a:t>Итого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Функции, которые находятся в свойствах объекта, называются «методами».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Методы позволяют объектам «действовать»: </a:t>
            </a:r>
            <a:r>
              <a:rPr lang="ru-RU" altLang="ru-RU" sz="1600" dirty="0" err="1">
                <a:solidFill>
                  <a:schemeClr val="tx1"/>
                </a:solidFill>
              </a:rPr>
              <a:t>object.doSomething</a:t>
            </a:r>
            <a:r>
              <a:rPr lang="ru-RU" altLang="ru-RU" sz="1600" dirty="0">
                <a:solidFill>
                  <a:schemeClr val="tx1"/>
                </a:solidFill>
              </a:rPr>
              <a:t>().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Методы могут ссылаться на объект через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600" dirty="0">
                <a:solidFill>
                  <a:schemeClr val="tx1"/>
                </a:solidFill>
              </a:rPr>
              <a:t>Значение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 определяется во время исполнения кода.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При объявлении любой функции в ней можно использовать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, но этот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 не имеет значения до тех пор, пока функция не будет вызвана.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Функция может быть скопирована между объектами (из одного объекта в другой).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Когда функция вызывается синтаксисом «метода» – </a:t>
            </a:r>
            <a:r>
              <a:rPr lang="ru-RU" altLang="ru-RU" sz="1600" dirty="0" err="1">
                <a:solidFill>
                  <a:schemeClr val="tx1"/>
                </a:solidFill>
              </a:rPr>
              <a:t>object.method</a:t>
            </a:r>
            <a:r>
              <a:rPr lang="ru-RU" altLang="ru-RU" sz="1600" dirty="0">
                <a:solidFill>
                  <a:schemeClr val="tx1"/>
                </a:solidFill>
              </a:rPr>
              <a:t>(), значением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 во время вызова является </a:t>
            </a:r>
            <a:r>
              <a:rPr lang="ru-RU" altLang="ru-RU" sz="1600" dirty="0" err="1">
                <a:solidFill>
                  <a:schemeClr val="tx1"/>
                </a:solidFill>
              </a:rPr>
              <a:t>object</a:t>
            </a:r>
            <a:r>
              <a:rPr lang="ru-RU" altLang="ru-RU" sz="1600" dirty="0">
                <a:solidFill>
                  <a:schemeClr val="tx1"/>
                </a:solidFill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ru-RU" altLang="ru-RU" sz="1600" dirty="0">
                <a:solidFill>
                  <a:schemeClr val="tx1"/>
                </a:solidFill>
              </a:rPr>
              <a:t>Также ещё раз заметим, что стрелочные функции являются особенными – у них нет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. Когда внутри стрелочной функции обращаются к </a:t>
            </a:r>
            <a:r>
              <a:rPr lang="ru-RU" altLang="ru-RU" sz="1600" dirty="0" err="1">
                <a:solidFill>
                  <a:srgbClr val="FFFF00"/>
                </a:solidFill>
              </a:rPr>
              <a:t>this</a:t>
            </a:r>
            <a:r>
              <a:rPr lang="ru-RU" altLang="ru-RU" sz="1600" dirty="0">
                <a:solidFill>
                  <a:schemeClr val="tx1"/>
                </a:solidFill>
              </a:rPr>
              <a:t>, то его значение берётся извне.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A965950-332F-44C2-BCD9-F4603F7D7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2800" b="1"/>
              <a:t>Методы объекта, </a:t>
            </a:r>
            <a:r>
              <a:rPr lang="en-US" b="1"/>
              <a:t>"this"</a:t>
            </a:r>
            <a:endParaRPr lang="ru-RU" sz="320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80900B5-B9D2-4DBB-B85E-7F0DCE872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EFB24C-B9E5-41E5-8B13-6F018102F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218"/>
            <a:ext cx="65" cy="382764"/>
          </a:xfrm>
          <a:prstGeom prst="rect">
            <a:avLst/>
          </a:prstGeom>
          <a:solidFill>
            <a:srgbClr val="23252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0474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799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1. </a:t>
            </a:r>
            <a:r>
              <a:rPr lang="ru-RU" altLang="ru-RU" sz="1400" dirty="0">
                <a:solidFill>
                  <a:schemeClr val="tx1"/>
                </a:solidFill>
              </a:rPr>
              <a:t>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rectangle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width</a:t>
            </a:r>
            <a:r>
              <a:rPr lang="ru-RU" altLang="ru-RU" sz="1400" dirty="0">
                <a:solidFill>
                  <a:schemeClr val="tx1"/>
                </a:solidFill>
              </a:rPr>
              <a:t>: ширина прямоугольника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height</a:t>
            </a:r>
            <a:r>
              <a:rPr lang="ru-RU" altLang="ru-RU" sz="1400" dirty="0">
                <a:solidFill>
                  <a:schemeClr val="tx1"/>
                </a:solidFill>
              </a:rPr>
              <a:t>: высота прямоугольника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getArea</a:t>
            </a:r>
            <a:r>
              <a:rPr lang="ru-RU" altLang="ru-RU" sz="1400" dirty="0">
                <a:solidFill>
                  <a:schemeClr val="tx1"/>
                </a:solidFill>
              </a:rPr>
              <a:t>(): возвращает площадь прямоугольника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getPerimeter</a:t>
            </a:r>
            <a:r>
              <a:rPr lang="ru-RU" altLang="ru-RU" sz="1400" dirty="0">
                <a:solidFill>
                  <a:schemeClr val="tx1"/>
                </a:solidFill>
              </a:rPr>
              <a:t>(): возвращает периметр прямоугольника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chemeClr val="tx1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</a:rPr>
              <a:t>2.</a:t>
            </a:r>
            <a:r>
              <a:rPr lang="ru-RU" altLang="ru-RU" sz="1400" dirty="0">
                <a:solidFill>
                  <a:schemeClr val="tx1"/>
                </a:solidFill>
              </a:rPr>
              <a:t> 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account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balance</a:t>
            </a:r>
            <a:r>
              <a:rPr lang="ru-RU" altLang="ru-RU" sz="1400" dirty="0">
                <a:solidFill>
                  <a:schemeClr val="tx1"/>
                </a:solidFill>
              </a:rPr>
              <a:t>: текущий баланс счёта </a:t>
            </a:r>
            <a:r>
              <a:rPr lang="en-US" altLang="ru-RU" sz="1400" dirty="0">
                <a:solidFill>
                  <a:schemeClr val="tx1"/>
                </a:solidFill>
              </a:rPr>
              <a:t>(</a:t>
            </a:r>
            <a:r>
              <a:rPr lang="ru-RU" altLang="ru-RU" sz="1400" dirty="0">
                <a:solidFill>
                  <a:schemeClr val="tx1"/>
                </a:solidFill>
              </a:rPr>
              <a:t>0)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deposit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amount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: добавляет указанную сумму к балансу счёта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withdraw</a:t>
            </a:r>
            <a:r>
              <a:rPr lang="ru-RU" altLang="ru-RU" sz="1400" dirty="0">
                <a:solidFill>
                  <a:srgbClr val="FFFF00"/>
                </a:solidFill>
              </a:rPr>
              <a:t>(</a:t>
            </a:r>
            <a:r>
              <a:rPr lang="ru-RU" altLang="ru-RU" sz="1400" dirty="0" err="1">
                <a:solidFill>
                  <a:srgbClr val="FFFF00"/>
                </a:solidFill>
              </a:rPr>
              <a:t>amount</a:t>
            </a:r>
            <a:r>
              <a:rPr lang="ru-RU" altLang="ru-RU" sz="1400" dirty="0">
                <a:solidFill>
                  <a:srgbClr val="FFFF00"/>
                </a:solidFill>
              </a:rPr>
              <a:t>)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вычитает указанную сумму из баланса счёта (сделать проверку на достаточность средств)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getBalance</a:t>
            </a:r>
            <a:r>
              <a:rPr lang="ru-RU" altLang="ru-RU" sz="1400" dirty="0">
                <a:solidFill>
                  <a:srgbClr val="FFFF00"/>
                </a:solidFill>
              </a:rPr>
              <a:t>()</a:t>
            </a:r>
            <a:r>
              <a:rPr lang="ru-RU" altLang="ru-RU" sz="1400" dirty="0">
                <a:solidFill>
                  <a:schemeClr val="tx1"/>
                </a:solidFill>
              </a:rPr>
              <a:t>:</a:t>
            </a:r>
            <a:r>
              <a:rPr lang="ru-RU" altLang="ru-RU" sz="1400" dirty="0">
                <a:solidFill>
                  <a:srgbClr val="FFFF00"/>
                </a:solidFill>
              </a:rPr>
              <a:t> </a:t>
            </a:r>
            <a:r>
              <a:rPr lang="ru-RU" altLang="ru-RU" sz="1400" dirty="0">
                <a:solidFill>
                  <a:schemeClr val="tx1"/>
                </a:solidFill>
              </a:rPr>
              <a:t>возвращает текущий баланс счёта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chemeClr val="tx1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  <a:r>
              <a:rPr lang="en-US" altLang="ru-RU" sz="1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7153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rectangle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width: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4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height: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5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getArea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.width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.height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getPerimeter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rgbClr val="C907B2"/>
                </a:solidFill>
                <a:latin typeface="Consolas" panose="020B0609020204030204" pitchFamily="49" charset="0"/>
              </a:rPr>
              <a:t>2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4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*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.width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ru-RU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.height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endParaRPr lang="en-US" altLang="ru-RU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console.log(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rectangle.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getArea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20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console.log(</a:t>
            </a:r>
            <a:r>
              <a:rPr lang="en-US" altLang="ru-RU" sz="1400" dirty="0" err="1">
                <a:solidFill>
                  <a:schemeClr val="tx1"/>
                </a:solidFill>
                <a:latin typeface="Consolas" panose="020B0609020204030204" pitchFamily="49" charset="0"/>
              </a:rPr>
              <a:t>rectangle.</a:t>
            </a:r>
            <a:r>
              <a:rPr lang="en-US" altLang="ru-RU" sz="1400" dirty="0" err="1">
                <a:solidFill>
                  <a:srgbClr val="00B0F0"/>
                </a:solidFill>
                <a:latin typeface="Consolas" panose="020B0609020204030204" pitchFamily="49" charset="0"/>
              </a:rPr>
              <a:t>getPerimeter</a:t>
            </a:r>
            <a:r>
              <a:rPr lang="en-US" altLang="ru-RU" sz="1400" dirty="0">
                <a:solidFill>
                  <a:schemeClr val="tx1"/>
                </a:solidFill>
                <a:latin typeface="Consolas" panose="020B0609020204030204" pitchFamily="49" charset="0"/>
              </a:rPr>
              <a:t>()); </a:t>
            </a:r>
            <a:r>
              <a:rPr lang="en-US" altLang="ru-RU" sz="1400" dirty="0">
                <a:solidFill>
                  <a:srgbClr val="FFFF00"/>
                </a:solidFill>
                <a:latin typeface="Consolas" panose="020B0609020204030204" pitchFamily="49" charset="0"/>
              </a:rPr>
              <a:t>// 18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821447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755576" y="707278"/>
            <a:ext cx="7704856" cy="402471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const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account =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balance: </a:t>
            </a:r>
            <a:r>
              <a:rPr lang="en-US" altLang="ru-RU" sz="1300" dirty="0">
                <a:solidFill>
                  <a:srgbClr val="C907B2"/>
                </a:solidFill>
                <a:latin typeface="Consolas" panose="020B0609020204030204" pitchFamily="49" charset="0"/>
              </a:rPr>
              <a:t>0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deposit(amount)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3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.balance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+=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amount;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300" dirty="0">
                <a:solidFill>
                  <a:srgbClr val="00B0F0"/>
                </a:solidFill>
                <a:latin typeface="Consolas" panose="020B0609020204030204" pitchFamily="49" charset="0"/>
              </a:rPr>
              <a:t>withdraw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(amount)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(amount </a:t>
            </a: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3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.balance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  console.log("</a:t>
            </a:r>
            <a:r>
              <a:rPr lang="ru-RU" altLang="ru-RU" sz="1300" dirty="0">
                <a:solidFill>
                  <a:srgbClr val="FFFF00"/>
                </a:solidFill>
                <a:latin typeface="Consolas" panose="020B0609020204030204" pitchFamily="49" charset="0"/>
              </a:rPr>
              <a:t>Недостаточно средств</a:t>
            </a:r>
            <a:r>
              <a:rPr lang="ru-RU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} </a:t>
            </a: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altLang="ru-RU" sz="13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.balance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-= amount;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},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</a:t>
            </a:r>
            <a:r>
              <a:rPr lang="en-US" altLang="ru-RU" sz="1300" dirty="0" err="1">
                <a:solidFill>
                  <a:srgbClr val="00B0F0"/>
                </a:solidFill>
                <a:latin typeface="Consolas" panose="020B0609020204030204" pitchFamily="49" charset="0"/>
              </a:rPr>
              <a:t>getBalance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altLang="ru-RU" sz="13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ru-RU" sz="13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this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.balance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};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account.</a:t>
            </a:r>
            <a:r>
              <a:rPr lang="en-US" altLang="ru-RU" sz="1300" dirty="0" err="1">
                <a:solidFill>
                  <a:srgbClr val="00B0F0"/>
                </a:solidFill>
                <a:latin typeface="Consolas" panose="020B0609020204030204" pitchFamily="49" charset="0"/>
              </a:rPr>
              <a:t>deposit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300" dirty="0">
                <a:solidFill>
                  <a:srgbClr val="C907B2"/>
                </a:solidFill>
                <a:latin typeface="Consolas" panose="020B0609020204030204" pitchFamily="49" charset="0"/>
              </a:rPr>
              <a:t>100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console.log(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account.</a:t>
            </a:r>
            <a:r>
              <a:rPr lang="en-US" altLang="ru-RU" sz="1300" dirty="0" err="1">
                <a:solidFill>
                  <a:srgbClr val="00B0F0"/>
                </a:solidFill>
                <a:latin typeface="Consolas" panose="020B0609020204030204" pitchFamily="49" charset="0"/>
              </a:rPr>
              <a:t>getBalance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()); </a:t>
            </a:r>
            <a:r>
              <a:rPr lang="en-US" altLang="ru-RU" sz="1300" dirty="0">
                <a:solidFill>
                  <a:srgbClr val="FFFF00"/>
                </a:solidFill>
                <a:latin typeface="Consolas" panose="020B0609020204030204" pitchFamily="49" charset="0"/>
              </a:rPr>
              <a:t>// 100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account.</a:t>
            </a:r>
            <a:r>
              <a:rPr lang="en-US" altLang="ru-RU" sz="1300" dirty="0" err="1">
                <a:solidFill>
                  <a:srgbClr val="00B0F0"/>
                </a:solidFill>
                <a:latin typeface="Consolas" panose="020B0609020204030204" pitchFamily="49" charset="0"/>
              </a:rPr>
              <a:t>withdraw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ru-RU" sz="1300" dirty="0">
                <a:solidFill>
                  <a:srgbClr val="C907B2"/>
                </a:solidFill>
                <a:latin typeface="Consolas" panose="020B0609020204030204" pitchFamily="49" charset="0"/>
              </a:rPr>
              <a:t>50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console.log(</a:t>
            </a:r>
            <a:r>
              <a:rPr lang="en-US" altLang="ru-RU" sz="1300" dirty="0" err="1">
                <a:solidFill>
                  <a:schemeClr val="tx1"/>
                </a:solidFill>
                <a:latin typeface="Consolas" panose="020B0609020204030204" pitchFamily="49" charset="0"/>
              </a:rPr>
              <a:t>account.</a:t>
            </a:r>
            <a:r>
              <a:rPr lang="en-US" altLang="ru-RU" sz="1300" dirty="0" err="1">
                <a:solidFill>
                  <a:srgbClr val="00B0F0"/>
                </a:solidFill>
                <a:latin typeface="Consolas" panose="020B0609020204030204" pitchFamily="49" charset="0"/>
              </a:rPr>
              <a:t>getBalance</a:t>
            </a:r>
            <a:r>
              <a:rPr lang="en-US" altLang="ru-RU" sz="1300" dirty="0">
                <a:solidFill>
                  <a:schemeClr val="tx1"/>
                </a:solidFill>
                <a:latin typeface="Consolas" panose="020B0609020204030204" pitchFamily="49" charset="0"/>
              </a:rPr>
              <a:t>()); </a:t>
            </a:r>
            <a:r>
              <a:rPr lang="en-US" altLang="ru-RU" sz="1300" dirty="0">
                <a:solidFill>
                  <a:srgbClr val="FFFF00"/>
                </a:solidFill>
                <a:latin typeface="Consolas" panose="020B0609020204030204" pitchFamily="49" charset="0"/>
              </a:rPr>
              <a:t>// 502. 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FECDDC-CCE4-4114-A9F5-3EDD98B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214296"/>
            <a:ext cx="7704856" cy="492982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Наши любимые задачки </a:t>
            </a:r>
            <a:r>
              <a:rPr lang="ru-RU" b="1" dirty="0">
                <a:sym typeface="Wingdings" panose="05000000000000000000" pitchFamily="2" charset="2"/>
              </a:rPr>
              <a:t>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347099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5786" y="267494"/>
            <a:ext cx="6522517" cy="504056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Домашняя работа</a:t>
            </a:r>
          </a:p>
        </p:txBody>
      </p:sp>
      <p:sp>
        <p:nvSpPr>
          <p:cNvPr id="4" name="Содержимое 2">
            <a:extLst>
              <a:ext uri="{FF2B5EF4-FFF2-40B4-BE49-F238E27FC236}">
                <a16:creationId xmlns:a16="http://schemas.microsoft.com/office/drawing/2014/main" id="{33FF4811-9A76-4098-B39E-49618FBE5EC5}"/>
              </a:ext>
            </a:extLst>
          </p:cNvPr>
          <p:cNvSpPr txBox="1">
            <a:spLocks/>
          </p:cNvSpPr>
          <p:nvPr/>
        </p:nvSpPr>
        <p:spPr>
          <a:xfrm>
            <a:off x="785786" y="771550"/>
            <a:ext cx="7383521" cy="40324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57175" indent="-257175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3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05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1. 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person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name</a:t>
            </a:r>
            <a:r>
              <a:rPr lang="ru-RU" altLang="ru-RU" sz="1400" dirty="0">
                <a:solidFill>
                  <a:schemeClr val="tx1"/>
                </a:solidFill>
              </a:rPr>
              <a:t>: имя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age</a:t>
            </a:r>
            <a:r>
              <a:rPr lang="ru-RU" altLang="ru-RU" sz="1400" dirty="0">
                <a:solidFill>
                  <a:schemeClr val="tx1"/>
                </a:solidFill>
              </a:rPr>
              <a:t>: возраст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greet</a:t>
            </a:r>
            <a:r>
              <a:rPr lang="ru-RU" altLang="ru-RU" sz="1400" dirty="0">
                <a:solidFill>
                  <a:schemeClr val="tx1"/>
                </a:solidFill>
              </a:rPr>
              <a:t>(): возвращает приветственное сообщение с именем человека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haveBirthday</a:t>
            </a:r>
            <a:r>
              <a:rPr lang="ru-RU" altLang="ru-RU" sz="1400" dirty="0">
                <a:solidFill>
                  <a:schemeClr val="tx1"/>
                </a:solidFill>
              </a:rPr>
              <a:t>(): увеличивает возраст человека на 1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2. Создайте объект </a:t>
            </a:r>
            <a:r>
              <a:rPr lang="ru-RU" altLang="ru-RU" sz="1400" dirty="0" err="1">
                <a:solidFill>
                  <a:srgbClr val="FFFF00"/>
                </a:solidFill>
              </a:rPr>
              <a:t>counter</a:t>
            </a:r>
            <a:r>
              <a:rPr lang="ru-RU" altLang="ru-RU" sz="1400" dirty="0">
                <a:solidFill>
                  <a:schemeClr val="tx1"/>
                </a:solidFill>
              </a:rPr>
              <a:t> с следующими свойствами и методами: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count</a:t>
            </a:r>
            <a:r>
              <a:rPr lang="ru-RU" altLang="ru-RU" sz="1400" dirty="0">
                <a:solidFill>
                  <a:schemeClr val="tx1"/>
                </a:solidFill>
              </a:rPr>
              <a:t>: текущий счёт (0)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increment</a:t>
            </a:r>
            <a:r>
              <a:rPr lang="ru-RU" altLang="ru-RU" sz="1400" dirty="0">
                <a:solidFill>
                  <a:schemeClr val="tx1"/>
                </a:solidFill>
              </a:rPr>
              <a:t>(): увеличивает счёт на 1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decrement</a:t>
            </a:r>
            <a:r>
              <a:rPr lang="ru-RU" altLang="ru-RU" sz="1400" dirty="0">
                <a:solidFill>
                  <a:schemeClr val="tx1"/>
                </a:solidFill>
              </a:rPr>
              <a:t>(): уменьшает счёт на 1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 err="1">
                <a:solidFill>
                  <a:srgbClr val="FFFF00"/>
                </a:solidFill>
              </a:rPr>
              <a:t>reset</a:t>
            </a:r>
            <a:r>
              <a:rPr lang="ru-RU" altLang="ru-RU" sz="1400" dirty="0">
                <a:solidFill>
                  <a:schemeClr val="tx1"/>
                </a:solidFill>
              </a:rPr>
              <a:t>(): сбрасывает счёт до 0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Реализуйте методы с использованием ключевого слова </a:t>
            </a:r>
            <a:r>
              <a:rPr lang="ru-RU" altLang="ru-RU" sz="1400" dirty="0" err="1">
                <a:solidFill>
                  <a:srgbClr val="FFFF00"/>
                </a:solidFill>
              </a:rPr>
              <a:t>this</a:t>
            </a:r>
            <a:r>
              <a:rPr lang="ru-RU" altLang="ru-RU" sz="1400" dirty="0">
                <a:solidFill>
                  <a:schemeClr val="tx1"/>
                </a:solidFill>
              </a:rPr>
              <a:t> для доступа к свойствам объекта.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r>
              <a:rPr lang="ru-RU" altLang="ru-RU" sz="1400" dirty="0">
                <a:solidFill>
                  <a:schemeClr val="tx1"/>
                </a:solidFill>
              </a:rPr>
              <a:t>3. Создайте объект </a:t>
            </a:r>
            <a:r>
              <a:rPr lang="ru-RU" altLang="ru-RU" sz="1400" dirty="0" err="1">
                <a:solidFill>
                  <a:schemeClr val="tx1"/>
                </a:solidFill>
              </a:rPr>
              <a:t>Settings</a:t>
            </a:r>
            <a:r>
              <a:rPr lang="ru-RU" altLang="ru-RU" sz="1400" dirty="0">
                <a:solidFill>
                  <a:schemeClr val="tx1"/>
                </a:solidFill>
              </a:rPr>
              <a:t> с методом </a:t>
            </a:r>
            <a:r>
              <a:rPr lang="ru-RU" altLang="ru-RU" sz="1400" dirty="0" err="1">
                <a:solidFill>
                  <a:schemeClr val="tx1"/>
                </a:solidFill>
              </a:rPr>
              <a:t>setProperty</a:t>
            </a:r>
            <a:r>
              <a:rPr lang="ru-RU" altLang="ru-RU" sz="1400" dirty="0">
                <a:solidFill>
                  <a:schemeClr val="tx1"/>
                </a:solidFill>
              </a:rPr>
              <a:t>, который принимает имя свойства и значение в качестве аргументов и устанавливает свойство в объекте, если оно существует. (для выполнения этой задачи можно использовать метод объекта </a:t>
            </a:r>
            <a:r>
              <a:rPr lang="ru-RU" altLang="ru-RU" sz="1400" dirty="0" err="1">
                <a:solidFill>
                  <a:srgbClr val="FFFF00"/>
                </a:solidFill>
                <a:hlinkClick r:id="rId2"/>
              </a:rPr>
              <a:t>hasOwnProperty</a:t>
            </a:r>
            <a:r>
              <a:rPr lang="ru-RU" altLang="ru-RU" sz="1400" dirty="0">
                <a:solidFill>
                  <a:schemeClr val="tx1"/>
                </a:solidFill>
              </a:rPr>
              <a:t>)</a:t>
            </a:r>
          </a:p>
          <a:p>
            <a:pPr marL="0" indent="0" defTabSz="914400" eaLnBrk="0" fontAlgn="base" hangingPunct="0">
              <a:spcBef>
                <a:spcPct val="0"/>
              </a:spcBef>
              <a:buClrTx/>
              <a:buSzTx/>
              <a:buNone/>
            </a:pPr>
            <a:endParaRPr lang="ru-RU" altLang="ru-RU" sz="1600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B4DC625-76CC-4B5D-9E8F-F7D79ACE1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0BBA53D-3800-4DF0-8BB1-34F905652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632112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6207</TotalTime>
  <Words>2419</Words>
  <Application>Microsoft Office PowerPoint</Application>
  <PresentationFormat>Экран (16:9)</PresentationFormat>
  <Paragraphs>446</Paragraphs>
  <Slides>38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6" baseType="lpstr">
      <vt:lpstr>Arial</vt:lpstr>
      <vt:lpstr>BlinkMacSystemFont</vt:lpstr>
      <vt:lpstr>Calibri</vt:lpstr>
      <vt:lpstr>Consolas</vt:lpstr>
      <vt:lpstr>Trebuchet MS</vt:lpstr>
      <vt:lpstr>Wingdings</vt:lpstr>
      <vt:lpstr>Wingdings 3</vt:lpstr>
      <vt:lpstr>Аспект</vt:lpstr>
      <vt:lpstr>Копирование объектов. Сборщик мусора.</vt:lpstr>
      <vt:lpstr>Объекты </vt:lpstr>
      <vt:lpstr>Домашнее задание лайфкодинг </vt:lpstr>
      <vt:lpstr>Наши любимые задачки </vt:lpstr>
      <vt:lpstr>Наши любимые задачки </vt:lpstr>
      <vt:lpstr>Копирование объектов </vt:lpstr>
      <vt:lpstr>Копирование объектов и ссылки </vt:lpstr>
      <vt:lpstr>Копирование объектов и ссылки </vt:lpstr>
      <vt:lpstr>Копирование объектов и ссылки </vt:lpstr>
      <vt:lpstr>Сравнение по ссылке</vt:lpstr>
      <vt:lpstr>Клонирование и объединение, Object.assign</vt:lpstr>
      <vt:lpstr>Клонирование и объединение, Object.assign</vt:lpstr>
      <vt:lpstr>Клонирование и объединение, Object.assign</vt:lpstr>
      <vt:lpstr>Вложенное клонирование</vt:lpstr>
      <vt:lpstr>Вложенное клонирование</vt:lpstr>
      <vt:lpstr>Вложенное клонирование</vt:lpstr>
      <vt:lpstr>Вложенное клонирование</vt:lpstr>
      <vt:lpstr>Вложенное клонирование</vt:lpstr>
      <vt:lpstr>Наши любимые задачки </vt:lpstr>
      <vt:lpstr>Наши любимые задачки </vt:lpstr>
      <vt:lpstr>Сборка мусора</vt:lpstr>
      <vt:lpstr>Сборка мусора</vt:lpstr>
      <vt:lpstr>Сборка мусора</vt:lpstr>
      <vt:lpstr>Сборка мусора</vt:lpstr>
      <vt:lpstr>Сборка мусора</vt:lpstr>
      <vt:lpstr>Сборка мусора</vt:lpstr>
      <vt:lpstr>Методы объекта, "this"</vt:lpstr>
      <vt:lpstr>Методы объекта, "this"</vt:lpstr>
      <vt:lpstr>Методы объекта, "this"</vt:lpstr>
      <vt:lpstr>Методы объекта, "this"</vt:lpstr>
      <vt:lpstr>Методы объекта, "this"</vt:lpstr>
      <vt:lpstr>Методы объекта, "this"</vt:lpstr>
      <vt:lpstr>Методы объекта, "this"</vt:lpstr>
      <vt:lpstr>Методы объекта, "this"</vt:lpstr>
      <vt:lpstr>Наши любимые задачки </vt:lpstr>
      <vt:lpstr>Наши любимые задачки </vt:lpstr>
      <vt:lpstr>Наши любимые задачки </vt:lpstr>
      <vt:lpstr>Домашняя работа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JavaScript</dc:title>
  <dc:creator>БушмелеваЕА</dc:creator>
  <cp:lastModifiedBy>Mikhail Matveichuk</cp:lastModifiedBy>
  <cp:revision>280</cp:revision>
  <dcterms:created xsi:type="dcterms:W3CDTF">2021-11-26T04:54:28Z</dcterms:created>
  <dcterms:modified xsi:type="dcterms:W3CDTF">2024-11-01T15:37:33Z</dcterms:modified>
</cp:coreProperties>
</file>