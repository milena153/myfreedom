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6">
  <p:sldMasterIdLst>
    <p:sldMasterId id="2147483727" r:id="rId1"/>
  </p:sldMasterIdLst>
  <p:notesMasterIdLst>
    <p:notesMasterId r:id="rId34"/>
  </p:notesMasterIdLst>
  <p:sldIdLst>
    <p:sldId id="388" r:id="rId2"/>
    <p:sldId id="695" r:id="rId3"/>
    <p:sldId id="739" r:id="rId4"/>
    <p:sldId id="740" r:id="rId5"/>
    <p:sldId id="741" r:id="rId6"/>
    <p:sldId id="742" r:id="rId7"/>
    <p:sldId id="743" r:id="rId8"/>
    <p:sldId id="744" r:id="rId9"/>
    <p:sldId id="745" r:id="rId10"/>
    <p:sldId id="746" r:id="rId11"/>
    <p:sldId id="747" r:id="rId12"/>
    <p:sldId id="748" r:id="rId13"/>
    <p:sldId id="738" r:id="rId14"/>
    <p:sldId id="698" r:id="rId15"/>
    <p:sldId id="750" r:id="rId16"/>
    <p:sldId id="751" r:id="rId17"/>
    <p:sldId id="752" r:id="rId18"/>
    <p:sldId id="753" r:id="rId19"/>
    <p:sldId id="754" r:id="rId20"/>
    <p:sldId id="755" r:id="rId21"/>
    <p:sldId id="756" r:id="rId22"/>
    <p:sldId id="757" r:id="rId23"/>
    <p:sldId id="759" r:id="rId24"/>
    <p:sldId id="760" r:id="rId25"/>
    <p:sldId id="762" r:id="rId26"/>
    <p:sldId id="763" r:id="rId27"/>
    <p:sldId id="764" r:id="rId28"/>
    <p:sldId id="765" r:id="rId29"/>
    <p:sldId id="766" r:id="rId30"/>
    <p:sldId id="767" r:id="rId31"/>
    <p:sldId id="768" r:id="rId32"/>
    <p:sldId id="769" r:id="rId3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hail Matveichuk" initials="MM" lastIdx="2" clrIdx="0">
    <p:extLst>
      <p:ext uri="{19B8F6BF-5375-455C-9EA6-DF929625EA0E}">
        <p15:presenceInfo xmlns:p15="http://schemas.microsoft.com/office/powerpoint/2012/main" userId="a99a9a51dadd0b2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07B2"/>
    <a:srgbClr val="FF0066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 autoAdjust="0"/>
    <p:restoredTop sz="94269" autoAdjust="0"/>
  </p:normalViewPr>
  <p:slideViewPr>
    <p:cSldViewPr>
      <p:cViewPr varScale="1">
        <p:scale>
          <a:sx n="151" d="100"/>
          <a:sy n="151" d="100"/>
        </p:scale>
        <p:origin x="678" y="13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DF2A5-73EA-4FCB-B5AE-B8580AC4EEA4}" type="datetimeFigureOut">
              <a:rPr lang="ru-RU" smtClean="0"/>
              <a:t>19.01.2025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5874F-DCBC-4EDB-9D62-895E1B66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06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23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19.01.2025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31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19.01.2025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835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19.01.2025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103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19.01.2025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31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19.01.2025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51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19.01.2025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07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19.01.2025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39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19.01.2025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20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19.01.2025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80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19.01.2025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1012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19.01.2025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240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19.01.2025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4295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19.01.2025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889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19.01.2025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570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19.01.2025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51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01175-608E-4CF0-AFCE-88287FB87CEA}" type="datetimeFigureOut">
              <a:rPr lang="ru-RU" smtClean="0"/>
              <a:t>19.01.2025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9971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43608" y="2283718"/>
            <a:ext cx="7056784" cy="576064"/>
          </a:xfrm>
        </p:spPr>
        <p:txBody>
          <a:bodyPr anchor="t"/>
          <a:lstStyle/>
          <a:p>
            <a:pPr algn="ctr" fontAlgn="t"/>
            <a:r>
              <a:rPr lang="ru-RU" sz="2800"/>
              <a:t>Хранение данных в браузере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b="1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517AB04-330B-455B-B5F8-13F8090D8F72}"/>
              </a:ext>
            </a:extLst>
          </p:cNvPr>
          <p:cNvSpPr txBox="1">
            <a:spLocks/>
          </p:cNvSpPr>
          <p:nvPr/>
        </p:nvSpPr>
        <p:spPr>
          <a:xfrm>
            <a:off x="323528" y="3939902"/>
            <a:ext cx="1835696" cy="7920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342900" rtl="0" eaLnBrk="1" latinLnBrk="0" hangingPunct="1">
              <a:spcBef>
                <a:spcPct val="0"/>
              </a:spcBef>
              <a:buNone/>
              <a:defRPr sz="405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ru-RU" sz="1400" dirty="0">
                <a:solidFill>
                  <a:schemeClr val="tx1"/>
                </a:solidFill>
              </a:rPr>
              <a:t>Матвейчук Михаил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Frontend Team Lead 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Codes Commanders </a:t>
            </a:r>
            <a:endParaRPr lang="ru-RU" sz="1400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1468D0-A03D-473D-82E5-22A9FF92E7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74" t="26096" r="6477" b="16733"/>
          <a:stretch/>
        </p:blipFill>
        <p:spPr>
          <a:xfrm>
            <a:off x="6588224" y="267494"/>
            <a:ext cx="2249811" cy="823592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dist="50800" sx="1000" sy="1000" algn="ctr" rotWithShape="0">
              <a:srgbClr val="000000"/>
            </a:outerShdw>
            <a:reflection endPos="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909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1640" y="2139702"/>
            <a:ext cx="6624736" cy="612068"/>
          </a:xfrm>
        </p:spPr>
        <p:txBody>
          <a:bodyPr anchor="t"/>
          <a:lstStyle/>
          <a:p>
            <a:pPr algn="ctr" fontAlgn="t"/>
            <a:r>
              <a:rPr lang="ru-RU" sz="3200" dirty="0"/>
              <a:t>Куки, </a:t>
            </a:r>
            <a:r>
              <a:rPr lang="en-US" sz="3200" dirty="0" err="1"/>
              <a:t>document.cookie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1571019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Куки, </a:t>
            </a:r>
            <a:r>
              <a:rPr lang="en-US" sz="2400" dirty="0" err="1"/>
              <a:t>document.cookie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Куки</a:t>
            </a:r>
            <a:r>
              <a:rPr lang="ru-RU" altLang="ru-RU" sz="1600" dirty="0">
                <a:solidFill>
                  <a:srgbClr val="E2E3E7"/>
                </a:solidFill>
              </a:rPr>
              <a:t> – это небольшие строки данных, которые хранятся непосредственно в браузере. Куки обычно устанавливаются веб-сервером при помощи заголовка</a:t>
            </a:r>
            <a:r>
              <a:rPr lang="ru-RU" altLang="ru-RU" sz="1600" dirty="0">
                <a:solidFill>
                  <a:srgbClr val="FFFF00"/>
                </a:solidFill>
              </a:rPr>
              <a:t> </a:t>
            </a:r>
            <a:r>
              <a:rPr lang="ru-RU" altLang="ru-RU" sz="1600" dirty="0" err="1">
                <a:solidFill>
                  <a:srgbClr val="FFFF00"/>
                </a:solidFill>
              </a:rPr>
              <a:t>Set-Cookie</a:t>
            </a:r>
            <a:r>
              <a:rPr lang="ru-RU" altLang="ru-RU" sz="1600" dirty="0">
                <a:solidFill>
                  <a:srgbClr val="E2E3E7"/>
                </a:solidFill>
              </a:rPr>
              <a:t>. Затем браузер будет автоматически добавлять их в (почти) каждый запрос на тот же домен при помощи заголовка </a:t>
            </a:r>
            <a:r>
              <a:rPr lang="ru-RU" altLang="ru-RU" sz="1600" dirty="0" err="1">
                <a:solidFill>
                  <a:srgbClr val="FFFF00"/>
                </a:solidFill>
              </a:rPr>
              <a:t>Cookie</a:t>
            </a:r>
            <a:r>
              <a:rPr lang="ru-RU" altLang="ru-RU" sz="1600" dirty="0">
                <a:solidFill>
                  <a:srgbClr val="E2E3E7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Один из наиболее частых случаев использования </a:t>
            </a:r>
            <a:r>
              <a:rPr lang="ru-RU" altLang="ru-RU" sz="1600" dirty="0" err="1">
                <a:solidFill>
                  <a:srgbClr val="FFFF00"/>
                </a:solidFill>
              </a:rPr>
              <a:t>куки</a:t>
            </a:r>
            <a:r>
              <a:rPr lang="ru-RU" altLang="ru-RU" sz="1600" dirty="0">
                <a:solidFill>
                  <a:srgbClr val="FFFF00"/>
                </a:solidFill>
              </a:rPr>
              <a:t> – это аутентификация: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При входе на сайт сервер отсылает в ответ HTTP-заголовок </a:t>
            </a:r>
            <a:r>
              <a:rPr lang="ru-RU" altLang="ru-RU" sz="1600" dirty="0" err="1">
                <a:solidFill>
                  <a:srgbClr val="E2E3E7"/>
                </a:solidFill>
              </a:rPr>
              <a:t>Set-Cookie</a:t>
            </a:r>
            <a:r>
              <a:rPr lang="ru-RU" altLang="ru-RU" sz="1600" dirty="0">
                <a:solidFill>
                  <a:srgbClr val="E2E3E7"/>
                </a:solidFill>
              </a:rPr>
              <a:t> для того, чтобы установить </a:t>
            </a:r>
            <a:r>
              <a:rPr lang="ru-RU" altLang="ru-RU" sz="1600" dirty="0" err="1">
                <a:solidFill>
                  <a:srgbClr val="E2E3E7"/>
                </a:solidFill>
              </a:rPr>
              <a:t>куки</a:t>
            </a:r>
            <a:r>
              <a:rPr lang="ru-RU" altLang="ru-RU" sz="1600" dirty="0">
                <a:solidFill>
                  <a:srgbClr val="E2E3E7"/>
                </a:solidFill>
              </a:rPr>
              <a:t> со специальным уникальным идентификатором сессии </a:t>
            </a:r>
            <a:r>
              <a:rPr lang="ru-RU" altLang="ru-RU" sz="1600" dirty="0">
                <a:solidFill>
                  <a:schemeClr val="tx1"/>
                </a:solidFill>
              </a:rPr>
              <a:t>(</a:t>
            </a:r>
            <a:r>
              <a:rPr lang="ru-RU" altLang="ru-RU" sz="1600" dirty="0">
                <a:solidFill>
                  <a:srgbClr val="FFFF00"/>
                </a:solidFill>
              </a:rPr>
              <a:t>«</a:t>
            </a:r>
            <a:r>
              <a:rPr lang="ru-RU" altLang="ru-RU" sz="1600" dirty="0" err="1">
                <a:solidFill>
                  <a:srgbClr val="FFFF00"/>
                </a:solidFill>
              </a:rPr>
              <a:t>session</a:t>
            </a:r>
            <a:r>
              <a:rPr lang="ru-RU" altLang="ru-RU" sz="1600" dirty="0">
                <a:solidFill>
                  <a:srgbClr val="FFFF00"/>
                </a:solidFill>
              </a:rPr>
              <a:t> </a:t>
            </a:r>
            <a:r>
              <a:rPr lang="ru-RU" altLang="ru-RU" sz="1600" dirty="0" err="1">
                <a:solidFill>
                  <a:srgbClr val="FFFF00"/>
                </a:solidFill>
              </a:rPr>
              <a:t>identifier</a:t>
            </a:r>
            <a:r>
              <a:rPr lang="ru-RU" altLang="ru-RU" sz="1600" dirty="0">
                <a:solidFill>
                  <a:srgbClr val="FFFF00"/>
                </a:solidFill>
              </a:rPr>
              <a:t>»</a:t>
            </a:r>
            <a:r>
              <a:rPr lang="ru-RU" altLang="ru-RU" sz="1600" dirty="0">
                <a:solidFill>
                  <a:srgbClr val="E2E3E7"/>
                </a:solidFill>
              </a:rPr>
              <a:t>). Во время следующего запроса к этому же домену браузер посылает на сервер HTTP-заголовок </a:t>
            </a:r>
            <a:r>
              <a:rPr lang="ru-RU" altLang="ru-RU" sz="1600" dirty="0" err="1">
                <a:solidFill>
                  <a:srgbClr val="E2E3E7"/>
                </a:solidFill>
              </a:rPr>
              <a:t>Cookie</a:t>
            </a:r>
            <a:r>
              <a:rPr lang="ru-RU" altLang="ru-RU" sz="1600" dirty="0">
                <a:solidFill>
                  <a:srgbClr val="E2E3E7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Таким образом, сервер понимает, кто сделал запрос.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Можно получить доступ к </a:t>
            </a:r>
            <a:r>
              <a:rPr lang="ru-RU" altLang="ru-RU" sz="1600" dirty="0" err="1">
                <a:solidFill>
                  <a:srgbClr val="FFFF00"/>
                </a:solidFill>
              </a:rPr>
              <a:t>куки</a:t>
            </a:r>
            <a:r>
              <a:rPr lang="ru-RU" altLang="ru-RU" sz="1600" dirty="0">
                <a:solidFill>
                  <a:srgbClr val="E2E3E7"/>
                </a:solidFill>
              </a:rPr>
              <a:t> непосредственно из браузера, используя свойство </a:t>
            </a:r>
            <a:r>
              <a:rPr lang="ru-RU" altLang="ru-RU" sz="1600" dirty="0" err="1">
                <a:solidFill>
                  <a:srgbClr val="FFFF00"/>
                </a:solidFill>
              </a:rPr>
              <a:t>document.cookie</a:t>
            </a:r>
            <a:r>
              <a:rPr lang="ru-RU" altLang="ru-RU" sz="1600" dirty="0">
                <a:solidFill>
                  <a:srgbClr val="E2E3E7"/>
                </a:solidFill>
              </a:rPr>
              <a:t>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69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Куки, </a:t>
            </a:r>
            <a:r>
              <a:rPr lang="en-US" sz="2400" dirty="0" err="1"/>
              <a:t>document.cookie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Чтение из </a:t>
            </a:r>
            <a:r>
              <a:rPr lang="en-US" altLang="ru-RU" sz="1600" dirty="0" err="1">
                <a:solidFill>
                  <a:srgbClr val="FFFF00"/>
                </a:solidFill>
              </a:rPr>
              <a:t>document.cookie</a:t>
            </a:r>
            <a:endParaRPr lang="ru-RU" altLang="ru-RU" sz="16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600" dirty="0"/>
              <a:t>Хранит ли ваш браузер какие-то </a:t>
            </a:r>
            <a:r>
              <a:rPr lang="ru-RU" sz="1600" dirty="0" err="1"/>
              <a:t>куки</a:t>
            </a:r>
            <a:r>
              <a:rPr lang="ru-RU" sz="1600" dirty="0"/>
              <a:t> с сайта: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.cookie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cookie1=value1; cookie2=value2;...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Значение </a:t>
            </a:r>
            <a:r>
              <a:rPr lang="ru-RU" altLang="ru-RU" sz="1600" dirty="0" err="1">
                <a:solidFill>
                  <a:srgbClr val="FFFF00"/>
                </a:solidFill>
              </a:rPr>
              <a:t>document.cookie</a:t>
            </a:r>
            <a:r>
              <a:rPr lang="ru-RU" altLang="ru-RU" sz="1600" dirty="0">
                <a:solidFill>
                  <a:srgbClr val="FFFF00"/>
                </a:solidFill>
              </a:rPr>
              <a:t> </a:t>
            </a:r>
            <a:r>
              <a:rPr lang="ru-RU" altLang="ru-RU" sz="1600" dirty="0">
                <a:solidFill>
                  <a:schemeClr val="tx1"/>
                </a:solidFill>
              </a:rPr>
              <a:t>состоит из пар ключ=значение, разделённых ;.</a:t>
            </a:r>
            <a:endParaRPr lang="en-US" altLang="ru-RU" sz="16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Каждая пара представляет собой отдельное </a:t>
            </a:r>
            <a:r>
              <a:rPr lang="ru-RU" altLang="ru-RU" sz="1600" dirty="0" err="1">
                <a:solidFill>
                  <a:schemeClr val="tx1"/>
                </a:solidFill>
              </a:rPr>
              <a:t>куки</a:t>
            </a:r>
            <a:r>
              <a:rPr lang="ru-RU" altLang="ru-RU" sz="16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Чтобы найти определённое </a:t>
            </a:r>
            <a:r>
              <a:rPr lang="ru-RU" altLang="ru-RU" sz="1600" dirty="0" err="1">
                <a:solidFill>
                  <a:schemeClr val="tx1"/>
                </a:solidFill>
              </a:rPr>
              <a:t>куки</a:t>
            </a:r>
            <a:r>
              <a:rPr lang="ru-RU" altLang="ru-RU" sz="1600" dirty="0">
                <a:solidFill>
                  <a:schemeClr val="tx1"/>
                </a:solidFill>
              </a:rPr>
              <a:t>, достаточно разбить строку из </a:t>
            </a:r>
            <a:r>
              <a:rPr lang="ru-RU" altLang="ru-RU" sz="1600" dirty="0" err="1">
                <a:solidFill>
                  <a:srgbClr val="FFFF00"/>
                </a:solidFill>
              </a:rPr>
              <a:t>document.cookie</a:t>
            </a:r>
            <a:r>
              <a:rPr lang="ru-RU" altLang="ru-RU" sz="1600" dirty="0">
                <a:solidFill>
                  <a:srgbClr val="FFFF00"/>
                </a:solidFill>
              </a:rPr>
              <a:t> </a:t>
            </a:r>
            <a:r>
              <a:rPr lang="ru-RU" altLang="ru-RU" sz="1600" dirty="0">
                <a:solidFill>
                  <a:schemeClr val="tx1"/>
                </a:solidFill>
              </a:rPr>
              <a:t>по </a:t>
            </a:r>
            <a:r>
              <a:rPr lang="ru-RU" altLang="ru-RU" sz="1600" dirty="0">
                <a:solidFill>
                  <a:srgbClr val="FFFF00"/>
                </a:solidFill>
              </a:rPr>
              <a:t>;</a:t>
            </a:r>
            <a:r>
              <a:rPr lang="ru-RU" altLang="ru-RU" sz="1600" dirty="0">
                <a:solidFill>
                  <a:schemeClr val="tx1"/>
                </a:solidFill>
              </a:rPr>
              <a:t>, и затем найти нужный ключ. Для этого можно использовать как </a:t>
            </a:r>
            <a:r>
              <a:rPr lang="ru-RU" altLang="ru-RU" sz="1600" dirty="0">
                <a:solidFill>
                  <a:srgbClr val="FFFF00"/>
                </a:solidFill>
              </a:rPr>
              <a:t>регулярные выражения</a:t>
            </a:r>
            <a:r>
              <a:rPr lang="ru-RU" altLang="ru-RU" sz="1600" dirty="0">
                <a:solidFill>
                  <a:schemeClr val="tx1"/>
                </a:solidFill>
              </a:rPr>
              <a:t>, так и </a:t>
            </a:r>
            <a:r>
              <a:rPr lang="ru-RU" altLang="ru-RU" sz="1600" dirty="0">
                <a:solidFill>
                  <a:srgbClr val="FFFF00"/>
                </a:solidFill>
              </a:rPr>
              <a:t>функции для обработки массивов</a:t>
            </a:r>
            <a:r>
              <a:rPr lang="ru-RU" altLang="ru-RU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973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Куки, </a:t>
            </a:r>
            <a:r>
              <a:rPr lang="en-US" sz="2400" dirty="0" err="1"/>
              <a:t>document.cookie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Запись в </a:t>
            </a:r>
            <a:r>
              <a:rPr lang="en-US" altLang="ru-RU" sz="1400" dirty="0" err="1">
                <a:solidFill>
                  <a:srgbClr val="FFFF00"/>
                </a:solidFill>
              </a:rPr>
              <a:t>document.cookie</a:t>
            </a:r>
            <a:endParaRPr lang="en-US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Запись в </a:t>
            </a:r>
            <a:r>
              <a:rPr lang="ru-RU" altLang="ru-RU" sz="1400" dirty="0" err="1">
                <a:solidFill>
                  <a:srgbClr val="FFFF00"/>
                </a:solidFill>
              </a:rPr>
              <a:t>document.cookie</a:t>
            </a:r>
            <a:r>
              <a:rPr lang="ru-RU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обновит только упомянутые в ней </a:t>
            </a:r>
            <a:r>
              <a:rPr lang="ru-RU" altLang="ru-RU" sz="1400" dirty="0" err="1">
                <a:solidFill>
                  <a:schemeClr val="tx1"/>
                </a:solidFill>
              </a:rPr>
              <a:t>куки</a:t>
            </a:r>
            <a:r>
              <a:rPr lang="ru-RU" altLang="ru-RU" sz="1400" dirty="0">
                <a:solidFill>
                  <a:schemeClr val="tx1"/>
                </a:solidFill>
              </a:rPr>
              <a:t>, но при этом не затронет все остальные.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Например, этот вызов установит </a:t>
            </a:r>
            <a:r>
              <a:rPr lang="ru-RU" altLang="ru-RU" sz="1400" dirty="0" err="1">
                <a:solidFill>
                  <a:schemeClr val="tx1"/>
                </a:solidFill>
              </a:rPr>
              <a:t>куки</a:t>
            </a:r>
            <a:r>
              <a:rPr lang="ru-RU" altLang="ru-RU" sz="1400" dirty="0">
                <a:solidFill>
                  <a:schemeClr val="tx1"/>
                </a:solidFill>
              </a:rPr>
              <a:t> с именем </a:t>
            </a:r>
            <a:r>
              <a:rPr lang="ru-RU" altLang="ru-RU" sz="1400" dirty="0" err="1">
                <a:solidFill>
                  <a:schemeClr val="tx1"/>
                </a:solidFill>
              </a:rPr>
              <a:t>user</a:t>
            </a:r>
            <a:r>
              <a:rPr lang="ru-RU" altLang="ru-RU" sz="1400" dirty="0">
                <a:solidFill>
                  <a:schemeClr val="tx1"/>
                </a:solidFill>
              </a:rPr>
              <a:t> и значением </a:t>
            </a:r>
            <a:r>
              <a:rPr lang="ru-RU" altLang="ru-RU" sz="1400" dirty="0" err="1">
                <a:solidFill>
                  <a:schemeClr val="tx1"/>
                </a:solidFill>
              </a:rPr>
              <a:t>John</a:t>
            </a:r>
            <a:r>
              <a:rPr lang="ru-RU" altLang="ru-RU" sz="1400" dirty="0">
                <a:solidFill>
                  <a:schemeClr val="tx1"/>
                </a:solidFill>
              </a:rPr>
              <a:t>: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ru-RU" altLang="ru-RU" sz="1400" dirty="0" err="1">
                <a:solidFill>
                  <a:srgbClr val="F8F8F2"/>
                </a:solidFill>
                <a:latin typeface="Consolas" panose="020B0609020204030204" pitchFamily="49" charset="0"/>
              </a:rPr>
              <a:t>.cookie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user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John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// обновляем только 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куки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с именем '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user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’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endParaRPr lang="en-US" altLang="ru-RU" sz="1400" dirty="0">
              <a:solidFill>
                <a:srgbClr val="F8F8F2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ru-RU" altLang="ru-RU" sz="1400" dirty="0" err="1">
                <a:solidFill>
                  <a:srgbClr val="F8F8F2"/>
                </a:solidFill>
                <a:latin typeface="Consolas" panose="020B0609020204030204" pitchFamily="49" charset="0"/>
              </a:rPr>
              <a:t>.cookie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);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показываем все 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куки</a:t>
            </a:r>
            <a:r>
              <a:rPr lang="ru-RU" altLang="ru-RU" sz="1400" dirty="0">
                <a:solidFill>
                  <a:srgbClr val="FFFF00"/>
                </a:solidFill>
              </a:rPr>
              <a:t> </a:t>
            </a:r>
            <a:endParaRPr lang="en-US" altLang="ru-RU" sz="1400" dirty="0">
              <a:solidFill>
                <a:srgbClr val="FFFF0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Операция </a:t>
            </a:r>
            <a:r>
              <a:rPr lang="ru-RU" altLang="ru-RU" sz="1400" dirty="0" err="1">
                <a:solidFill>
                  <a:srgbClr val="FFFF00"/>
                </a:solidFill>
              </a:rPr>
              <a:t>document.cookie</a:t>
            </a:r>
            <a:r>
              <a:rPr lang="ru-RU" altLang="ru-RU" sz="1400" dirty="0">
                <a:solidFill>
                  <a:srgbClr val="FFFF00"/>
                </a:solidFill>
              </a:rPr>
              <a:t>=</a:t>
            </a:r>
            <a:r>
              <a:rPr lang="ru-RU" altLang="ru-RU" sz="1400" dirty="0">
                <a:solidFill>
                  <a:schemeClr val="tx1"/>
                </a:solidFill>
              </a:rPr>
              <a:t> перезапишет не все </a:t>
            </a:r>
            <a:r>
              <a:rPr lang="ru-RU" altLang="ru-RU" sz="1400" dirty="0" err="1">
                <a:solidFill>
                  <a:schemeClr val="tx1"/>
                </a:solidFill>
              </a:rPr>
              <a:t>куки</a:t>
            </a:r>
            <a:r>
              <a:rPr lang="ru-RU" altLang="ru-RU" sz="1400" dirty="0">
                <a:solidFill>
                  <a:schemeClr val="tx1"/>
                </a:solidFill>
              </a:rPr>
              <a:t>, а лишь </a:t>
            </a:r>
            <a:r>
              <a:rPr lang="ru-RU" altLang="ru-RU" sz="1400" dirty="0" err="1">
                <a:solidFill>
                  <a:schemeClr val="tx1"/>
                </a:solidFill>
              </a:rPr>
              <a:t>куки</a:t>
            </a:r>
            <a:r>
              <a:rPr lang="ru-RU" altLang="ru-RU" sz="1400" dirty="0">
                <a:solidFill>
                  <a:schemeClr val="tx1"/>
                </a:solidFill>
              </a:rPr>
              <a:t> с вышеупомянутым именем </a:t>
            </a:r>
            <a:r>
              <a:rPr lang="ru-RU" altLang="ru-RU" sz="1400" dirty="0" err="1">
                <a:solidFill>
                  <a:srgbClr val="FFFF00"/>
                </a:solidFill>
              </a:rPr>
              <a:t>user</a:t>
            </a:r>
            <a:r>
              <a:rPr lang="ru-RU" altLang="ru-RU" sz="1400" dirty="0">
                <a:solidFill>
                  <a:schemeClr val="tx1"/>
                </a:solidFill>
              </a:rPr>
              <a:t>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Технически, и имя и значение </a:t>
            </a:r>
            <a:r>
              <a:rPr lang="ru-RU" altLang="ru-RU" sz="1400" dirty="0" err="1">
                <a:solidFill>
                  <a:schemeClr val="tx1"/>
                </a:solidFill>
              </a:rPr>
              <a:t>куки</a:t>
            </a:r>
            <a:r>
              <a:rPr lang="ru-RU" altLang="ru-RU" sz="1400" dirty="0">
                <a:solidFill>
                  <a:schemeClr val="tx1"/>
                </a:solidFill>
              </a:rPr>
              <a:t> могут состоять из любых символов, для правильного форматирования следует использовать встроенную функцию </a:t>
            </a:r>
            <a:r>
              <a:rPr lang="ru-RU" altLang="ru-RU" sz="1400" dirty="0" err="1">
                <a:solidFill>
                  <a:srgbClr val="FFFF00"/>
                </a:solidFill>
              </a:rPr>
              <a:t>encodeURIComponent</a:t>
            </a:r>
            <a:r>
              <a:rPr lang="ru-RU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(кодирование) и </a:t>
            </a:r>
            <a:r>
              <a:rPr lang="en-US" altLang="ru-RU" sz="1400" dirty="0" err="1">
                <a:solidFill>
                  <a:srgbClr val="FFFF00"/>
                </a:solidFill>
              </a:rPr>
              <a:t>decodeURIComponent</a:t>
            </a:r>
            <a:r>
              <a:rPr lang="ru-RU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(декодирование): 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// специальные символы (пробелы), требуют кодирование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name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"my name";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value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 Smith"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кодирует в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my%20name=John%20Smith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.cookie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encodeURIComponent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(name) +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'='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+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encodeURIComponent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(value);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.cookie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...; my%20name=John%20Smith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5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6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24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6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600" dirty="0">
              <a:solidFill>
                <a:srgbClr val="FFFF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513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Куки, </a:t>
            </a:r>
            <a:r>
              <a:rPr lang="en-US" sz="2400" dirty="0" err="1"/>
              <a:t>document.cookie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b="1" dirty="0">
                <a:solidFill>
                  <a:srgbClr val="FFFF00"/>
                </a:solidFill>
              </a:rPr>
              <a:t>Ограничения</a:t>
            </a:r>
            <a:endParaRPr lang="ru-RU" altLang="ru-RU" sz="16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Существует несколько ограничений: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</a:rPr>
              <a:t>После </a:t>
            </a:r>
            <a:r>
              <a:rPr lang="ru-RU" altLang="ru-RU" sz="1600" dirty="0" err="1">
                <a:solidFill>
                  <a:srgbClr val="FFFF00"/>
                </a:solidFill>
              </a:rPr>
              <a:t>encodeURIComponent</a:t>
            </a:r>
            <a:r>
              <a:rPr lang="ru-RU" altLang="ru-RU" sz="1600" dirty="0">
                <a:solidFill>
                  <a:schemeClr val="tx1"/>
                </a:solidFill>
              </a:rPr>
              <a:t> пара </a:t>
            </a:r>
            <a:r>
              <a:rPr lang="ru-RU" altLang="ru-RU" sz="1600" dirty="0" err="1">
                <a:solidFill>
                  <a:srgbClr val="FFFF00"/>
                </a:solidFill>
              </a:rPr>
              <a:t>name</a:t>
            </a:r>
            <a:r>
              <a:rPr lang="ru-RU" altLang="ru-RU" sz="1600" dirty="0">
                <a:solidFill>
                  <a:srgbClr val="FFFF00"/>
                </a:solidFill>
              </a:rPr>
              <a:t>=</a:t>
            </a:r>
            <a:r>
              <a:rPr lang="ru-RU" altLang="ru-RU" sz="1600" dirty="0" err="1">
                <a:solidFill>
                  <a:srgbClr val="FFFF00"/>
                </a:solidFill>
              </a:rPr>
              <a:t>value</a:t>
            </a:r>
            <a:r>
              <a:rPr lang="ru-RU" altLang="ru-RU" sz="1600" dirty="0">
                <a:solidFill>
                  <a:schemeClr val="tx1"/>
                </a:solidFill>
              </a:rPr>
              <a:t> не должна занимать более 4Кб. Таким образом, мы не можем хранить в </a:t>
            </a:r>
            <a:r>
              <a:rPr lang="ru-RU" altLang="ru-RU" sz="1600" dirty="0" err="1">
                <a:solidFill>
                  <a:schemeClr val="tx1"/>
                </a:solidFill>
              </a:rPr>
              <a:t>куки</a:t>
            </a:r>
            <a:r>
              <a:rPr lang="ru-RU" altLang="ru-RU" sz="1600" dirty="0">
                <a:solidFill>
                  <a:schemeClr val="tx1"/>
                </a:solidFill>
              </a:rPr>
              <a:t> большие данные.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</a:rPr>
              <a:t>Общее количество </a:t>
            </a:r>
            <a:r>
              <a:rPr lang="ru-RU" altLang="ru-RU" sz="1600" dirty="0" err="1">
                <a:solidFill>
                  <a:schemeClr val="tx1"/>
                </a:solidFill>
              </a:rPr>
              <a:t>куки</a:t>
            </a:r>
            <a:r>
              <a:rPr lang="ru-RU" altLang="ru-RU" sz="1600" dirty="0">
                <a:solidFill>
                  <a:schemeClr val="tx1"/>
                </a:solidFill>
              </a:rPr>
              <a:t> на один домен ограничивается примерно 20+. Точное ограничение зависит от конкретного браузера.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У </a:t>
            </a:r>
            <a:r>
              <a:rPr lang="ru-RU" altLang="ru-RU" sz="1600" dirty="0" err="1">
                <a:solidFill>
                  <a:schemeClr val="tx1"/>
                </a:solidFill>
              </a:rPr>
              <a:t>куки</a:t>
            </a:r>
            <a:r>
              <a:rPr lang="ru-RU" altLang="ru-RU" sz="1600" dirty="0">
                <a:solidFill>
                  <a:schemeClr val="tx1"/>
                </a:solidFill>
              </a:rPr>
              <a:t> есть ряд настроек, многие из которых важны и должны быть установлены.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Эти настройки указываются после пары </a:t>
            </a:r>
            <a:r>
              <a:rPr lang="ru-RU" altLang="ru-RU" sz="1600" dirty="0">
                <a:solidFill>
                  <a:srgbClr val="FFFF00"/>
                </a:solidFill>
              </a:rPr>
              <a:t>ключ=значение </a:t>
            </a:r>
            <a:r>
              <a:rPr lang="ru-RU" altLang="ru-RU" sz="1600" dirty="0">
                <a:solidFill>
                  <a:schemeClr val="tx1"/>
                </a:solidFill>
              </a:rPr>
              <a:t>и отделены друг от друга разделителем ;, вот так: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ru-RU" altLang="ru-RU" sz="1600" dirty="0" err="1">
                <a:solidFill>
                  <a:srgbClr val="F8F8F2"/>
                </a:solidFill>
                <a:latin typeface="Consolas" panose="020B0609020204030204" pitchFamily="49" charset="0"/>
              </a:rPr>
              <a:t>.cookie</a:t>
            </a:r>
            <a:r>
              <a:rPr lang="ru-RU" altLang="ru-RU" sz="16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6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user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John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; 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path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=/; 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expires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Tue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, 19 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Jan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 2038 03:14:07 GMT"</a:t>
            </a:r>
            <a:r>
              <a:rPr lang="ru-RU" altLang="ru-RU" sz="1600" dirty="0">
                <a:solidFill>
                  <a:srgbClr val="FFFF00"/>
                </a:solidFill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20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466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Куки, </a:t>
            </a:r>
            <a:r>
              <a:rPr lang="en-US" sz="2400" dirty="0" err="1"/>
              <a:t>document.cookie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b="1" dirty="0">
                <a:solidFill>
                  <a:srgbClr val="FFFF00"/>
                </a:solidFill>
              </a:rPr>
              <a:t>p</a:t>
            </a:r>
            <a:r>
              <a:rPr lang="ru-RU" altLang="ru-RU" sz="1400" b="1" dirty="0" err="1">
                <a:solidFill>
                  <a:srgbClr val="FFFF00"/>
                </a:solidFill>
              </a:rPr>
              <a:t>ath</a:t>
            </a:r>
            <a:r>
              <a:rPr lang="ru-RU" altLang="ru-RU" sz="1400" b="1" dirty="0">
                <a:solidFill>
                  <a:srgbClr val="FFFF00"/>
                </a:solidFill>
              </a:rPr>
              <a:t>=/</a:t>
            </a:r>
            <a:r>
              <a:rPr lang="ru-RU" altLang="ru-RU" sz="1400" b="1" dirty="0" err="1">
                <a:solidFill>
                  <a:srgbClr val="FFFF00"/>
                </a:solidFill>
              </a:rPr>
              <a:t>mypath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URL-префикс пути, </a:t>
            </a:r>
            <a:r>
              <a:rPr lang="ru-RU" altLang="ru-RU" sz="1400" dirty="0" err="1">
                <a:solidFill>
                  <a:schemeClr val="tx1"/>
                </a:solidFill>
              </a:rPr>
              <a:t>куки</a:t>
            </a:r>
            <a:r>
              <a:rPr lang="ru-RU" altLang="ru-RU" sz="1400" dirty="0">
                <a:solidFill>
                  <a:schemeClr val="tx1"/>
                </a:solidFill>
              </a:rPr>
              <a:t> будут доступны для страниц под этим путём. Должен быть абсолютным. По умолчанию используется текущий путь.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Если </a:t>
            </a:r>
            <a:r>
              <a:rPr lang="ru-RU" altLang="ru-RU" sz="1400" dirty="0" err="1">
                <a:solidFill>
                  <a:schemeClr val="tx1"/>
                </a:solidFill>
              </a:rPr>
              <a:t>куки</a:t>
            </a:r>
            <a:r>
              <a:rPr lang="ru-RU" altLang="ru-RU" sz="1400" dirty="0">
                <a:solidFill>
                  <a:schemeClr val="tx1"/>
                </a:solidFill>
              </a:rPr>
              <a:t> установлено с </a:t>
            </a:r>
            <a:r>
              <a:rPr lang="ru-RU" altLang="ru-RU" sz="1400" dirty="0" err="1">
                <a:solidFill>
                  <a:srgbClr val="FFFF00"/>
                </a:solidFill>
              </a:rPr>
              <a:t>path</a:t>
            </a:r>
            <a:r>
              <a:rPr lang="ru-RU" altLang="ru-RU" sz="1400" dirty="0">
                <a:solidFill>
                  <a:srgbClr val="FFFF00"/>
                </a:solidFill>
              </a:rPr>
              <a:t>=/</a:t>
            </a:r>
            <a:r>
              <a:rPr lang="ru-RU" altLang="ru-RU" sz="1400" dirty="0" err="1">
                <a:solidFill>
                  <a:srgbClr val="FFFF00"/>
                </a:solidFill>
              </a:rPr>
              <a:t>admin</a:t>
            </a:r>
            <a:r>
              <a:rPr lang="ru-RU" altLang="ru-RU" sz="1400" dirty="0">
                <a:solidFill>
                  <a:schemeClr val="tx1"/>
                </a:solidFill>
              </a:rPr>
              <a:t>, то оно будет доступно на</a:t>
            </a:r>
            <a:r>
              <a:rPr lang="en-US" altLang="ru-RU" sz="1400" dirty="0">
                <a:solidFill>
                  <a:schemeClr val="tx1"/>
                </a:solidFill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страницах /</a:t>
            </a:r>
            <a:r>
              <a:rPr lang="ru-RU" altLang="ru-RU" sz="1400" dirty="0" err="1">
                <a:solidFill>
                  <a:schemeClr val="tx1"/>
                </a:solidFill>
              </a:rPr>
              <a:t>admin</a:t>
            </a:r>
            <a:r>
              <a:rPr lang="ru-RU" altLang="ru-RU" sz="1400" dirty="0">
                <a:solidFill>
                  <a:schemeClr val="tx1"/>
                </a:solidFill>
              </a:rPr>
              <a:t> и /</a:t>
            </a:r>
            <a:r>
              <a:rPr lang="ru-RU" altLang="ru-RU" sz="1400" dirty="0" err="1">
                <a:solidFill>
                  <a:schemeClr val="tx1"/>
                </a:solidFill>
              </a:rPr>
              <a:t>admin</a:t>
            </a:r>
            <a:r>
              <a:rPr lang="ru-RU" altLang="ru-RU" sz="1400" dirty="0">
                <a:solidFill>
                  <a:schemeClr val="tx1"/>
                </a:solidFill>
              </a:rPr>
              <a:t>/</a:t>
            </a:r>
            <a:r>
              <a:rPr lang="ru-RU" altLang="ru-RU" sz="1400" dirty="0" err="1">
                <a:solidFill>
                  <a:schemeClr val="tx1"/>
                </a:solidFill>
              </a:rPr>
              <a:t>something</a:t>
            </a:r>
            <a:r>
              <a:rPr lang="ru-RU" altLang="ru-RU" sz="1400" dirty="0">
                <a:solidFill>
                  <a:schemeClr val="tx1"/>
                </a:solidFill>
              </a:rPr>
              <a:t>, но не на страницах /</a:t>
            </a:r>
            <a:r>
              <a:rPr lang="ru-RU" altLang="ru-RU" sz="1400" dirty="0" err="1">
                <a:solidFill>
                  <a:schemeClr val="tx1"/>
                </a:solidFill>
              </a:rPr>
              <a:t>home</a:t>
            </a:r>
            <a:r>
              <a:rPr lang="ru-RU" altLang="ru-RU" sz="1400" dirty="0">
                <a:solidFill>
                  <a:schemeClr val="tx1"/>
                </a:solidFill>
              </a:rPr>
              <a:t> или /</a:t>
            </a:r>
            <a:r>
              <a:rPr lang="ru-RU" altLang="ru-RU" sz="1400" dirty="0" err="1">
                <a:solidFill>
                  <a:schemeClr val="tx1"/>
                </a:solidFill>
              </a:rPr>
              <a:t>adminpage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Как правило, указывают в качестве пути корень </a:t>
            </a:r>
            <a:r>
              <a:rPr lang="ru-RU" altLang="ru-RU" sz="1400" dirty="0" err="1">
                <a:solidFill>
                  <a:schemeClr val="tx1"/>
                </a:solidFill>
              </a:rPr>
              <a:t>path</a:t>
            </a:r>
            <a:r>
              <a:rPr lang="ru-RU" altLang="ru-RU" sz="1400" dirty="0">
                <a:solidFill>
                  <a:schemeClr val="tx1"/>
                </a:solidFill>
              </a:rPr>
              <a:t>=/, чтобы </a:t>
            </a:r>
            <a:r>
              <a:rPr lang="ru-RU" altLang="ru-RU" sz="1400" dirty="0" err="1">
                <a:solidFill>
                  <a:schemeClr val="tx1"/>
                </a:solidFill>
              </a:rPr>
              <a:t>куки</a:t>
            </a:r>
            <a:r>
              <a:rPr lang="ru-RU" altLang="ru-RU" sz="1400" dirty="0">
                <a:solidFill>
                  <a:schemeClr val="tx1"/>
                </a:solidFill>
              </a:rPr>
              <a:t> было доступно на всех страницах сайта.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b="1" dirty="0">
                <a:solidFill>
                  <a:srgbClr val="FFFF00"/>
                </a:solidFill>
              </a:rPr>
              <a:t>domain=site.com</a:t>
            </a:r>
            <a:endParaRPr lang="en-US" altLang="ru-RU" sz="1400" b="1" dirty="0">
              <a:solidFill>
                <a:srgbClr val="FFFF00"/>
              </a:solidFill>
            </a:endParaRPr>
          </a:p>
          <a:p>
            <a:pPr mar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Домен определяет, где доступен файл </a:t>
            </a:r>
            <a:r>
              <a:rPr lang="ru-RU" sz="1400" dirty="0" err="1">
                <a:solidFill>
                  <a:schemeClr val="tx1"/>
                </a:solidFill>
              </a:rPr>
              <a:t>куки</a:t>
            </a:r>
            <a:r>
              <a:rPr lang="ru-RU" sz="1400" dirty="0">
                <a:solidFill>
                  <a:schemeClr val="tx1"/>
                </a:solidFill>
              </a:rPr>
              <a:t>. Однако на практике существуют определённые ограничения. Мы не можем указать здесь какой угодно домен.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если мы установим файл 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куки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на веб-сайте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site.com...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.cookie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"user=John"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...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мы не увидим его на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forum.site.com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.cookie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нет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user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Разрешение </a:t>
            </a:r>
            <a:r>
              <a:rPr lang="ru-RU" altLang="ru-RU" sz="1400" dirty="0" err="1">
                <a:solidFill>
                  <a:schemeClr val="tx1"/>
                </a:solidFill>
              </a:rPr>
              <a:t>поддоменам</a:t>
            </a:r>
            <a:r>
              <a:rPr lang="ru-RU" altLang="ru-RU" sz="1400" dirty="0">
                <a:solidFill>
                  <a:schemeClr val="tx1"/>
                </a:solidFill>
              </a:rPr>
              <a:t> типа forum.site.com получать </a:t>
            </a:r>
            <a:r>
              <a:rPr lang="ru-RU" altLang="ru-RU" sz="1400" dirty="0" err="1">
                <a:solidFill>
                  <a:schemeClr val="tx1"/>
                </a:solidFill>
              </a:rPr>
              <a:t>куки</a:t>
            </a:r>
            <a:r>
              <a:rPr lang="ru-RU" altLang="ru-RU" sz="1400" dirty="0">
                <a:solidFill>
                  <a:schemeClr val="tx1"/>
                </a:solidFill>
              </a:rPr>
              <a:t>, установленные на site.com  можно следующим способом:  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ru-RU" altLang="ru-RU" sz="1400" dirty="0" err="1">
                <a:solidFill>
                  <a:srgbClr val="F8F8F2"/>
                </a:solidFill>
                <a:latin typeface="Consolas" panose="020B0609020204030204" pitchFamily="49" charset="0"/>
              </a:rPr>
              <a:t>.cookie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user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John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; 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domain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=site.com"</a:t>
            </a:r>
            <a:r>
              <a:rPr lang="ru-RU" altLang="ru-RU" sz="700" dirty="0">
                <a:solidFill>
                  <a:srgbClr val="FFFF00"/>
                </a:solidFill>
              </a:rPr>
              <a:t> </a:t>
            </a:r>
            <a:endParaRPr lang="ru-RU" altLang="ru-RU" sz="20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096B034-B5EA-43A4-A868-C5CF1426A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664"/>
            <a:ext cx="65" cy="488529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4742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773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Куки, </a:t>
            </a:r>
            <a:r>
              <a:rPr lang="en-US" sz="2400" dirty="0" err="1"/>
              <a:t>document.cookie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b="1" dirty="0" err="1">
                <a:solidFill>
                  <a:srgbClr val="FFFF00"/>
                </a:solidFill>
              </a:rPr>
              <a:t>e</a:t>
            </a:r>
            <a:r>
              <a:rPr lang="ru-RU" altLang="ru-RU" sz="1400" b="1" dirty="0" err="1" bmk="">
                <a:solidFill>
                  <a:srgbClr val="FFFF00"/>
                </a:solidFill>
              </a:rPr>
              <a:t>xpires</a:t>
            </a:r>
            <a:r>
              <a:rPr lang="ru-RU" altLang="ru-RU" sz="1400" b="1" dirty="0" bmk="">
                <a:solidFill>
                  <a:srgbClr val="FFFF00"/>
                </a:solidFill>
              </a:rPr>
              <a:t>, </a:t>
            </a:r>
            <a:r>
              <a:rPr lang="ru-RU" altLang="ru-RU" sz="1400" b="1" dirty="0" err="1" bmk="">
                <a:solidFill>
                  <a:srgbClr val="FFFF00"/>
                </a:solidFill>
              </a:rPr>
              <a:t>max-age</a:t>
            </a:r>
            <a:endParaRPr lang="ru-RU" altLang="ru-RU" sz="1400" b="1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По умолчанию, если </a:t>
            </a:r>
            <a:r>
              <a:rPr lang="ru-RU" altLang="ru-RU" sz="1400" dirty="0" err="1">
                <a:solidFill>
                  <a:schemeClr val="tx1"/>
                </a:solidFill>
              </a:rPr>
              <a:t>куки</a:t>
            </a:r>
            <a:r>
              <a:rPr lang="ru-RU" altLang="ru-RU" sz="1400" dirty="0">
                <a:solidFill>
                  <a:schemeClr val="tx1"/>
                </a:solidFill>
              </a:rPr>
              <a:t> не имеют ни одного из этих параметров, то они удалятся при закрытии браузера. Такие </a:t>
            </a:r>
            <a:r>
              <a:rPr lang="ru-RU" altLang="ru-RU" sz="1400" dirty="0" err="1">
                <a:solidFill>
                  <a:schemeClr val="tx1"/>
                </a:solidFill>
              </a:rPr>
              <a:t>куки</a:t>
            </a:r>
            <a:r>
              <a:rPr lang="ru-RU" altLang="ru-RU" sz="1400" dirty="0">
                <a:solidFill>
                  <a:schemeClr val="tx1"/>
                </a:solidFill>
              </a:rPr>
              <a:t> называются сессионными («</a:t>
            </a:r>
            <a:r>
              <a:rPr lang="ru-RU" altLang="ru-RU" sz="1400" dirty="0" err="1">
                <a:solidFill>
                  <a:srgbClr val="FFFF00"/>
                </a:solidFill>
              </a:rPr>
              <a:t>session</a:t>
            </a:r>
            <a:r>
              <a:rPr lang="ru-RU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 err="1">
                <a:solidFill>
                  <a:srgbClr val="FFFF00"/>
                </a:solidFill>
              </a:rPr>
              <a:t>cookies</a:t>
            </a:r>
            <a:r>
              <a:rPr lang="ru-RU" altLang="ru-RU" sz="1400" dirty="0">
                <a:solidFill>
                  <a:schemeClr val="tx1"/>
                </a:solidFill>
              </a:rPr>
              <a:t>»).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Чтобы помочь </a:t>
            </a:r>
            <a:r>
              <a:rPr lang="ru-RU" altLang="ru-RU" sz="1400" dirty="0" err="1">
                <a:solidFill>
                  <a:schemeClr val="tx1"/>
                </a:solidFill>
              </a:rPr>
              <a:t>куки</a:t>
            </a:r>
            <a:r>
              <a:rPr lang="ru-RU" altLang="ru-RU" sz="1400" dirty="0">
                <a:solidFill>
                  <a:schemeClr val="tx1"/>
                </a:solidFill>
              </a:rPr>
              <a:t> «пережить» закрытие браузера, мы можем установить значение опций </a:t>
            </a:r>
            <a:r>
              <a:rPr lang="ru-RU" altLang="ru-RU" sz="1400" dirty="0" err="1">
                <a:solidFill>
                  <a:srgbClr val="FFFF00"/>
                </a:solidFill>
              </a:rPr>
              <a:t>expires</a:t>
            </a:r>
            <a:r>
              <a:rPr lang="ru-RU" altLang="ru-RU" sz="1400" dirty="0">
                <a:solidFill>
                  <a:schemeClr val="tx1"/>
                </a:solidFill>
              </a:rPr>
              <a:t> или </a:t>
            </a:r>
            <a:r>
              <a:rPr lang="ru-RU" altLang="ru-RU" sz="1400" dirty="0" err="1">
                <a:solidFill>
                  <a:srgbClr val="FFFF00"/>
                </a:solidFill>
              </a:rPr>
              <a:t>max-age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b="1" dirty="0" err="1">
                <a:solidFill>
                  <a:srgbClr val="FFFF00"/>
                </a:solidFill>
              </a:rPr>
              <a:t>expires</a:t>
            </a:r>
            <a:r>
              <a:rPr lang="ru-RU" altLang="ru-RU" sz="1400" b="1" dirty="0">
                <a:solidFill>
                  <a:srgbClr val="FFFF00"/>
                </a:solidFill>
              </a:rPr>
              <a:t>=</a:t>
            </a:r>
            <a:r>
              <a:rPr lang="ru-RU" altLang="ru-RU" sz="1400" b="1" dirty="0" err="1">
                <a:solidFill>
                  <a:srgbClr val="FFFF00"/>
                </a:solidFill>
              </a:rPr>
              <a:t>Tue</a:t>
            </a:r>
            <a:r>
              <a:rPr lang="ru-RU" altLang="ru-RU" sz="1400" b="1" dirty="0">
                <a:solidFill>
                  <a:srgbClr val="FFFF00"/>
                </a:solidFill>
              </a:rPr>
              <a:t>, 19 </a:t>
            </a:r>
            <a:r>
              <a:rPr lang="ru-RU" altLang="ru-RU" sz="1400" b="1" dirty="0" err="1">
                <a:solidFill>
                  <a:srgbClr val="FFFF00"/>
                </a:solidFill>
              </a:rPr>
              <a:t>Jan</a:t>
            </a:r>
            <a:r>
              <a:rPr lang="ru-RU" altLang="ru-RU" sz="1400" b="1" dirty="0">
                <a:solidFill>
                  <a:srgbClr val="FFFF00"/>
                </a:solidFill>
              </a:rPr>
              <a:t> 2038 03:14:07 GMT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Дата истечения срока действия </a:t>
            </a:r>
            <a:r>
              <a:rPr lang="ru-RU" altLang="ru-RU" sz="1400" dirty="0" err="1">
                <a:solidFill>
                  <a:schemeClr val="tx1"/>
                </a:solidFill>
              </a:rPr>
              <a:t>куки</a:t>
            </a:r>
            <a:r>
              <a:rPr lang="ru-RU" altLang="ru-RU" sz="1400" dirty="0">
                <a:solidFill>
                  <a:schemeClr val="tx1"/>
                </a:solidFill>
              </a:rPr>
              <a:t>, когда браузер удалит его автоматически.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Дата должна быть точно в этом формате, во временной зоне GMT. Мы можем использовать </a:t>
            </a:r>
            <a:r>
              <a:rPr lang="ru-RU" altLang="ru-RU" sz="1400" dirty="0" err="1">
                <a:solidFill>
                  <a:schemeClr val="tx1"/>
                </a:solidFill>
              </a:rPr>
              <a:t>date.toUTCString</a:t>
            </a:r>
            <a:r>
              <a:rPr lang="ru-RU" altLang="ru-RU" sz="1400" dirty="0">
                <a:solidFill>
                  <a:schemeClr val="tx1"/>
                </a:solidFill>
              </a:rPr>
              <a:t>, чтобы получить правильную дату. Например, мы можем установить срок действия </a:t>
            </a:r>
            <a:r>
              <a:rPr lang="ru-RU" altLang="ru-RU" sz="1400" dirty="0" err="1">
                <a:solidFill>
                  <a:schemeClr val="tx1"/>
                </a:solidFill>
              </a:rPr>
              <a:t>куки</a:t>
            </a:r>
            <a:r>
              <a:rPr lang="ru-RU" altLang="ru-RU" sz="1400" dirty="0">
                <a:solidFill>
                  <a:schemeClr val="tx1"/>
                </a:solidFill>
              </a:rPr>
              <a:t> на 1 день.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+1 день от текущей даты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date =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Date(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Date.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now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 + 86400e3);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date =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date.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toUTCString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.cookie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"user=John; expires="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+ date;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b="1" dirty="0" err="1">
                <a:solidFill>
                  <a:srgbClr val="FFFF00"/>
                </a:solidFill>
              </a:rPr>
              <a:t>max-age</a:t>
            </a:r>
            <a:r>
              <a:rPr lang="ru-RU" altLang="ru-RU" sz="1400" b="1" dirty="0">
                <a:solidFill>
                  <a:srgbClr val="FFFF00"/>
                </a:solidFill>
              </a:rPr>
              <a:t>=3600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Альтернатива </a:t>
            </a:r>
            <a:r>
              <a:rPr lang="ru-RU" altLang="ru-RU" sz="1400" dirty="0" err="1">
                <a:solidFill>
                  <a:srgbClr val="FFFF00"/>
                </a:solidFill>
              </a:rPr>
              <a:t>expires</a:t>
            </a:r>
            <a:r>
              <a:rPr lang="ru-RU" altLang="ru-RU" sz="1400" dirty="0">
                <a:solidFill>
                  <a:schemeClr val="tx1"/>
                </a:solidFill>
              </a:rPr>
              <a:t>, определяет срок действия </a:t>
            </a:r>
            <a:r>
              <a:rPr lang="ru-RU" altLang="ru-RU" sz="1400" dirty="0" err="1">
                <a:solidFill>
                  <a:schemeClr val="tx1"/>
                </a:solidFill>
              </a:rPr>
              <a:t>куки</a:t>
            </a:r>
            <a:r>
              <a:rPr lang="ru-RU" altLang="ru-RU" sz="1400" dirty="0">
                <a:solidFill>
                  <a:schemeClr val="tx1"/>
                </a:solidFill>
              </a:rPr>
              <a:t> в секундах с текущего момента.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096B034-B5EA-43A4-A868-C5CF1426A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664"/>
            <a:ext cx="65" cy="488529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4742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1241DC3-899D-4492-8F2C-E80AFE1BF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921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Куки, </a:t>
            </a:r>
            <a:r>
              <a:rPr lang="en-US" sz="2400" dirty="0" err="1"/>
              <a:t>document.cookie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b="1" dirty="0" err="1">
                <a:solidFill>
                  <a:srgbClr val="FFFF00"/>
                </a:solidFill>
              </a:rPr>
              <a:t>secure</a:t>
            </a:r>
            <a:endParaRPr lang="ru-RU" altLang="ru-RU" sz="15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Куки следует передавать только по HTTPS-протоколу.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По умолчанию </a:t>
            </a:r>
            <a:r>
              <a:rPr lang="ru-RU" altLang="ru-RU" sz="1500" dirty="0" err="1">
                <a:solidFill>
                  <a:schemeClr val="tx1"/>
                </a:solidFill>
              </a:rPr>
              <a:t>куки</a:t>
            </a:r>
            <a:r>
              <a:rPr lang="ru-RU" altLang="ru-RU" sz="1500" dirty="0">
                <a:solidFill>
                  <a:schemeClr val="tx1"/>
                </a:solidFill>
              </a:rPr>
              <a:t>, установленные сайтом http://site.com, также будут доступны на сайте https://site.com и наоборот.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То есть, </a:t>
            </a:r>
            <a:r>
              <a:rPr lang="ru-RU" altLang="ru-RU" sz="1500" dirty="0" err="1">
                <a:solidFill>
                  <a:schemeClr val="tx1"/>
                </a:solidFill>
              </a:rPr>
              <a:t>куки</a:t>
            </a:r>
            <a:r>
              <a:rPr lang="ru-RU" altLang="ru-RU" sz="1500" dirty="0">
                <a:solidFill>
                  <a:schemeClr val="tx1"/>
                </a:solidFill>
              </a:rPr>
              <a:t>, по умолчанию, опираются на доменное имя, они не обращают внимания на протоколы.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С этой настройкой, если </a:t>
            </a:r>
            <a:r>
              <a:rPr lang="ru-RU" altLang="ru-RU" sz="1500" dirty="0" err="1">
                <a:solidFill>
                  <a:schemeClr val="tx1"/>
                </a:solidFill>
              </a:rPr>
              <a:t>куки</a:t>
            </a:r>
            <a:r>
              <a:rPr lang="ru-RU" altLang="ru-RU" sz="1500" dirty="0">
                <a:solidFill>
                  <a:schemeClr val="tx1"/>
                </a:solidFill>
              </a:rPr>
              <a:t> будет установлено на сайте https://site.com, то оно не будет доступно на том же сайте с протоколом HTTP, как http://site.com. Таким образом, если в </a:t>
            </a:r>
            <a:r>
              <a:rPr lang="ru-RU" altLang="ru-RU" sz="1500" dirty="0" err="1">
                <a:solidFill>
                  <a:schemeClr val="tx1"/>
                </a:solidFill>
              </a:rPr>
              <a:t>куки</a:t>
            </a:r>
            <a:r>
              <a:rPr lang="ru-RU" altLang="ru-RU" sz="1500" dirty="0">
                <a:solidFill>
                  <a:schemeClr val="tx1"/>
                </a:solidFill>
              </a:rPr>
              <a:t> хранится конфиденциальная информация, которую не следует передавать по незашифрованному протоколу HTTP, то нужно установить этот флаг.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ru-RU" altLang="ru-RU" sz="1500" dirty="0" err="1">
                <a:solidFill>
                  <a:srgbClr val="F8F8F2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cookie</a:t>
            </a:r>
            <a:r>
              <a:rPr lang="ru-RU" altLang="ru-RU" sz="15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5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user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John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;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secure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r>
              <a:rPr lang="ru-RU" altLang="ru-RU" sz="1500" dirty="0">
                <a:solidFill>
                  <a:schemeClr val="tx1"/>
                </a:solidFill>
              </a:rPr>
              <a:t> </a:t>
            </a:r>
            <a:endParaRPr lang="ru-RU" altLang="ru-RU" sz="1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500" b="1" dirty="0" err="1">
                <a:solidFill>
                  <a:srgbClr val="FFFF00"/>
                </a:solidFill>
              </a:rPr>
              <a:t>samesite</a:t>
            </a:r>
            <a:endParaRPr lang="ru-RU" sz="1500" b="1" dirty="0">
              <a:solidFill>
                <a:srgbClr val="FFFF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500" dirty="0">
                <a:solidFill>
                  <a:schemeClr val="tx1"/>
                </a:solidFill>
              </a:rPr>
              <a:t>Это ещё одна настройка безопасности, применяется для защиты от так называемой XSRF-атаки (межсайтовая подделка запроса).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096B034-B5EA-43A4-A868-C5CF1426A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664"/>
            <a:ext cx="65" cy="488529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4742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1241DC3-899D-4492-8F2C-E80AFE1BF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884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Куки, </a:t>
            </a:r>
            <a:r>
              <a:rPr lang="en-US" sz="2400" dirty="0" err="1"/>
              <a:t>document.cookie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>
                <a:solidFill>
                  <a:srgbClr val="FFFF00"/>
                </a:solidFill>
              </a:rPr>
              <a:t>Итого: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chemeClr val="tx1"/>
                </a:solidFill>
              </a:rPr>
              <a:t>document.cookie</a:t>
            </a:r>
            <a:r>
              <a:rPr lang="ru-RU" altLang="ru-RU" sz="1500" dirty="0">
                <a:solidFill>
                  <a:schemeClr val="tx1"/>
                </a:solidFill>
              </a:rPr>
              <a:t> предоставляет доступ к </a:t>
            </a:r>
            <a:r>
              <a:rPr lang="ru-RU" altLang="ru-RU" sz="1500" dirty="0" err="1">
                <a:solidFill>
                  <a:schemeClr val="tx1"/>
                </a:solidFill>
              </a:rPr>
              <a:t>куки</a:t>
            </a:r>
            <a:r>
              <a:rPr lang="ru-RU" altLang="ru-RU" sz="1500" dirty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</a:rPr>
              <a:t>Операция записи изменяет только то </a:t>
            </a:r>
            <a:r>
              <a:rPr lang="ru-RU" altLang="ru-RU" sz="1500" dirty="0" err="1">
                <a:solidFill>
                  <a:schemeClr val="tx1"/>
                </a:solidFill>
              </a:rPr>
              <a:t>куки</a:t>
            </a:r>
            <a:r>
              <a:rPr lang="ru-RU" altLang="ru-RU" sz="1500" dirty="0">
                <a:solidFill>
                  <a:schemeClr val="tx1"/>
                </a:solidFill>
              </a:rPr>
              <a:t>, которое было указано.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</a:rPr>
              <a:t>Имя и значение </a:t>
            </a:r>
            <a:r>
              <a:rPr lang="ru-RU" altLang="ru-RU" sz="1500" dirty="0" err="1">
                <a:solidFill>
                  <a:schemeClr val="tx1"/>
                </a:solidFill>
              </a:rPr>
              <a:t>куки</a:t>
            </a:r>
            <a:r>
              <a:rPr lang="ru-RU" altLang="ru-RU" sz="1500" dirty="0">
                <a:solidFill>
                  <a:schemeClr val="tx1"/>
                </a:solidFill>
              </a:rPr>
              <a:t> должны быть закодированы.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</a:rPr>
              <a:t>Одно </a:t>
            </a:r>
            <a:r>
              <a:rPr lang="ru-RU" altLang="ru-RU" sz="1500" dirty="0" err="1">
                <a:solidFill>
                  <a:schemeClr val="tx1"/>
                </a:solidFill>
              </a:rPr>
              <a:t>куки</a:t>
            </a:r>
            <a:r>
              <a:rPr lang="ru-RU" altLang="ru-RU" sz="1500" dirty="0">
                <a:solidFill>
                  <a:schemeClr val="tx1"/>
                </a:solidFill>
              </a:rPr>
              <a:t> вмещает до 4kb данных, разрешается более 20 </a:t>
            </a:r>
            <a:r>
              <a:rPr lang="ru-RU" altLang="ru-RU" sz="1500" dirty="0" err="1">
                <a:solidFill>
                  <a:schemeClr val="tx1"/>
                </a:solidFill>
              </a:rPr>
              <a:t>куки</a:t>
            </a:r>
            <a:r>
              <a:rPr lang="ru-RU" altLang="ru-RU" sz="1500" dirty="0">
                <a:solidFill>
                  <a:schemeClr val="tx1"/>
                </a:solidFill>
              </a:rPr>
              <a:t> на сайт (зависит от браузера).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Настройки </a:t>
            </a:r>
            <a:r>
              <a:rPr lang="ru-RU" altLang="ru-RU" sz="1500" dirty="0" err="1">
                <a:solidFill>
                  <a:schemeClr val="tx1"/>
                </a:solidFill>
              </a:rPr>
              <a:t>куки</a:t>
            </a:r>
            <a:r>
              <a:rPr lang="ru-RU" altLang="ru-RU" sz="1500" dirty="0">
                <a:solidFill>
                  <a:schemeClr val="tx1"/>
                </a:solidFill>
              </a:rPr>
              <a:t>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path</a:t>
            </a:r>
            <a:r>
              <a:rPr lang="ru-RU" altLang="ru-RU" sz="1500" dirty="0">
                <a:solidFill>
                  <a:srgbClr val="FFFF00"/>
                </a:solidFill>
              </a:rPr>
              <a:t>=/, </a:t>
            </a:r>
            <a:r>
              <a:rPr lang="ru-RU" altLang="ru-RU" sz="1500" dirty="0">
                <a:solidFill>
                  <a:schemeClr val="tx1"/>
                </a:solidFill>
              </a:rPr>
              <a:t>по умолчанию устанавливается текущий путь, делает </a:t>
            </a:r>
            <a:r>
              <a:rPr lang="ru-RU" altLang="ru-RU" sz="1500" dirty="0" err="1">
                <a:solidFill>
                  <a:schemeClr val="tx1"/>
                </a:solidFill>
              </a:rPr>
              <a:t>куки</a:t>
            </a:r>
            <a:r>
              <a:rPr lang="ru-RU" altLang="ru-RU" sz="1500" dirty="0">
                <a:solidFill>
                  <a:schemeClr val="tx1"/>
                </a:solidFill>
              </a:rPr>
              <a:t> видимым только по указанному пути и ниже.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domain</a:t>
            </a:r>
            <a:r>
              <a:rPr lang="ru-RU" altLang="ru-RU" sz="1500" dirty="0">
                <a:solidFill>
                  <a:srgbClr val="FFFF00"/>
                </a:solidFill>
              </a:rPr>
              <a:t>=site.com</a:t>
            </a:r>
            <a:r>
              <a:rPr lang="ru-RU" altLang="ru-RU" sz="1500" dirty="0">
                <a:solidFill>
                  <a:schemeClr val="tx1"/>
                </a:solidFill>
              </a:rPr>
              <a:t>, по умолчанию </a:t>
            </a:r>
            <a:r>
              <a:rPr lang="ru-RU" altLang="ru-RU" sz="1500" dirty="0" err="1">
                <a:solidFill>
                  <a:schemeClr val="tx1"/>
                </a:solidFill>
              </a:rPr>
              <a:t>куки</a:t>
            </a:r>
            <a:r>
              <a:rPr lang="ru-RU" altLang="ru-RU" sz="1500" dirty="0">
                <a:solidFill>
                  <a:schemeClr val="tx1"/>
                </a:solidFill>
              </a:rPr>
              <a:t> видно только на текущем домене, если явно указан домен, то </a:t>
            </a:r>
            <a:r>
              <a:rPr lang="ru-RU" altLang="ru-RU" sz="1500" dirty="0" err="1">
                <a:solidFill>
                  <a:schemeClr val="tx1"/>
                </a:solidFill>
              </a:rPr>
              <a:t>куки</a:t>
            </a:r>
            <a:r>
              <a:rPr lang="ru-RU" altLang="ru-RU" sz="1500" dirty="0">
                <a:solidFill>
                  <a:schemeClr val="tx1"/>
                </a:solidFill>
              </a:rPr>
              <a:t> видно и на </a:t>
            </a:r>
            <a:r>
              <a:rPr lang="ru-RU" altLang="ru-RU" sz="1500" dirty="0" err="1">
                <a:solidFill>
                  <a:schemeClr val="tx1"/>
                </a:solidFill>
              </a:rPr>
              <a:t>поддоменах</a:t>
            </a:r>
            <a:r>
              <a:rPr lang="ru-RU" altLang="ru-RU" sz="1500" dirty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expires</a:t>
            </a:r>
            <a:r>
              <a:rPr lang="ru-RU" altLang="ru-RU" sz="1500" dirty="0">
                <a:solidFill>
                  <a:schemeClr val="tx1"/>
                </a:solidFill>
              </a:rPr>
              <a:t> или </a:t>
            </a:r>
            <a:r>
              <a:rPr lang="ru-RU" altLang="ru-RU" sz="1500" dirty="0" err="1">
                <a:solidFill>
                  <a:srgbClr val="FFFF00"/>
                </a:solidFill>
              </a:rPr>
              <a:t>max-age</a:t>
            </a:r>
            <a:r>
              <a:rPr lang="ru-RU" altLang="ru-RU" sz="1500" dirty="0">
                <a:solidFill>
                  <a:srgbClr val="FFFF00"/>
                </a:solidFill>
              </a:rPr>
              <a:t> </a:t>
            </a:r>
            <a:r>
              <a:rPr lang="ru-RU" altLang="ru-RU" sz="1500" dirty="0">
                <a:solidFill>
                  <a:schemeClr val="tx1"/>
                </a:solidFill>
              </a:rPr>
              <a:t>устанавливает дату истечения срока действия, без них </a:t>
            </a:r>
            <a:r>
              <a:rPr lang="ru-RU" altLang="ru-RU" sz="1500" dirty="0" err="1">
                <a:solidFill>
                  <a:schemeClr val="tx1"/>
                </a:solidFill>
              </a:rPr>
              <a:t>куки</a:t>
            </a:r>
            <a:r>
              <a:rPr lang="ru-RU" altLang="ru-RU" sz="1500" dirty="0">
                <a:solidFill>
                  <a:schemeClr val="tx1"/>
                </a:solidFill>
              </a:rPr>
              <a:t> умрёт при закрытии браузера.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secure</a:t>
            </a:r>
            <a:r>
              <a:rPr lang="ru-RU" altLang="ru-RU" sz="1500" dirty="0">
                <a:solidFill>
                  <a:schemeClr val="tx1"/>
                </a:solidFill>
              </a:rPr>
              <a:t> делает </a:t>
            </a:r>
            <a:r>
              <a:rPr lang="ru-RU" altLang="ru-RU" sz="1500" dirty="0" err="1">
                <a:solidFill>
                  <a:schemeClr val="tx1"/>
                </a:solidFill>
              </a:rPr>
              <a:t>куки</a:t>
            </a:r>
            <a:r>
              <a:rPr lang="ru-RU" altLang="ru-RU" sz="1500" dirty="0">
                <a:solidFill>
                  <a:schemeClr val="tx1"/>
                </a:solidFill>
              </a:rPr>
              <a:t> доступным только при использовании HTTPS.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samesite</a:t>
            </a:r>
            <a:r>
              <a:rPr lang="ru-RU" altLang="ru-RU" sz="1500" dirty="0">
                <a:solidFill>
                  <a:srgbClr val="FFFF00"/>
                </a:solidFill>
              </a:rPr>
              <a:t> </a:t>
            </a:r>
            <a:r>
              <a:rPr lang="ru-RU" altLang="ru-RU" sz="1500" dirty="0">
                <a:solidFill>
                  <a:schemeClr val="tx1"/>
                </a:solidFill>
              </a:rPr>
              <a:t>запрещает браузеру отправлять </a:t>
            </a:r>
            <a:r>
              <a:rPr lang="ru-RU" altLang="ru-RU" sz="1500" dirty="0" err="1">
                <a:solidFill>
                  <a:schemeClr val="tx1"/>
                </a:solidFill>
              </a:rPr>
              <a:t>куки</a:t>
            </a:r>
            <a:r>
              <a:rPr lang="ru-RU" altLang="ru-RU" sz="1500" dirty="0">
                <a:solidFill>
                  <a:schemeClr val="tx1"/>
                </a:solidFill>
              </a:rPr>
              <a:t> с запросами, поступающими извне, помогает предотвратить XSRF-атаки.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endParaRPr lang="ru-RU" sz="1500" dirty="0">
              <a:solidFill>
                <a:srgbClr val="FFFF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096B034-B5EA-43A4-A868-C5CF1426A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664"/>
            <a:ext cx="65" cy="488529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4742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1241DC3-899D-4492-8F2C-E80AFE1BF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7A07A6C-37B0-405E-B7B1-14AE4BEA3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82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620444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Напишите функцию </a:t>
            </a:r>
            <a:r>
              <a:rPr lang="ru-RU" sz="1400" dirty="0" err="1">
                <a:solidFill>
                  <a:schemeClr val="tx1"/>
                </a:solidFill>
              </a:rPr>
              <a:t>setCookie</a:t>
            </a:r>
            <a:r>
              <a:rPr lang="ru-RU" sz="1400" dirty="0">
                <a:solidFill>
                  <a:schemeClr val="tx1"/>
                </a:solidFill>
              </a:rPr>
              <a:t>(</a:t>
            </a:r>
            <a:r>
              <a:rPr lang="ru-RU" sz="1400" dirty="0" err="1">
                <a:solidFill>
                  <a:schemeClr val="tx1"/>
                </a:solidFill>
              </a:rPr>
              <a:t>name</a:t>
            </a:r>
            <a:r>
              <a:rPr lang="ru-RU" sz="1400" dirty="0">
                <a:solidFill>
                  <a:schemeClr val="tx1"/>
                </a:solidFill>
              </a:rPr>
              <a:t>, </a:t>
            </a:r>
            <a:r>
              <a:rPr lang="ru-RU" sz="1400" dirty="0" err="1">
                <a:solidFill>
                  <a:schemeClr val="tx1"/>
                </a:solidFill>
              </a:rPr>
              <a:t>value</a:t>
            </a:r>
            <a:r>
              <a:rPr lang="ru-RU" sz="1400" dirty="0">
                <a:solidFill>
                  <a:schemeClr val="tx1"/>
                </a:solidFill>
              </a:rPr>
              <a:t>, </a:t>
            </a:r>
            <a:r>
              <a:rPr lang="ru-RU" sz="1400" dirty="0" err="1">
                <a:solidFill>
                  <a:schemeClr val="tx1"/>
                </a:solidFill>
              </a:rPr>
              <a:t>expiresDays</a:t>
            </a:r>
            <a:r>
              <a:rPr lang="ru-RU" sz="1400" dirty="0">
                <a:solidFill>
                  <a:schemeClr val="tx1"/>
                </a:solidFill>
              </a:rPr>
              <a:t>), которая устанавливает </a:t>
            </a:r>
            <a:r>
              <a:rPr lang="ru-RU" sz="1400" dirty="0" err="1">
                <a:solidFill>
                  <a:schemeClr val="tx1"/>
                </a:solidFill>
              </a:rPr>
              <a:t>cookie</a:t>
            </a:r>
            <a:r>
              <a:rPr lang="ru-RU" sz="1400" dirty="0">
                <a:solidFill>
                  <a:schemeClr val="tx1"/>
                </a:solidFill>
              </a:rPr>
              <a:t> с указанным именем, значением и сроком действия в днях.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  <a:r>
              <a:rPr lang="en-US" altLang="ru-RU" sz="1400" dirty="0">
                <a:solidFill>
                  <a:schemeClr val="tx1"/>
                </a:solidFill>
              </a:rPr>
              <a:t>(</a:t>
            </a:r>
            <a:r>
              <a:rPr lang="ru-RU" altLang="ru-RU" sz="1400" dirty="0">
                <a:solidFill>
                  <a:schemeClr val="tx1"/>
                </a:solidFill>
              </a:rPr>
              <a:t>Для установки времени используйте метод </a:t>
            </a:r>
            <a:r>
              <a:rPr lang="en-US" altLang="ru-RU" sz="1400" dirty="0" err="1">
                <a:solidFill>
                  <a:schemeClr val="tx1"/>
                </a:solidFill>
              </a:rPr>
              <a:t>date.setTime</a:t>
            </a:r>
            <a:r>
              <a:rPr lang="en-US" altLang="ru-RU" sz="1400" dirty="0">
                <a:solidFill>
                  <a:schemeClr val="tx1"/>
                </a:solidFill>
              </a:rPr>
              <a:t>)</a:t>
            </a:r>
          </a:p>
          <a:p>
            <a:pPr marL="300038" lvl="1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setCookie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name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value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expiresDays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{ </a:t>
            </a:r>
            <a:endParaRPr lang="en-US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300038" lvl="1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i="1" dirty="0">
                <a:solidFill>
                  <a:srgbClr val="57A64A"/>
                </a:solidFill>
                <a:latin typeface="Consolas" panose="020B0609020204030204" pitchFamily="49" charset="0"/>
              </a:rPr>
              <a:t>// Реализуйте эту функцию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i="1" dirty="0">
                <a:solidFill>
                  <a:srgbClr val="57A64A"/>
                </a:solidFill>
                <a:latin typeface="Consolas" panose="020B0609020204030204" pitchFamily="49" charset="0"/>
              </a:rPr>
              <a:t>// ...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endParaRPr lang="en-US" altLang="ru-RU" sz="1400" dirty="0">
              <a:solidFill>
                <a:srgbClr val="DCDCDC"/>
              </a:solidFill>
              <a:latin typeface="Consolas" panose="020B0609020204030204" pitchFamily="49" charset="0"/>
            </a:endParaRPr>
          </a:p>
          <a:p>
            <a:pPr marL="300038" lvl="1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endParaRPr lang="en-US" altLang="ru-RU" sz="1400" dirty="0">
              <a:solidFill>
                <a:srgbClr val="DCDCDC"/>
              </a:solidFill>
              <a:latin typeface="Consolas" panose="020B0609020204030204" pitchFamily="49" charset="0"/>
            </a:endParaRPr>
          </a:p>
          <a:p>
            <a:pPr marL="300038" lvl="1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setCookie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 err="1">
                <a:solidFill>
                  <a:srgbClr val="D69D85"/>
                </a:solidFill>
                <a:latin typeface="Consolas" panose="020B0609020204030204" pitchFamily="49" charset="0"/>
              </a:rPr>
              <a:t>username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, 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 err="1">
                <a:solidFill>
                  <a:srgbClr val="D69D85"/>
                </a:solidFill>
                <a:latin typeface="Consolas" panose="020B0609020204030204" pitchFamily="49" charset="0"/>
              </a:rPr>
              <a:t>John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rgbClr val="D69D85"/>
                </a:solidFill>
                <a:latin typeface="Consolas" panose="020B0609020204030204" pitchFamily="49" charset="0"/>
              </a:rPr>
              <a:t>Doe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, </a:t>
            </a:r>
            <a:r>
              <a:rPr lang="ru-RU" altLang="ru-RU" sz="1400" dirty="0">
                <a:solidFill>
                  <a:srgbClr val="B8D7A3"/>
                </a:solidFill>
                <a:latin typeface="Consolas" panose="020B0609020204030204" pitchFamily="49" charset="0"/>
              </a:rPr>
              <a:t>30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endParaRPr lang="ru-RU" altLang="ru-RU" sz="1400" dirty="0">
              <a:solidFill>
                <a:schemeClr val="tx1"/>
              </a:solidFill>
            </a:endParaRPr>
          </a:p>
          <a:p>
            <a:pPr marL="342900" indent="-34290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Напишите функцию </a:t>
            </a:r>
            <a:r>
              <a:rPr lang="ru-RU" sz="1400" dirty="0" err="1">
                <a:solidFill>
                  <a:schemeClr val="tx1"/>
                </a:solidFill>
              </a:rPr>
              <a:t>hasCookie</a:t>
            </a:r>
            <a:r>
              <a:rPr lang="ru-RU" sz="1400" dirty="0">
                <a:solidFill>
                  <a:schemeClr val="tx1"/>
                </a:solidFill>
              </a:rPr>
              <a:t>(</a:t>
            </a:r>
            <a:r>
              <a:rPr lang="ru-RU" sz="1400" dirty="0" err="1">
                <a:solidFill>
                  <a:schemeClr val="tx1"/>
                </a:solidFill>
              </a:rPr>
              <a:t>name</a:t>
            </a:r>
            <a:r>
              <a:rPr lang="ru-RU" sz="1400" dirty="0">
                <a:solidFill>
                  <a:schemeClr val="tx1"/>
                </a:solidFill>
              </a:rPr>
              <a:t>), которая возвращает </a:t>
            </a:r>
            <a:r>
              <a:rPr lang="ru-RU" sz="1400" dirty="0" err="1">
                <a:solidFill>
                  <a:schemeClr val="tx1"/>
                </a:solidFill>
              </a:rPr>
              <a:t>true</a:t>
            </a:r>
            <a:r>
              <a:rPr lang="ru-RU" sz="1400" dirty="0">
                <a:solidFill>
                  <a:schemeClr val="tx1"/>
                </a:solidFill>
              </a:rPr>
              <a:t>, если </a:t>
            </a:r>
            <a:r>
              <a:rPr lang="ru-RU" sz="1400" dirty="0" err="1">
                <a:solidFill>
                  <a:schemeClr val="tx1"/>
                </a:solidFill>
              </a:rPr>
              <a:t>cookie</a:t>
            </a:r>
            <a:r>
              <a:rPr lang="ru-RU" sz="1400" dirty="0">
                <a:solidFill>
                  <a:schemeClr val="tx1"/>
                </a:solidFill>
              </a:rPr>
              <a:t> с указанным именем существует, и </a:t>
            </a:r>
            <a:r>
              <a:rPr lang="ru-RU" sz="1400" dirty="0" err="1">
                <a:solidFill>
                  <a:schemeClr val="tx1"/>
                </a:solidFill>
              </a:rPr>
              <a:t>false</a:t>
            </a:r>
            <a:r>
              <a:rPr lang="ru-RU" sz="1400" dirty="0">
                <a:solidFill>
                  <a:schemeClr val="tx1"/>
                </a:solidFill>
              </a:rPr>
              <a:t> в противном случае. Для удаления пробелов в начале и конце строки используйте метод </a:t>
            </a:r>
            <a:r>
              <a:rPr lang="en-US" sz="1400" dirty="0">
                <a:solidFill>
                  <a:srgbClr val="FFFF00"/>
                </a:solidFill>
              </a:rPr>
              <a:t>trim()</a:t>
            </a:r>
            <a:endParaRPr lang="ru-RU" sz="1400" dirty="0">
              <a:solidFill>
                <a:srgbClr val="FFFF00"/>
              </a:solidFill>
            </a:endParaRPr>
          </a:p>
          <a:p>
            <a:pPr marL="300038" lvl="1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hasCookie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name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{ </a:t>
            </a:r>
            <a:r>
              <a:rPr lang="ru-RU" altLang="ru-RU" sz="1400" i="1" dirty="0">
                <a:solidFill>
                  <a:srgbClr val="57A64A"/>
                </a:solidFill>
                <a:latin typeface="Consolas" panose="020B0609020204030204" pitchFamily="49" charset="0"/>
              </a:rPr>
              <a:t>// Реализуйте эту функцию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i="1" dirty="0">
                <a:solidFill>
                  <a:srgbClr val="57A64A"/>
                </a:solidFill>
                <a:latin typeface="Consolas" panose="020B0609020204030204" pitchFamily="49" charset="0"/>
              </a:rPr>
              <a:t>// ...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 </a:t>
            </a:r>
          </a:p>
          <a:p>
            <a:pPr marL="300038" lvl="1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if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(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hasCookie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ru-RU" altLang="ru-RU" sz="1400" dirty="0" err="1">
                <a:solidFill>
                  <a:srgbClr val="D69D85"/>
                </a:solidFill>
                <a:latin typeface="Consolas" panose="020B0609020204030204" pitchFamily="49" charset="0"/>
              </a:rPr>
              <a:t>username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")) { </a:t>
            </a:r>
          </a:p>
          <a:p>
            <a:pPr marL="300038" lvl="1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4EC9B0"/>
                </a:solidFill>
                <a:latin typeface="Consolas" panose="020B0609020204030204" pitchFamily="49" charset="0"/>
              </a:rPr>
              <a:t>    console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log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 err="1">
                <a:solidFill>
                  <a:srgbClr val="D69D85"/>
                </a:solidFill>
                <a:latin typeface="Consolas" panose="020B0609020204030204" pitchFamily="49" charset="0"/>
              </a:rPr>
              <a:t>Cookie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 '</a:t>
            </a:r>
            <a:r>
              <a:rPr lang="ru-RU" altLang="ru-RU" sz="1400" dirty="0" err="1">
                <a:solidFill>
                  <a:srgbClr val="D69D85"/>
                </a:solidFill>
                <a:latin typeface="Consolas" panose="020B0609020204030204" pitchFamily="49" charset="0"/>
              </a:rPr>
              <a:t>username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' существует"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</a:p>
          <a:p>
            <a:pPr marL="300038" lvl="1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} </a:t>
            </a:r>
            <a:r>
              <a:rPr lang="ru-RU" altLang="ru-RU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else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{ </a:t>
            </a:r>
          </a:p>
          <a:p>
            <a:pPr marL="300038" lvl="1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4EC9B0"/>
                </a:solidFill>
                <a:latin typeface="Consolas" panose="020B0609020204030204" pitchFamily="49" charset="0"/>
              </a:rPr>
              <a:t>     console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log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 err="1">
                <a:solidFill>
                  <a:srgbClr val="D69D85"/>
                </a:solidFill>
                <a:latin typeface="Consolas" panose="020B0609020204030204" pitchFamily="49" charset="0"/>
              </a:rPr>
              <a:t>Cookie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 '</a:t>
            </a:r>
            <a:r>
              <a:rPr lang="ru-RU" altLang="ru-RU" sz="1400" dirty="0" err="1">
                <a:solidFill>
                  <a:srgbClr val="D69D85"/>
                </a:solidFill>
                <a:latin typeface="Consolas" panose="020B0609020204030204" pitchFamily="49" charset="0"/>
              </a:rPr>
              <a:t>username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' не существует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"); </a:t>
            </a:r>
          </a:p>
          <a:p>
            <a:pPr marL="300038" lvl="1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}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</a:p>
          <a:p>
            <a:pPr marL="342900" indent="-342900" defTabSz="914400" eaLnBrk="0" fontAlgn="base" hangingPunct="0">
              <a:spcBef>
                <a:spcPts val="0"/>
              </a:spcBef>
              <a:buClrTx/>
              <a:buSzTx/>
              <a:buAutoNum type="arabicPeriod"/>
            </a:pPr>
            <a:endParaRPr lang="ru-RU" altLang="ru-RU" sz="1500" dirty="0">
              <a:solidFill>
                <a:schemeClr val="tx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0DBD5405-28F1-445E-B160-7B7A687F5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Наши любимые задачки </a:t>
            </a:r>
            <a:r>
              <a:rPr lang="ru-RU" sz="2400" dirty="0">
                <a:sym typeface="Wingdings" panose="05000000000000000000" pitchFamily="2" charset="2"/>
              </a:rPr>
              <a:t></a:t>
            </a:r>
            <a:endParaRPr lang="ru-RU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83B7C-3DC2-493D-81B3-894C52CAA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4DB830D-1EBE-4898-AE7C-02D585E18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C0DE7D5-EA15-476F-9F6A-4165AB47E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559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620444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sz="1600" dirty="0"/>
              <a:t>1. 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setCookie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name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value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expiresDays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 {  </a:t>
            </a:r>
          </a:p>
          <a:p>
            <a:pPr marL="300038" lvl="1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date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= </a:t>
            </a:r>
            <a:r>
              <a:rPr lang="ru-RU" altLang="ru-RU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new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Date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(); </a:t>
            </a:r>
          </a:p>
          <a:p>
            <a:pPr marL="300038" lvl="1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date.setTime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date.getTime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() + (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expiresDays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* </a:t>
            </a:r>
            <a:r>
              <a:rPr lang="ru-RU" altLang="ru-RU" sz="1600" dirty="0">
                <a:solidFill>
                  <a:srgbClr val="B8D7A3"/>
                </a:solidFill>
                <a:latin typeface="Consolas" panose="020B0609020204030204" pitchFamily="49" charset="0"/>
              </a:rPr>
              <a:t>24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>
                <a:solidFill>
                  <a:srgbClr val="B8D7A3"/>
                </a:solidFill>
                <a:latin typeface="Consolas" panose="020B0609020204030204" pitchFamily="49" charset="0"/>
              </a:rPr>
              <a:t>60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>
                <a:solidFill>
                  <a:srgbClr val="B8D7A3"/>
                </a:solidFill>
                <a:latin typeface="Consolas" panose="020B0609020204030204" pitchFamily="49" charset="0"/>
              </a:rPr>
              <a:t>60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>
                <a:solidFill>
                  <a:srgbClr val="B8D7A3"/>
                </a:solidFill>
                <a:latin typeface="Consolas" panose="020B0609020204030204" pitchFamily="49" charset="0"/>
              </a:rPr>
              <a:t>1000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));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</a:p>
          <a:p>
            <a:pPr marL="300038" lvl="1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expires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= </a:t>
            </a:r>
            <a:r>
              <a:rPr lang="ru-RU" altLang="ru-RU" sz="1600" dirty="0">
                <a:solidFill>
                  <a:srgbClr val="D69D85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 err="1">
                <a:solidFill>
                  <a:srgbClr val="D69D85"/>
                </a:solidFill>
                <a:latin typeface="Consolas" panose="020B0609020204030204" pitchFamily="49" charset="0"/>
              </a:rPr>
              <a:t>expires</a:t>
            </a:r>
            <a:r>
              <a:rPr lang="ru-RU" altLang="ru-RU" sz="1600" dirty="0">
                <a:solidFill>
                  <a:srgbClr val="D69D85"/>
                </a:solidFill>
                <a:latin typeface="Consolas" panose="020B0609020204030204" pitchFamily="49" charset="0"/>
              </a:rPr>
              <a:t>="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+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date.toUTCString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(); </a:t>
            </a:r>
          </a:p>
          <a:p>
            <a:pPr marL="300038" lvl="1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document</a:t>
            </a:r>
            <a:r>
              <a:rPr lang="ru-RU" altLang="ru-RU" sz="1600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cookie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name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+ </a:t>
            </a:r>
            <a:r>
              <a:rPr lang="ru-RU" altLang="ru-RU" sz="1600" dirty="0">
                <a:solidFill>
                  <a:srgbClr val="D69D85"/>
                </a:solidFill>
                <a:latin typeface="Consolas" panose="020B0609020204030204" pitchFamily="49" charset="0"/>
              </a:rPr>
              <a:t>"="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+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value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+ </a:t>
            </a:r>
            <a:r>
              <a:rPr lang="ru-RU" altLang="ru-RU" sz="1600" dirty="0">
                <a:solidFill>
                  <a:srgbClr val="D69D85"/>
                </a:solidFill>
                <a:latin typeface="Consolas" panose="020B0609020204030204" pitchFamily="49" charset="0"/>
              </a:rPr>
              <a:t>";"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+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expires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} 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setCookie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600" dirty="0">
                <a:solidFill>
                  <a:srgbClr val="D69D85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 err="1">
                <a:solidFill>
                  <a:srgbClr val="D69D85"/>
                </a:solidFill>
                <a:latin typeface="Consolas" panose="020B0609020204030204" pitchFamily="49" charset="0"/>
              </a:rPr>
              <a:t>username</a:t>
            </a:r>
            <a:r>
              <a:rPr lang="ru-RU" altLang="ru-RU" sz="1600" dirty="0">
                <a:solidFill>
                  <a:srgbClr val="D69D85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, </a:t>
            </a:r>
            <a:r>
              <a:rPr lang="ru-RU" altLang="ru-RU" sz="1600" dirty="0">
                <a:solidFill>
                  <a:srgbClr val="D69D85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 err="1">
                <a:solidFill>
                  <a:srgbClr val="D69D85"/>
                </a:solidFill>
                <a:latin typeface="Consolas" panose="020B0609020204030204" pitchFamily="49" charset="0"/>
              </a:rPr>
              <a:t>John</a:t>
            </a:r>
            <a:r>
              <a:rPr lang="ru-RU" altLang="ru-RU" sz="1600" dirty="0">
                <a:solidFill>
                  <a:srgbClr val="D69D85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 err="1">
                <a:solidFill>
                  <a:srgbClr val="D69D85"/>
                </a:solidFill>
                <a:latin typeface="Consolas" panose="020B0609020204030204" pitchFamily="49" charset="0"/>
              </a:rPr>
              <a:t>Doe</a:t>
            </a:r>
            <a:r>
              <a:rPr lang="ru-RU" altLang="ru-RU" sz="1600" dirty="0">
                <a:solidFill>
                  <a:srgbClr val="D69D85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, </a:t>
            </a:r>
            <a:r>
              <a:rPr lang="ru-RU" altLang="ru-RU" sz="1600" dirty="0">
                <a:solidFill>
                  <a:srgbClr val="B8D7A3"/>
                </a:solidFill>
                <a:latin typeface="Consolas" panose="020B0609020204030204" pitchFamily="49" charset="0"/>
              </a:rPr>
              <a:t>30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);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endParaRPr lang="ru-RU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dirty="0"/>
              <a:t> </a:t>
            </a: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0DBD5405-28F1-445E-B160-7B7A687F5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Наши любимые задачки </a:t>
            </a:r>
            <a:r>
              <a:rPr lang="ru-RU" sz="2400" dirty="0">
                <a:sym typeface="Wingdings" panose="05000000000000000000" pitchFamily="2" charset="2"/>
              </a:rPr>
              <a:t></a:t>
            </a:r>
            <a:endParaRPr lang="ru-RU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83B7C-3DC2-493D-81B3-894C52CAA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FEA5A19-FDD1-4DB9-9CA7-80D0D060C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C2DC094-8EFE-4F7F-9BBD-A8EDABCEA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620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1640" y="2139702"/>
            <a:ext cx="6624736" cy="612068"/>
          </a:xfrm>
        </p:spPr>
        <p:txBody>
          <a:bodyPr anchor="t"/>
          <a:lstStyle/>
          <a:p>
            <a:pPr algn="ctr" fontAlgn="t"/>
            <a:r>
              <a:rPr lang="en-US" sz="3200" dirty="0" err="1"/>
              <a:t>LocalStorage</a:t>
            </a:r>
            <a:r>
              <a:rPr lang="en-US" sz="3200" dirty="0"/>
              <a:t>, </a:t>
            </a:r>
            <a:r>
              <a:rPr lang="en-US" sz="3200" dirty="0" err="1"/>
              <a:t>sessionStorage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3519633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LocalStorage</a:t>
            </a:r>
            <a:r>
              <a:rPr lang="en-US" sz="2400" dirty="0"/>
              <a:t>, </a:t>
            </a:r>
            <a:r>
              <a:rPr lang="en-US" sz="2400" dirty="0" err="1"/>
              <a:t>sessionStorage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Объекты веб-хранилища </a:t>
            </a:r>
            <a:r>
              <a:rPr lang="ru-RU" altLang="ru-RU" sz="1400" dirty="0" err="1">
                <a:solidFill>
                  <a:srgbClr val="FFFF00"/>
                </a:solidFill>
              </a:rPr>
              <a:t>localStorage</a:t>
            </a:r>
            <a:r>
              <a:rPr lang="ru-RU" altLang="ru-RU" sz="1400" dirty="0">
                <a:solidFill>
                  <a:schemeClr val="tx1"/>
                </a:solidFill>
              </a:rPr>
              <a:t> и </a:t>
            </a:r>
            <a:r>
              <a:rPr lang="ru-RU" altLang="ru-RU" sz="1400" dirty="0" err="1">
                <a:solidFill>
                  <a:srgbClr val="FFFF00"/>
                </a:solidFill>
              </a:rPr>
              <a:t>sessionStorage</a:t>
            </a:r>
            <a:r>
              <a:rPr lang="ru-RU" altLang="ru-RU" sz="1400" dirty="0">
                <a:solidFill>
                  <a:schemeClr val="tx1"/>
                </a:solidFill>
              </a:rPr>
              <a:t> позволяют хранить пары ключ/значение в браузере. Данные, которые в них записаны, сохраняются после обновления страницы (в случае </a:t>
            </a:r>
            <a:r>
              <a:rPr lang="ru-RU" altLang="ru-RU" sz="1400" dirty="0" err="1">
                <a:solidFill>
                  <a:schemeClr val="tx1"/>
                </a:solidFill>
              </a:rPr>
              <a:t>sessionStorage</a:t>
            </a:r>
            <a:r>
              <a:rPr lang="ru-RU" altLang="ru-RU" sz="1400" dirty="0">
                <a:solidFill>
                  <a:schemeClr val="tx1"/>
                </a:solidFill>
              </a:rPr>
              <a:t>) и даже после перезапуска браузера (при использовании </a:t>
            </a:r>
            <a:r>
              <a:rPr lang="ru-RU" altLang="ru-RU" sz="1400" dirty="0" err="1">
                <a:solidFill>
                  <a:schemeClr val="tx1"/>
                </a:solidFill>
              </a:rPr>
              <a:t>localStorage</a:t>
            </a:r>
            <a:r>
              <a:rPr lang="ru-RU" altLang="ru-RU" sz="1400" dirty="0">
                <a:solidFill>
                  <a:schemeClr val="tx1"/>
                </a:solidFill>
              </a:rPr>
              <a:t>).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 отличие от </a:t>
            </a:r>
            <a:r>
              <a:rPr lang="ru-RU" altLang="ru-RU" sz="1400" dirty="0" err="1">
                <a:solidFill>
                  <a:schemeClr val="tx1"/>
                </a:solidFill>
              </a:rPr>
              <a:t>куки</a:t>
            </a:r>
            <a:r>
              <a:rPr lang="ru-RU" altLang="ru-RU" sz="1400" dirty="0">
                <a:solidFill>
                  <a:schemeClr val="tx1"/>
                </a:solidFill>
              </a:rPr>
              <a:t>, объекты веб-хранилища не отправляются на сервер при каждом запросе. Именно поэтому мы можем хранить гораздо больше данных. Большинство современных браузеров могут выделить как минимум 5 мегабайтов данных (или больше), и этот размер можно поменять в настройках.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Объекты хранилища </a:t>
            </a:r>
            <a:r>
              <a:rPr lang="ru-RU" altLang="ru-RU" sz="1400" dirty="0" err="1">
                <a:solidFill>
                  <a:srgbClr val="FFFF00"/>
                </a:solidFill>
              </a:rPr>
              <a:t>localStorage</a:t>
            </a:r>
            <a:r>
              <a:rPr lang="ru-RU" altLang="ru-RU" sz="1400" dirty="0">
                <a:solidFill>
                  <a:schemeClr val="tx1"/>
                </a:solidFill>
              </a:rPr>
              <a:t> и </a:t>
            </a:r>
            <a:r>
              <a:rPr lang="ru-RU" altLang="ru-RU" sz="1400" dirty="0" err="1">
                <a:solidFill>
                  <a:srgbClr val="FFFF00"/>
                </a:solidFill>
              </a:rPr>
              <a:t>sessionStorage</a:t>
            </a:r>
            <a:r>
              <a:rPr lang="ru-RU" altLang="ru-RU" sz="1400" dirty="0">
                <a:solidFill>
                  <a:schemeClr val="tx1"/>
                </a:solidFill>
              </a:rPr>
              <a:t> предоставляют одинаковые методы и свойства: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setItem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key</a:t>
            </a:r>
            <a:r>
              <a:rPr lang="ru-RU" altLang="ru-RU" sz="1400" dirty="0">
                <a:solidFill>
                  <a:srgbClr val="FFFF00"/>
                </a:solidFill>
              </a:rPr>
              <a:t>, </a:t>
            </a:r>
            <a:r>
              <a:rPr lang="ru-RU" altLang="ru-RU" sz="1400" dirty="0" err="1">
                <a:solidFill>
                  <a:srgbClr val="FFFF00"/>
                </a:solidFill>
              </a:rPr>
              <a:t>value</a:t>
            </a:r>
            <a:r>
              <a:rPr lang="ru-RU" altLang="ru-RU" sz="1400" dirty="0">
                <a:solidFill>
                  <a:srgbClr val="FFFF00"/>
                </a:solidFill>
              </a:rPr>
              <a:t>) </a:t>
            </a:r>
            <a:r>
              <a:rPr lang="ru-RU" altLang="ru-RU" sz="1400" dirty="0">
                <a:solidFill>
                  <a:schemeClr val="tx1"/>
                </a:solidFill>
              </a:rPr>
              <a:t>– сохранить пару ключ/значение.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getItem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key</a:t>
            </a:r>
            <a:r>
              <a:rPr lang="ru-RU" altLang="ru-RU" sz="1400" dirty="0">
                <a:solidFill>
                  <a:srgbClr val="FFFF00"/>
                </a:solidFill>
              </a:rPr>
              <a:t>) </a:t>
            </a:r>
            <a:r>
              <a:rPr lang="ru-RU" altLang="ru-RU" sz="1400" dirty="0">
                <a:solidFill>
                  <a:schemeClr val="tx1"/>
                </a:solidFill>
              </a:rPr>
              <a:t>– получить данные по ключу </a:t>
            </a:r>
            <a:r>
              <a:rPr lang="ru-RU" altLang="ru-RU" sz="1400" dirty="0" err="1">
                <a:solidFill>
                  <a:schemeClr val="tx1"/>
                </a:solidFill>
              </a:rPr>
              <a:t>key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removeItem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key</a:t>
            </a:r>
            <a:r>
              <a:rPr lang="ru-RU" altLang="ru-RU" sz="1400" dirty="0">
                <a:solidFill>
                  <a:srgbClr val="FFFF00"/>
                </a:solidFill>
              </a:rPr>
              <a:t>) </a:t>
            </a:r>
            <a:r>
              <a:rPr lang="ru-RU" altLang="ru-RU" sz="1400" dirty="0">
                <a:solidFill>
                  <a:schemeClr val="tx1"/>
                </a:solidFill>
              </a:rPr>
              <a:t>– удалить данные с ключом </a:t>
            </a:r>
            <a:r>
              <a:rPr lang="ru-RU" altLang="ru-RU" sz="1400" dirty="0" err="1">
                <a:solidFill>
                  <a:schemeClr val="tx1"/>
                </a:solidFill>
              </a:rPr>
              <a:t>key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clear</a:t>
            </a:r>
            <a:r>
              <a:rPr lang="ru-RU" altLang="ru-RU" sz="1400" dirty="0">
                <a:solidFill>
                  <a:srgbClr val="FFFF00"/>
                </a:solidFill>
              </a:rPr>
              <a:t>() </a:t>
            </a:r>
            <a:r>
              <a:rPr lang="ru-RU" altLang="ru-RU" sz="1400" dirty="0">
                <a:solidFill>
                  <a:schemeClr val="tx1"/>
                </a:solidFill>
              </a:rPr>
              <a:t>– удалить всё.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key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index</a:t>
            </a:r>
            <a:r>
              <a:rPr lang="ru-RU" altLang="ru-RU" sz="1400" dirty="0">
                <a:solidFill>
                  <a:srgbClr val="FFFF00"/>
                </a:solidFill>
              </a:rPr>
              <a:t>) </a:t>
            </a:r>
            <a:r>
              <a:rPr lang="ru-RU" altLang="ru-RU" sz="1400" dirty="0">
                <a:solidFill>
                  <a:schemeClr val="tx1"/>
                </a:solidFill>
              </a:rPr>
              <a:t>– получить ключ на заданной позиции.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length</a:t>
            </a:r>
            <a:r>
              <a:rPr lang="ru-RU" altLang="ru-RU" sz="1400" dirty="0">
                <a:solidFill>
                  <a:schemeClr val="tx1"/>
                </a:solidFill>
              </a:rPr>
              <a:t> – количество элементов в хранилище.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Как видим, интерфейс похож на </a:t>
            </a:r>
            <a:r>
              <a:rPr lang="ru-RU" altLang="ru-RU" sz="1400" dirty="0" err="1">
                <a:solidFill>
                  <a:schemeClr val="tx1"/>
                </a:solidFill>
              </a:rPr>
              <a:t>Map</a:t>
            </a:r>
            <a:r>
              <a:rPr lang="ru-RU" altLang="ru-RU" sz="1400" dirty="0">
                <a:solidFill>
                  <a:schemeClr val="tx1"/>
                </a:solidFill>
              </a:rPr>
              <a:t> (</a:t>
            </a:r>
            <a:r>
              <a:rPr lang="ru-RU" altLang="ru-RU" sz="1400" dirty="0" err="1">
                <a:solidFill>
                  <a:schemeClr val="tx1"/>
                </a:solidFill>
              </a:rPr>
              <a:t>setItem</a:t>
            </a:r>
            <a:r>
              <a:rPr lang="ru-RU" altLang="ru-RU" sz="1400" dirty="0">
                <a:solidFill>
                  <a:schemeClr val="tx1"/>
                </a:solidFill>
              </a:rPr>
              <a:t>/</a:t>
            </a:r>
            <a:r>
              <a:rPr lang="ru-RU" altLang="ru-RU" sz="1400" dirty="0" err="1">
                <a:solidFill>
                  <a:schemeClr val="tx1"/>
                </a:solidFill>
              </a:rPr>
              <a:t>getItem</a:t>
            </a:r>
            <a:r>
              <a:rPr lang="ru-RU" altLang="ru-RU" sz="1400" dirty="0">
                <a:solidFill>
                  <a:schemeClr val="tx1"/>
                </a:solidFill>
              </a:rPr>
              <a:t>/</a:t>
            </a:r>
            <a:r>
              <a:rPr lang="ru-RU" altLang="ru-RU" sz="1400" dirty="0" err="1">
                <a:solidFill>
                  <a:schemeClr val="tx1"/>
                </a:solidFill>
              </a:rPr>
              <a:t>removeItem</a:t>
            </a:r>
            <a:r>
              <a:rPr lang="ru-RU" altLang="ru-RU" sz="1400" dirty="0">
                <a:solidFill>
                  <a:schemeClr val="tx1"/>
                </a:solidFill>
              </a:rPr>
              <a:t>), но также позволяет получить доступ к элементу по индексу – </a:t>
            </a:r>
            <a:r>
              <a:rPr lang="ru-RU" altLang="ru-RU" sz="1400" dirty="0" err="1">
                <a:solidFill>
                  <a:schemeClr val="tx1"/>
                </a:solidFill>
              </a:rPr>
              <a:t>key</a:t>
            </a:r>
            <a:r>
              <a:rPr lang="ru-RU" altLang="ru-RU" sz="1400" dirty="0">
                <a:solidFill>
                  <a:schemeClr val="tx1"/>
                </a:solidFill>
              </a:rPr>
              <a:t>(</a:t>
            </a:r>
            <a:r>
              <a:rPr lang="ru-RU" altLang="ru-RU" sz="1400" dirty="0" err="1">
                <a:solidFill>
                  <a:schemeClr val="tx1"/>
                </a:solidFill>
              </a:rPr>
              <a:t>index</a:t>
            </a:r>
            <a:r>
              <a:rPr lang="ru-RU" altLang="ru-RU" sz="1400" dirty="0">
                <a:solidFill>
                  <a:schemeClr val="tx1"/>
                </a:solidFill>
              </a:rPr>
              <a:t>). 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457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LocalStorage</a:t>
            </a:r>
            <a:r>
              <a:rPr lang="en-US" sz="2400" dirty="0"/>
              <a:t>, </a:t>
            </a:r>
            <a:r>
              <a:rPr lang="en-US" sz="2400" dirty="0" err="1"/>
              <a:t>sessionStorage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Основные особенности </a:t>
            </a:r>
            <a:r>
              <a:rPr lang="ru-RU" altLang="ru-RU" sz="1600" dirty="0" err="1">
                <a:solidFill>
                  <a:srgbClr val="FFFF00"/>
                </a:solidFill>
              </a:rPr>
              <a:t>localStorage</a:t>
            </a:r>
            <a:r>
              <a:rPr lang="ru-RU" altLang="ru-RU" sz="1600" dirty="0">
                <a:solidFill>
                  <a:srgbClr val="FFFF00"/>
                </a:solidFill>
              </a:rPr>
              <a:t>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</a:rPr>
              <a:t>Этот объект один на все вкладки и окна в рамках источника (один и тот же домен/протокол/порт).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</a:rPr>
              <a:t>Данные не имеют срока давности, по которому истекают и удаляются. Сохраняются после перезапуска браузера и даже ОС.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localStorage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.setItem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test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1);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Закрыть/открыть браузер или открыть ту же страницу в другом окне, то можно получить данные следующим образом: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localStorage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.getItem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test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1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Нам достаточно находиться на том же источнике (домен/протокол/порт), при этом URL-путь может быть разным.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Объект </a:t>
            </a:r>
            <a:r>
              <a:rPr lang="ru-RU" altLang="ru-RU" sz="1600" dirty="0" err="1">
                <a:solidFill>
                  <a:schemeClr val="tx1"/>
                </a:solidFill>
              </a:rPr>
              <a:t>localStorage</a:t>
            </a:r>
            <a:r>
              <a:rPr lang="ru-RU" altLang="ru-RU" sz="1600" dirty="0">
                <a:solidFill>
                  <a:schemeClr val="tx1"/>
                </a:solidFill>
              </a:rPr>
              <a:t> доступен всем окнам из одного источника, поэтому, если мы устанавливаем данные в одном окне, изменения становятся видимыми в другом.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803673-8705-4712-9CE9-02EB68FC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555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LocalStorage</a:t>
            </a:r>
            <a:r>
              <a:rPr lang="en-US" sz="2400" dirty="0"/>
              <a:t>, </a:t>
            </a:r>
            <a:r>
              <a:rPr lang="en-US" sz="2400" dirty="0" err="1"/>
              <a:t>sessionStorage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Перебор ключей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К сожалению, объекты веб-хранилища нельзя перебрать в цикле, они не итерируемы.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Но можно пройти по ним, как по обычным массивам: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i = 0; i &lt; 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localStorage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.length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 i++)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key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localStorage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.key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(i);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(`${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key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}: ${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localStorage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.getItem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key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)}`);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Здесь перебираются ключи, но вместе с этим выводятся несколько встроенных полей, которые нам не нужны: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key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localStorage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(key);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покажет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getItem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setItem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и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другие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встроенные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свойства</a:t>
            </a:r>
            <a:endParaRPr lang="en-US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Поэтому нужно либо отфильтровать поля из прототипа проверкой </a:t>
            </a:r>
            <a:r>
              <a:rPr lang="en-US" altLang="ru-RU" sz="1400" dirty="0" err="1">
                <a:solidFill>
                  <a:schemeClr val="tx1"/>
                </a:solidFill>
              </a:rPr>
              <a:t>hasOwnProperty</a:t>
            </a:r>
            <a:r>
              <a:rPr lang="en-US" altLang="ru-RU" sz="1400" dirty="0">
                <a:solidFill>
                  <a:schemeClr val="tx1"/>
                </a:solidFill>
              </a:rPr>
              <a:t>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key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localStorage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(!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localStorage.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hasOwnProperty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(key))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continue;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пропустит такие ключи, как "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setItem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", "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getItem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и так далее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803673-8705-4712-9CE9-02EB68FC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449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LocalStorage</a:t>
            </a:r>
            <a:r>
              <a:rPr lang="en-US" sz="2400" dirty="0"/>
              <a:t>, </a:t>
            </a:r>
            <a:r>
              <a:rPr lang="en-US" sz="2400" dirty="0" err="1"/>
              <a:t>sessionStorage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Можно просто получить «собственные» ключи с помощью </a:t>
            </a:r>
            <a:r>
              <a:rPr lang="en-US" altLang="ru-RU" sz="1600" dirty="0" err="1">
                <a:solidFill>
                  <a:srgbClr val="FFFF00"/>
                </a:solidFill>
              </a:rPr>
              <a:t>Object.keys</a:t>
            </a:r>
            <a:r>
              <a:rPr lang="en-US" altLang="ru-RU" sz="1600" dirty="0">
                <a:solidFill>
                  <a:schemeClr val="tx1"/>
                </a:solidFill>
              </a:rPr>
              <a:t>, </a:t>
            </a:r>
            <a:r>
              <a:rPr lang="ru-RU" altLang="ru-RU" sz="1600" dirty="0">
                <a:solidFill>
                  <a:schemeClr val="tx1"/>
                </a:solidFill>
              </a:rPr>
              <a:t>а затем при необходимости вывести их при помощи цикла: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keys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Object.keys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localStorage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key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keys)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(`${key}: ${</a:t>
            </a:r>
            <a:r>
              <a:rPr lang="en-US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localStorage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getItem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(key)}`);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Последнее работает, потому что </a:t>
            </a:r>
            <a:r>
              <a:rPr lang="en-US" altLang="ru-RU" sz="1600" dirty="0" err="1">
                <a:solidFill>
                  <a:schemeClr val="tx1"/>
                </a:solidFill>
              </a:rPr>
              <a:t>Object.keys</a:t>
            </a:r>
            <a:r>
              <a:rPr lang="en-US" altLang="ru-RU" sz="1600" dirty="0">
                <a:solidFill>
                  <a:schemeClr val="tx1"/>
                </a:solidFill>
              </a:rPr>
              <a:t> </a:t>
            </a:r>
            <a:r>
              <a:rPr lang="ru-RU" altLang="ru-RU" sz="1600" dirty="0">
                <a:solidFill>
                  <a:schemeClr val="tx1"/>
                </a:solidFill>
              </a:rPr>
              <a:t>возвращает только ключи, принадлежащие объекту, игнорируя прототип.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803673-8705-4712-9CE9-02EB68FC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148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LocalStorage</a:t>
            </a:r>
            <a:r>
              <a:rPr lang="en-US" sz="2400" dirty="0"/>
              <a:t>, </a:t>
            </a:r>
            <a:r>
              <a:rPr lang="en-US" sz="2400" dirty="0" err="1"/>
              <a:t>sessionStorage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Только строки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Ключ и значение должны быть строками.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Если мы используем любой другой тип, например число или объект, то он автоматически преобразуется в строку: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localStorage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.user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{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name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John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localStorage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.user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[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object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Object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Можно использовать </a:t>
            </a:r>
            <a:r>
              <a:rPr lang="en-US" altLang="ru-RU" sz="1400" dirty="0">
                <a:solidFill>
                  <a:schemeClr val="tx1"/>
                </a:solidFill>
              </a:rPr>
              <a:t>JSON </a:t>
            </a:r>
            <a:r>
              <a:rPr lang="ru-RU" altLang="ru-RU" sz="1400" dirty="0">
                <a:solidFill>
                  <a:schemeClr val="tx1"/>
                </a:solidFill>
              </a:rPr>
              <a:t>для хранения объектов: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localStorage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.user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JSON.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stringify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({name: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</a:rPr>
              <a:t>немного позже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JSON.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parse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localStorage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.user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user.name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John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Также возможно привести к строке весь объект хранилища, например для отладки: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// для </a:t>
            </a:r>
            <a:r>
              <a:rPr lang="en-US" altLang="ru-RU" sz="1400" dirty="0" err="1">
                <a:solidFill>
                  <a:srgbClr val="FFFF00"/>
                </a:solidFill>
              </a:rPr>
              <a:t>JSON.stringify</a:t>
            </a:r>
            <a:r>
              <a:rPr lang="en-US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>
                <a:solidFill>
                  <a:srgbClr val="FFFF00"/>
                </a:solidFill>
              </a:rPr>
              <a:t>добавлены параметры форматирования, чтобы объект выглядел лучше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JSON.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stringify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localStorage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null, 2) );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803673-8705-4712-9CE9-02EB68FC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318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LocalStorage</a:t>
            </a:r>
            <a:r>
              <a:rPr lang="en-US" sz="2400" dirty="0"/>
              <a:t>, </a:t>
            </a:r>
            <a:r>
              <a:rPr lang="en-US" sz="2400" dirty="0" err="1"/>
              <a:t>sessionStorage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rgbClr val="FFFF00"/>
                </a:solidFill>
              </a:rPr>
              <a:t>sessionStorage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Объект </a:t>
            </a:r>
            <a:r>
              <a:rPr lang="ru-RU" altLang="ru-RU" sz="1400" dirty="0" err="1">
                <a:solidFill>
                  <a:srgbClr val="FFFF00"/>
                </a:solidFill>
              </a:rPr>
              <a:t>sessionStorage</a:t>
            </a:r>
            <a:r>
              <a:rPr lang="ru-RU" altLang="ru-RU" sz="1400" dirty="0">
                <a:solidFill>
                  <a:schemeClr val="tx1"/>
                </a:solidFill>
              </a:rPr>
              <a:t> используется гораздо реже, чем </a:t>
            </a:r>
            <a:r>
              <a:rPr lang="ru-RU" altLang="ru-RU" sz="1400" dirty="0" err="1">
                <a:solidFill>
                  <a:srgbClr val="FFFF00"/>
                </a:solidFill>
              </a:rPr>
              <a:t>localStorage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Свойства и методы такие же, но есть существенные ограничения: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 err="1">
                <a:solidFill>
                  <a:schemeClr val="tx1"/>
                </a:solidFill>
              </a:rPr>
              <a:t>sessionStorage</a:t>
            </a:r>
            <a:r>
              <a:rPr lang="ru-RU" altLang="ru-RU" sz="1400" dirty="0">
                <a:solidFill>
                  <a:schemeClr val="tx1"/>
                </a:solidFill>
              </a:rPr>
              <a:t> существует только в рамках текущей вкладки браузера.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другая вкладка с той же страницей будет иметь другое хранилище.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Данные продолжают существовать после перезагрузки страницы, но не после закрытия/открытия вкладки.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dirty="0"/>
              <a:t>Запускаем код</a:t>
            </a:r>
            <a:endParaRPr lang="ru-RU" altLang="ru-RU" sz="14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sessionStorage</a:t>
            </a:r>
            <a:r>
              <a:rPr lang="ru-RU" altLang="ru-RU" sz="1400" dirty="0" err="1">
                <a:solidFill>
                  <a:srgbClr val="F8F8F2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setItem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test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,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И обновите страницу. Вы всё ещё можете получить данные: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sessionStorage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getItem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test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после обновления: 1 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Но если открыть ту же страницу в другой вкладке и попробовать получить данные снова, то код выше вернёт </a:t>
            </a:r>
            <a:r>
              <a:rPr lang="ru-RU" altLang="ru-RU" sz="1400" dirty="0" err="1">
                <a:solidFill>
                  <a:srgbClr val="FFFF00"/>
                </a:solidFill>
              </a:rPr>
              <a:t>null</a:t>
            </a:r>
            <a:r>
              <a:rPr lang="ru-RU" altLang="ru-RU" sz="1400" dirty="0">
                <a:solidFill>
                  <a:schemeClr val="tx1"/>
                </a:solidFill>
              </a:rPr>
              <a:t>, что значит «ничего не найдено».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Так получилось, потому что </a:t>
            </a:r>
            <a:r>
              <a:rPr lang="ru-RU" altLang="ru-RU" sz="1400" dirty="0" err="1">
                <a:solidFill>
                  <a:srgbClr val="FFFF00"/>
                </a:solidFill>
              </a:rPr>
              <a:t>sessionStorage</a:t>
            </a:r>
            <a:r>
              <a:rPr lang="ru-RU" altLang="ru-RU" sz="1400" dirty="0">
                <a:solidFill>
                  <a:schemeClr val="tx1"/>
                </a:solidFill>
              </a:rPr>
              <a:t> привязан не только к источнику, но и к вкладке браузера. Поэтому </a:t>
            </a:r>
            <a:r>
              <a:rPr lang="ru-RU" altLang="ru-RU" sz="1400" dirty="0" err="1">
                <a:solidFill>
                  <a:srgbClr val="FFFF00"/>
                </a:solidFill>
              </a:rPr>
              <a:t>sessionStorage</a:t>
            </a:r>
            <a:r>
              <a:rPr lang="ru-RU" altLang="ru-RU" sz="1400" dirty="0">
                <a:solidFill>
                  <a:schemeClr val="tx1"/>
                </a:solidFill>
              </a:rPr>
              <a:t> используется нечасто.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803673-8705-4712-9CE9-02EB68FC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861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LocalStorage</a:t>
            </a:r>
            <a:r>
              <a:rPr lang="en-US" sz="2400" dirty="0"/>
              <a:t>, </a:t>
            </a:r>
            <a:r>
              <a:rPr lang="en-US" sz="2400" dirty="0" err="1"/>
              <a:t>sessionStorage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Событие </a:t>
            </a:r>
            <a:r>
              <a:rPr lang="en-US" altLang="ru-RU" sz="1400" dirty="0">
                <a:solidFill>
                  <a:srgbClr val="FFFF00"/>
                </a:solidFill>
              </a:rPr>
              <a:t>storage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Когда обновляются данные в </a:t>
            </a:r>
            <a:r>
              <a:rPr lang="ru-RU" altLang="ru-RU" sz="1400" dirty="0" err="1">
                <a:solidFill>
                  <a:srgbClr val="FFFF00"/>
                </a:solidFill>
              </a:rPr>
              <a:t>localStorage</a:t>
            </a:r>
            <a:r>
              <a:rPr lang="ru-RU" altLang="ru-RU" sz="1400" dirty="0">
                <a:solidFill>
                  <a:schemeClr val="tx1"/>
                </a:solidFill>
              </a:rPr>
              <a:t> или </a:t>
            </a:r>
            <a:r>
              <a:rPr lang="ru-RU" altLang="ru-RU" sz="1400" dirty="0" err="1">
                <a:solidFill>
                  <a:srgbClr val="FFFF00"/>
                </a:solidFill>
              </a:rPr>
              <a:t>sessionStorage</a:t>
            </a:r>
            <a:r>
              <a:rPr lang="ru-RU" altLang="ru-RU" sz="1400" dirty="0">
                <a:solidFill>
                  <a:schemeClr val="tx1"/>
                </a:solidFill>
              </a:rPr>
              <a:t>, генерируется событие </a:t>
            </a:r>
            <a:r>
              <a:rPr lang="ru-RU" altLang="ru-RU" sz="1400" dirty="0" err="1">
                <a:solidFill>
                  <a:srgbClr val="FFFF00"/>
                </a:solidFill>
              </a:rPr>
              <a:t>storage</a:t>
            </a:r>
            <a:r>
              <a:rPr lang="ru-RU" altLang="ru-RU" sz="1400" dirty="0">
                <a:solidFill>
                  <a:schemeClr val="tx1"/>
                </a:solidFill>
              </a:rPr>
              <a:t> со следующими свойствами: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 err="1">
                <a:solidFill>
                  <a:srgbClr val="FFFF00"/>
                </a:solidFill>
              </a:rPr>
              <a:t>key</a:t>
            </a:r>
            <a:r>
              <a:rPr lang="ru-RU" altLang="ru-RU" sz="1400" dirty="0">
                <a:solidFill>
                  <a:schemeClr val="tx1"/>
                </a:solidFill>
              </a:rPr>
              <a:t> – ключ, который обновился (</a:t>
            </a:r>
            <a:r>
              <a:rPr lang="ru-RU" altLang="ru-RU" sz="1400" dirty="0" err="1">
                <a:solidFill>
                  <a:schemeClr val="tx1"/>
                </a:solidFill>
              </a:rPr>
              <a:t>null</a:t>
            </a:r>
            <a:r>
              <a:rPr lang="ru-RU" altLang="ru-RU" sz="1400" dirty="0">
                <a:solidFill>
                  <a:schemeClr val="tx1"/>
                </a:solidFill>
              </a:rPr>
              <a:t>, если вызван .</a:t>
            </a:r>
            <a:r>
              <a:rPr lang="ru-RU" altLang="ru-RU" sz="1400" dirty="0" err="1">
                <a:solidFill>
                  <a:schemeClr val="tx1"/>
                </a:solidFill>
              </a:rPr>
              <a:t>clear</a:t>
            </a:r>
            <a:r>
              <a:rPr lang="ru-RU" altLang="ru-RU" sz="1400" dirty="0">
                <a:solidFill>
                  <a:schemeClr val="tx1"/>
                </a:solidFill>
              </a:rPr>
              <a:t>()).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 err="1">
                <a:solidFill>
                  <a:srgbClr val="FFFF00"/>
                </a:solidFill>
              </a:rPr>
              <a:t>oldValue</a:t>
            </a:r>
            <a:r>
              <a:rPr lang="ru-RU" altLang="ru-RU" sz="1400" dirty="0">
                <a:solidFill>
                  <a:schemeClr val="tx1"/>
                </a:solidFill>
              </a:rPr>
              <a:t> – старое значение (</a:t>
            </a:r>
            <a:r>
              <a:rPr lang="ru-RU" altLang="ru-RU" sz="1400" dirty="0" err="1">
                <a:solidFill>
                  <a:schemeClr val="tx1"/>
                </a:solidFill>
              </a:rPr>
              <a:t>null</a:t>
            </a:r>
            <a:r>
              <a:rPr lang="ru-RU" altLang="ru-RU" sz="1400" dirty="0">
                <a:solidFill>
                  <a:schemeClr val="tx1"/>
                </a:solidFill>
              </a:rPr>
              <a:t>, если ключ добавлен впервые).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 err="1">
                <a:solidFill>
                  <a:srgbClr val="FFFF00"/>
                </a:solidFill>
              </a:rPr>
              <a:t>newValue</a:t>
            </a:r>
            <a:r>
              <a:rPr lang="ru-RU" altLang="ru-RU" sz="1400" dirty="0">
                <a:solidFill>
                  <a:schemeClr val="tx1"/>
                </a:solidFill>
              </a:rPr>
              <a:t> – новое значение (</a:t>
            </a:r>
            <a:r>
              <a:rPr lang="ru-RU" altLang="ru-RU" sz="1400" dirty="0" err="1">
                <a:solidFill>
                  <a:schemeClr val="tx1"/>
                </a:solidFill>
              </a:rPr>
              <a:t>null</a:t>
            </a:r>
            <a:r>
              <a:rPr lang="ru-RU" altLang="ru-RU" sz="1400" dirty="0">
                <a:solidFill>
                  <a:schemeClr val="tx1"/>
                </a:solidFill>
              </a:rPr>
              <a:t>, если ключ был удалён).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 err="1">
                <a:solidFill>
                  <a:srgbClr val="FFFF00"/>
                </a:solidFill>
              </a:rPr>
              <a:t>url</a:t>
            </a:r>
            <a:r>
              <a:rPr lang="ru-RU" altLang="ru-RU" sz="1400" dirty="0">
                <a:solidFill>
                  <a:schemeClr val="tx1"/>
                </a:solidFill>
              </a:rPr>
              <a:t> – </a:t>
            </a:r>
            <a:r>
              <a:rPr lang="ru-RU" altLang="ru-RU" sz="1400" dirty="0" err="1">
                <a:solidFill>
                  <a:schemeClr val="tx1"/>
                </a:solidFill>
              </a:rPr>
              <a:t>url</a:t>
            </a:r>
            <a:r>
              <a:rPr lang="ru-RU" altLang="ru-RU" sz="1400" dirty="0">
                <a:solidFill>
                  <a:schemeClr val="tx1"/>
                </a:solidFill>
              </a:rPr>
              <a:t> документа, где произошло обновление.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 err="1">
                <a:solidFill>
                  <a:srgbClr val="FFFF00"/>
                </a:solidFill>
              </a:rPr>
              <a:t>storageArea</a:t>
            </a:r>
            <a:r>
              <a:rPr lang="ru-RU" altLang="ru-RU" sz="1400" dirty="0">
                <a:solidFill>
                  <a:schemeClr val="tx1"/>
                </a:solidFill>
              </a:rPr>
              <a:t> – объект </a:t>
            </a:r>
            <a:r>
              <a:rPr lang="ru-RU" altLang="ru-RU" sz="1400" dirty="0" err="1">
                <a:solidFill>
                  <a:schemeClr val="tx1"/>
                </a:solidFill>
              </a:rPr>
              <a:t>localStorage</a:t>
            </a:r>
            <a:r>
              <a:rPr lang="ru-RU" altLang="ru-RU" sz="1400" dirty="0">
                <a:solidFill>
                  <a:schemeClr val="tx1"/>
                </a:solidFill>
              </a:rPr>
              <a:t> или </a:t>
            </a:r>
            <a:r>
              <a:rPr lang="ru-RU" altLang="ru-RU" sz="1400" dirty="0" err="1">
                <a:solidFill>
                  <a:schemeClr val="tx1"/>
                </a:solidFill>
              </a:rPr>
              <a:t>sessionStorage</a:t>
            </a:r>
            <a:r>
              <a:rPr lang="ru-RU" altLang="ru-RU" sz="1400" dirty="0">
                <a:solidFill>
                  <a:schemeClr val="tx1"/>
                </a:solidFill>
              </a:rPr>
              <a:t>, где произошло обновление.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Важно: событие срабатывает на всех остальных объектах </a:t>
            </a:r>
            <a:r>
              <a:rPr lang="ru-RU" altLang="ru-RU" sz="1400" dirty="0" err="1">
                <a:solidFill>
                  <a:schemeClr val="tx1"/>
                </a:solidFill>
              </a:rPr>
              <a:t>window</a:t>
            </a:r>
            <a:r>
              <a:rPr lang="ru-RU" altLang="ru-RU" sz="1400" dirty="0">
                <a:solidFill>
                  <a:schemeClr val="tx1"/>
                </a:solidFill>
              </a:rPr>
              <a:t>, где доступно хранилище, кроме того окна, которое его вызвало.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Теперь, если оба окна слушают </a:t>
            </a:r>
            <a:r>
              <a:rPr lang="ru-RU" altLang="ru-RU" sz="1400" dirty="0" err="1">
                <a:solidFill>
                  <a:schemeClr val="tx1"/>
                </a:solidFill>
              </a:rPr>
              <a:t>window.onstorage</a:t>
            </a:r>
            <a:r>
              <a:rPr lang="ru-RU" altLang="ru-RU" sz="1400" dirty="0">
                <a:solidFill>
                  <a:schemeClr val="tx1"/>
                </a:solidFill>
              </a:rPr>
              <a:t>, то каждое из них будет реагировать на обновления, произошедшие в другом окне.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window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addEventListener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'storage'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event =&gt;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event.key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!=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'now'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event.key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+ ':' +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event.newValue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+ 'at' + event.url);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localStorage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setItem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'now'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Date.now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());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803673-8705-4712-9CE9-02EB68FC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315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LocalStorage</a:t>
            </a:r>
            <a:r>
              <a:rPr lang="en-US" sz="2400" dirty="0"/>
              <a:t>, </a:t>
            </a:r>
            <a:r>
              <a:rPr lang="en-US" sz="2400" dirty="0" err="1"/>
              <a:t>sessionStorage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b="1" dirty="0">
                <a:solidFill>
                  <a:srgbClr val="FFFF00"/>
                </a:solidFill>
              </a:rPr>
              <a:t>Итого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Объекты веб-хранилища </a:t>
            </a:r>
            <a:r>
              <a:rPr lang="ru-RU" altLang="ru-RU" sz="1500" dirty="0" err="1">
                <a:solidFill>
                  <a:schemeClr val="tx1"/>
                </a:solidFill>
              </a:rPr>
              <a:t>localStorage</a:t>
            </a:r>
            <a:r>
              <a:rPr lang="ru-RU" altLang="ru-RU" sz="1500" dirty="0">
                <a:solidFill>
                  <a:schemeClr val="tx1"/>
                </a:solidFill>
              </a:rPr>
              <a:t> и </a:t>
            </a:r>
            <a:r>
              <a:rPr lang="ru-RU" altLang="ru-RU" sz="1500" dirty="0" err="1">
                <a:solidFill>
                  <a:schemeClr val="tx1"/>
                </a:solidFill>
              </a:rPr>
              <a:t>sessionStorage</a:t>
            </a:r>
            <a:r>
              <a:rPr lang="ru-RU" altLang="ru-RU" sz="1500" dirty="0">
                <a:solidFill>
                  <a:schemeClr val="tx1"/>
                </a:solidFill>
              </a:rPr>
              <a:t> позволяют хранить пары ключ/значение в браузере.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chemeClr val="tx1"/>
                </a:solidFill>
              </a:rPr>
              <a:t>key</a:t>
            </a:r>
            <a:r>
              <a:rPr lang="ru-RU" altLang="ru-RU" sz="1500" dirty="0">
                <a:solidFill>
                  <a:schemeClr val="tx1"/>
                </a:solidFill>
              </a:rPr>
              <a:t> и </a:t>
            </a:r>
            <a:r>
              <a:rPr lang="ru-RU" altLang="ru-RU" sz="1500" dirty="0" err="1">
                <a:solidFill>
                  <a:schemeClr val="tx1"/>
                </a:solidFill>
              </a:rPr>
              <a:t>value</a:t>
            </a:r>
            <a:r>
              <a:rPr lang="ru-RU" altLang="ru-RU" sz="1500" dirty="0">
                <a:solidFill>
                  <a:schemeClr val="tx1"/>
                </a:solidFill>
              </a:rPr>
              <a:t> должны быть строками.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</a:rPr>
              <a:t>Лимит 5 Мб+, зависит от браузера.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</a:rPr>
              <a:t>Данные не имеют «времени истечения».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</a:rPr>
              <a:t>Данные привязаны к источнику (домен/протокол/порт).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803673-8705-4712-9CE9-02EB68FC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Таблица 12">
            <a:extLst>
              <a:ext uri="{FF2B5EF4-FFF2-40B4-BE49-F238E27FC236}">
                <a16:creationId xmlns:a16="http://schemas.microsoft.com/office/drawing/2014/main" id="{778CF006-D6B4-471E-AFEC-7487E057A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954585"/>
              </p:ext>
            </p:extLst>
          </p:nvPr>
        </p:nvGraphicFramePr>
        <p:xfrm>
          <a:off x="849273" y="2571750"/>
          <a:ext cx="7488832" cy="169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226178319"/>
                    </a:ext>
                  </a:extLst>
                </a:gridCol>
                <a:gridCol w="4104456">
                  <a:extLst>
                    <a:ext uri="{9D8B030D-6E8A-4147-A177-3AD203B41FA5}">
                      <a16:colId xmlns:a16="http://schemas.microsoft.com/office/drawing/2014/main" val="401110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b="1" i="0" kern="12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localStorage</a:t>
                      </a:r>
                      <a:endParaRPr lang="ru-RU" sz="1500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i="0" kern="12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sessionStorage</a:t>
                      </a:r>
                      <a:endParaRPr lang="ru-RU" sz="1500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940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Совместно используется между всеми вкладками и окнами с одинаковым источником</a:t>
                      </a:r>
                      <a:endParaRPr lang="ru-RU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Разделяется в рамках вкладки браузера, </a:t>
                      </a:r>
                      <a:endParaRPr lang="ru-RU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934221"/>
                  </a:ext>
                </a:extLst>
              </a:tr>
              <a:tr h="406504">
                <a:tc>
                  <a:txBody>
                    <a:bodyPr/>
                    <a:lstStyle/>
                    <a:p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«Переживает» перезапуск браузера</a:t>
                      </a:r>
                      <a:endParaRPr lang="ru-RU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«Переживает» перезагрузку страницы (но не закрытие вкладки)</a:t>
                      </a:r>
                      <a:endParaRPr lang="ru-RU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600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2598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LocalStorage</a:t>
            </a:r>
            <a:r>
              <a:rPr lang="en-US" sz="2400" dirty="0"/>
              <a:t>, </a:t>
            </a:r>
            <a:r>
              <a:rPr lang="en-US" sz="2400" dirty="0" err="1"/>
              <a:t>sessionStorage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b="1" dirty="0">
                <a:solidFill>
                  <a:srgbClr val="FFFF00"/>
                </a:solidFill>
              </a:rPr>
              <a:t>Итого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API: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 err="1">
                <a:solidFill>
                  <a:srgbClr val="FFFF00"/>
                </a:solidFill>
              </a:rPr>
              <a:t>setItem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key</a:t>
            </a:r>
            <a:r>
              <a:rPr lang="ru-RU" altLang="ru-RU" sz="1400" dirty="0">
                <a:solidFill>
                  <a:srgbClr val="FFFF00"/>
                </a:solidFill>
              </a:rPr>
              <a:t>,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  <a:r>
              <a:rPr lang="ru-RU" altLang="ru-RU" sz="1400" dirty="0" err="1">
                <a:solidFill>
                  <a:srgbClr val="FFFF00"/>
                </a:solidFill>
              </a:rPr>
              <a:t>value</a:t>
            </a:r>
            <a:r>
              <a:rPr lang="ru-RU" altLang="ru-RU" sz="1400" dirty="0">
                <a:solidFill>
                  <a:srgbClr val="FFFF00"/>
                </a:solidFill>
              </a:rPr>
              <a:t>)</a:t>
            </a:r>
            <a:r>
              <a:rPr lang="ru-RU" altLang="ru-RU" sz="1400" dirty="0">
                <a:solidFill>
                  <a:schemeClr val="tx1"/>
                </a:solidFill>
              </a:rPr>
              <a:t> – сохранить пару ключ/значение.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 err="1">
                <a:solidFill>
                  <a:srgbClr val="FFFF00"/>
                </a:solidFill>
              </a:rPr>
              <a:t>getItem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key</a:t>
            </a:r>
            <a:r>
              <a:rPr lang="ru-RU" altLang="ru-RU" sz="1400" dirty="0">
                <a:solidFill>
                  <a:srgbClr val="FFFF00"/>
                </a:solidFill>
              </a:rPr>
              <a:t>)</a:t>
            </a:r>
            <a:r>
              <a:rPr lang="ru-RU" altLang="ru-RU" sz="1400" dirty="0">
                <a:solidFill>
                  <a:schemeClr val="tx1"/>
                </a:solidFill>
              </a:rPr>
              <a:t> – получить данные по ключу </a:t>
            </a:r>
            <a:r>
              <a:rPr lang="ru-RU" altLang="ru-RU" sz="1400" dirty="0" err="1">
                <a:solidFill>
                  <a:schemeClr val="tx1"/>
                </a:solidFill>
              </a:rPr>
              <a:t>key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 err="1">
                <a:solidFill>
                  <a:srgbClr val="FFFF00"/>
                </a:solidFill>
              </a:rPr>
              <a:t>removeItem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key</a:t>
            </a:r>
            <a:r>
              <a:rPr lang="ru-RU" altLang="ru-RU" sz="1400" dirty="0">
                <a:solidFill>
                  <a:srgbClr val="FFFF00"/>
                </a:solidFill>
              </a:rPr>
              <a:t>)</a:t>
            </a:r>
            <a:r>
              <a:rPr lang="ru-RU" altLang="ru-RU" sz="1400" dirty="0">
                <a:solidFill>
                  <a:schemeClr val="tx1"/>
                </a:solidFill>
              </a:rPr>
              <a:t> – удалить значение по ключу </a:t>
            </a:r>
            <a:r>
              <a:rPr lang="ru-RU" altLang="ru-RU" sz="1400" dirty="0" err="1">
                <a:solidFill>
                  <a:schemeClr val="tx1"/>
                </a:solidFill>
              </a:rPr>
              <a:t>key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 err="1">
                <a:solidFill>
                  <a:srgbClr val="FFFF00"/>
                </a:solidFill>
              </a:rPr>
              <a:t>clear</a:t>
            </a:r>
            <a:r>
              <a:rPr lang="ru-RU" altLang="ru-RU" sz="1400" dirty="0">
                <a:solidFill>
                  <a:srgbClr val="FFFF00"/>
                </a:solidFill>
              </a:rPr>
              <a:t>()</a:t>
            </a:r>
            <a:r>
              <a:rPr lang="ru-RU" altLang="ru-RU" sz="1400" dirty="0">
                <a:solidFill>
                  <a:schemeClr val="tx1"/>
                </a:solidFill>
              </a:rPr>
              <a:t> – удалить всё.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 err="1">
                <a:solidFill>
                  <a:srgbClr val="FFFF00"/>
                </a:solidFill>
              </a:rPr>
              <a:t>key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index</a:t>
            </a:r>
            <a:r>
              <a:rPr lang="ru-RU" altLang="ru-RU" sz="1400" dirty="0">
                <a:solidFill>
                  <a:srgbClr val="FFFF00"/>
                </a:solidFill>
              </a:rPr>
              <a:t>)</a:t>
            </a:r>
            <a:r>
              <a:rPr lang="ru-RU" altLang="ru-RU" sz="1400" dirty="0">
                <a:solidFill>
                  <a:schemeClr val="tx1"/>
                </a:solidFill>
              </a:rPr>
              <a:t> – получить ключ на заданной позиции.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 err="1">
                <a:solidFill>
                  <a:srgbClr val="FFFF00"/>
                </a:solidFill>
              </a:rPr>
              <a:t>length</a:t>
            </a:r>
            <a:r>
              <a:rPr lang="ru-RU" altLang="ru-RU" sz="1400" dirty="0">
                <a:solidFill>
                  <a:schemeClr val="tx1"/>
                </a:solidFill>
              </a:rPr>
              <a:t> – количество элементов в хранилище.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Используйте </a:t>
            </a:r>
            <a:r>
              <a:rPr lang="ru-RU" altLang="ru-RU" sz="1400" dirty="0" err="1">
                <a:solidFill>
                  <a:schemeClr val="tx1"/>
                </a:solidFill>
              </a:rPr>
              <a:t>Object.keys</a:t>
            </a:r>
            <a:r>
              <a:rPr lang="ru-RU" altLang="ru-RU" sz="1400" dirty="0">
                <a:solidFill>
                  <a:schemeClr val="tx1"/>
                </a:solidFill>
              </a:rPr>
              <a:t> для получения всех ключей.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Можно обращаться к ключам как к обычным свойствам объекта, в этом случае событие </a:t>
            </a:r>
            <a:r>
              <a:rPr lang="ru-RU" altLang="ru-RU" sz="1400" dirty="0" err="1">
                <a:solidFill>
                  <a:srgbClr val="FFFF00"/>
                </a:solidFill>
              </a:rPr>
              <a:t>storage</a:t>
            </a:r>
            <a:r>
              <a:rPr lang="ru-RU" altLang="ru-RU" sz="1400" dirty="0">
                <a:solidFill>
                  <a:schemeClr val="tx1"/>
                </a:solidFill>
              </a:rPr>
              <a:t> не срабатывает.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Событие </a:t>
            </a:r>
            <a:r>
              <a:rPr lang="ru-RU" altLang="ru-RU" sz="1400" dirty="0" err="1">
                <a:solidFill>
                  <a:schemeClr val="tx1"/>
                </a:solidFill>
              </a:rPr>
              <a:t>storage</a:t>
            </a:r>
            <a:r>
              <a:rPr lang="ru-RU" altLang="ru-RU" sz="1400" dirty="0">
                <a:solidFill>
                  <a:schemeClr val="tx1"/>
                </a:solidFill>
              </a:rPr>
              <a:t>: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Срабатывает при вызове </a:t>
            </a:r>
            <a:r>
              <a:rPr lang="ru-RU" altLang="ru-RU" sz="1400" dirty="0" err="1">
                <a:solidFill>
                  <a:srgbClr val="FFFF00"/>
                </a:solidFill>
              </a:rPr>
              <a:t>setItem</a:t>
            </a:r>
            <a:r>
              <a:rPr lang="ru-RU" altLang="ru-RU" sz="1400" dirty="0">
                <a:solidFill>
                  <a:schemeClr val="tx1"/>
                </a:solidFill>
              </a:rPr>
              <a:t>, </a:t>
            </a:r>
            <a:r>
              <a:rPr lang="ru-RU" altLang="ru-RU" sz="1400" dirty="0" err="1">
                <a:solidFill>
                  <a:srgbClr val="FFFF00"/>
                </a:solidFill>
              </a:rPr>
              <a:t>removeItem</a:t>
            </a:r>
            <a:r>
              <a:rPr lang="ru-RU" altLang="ru-RU" sz="1400" dirty="0">
                <a:solidFill>
                  <a:schemeClr val="tx1"/>
                </a:solidFill>
              </a:rPr>
              <a:t>, </a:t>
            </a:r>
            <a:r>
              <a:rPr lang="ru-RU" altLang="ru-RU" sz="1400" dirty="0" err="1">
                <a:solidFill>
                  <a:srgbClr val="FFFF00"/>
                </a:solidFill>
              </a:rPr>
              <a:t>clear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Содержит все данные об произошедшем обновлении (</a:t>
            </a:r>
            <a:r>
              <a:rPr lang="ru-RU" altLang="ru-RU" sz="1400" dirty="0" err="1">
                <a:solidFill>
                  <a:srgbClr val="FFFF00"/>
                </a:solidFill>
              </a:rPr>
              <a:t>key</a:t>
            </a:r>
            <a:r>
              <a:rPr lang="ru-RU" altLang="ru-RU" sz="1400" dirty="0">
                <a:solidFill>
                  <a:srgbClr val="FFFF00"/>
                </a:solidFill>
              </a:rPr>
              <a:t>/</a:t>
            </a:r>
            <a:r>
              <a:rPr lang="ru-RU" altLang="ru-RU" sz="1400" dirty="0" err="1">
                <a:solidFill>
                  <a:srgbClr val="FFFF00"/>
                </a:solidFill>
              </a:rPr>
              <a:t>oldValue</a:t>
            </a:r>
            <a:r>
              <a:rPr lang="ru-RU" altLang="ru-RU" sz="1400" dirty="0">
                <a:solidFill>
                  <a:srgbClr val="FFFF00"/>
                </a:solidFill>
              </a:rPr>
              <a:t>/</a:t>
            </a:r>
            <a:r>
              <a:rPr lang="ru-RU" altLang="ru-RU" sz="1400" dirty="0" err="1">
                <a:solidFill>
                  <a:srgbClr val="FFFF00"/>
                </a:solidFill>
              </a:rPr>
              <a:t>newValue</a:t>
            </a:r>
            <a:r>
              <a:rPr lang="ru-RU" altLang="ru-RU" sz="1400" dirty="0">
                <a:solidFill>
                  <a:schemeClr val="tx1"/>
                </a:solidFill>
              </a:rPr>
              <a:t>), </a:t>
            </a:r>
            <a:r>
              <a:rPr lang="ru-RU" altLang="ru-RU" sz="1400" dirty="0" err="1">
                <a:solidFill>
                  <a:schemeClr val="tx1"/>
                </a:solidFill>
              </a:rPr>
              <a:t>url</a:t>
            </a:r>
            <a:r>
              <a:rPr lang="ru-RU" altLang="ru-RU" sz="1400" dirty="0">
                <a:solidFill>
                  <a:schemeClr val="tx1"/>
                </a:solidFill>
              </a:rPr>
              <a:t> документа и объект хранилища </a:t>
            </a:r>
            <a:r>
              <a:rPr lang="ru-RU" altLang="ru-RU" sz="1400" dirty="0" err="1">
                <a:solidFill>
                  <a:schemeClr val="tx1"/>
                </a:solidFill>
              </a:rPr>
              <a:t>storageArea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Срабатывает на всех объектах </a:t>
            </a:r>
            <a:r>
              <a:rPr lang="ru-RU" altLang="ru-RU" sz="1400" dirty="0" err="1">
                <a:solidFill>
                  <a:schemeClr val="tx1"/>
                </a:solidFill>
              </a:rPr>
              <a:t>window</a:t>
            </a:r>
            <a:r>
              <a:rPr lang="ru-RU" altLang="ru-RU" sz="1400" dirty="0">
                <a:solidFill>
                  <a:schemeClr val="tx1"/>
                </a:solidFill>
              </a:rPr>
              <a:t>, которые имеют доступ к хранилищу, кроме того, где оно было сгенерировано (внутри вкладки для </a:t>
            </a:r>
            <a:r>
              <a:rPr lang="ru-RU" altLang="ru-RU" sz="1400" dirty="0" err="1">
                <a:solidFill>
                  <a:schemeClr val="tx1"/>
                </a:solidFill>
              </a:rPr>
              <a:t>sessionStorage</a:t>
            </a:r>
            <a:r>
              <a:rPr lang="ru-RU" altLang="ru-RU" sz="1400" dirty="0">
                <a:solidFill>
                  <a:schemeClr val="tx1"/>
                </a:solidFill>
              </a:rPr>
              <a:t>, глобально для </a:t>
            </a:r>
            <a:r>
              <a:rPr lang="ru-RU" altLang="ru-RU" sz="1400" dirty="0" err="1">
                <a:solidFill>
                  <a:schemeClr val="tx1"/>
                </a:solidFill>
              </a:rPr>
              <a:t>localStorage</a:t>
            </a:r>
            <a:r>
              <a:rPr lang="ru-RU" altLang="ru-RU" sz="1400" dirty="0">
                <a:solidFill>
                  <a:schemeClr val="tx1"/>
                </a:solidFill>
              </a:rPr>
              <a:t>).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803673-8705-4712-9CE9-02EB68FC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027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47664" y="2211710"/>
            <a:ext cx="5976664" cy="612068"/>
          </a:xfrm>
        </p:spPr>
        <p:txBody>
          <a:bodyPr anchor="t"/>
          <a:lstStyle/>
          <a:p>
            <a:r>
              <a:rPr lang="en-US" dirty="0" err="1"/>
              <a:t>IndexDB</a:t>
            </a:r>
            <a:r>
              <a:rPr lang="en-US" dirty="0"/>
              <a:t> </a:t>
            </a:r>
            <a:r>
              <a:rPr lang="ru-RU" dirty="0"/>
              <a:t>и кэш браузера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40397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IndexDB</a:t>
            </a:r>
            <a:r>
              <a:rPr lang="en-US" sz="2400" dirty="0"/>
              <a:t> </a:t>
            </a:r>
            <a:r>
              <a:rPr lang="ru-RU" sz="2400" dirty="0"/>
              <a:t>и кэш браузера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674646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Что такое </a:t>
            </a:r>
            <a:r>
              <a:rPr lang="ru-RU" altLang="ru-RU" sz="1400" dirty="0" err="1">
                <a:solidFill>
                  <a:srgbClr val="FFFF00"/>
                </a:solidFill>
              </a:rPr>
              <a:t>IndexDB</a:t>
            </a:r>
            <a:r>
              <a:rPr lang="ru-RU" altLang="ru-RU" sz="1400" dirty="0">
                <a:solidFill>
                  <a:srgbClr val="FFFF00"/>
                </a:solidFill>
              </a:rPr>
              <a:t>?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chemeClr val="tx1"/>
                </a:solidFill>
              </a:rPr>
              <a:t>IndexDB</a:t>
            </a:r>
            <a:r>
              <a:rPr lang="ru-RU" altLang="ru-RU" sz="1400" dirty="0">
                <a:solidFill>
                  <a:schemeClr val="tx1"/>
                </a:solidFill>
              </a:rPr>
              <a:t> (</a:t>
            </a:r>
            <a:r>
              <a:rPr lang="ru-RU" altLang="ru-RU" sz="1400" dirty="0" err="1">
                <a:solidFill>
                  <a:schemeClr val="tx1"/>
                </a:solidFill>
              </a:rPr>
              <a:t>Indexed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</a:rPr>
              <a:t>Database</a:t>
            </a:r>
            <a:r>
              <a:rPr lang="ru-RU" altLang="ru-RU" sz="1400" dirty="0">
                <a:solidFill>
                  <a:schemeClr val="tx1"/>
                </a:solidFill>
              </a:rPr>
              <a:t> API) - это база данных, представленная в виде объектного хранилища, которая позволяет хранить и извлекать большие объемы структурированных данных в браузере. Она предоставляет возможность выполнять сложные запросы и обеспечивает высокую производительность.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/>
              <a:t>Основные характеристики </a:t>
            </a:r>
            <a:r>
              <a:rPr lang="ru-RU" sz="1400" dirty="0" err="1"/>
              <a:t>IndexDB</a:t>
            </a:r>
            <a:r>
              <a:rPr lang="ru-RU" sz="1400" dirty="0"/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b="1" dirty="0"/>
              <a:t>Безопасность и конфиденциальность</a:t>
            </a:r>
            <a:r>
              <a:rPr lang="ru-RU" sz="1400" dirty="0"/>
              <a:t>: </a:t>
            </a:r>
            <a:r>
              <a:rPr lang="ru-RU" sz="1400" dirty="0" err="1"/>
              <a:t>IndexDB</a:t>
            </a:r>
            <a:r>
              <a:rPr lang="ru-RU" sz="1400" dirty="0"/>
              <a:t> хранит данные локально на компьютере пользователя, что обеспечивает безопасность и конфиденциальность.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b="1" dirty="0"/>
              <a:t>Объем хранения</a:t>
            </a:r>
            <a:r>
              <a:rPr lang="ru-RU" sz="1400" dirty="0"/>
              <a:t>: </a:t>
            </a:r>
            <a:r>
              <a:rPr lang="ru-RU" sz="1400" dirty="0" err="1"/>
              <a:t>IndexDB</a:t>
            </a:r>
            <a:r>
              <a:rPr lang="ru-RU" sz="1400" dirty="0"/>
              <a:t> может хранить большие объемы данных, что позволяет создавать приложения с большими возможностями.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b="1" dirty="0"/>
              <a:t>Индексирование</a:t>
            </a:r>
            <a:r>
              <a:rPr lang="ru-RU" sz="1400" dirty="0"/>
              <a:t>: </a:t>
            </a:r>
            <a:r>
              <a:rPr lang="ru-RU" sz="1400" dirty="0" err="1"/>
              <a:t>IndexDB</a:t>
            </a:r>
            <a:r>
              <a:rPr lang="ru-RU" sz="1400" dirty="0"/>
              <a:t> предоставляет возможность индексирования данных, что позволяет выполнять быстрые запросы и извлекать данные по определенным ключам.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b="1" dirty="0"/>
              <a:t>Событийная модель</a:t>
            </a:r>
            <a:r>
              <a:rPr lang="ru-RU" sz="1400" dirty="0"/>
              <a:t>: </a:t>
            </a:r>
            <a:r>
              <a:rPr lang="ru-RU" sz="1400" dirty="0" err="1"/>
              <a:t>IndexDB</a:t>
            </a:r>
            <a:r>
              <a:rPr lang="ru-RU" sz="1400" dirty="0"/>
              <a:t> использует событийную модель, что позволяет реагировать на изменения в хранилище и выполнять соответствующие действия.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803673-8705-4712-9CE9-02EB68FC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8682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IndexDB</a:t>
            </a:r>
            <a:r>
              <a:rPr lang="en-US" sz="2400" dirty="0"/>
              <a:t> </a:t>
            </a:r>
            <a:r>
              <a:rPr lang="ru-RU" sz="2400" dirty="0"/>
              <a:t>и кэш браузера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674646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request =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indexedDB.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myDatabase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", 1);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Открыть базу данных</a:t>
            </a:r>
            <a:endParaRPr lang="en-US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request.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onerror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(event)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 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Обработка ошибки открытия базы данных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("Error opening database:", 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.target.error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request.onsuccess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(event)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db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.target.result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База данных открыта успешно</a:t>
            </a:r>
            <a:endParaRPr lang="en-US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Создать объектное хранилище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objectStore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db.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createObjectStore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myObjectStore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", {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keyPath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"id"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 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Добавить данные в объектное хранилище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request =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objectStore.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add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({ id: 1,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 Doe"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request.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onerror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(event)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Error adding data: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", 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.target.error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};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request.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onsuccess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(event)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Data added successfully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");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Данные добавлены успешно</a:t>
            </a:r>
            <a:endParaRPr lang="en-US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};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803673-8705-4712-9CE9-02EB68FC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6E469E0-F500-4452-8904-7D089B87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1278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IndexDB</a:t>
            </a:r>
            <a:r>
              <a:rPr lang="en-US" sz="2400" dirty="0"/>
              <a:t> </a:t>
            </a:r>
            <a:r>
              <a:rPr lang="ru-RU" sz="2400" dirty="0"/>
              <a:t>и кэш браузера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674646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Пример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/>
              <a:t>Предположим, есть список любимых игрушек, который нужно хранить и использовать в веб-приложении. Можно создать объектное хранилище в </a:t>
            </a:r>
            <a:r>
              <a:rPr lang="ru-RU" sz="1400" dirty="0" err="1"/>
              <a:t>IndexDB</a:t>
            </a:r>
            <a:r>
              <a:rPr lang="ru-RU" sz="1400" dirty="0"/>
              <a:t> для хранения игрушек и использовать индексирование для быстрого поиска игрушек по имени или категории.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</a:rPr>
              <a:t> request = </a:t>
            </a:r>
            <a:r>
              <a:rPr lang="en-US" sz="1400" dirty="0" err="1">
                <a:latin typeface="Consolas" panose="020B0609020204030204" pitchFamily="49" charset="0"/>
              </a:rPr>
              <a:t>indexedDB.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sz="1400" dirty="0">
                <a:latin typeface="Consolas" panose="020B0609020204030204" pitchFamily="49" charset="0"/>
              </a:rPr>
              <a:t>("</a:t>
            </a:r>
            <a:r>
              <a:rPr lang="en-US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myDatabase</a:t>
            </a:r>
            <a:r>
              <a:rPr lang="en-US" sz="1400" dirty="0">
                <a:latin typeface="Consolas" panose="020B0609020204030204" pitchFamily="49" charset="0"/>
              </a:rPr>
              <a:t>", 1);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Открыть базу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данных</a:t>
            </a:r>
            <a:endParaRPr lang="en-US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 err="1">
                <a:latin typeface="Consolas" panose="020B0609020204030204" pitchFamily="49" charset="0"/>
              </a:rPr>
              <a:t>request.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onerror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latin typeface="Consolas" panose="020B0609020204030204" pitchFamily="49" charset="0"/>
              </a:rPr>
              <a:t>(event)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  //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Обработка ошибки открытия базы данных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sz="1400" dirty="0">
                <a:latin typeface="Consolas" panose="020B0609020204030204" pitchFamily="49" charset="0"/>
              </a:rPr>
              <a:t>("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Error opening database</a:t>
            </a:r>
            <a:r>
              <a:rPr lang="en-US" sz="1400" dirty="0">
                <a:latin typeface="Consolas" panose="020B0609020204030204" pitchFamily="49" charset="0"/>
              </a:rPr>
              <a:t>:", 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sz="1400" dirty="0" err="1">
                <a:latin typeface="Consolas" panose="020B0609020204030204" pitchFamily="49" charset="0"/>
              </a:rPr>
              <a:t>.target.error</a:t>
            </a:r>
            <a:r>
              <a:rPr lang="en-US" sz="1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 err="1">
                <a:latin typeface="Consolas" panose="020B0609020204030204" pitchFamily="49" charset="0"/>
              </a:rPr>
              <a:t>request.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onsuccess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latin typeface="Consolas" panose="020B0609020204030204" pitchFamily="49" charset="0"/>
              </a:rPr>
              <a:t>(event)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db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sz="1400" dirty="0" err="1">
                <a:latin typeface="Consolas" panose="020B0609020204030204" pitchFamily="49" charset="0"/>
              </a:rPr>
              <a:t>.target.result</a:t>
            </a:r>
            <a:r>
              <a:rPr lang="en-US" sz="1400" dirty="0">
                <a:latin typeface="Consolas" panose="020B0609020204030204" pitchFamily="49" charset="0"/>
              </a:rPr>
              <a:t>;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База данных открыта успешно</a:t>
            </a:r>
            <a:endParaRPr lang="en-US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objectStore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db.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createObjectStore</a:t>
            </a:r>
            <a:r>
              <a:rPr lang="en-US" sz="1400" dirty="0">
                <a:latin typeface="Consolas" panose="020B0609020204030204" pitchFamily="49" charset="0"/>
              </a:rPr>
              <a:t>("</a:t>
            </a:r>
            <a:r>
              <a:rPr lang="en-US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myObjectStore</a:t>
            </a:r>
            <a:r>
              <a:rPr lang="en-US" sz="1400" dirty="0">
                <a:latin typeface="Consolas" panose="020B0609020204030204" pitchFamily="49" charset="0"/>
              </a:rPr>
              <a:t>",{ </a:t>
            </a:r>
            <a:r>
              <a:rPr lang="en-US" sz="1400" dirty="0" err="1">
                <a:latin typeface="Consolas" panose="020B0609020204030204" pitchFamily="49" charset="0"/>
              </a:rPr>
              <a:t>keyPath</a:t>
            </a:r>
            <a:r>
              <a:rPr lang="en-US" sz="1400" dirty="0">
                <a:latin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"id"</a:t>
            </a:r>
            <a:r>
              <a:rPr lang="en-US" sz="1400" dirty="0">
                <a:latin typeface="Consolas" panose="020B0609020204030204" pitchFamily="49" charset="0"/>
              </a:rPr>
              <a:t> });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</a:rPr>
              <a:t> toy1 = { id: 1, name: "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Lego</a:t>
            </a:r>
            <a:r>
              <a:rPr lang="en-US" sz="1400" dirty="0">
                <a:latin typeface="Consolas" panose="020B0609020204030204" pitchFamily="49" charset="0"/>
              </a:rPr>
              <a:t>", category: "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Building</a:t>
            </a:r>
            <a:r>
              <a:rPr lang="en-US" sz="1400" dirty="0">
                <a:latin typeface="Consolas" panose="020B0609020204030204" pitchFamily="49" charset="0"/>
              </a:rPr>
              <a:t>" 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</a:rPr>
              <a:t> toy2 = { id: 2, name: "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Barbie</a:t>
            </a:r>
            <a:r>
              <a:rPr lang="en-US" sz="1400" dirty="0">
                <a:latin typeface="Consolas" panose="020B0609020204030204" pitchFamily="49" charset="0"/>
              </a:rPr>
              <a:t>", category: "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Doll</a:t>
            </a:r>
            <a:r>
              <a:rPr lang="en-US" sz="1400" dirty="0">
                <a:latin typeface="Consolas" panose="020B0609020204030204" pitchFamily="49" charset="0"/>
              </a:rPr>
              <a:t>" 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</a:rPr>
              <a:t> toy3 = { id: 3, name: "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Puzzle</a:t>
            </a:r>
            <a:r>
              <a:rPr lang="en-US" sz="1400" dirty="0">
                <a:latin typeface="Consolas" panose="020B0609020204030204" pitchFamily="49" charset="0"/>
              </a:rPr>
              <a:t>", category: "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Toy</a:t>
            </a:r>
            <a:r>
              <a:rPr lang="en-US" sz="1400" dirty="0">
                <a:latin typeface="Consolas" panose="020B0609020204030204" pitchFamily="49" charset="0"/>
              </a:rPr>
              <a:t>" 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</a:rPr>
              <a:t> request1 = </a:t>
            </a:r>
            <a:r>
              <a:rPr lang="en-US" sz="1400" dirty="0" err="1">
                <a:latin typeface="Consolas" panose="020B0609020204030204" pitchFamily="49" charset="0"/>
              </a:rPr>
              <a:t>objectStore.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add</a:t>
            </a:r>
            <a:r>
              <a:rPr lang="en-US" sz="1400" dirty="0">
                <a:latin typeface="Consolas" panose="020B0609020204030204" pitchFamily="49" charset="0"/>
              </a:rPr>
              <a:t>(toy1);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</a:rPr>
              <a:t> request2 = </a:t>
            </a:r>
            <a:r>
              <a:rPr lang="en-US" sz="1400" dirty="0" err="1">
                <a:latin typeface="Consolas" panose="020B0609020204030204" pitchFamily="49" charset="0"/>
              </a:rPr>
              <a:t>objectStore.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add</a:t>
            </a:r>
            <a:r>
              <a:rPr lang="en-US" sz="1400" dirty="0">
                <a:latin typeface="Consolas" panose="020B0609020204030204" pitchFamily="49" charset="0"/>
              </a:rPr>
              <a:t>(toy2);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</a:rPr>
              <a:t> request3 = </a:t>
            </a:r>
            <a:r>
              <a:rPr lang="en-US" sz="1400" dirty="0" err="1">
                <a:latin typeface="Consolas" panose="020B0609020204030204" pitchFamily="49" charset="0"/>
              </a:rPr>
              <a:t>objectStore.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add</a:t>
            </a:r>
            <a:r>
              <a:rPr lang="en-US" sz="1400" dirty="0">
                <a:latin typeface="Consolas" panose="020B0609020204030204" pitchFamily="49" charset="0"/>
              </a:rPr>
              <a:t>(toy3);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803673-8705-4712-9CE9-02EB68FC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6E469E0-F500-4452-8904-7D089B87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652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IndexDB</a:t>
            </a:r>
            <a:r>
              <a:rPr lang="en-US" sz="2400" dirty="0"/>
              <a:t> </a:t>
            </a:r>
            <a:r>
              <a:rPr lang="ru-RU" sz="2400" dirty="0"/>
              <a:t>и кэш браузера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674646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sz="1400" dirty="0">
                <a:solidFill>
                  <a:srgbClr val="FFFF00"/>
                </a:solidFill>
              </a:rPr>
              <a:t>// Поиск игрушки по имени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/>
              <a:t>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const</a:t>
            </a:r>
            <a:r>
              <a:rPr lang="en-US" sz="1400" dirty="0"/>
              <a:t> </a:t>
            </a:r>
            <a:r>
              <a:rPr lang="en-US" sz="1400" dirty="0" err="1"/>
              <a:t>requestSearch</a:t>
            </a:r>
            <a:r>
              <a:rPr lang="en-US" sz="1400" dirty="0"/>
              <a:t> = </a:t>
            </a:r>
            <a:r>
              <a:rPr lang="en-US" sz="1400" dirty="0" err="1"/>
              <a:t>objectStore.</a:t>
            </a:r>
            <a:r>
              <a:rPr lang="en-US" sz="1400" dirty="0" err="1">
                <a:solidFill>
                  <a:srgbClr val="00B0F0"/>
                </a:solidFill>
              </a:rPr>
              <a:t>index</a:t>
            </a:r>
            <a:r>
              <a:rPr lang="en-US" sz="1400" dirty="0"/>
              <a:t>("</a:t>
            </a:r>
            <a:r>
              <a:rPr lang="en-US" sz="1400" dirty="0">
                <a:solidFill>
                  <a:srgbClr val="FFFF00"/>
                </a:solidFill>
              </a:rPr>
              <a:t>name</a:t>
            </a:r>
            <a:r>
              <a:rPr lang="en-US" sz="1400" dirty="0"/>
              <a:t>").get("</a:t>
            </a:r>
            <a:r>
              <a:rPr lang="en-US" sz="1400" dirty="0">
                <a:solidFill>
                  <a:srgbClr val="FFFF00"/>
                </a:solidFill>
              </a:rPr>
              <a:t>Lego</a:t>
            </a:r>
            <a:r>
              <a:rPr lang="en-US" sz="1400" dirty="0"/>
              <a:t>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</a:t>
            </a:r>
            <a:r>
              <a:rPr lang="en-US" sz="1400" dirty="0" err="1"/>
              <a:t>requestSearch.</a:t>
            </a:r>
            <a:r>
              <a:rPr lang="en-US" sz="1400" dirty="0" err="1">
                <a:solidFill>
                  <a:srgbClr val="00B0F0"/>
                </a:solidFill>
              </a:rPr>
              <a:t>onsuccess</a:t>
            </a:r>
            <a:r>
              <a:rPr lang="en-US" sz="1400" dirty="0"/>
              <a:t> =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function</a:t>
            </a:r>
            <a:r>
              <a:rPr lang="en-US" sz="1400" dirty="0"/>
              <a:t>(event)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const</a:t>
            </a:r>
            <a:r>
              <a:rPr lang="en-US" sz="1400" dirty="0"/>
              <a:t> </a:t>
            </a:r>
            <a:r>
              <a:rPr lang="en-US" sz="1400" dirty="0" err="1"/>
              <a:t>foundToy</a:t>
            </a:r>
            <a:r>
              <a:rPr lang="en-US" sz="1400" dirty="0"/>
              <a:t> = 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event</a:t>
            </a:r>
            <a:r>
              <a:rPr lang="en-US" sz="1400" dirty="0" err="1"/>
              <a:t>.target.result</a:t>
            </a:r>
            <a:r>
              <a:rPr lang="en-US" sz="14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  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console</a:t>
            </a:r>
            <a:r>
              <a:rPr lang="en-US" sz="1400" dirty="0"/>
              <a:t>.</a:t>
            </a:r>
            <a:r>
              <a:rPr lang="en-US" sz="1400" dirty="0">
                <a:solidFill>
                  <a:srgbClr val="00B0F0"/>
                </a:solidFill>
              </a:rPr>
              <a:t>log</a:t>
            </a:r>
            <a:r>
              <a:rPr lang="en-US" sz="1400" dirty="0"/>
              <a:t>("</a:t>
            </a:r>
            <a:r>
              <a:rPr lang="en-US" sz="1400" dirty="0">
                <a:solidFill>
                  <a:srgbClr val="FFFF00"/>
                </a:solidFill>
              </a:rPr>
              <a:t>Found toy:</a:t>
            </a:r>
            <a:r>
              <a:rPr lang="en-US" sz="1400" dirty="0">
                <a:solidFill>
                  <a:schemeClr val="tx1"/>
                </a:solidFill>
              </a:rPr>
              <a:t>",</a:t>
            </a:r>
            <a:r>
              <a:rPr lang="en-US" sz="1400" dirty="0">
                <a:solidFill>
                  <a:srgbClr val="FFFF00"/>
                </a:solidFill>
              </a:rPr>
              <a:t> </a:t>
            </a:r>
            <a:r>
              <a:rPr lang="en-US" sz="1400" dirty="0" err="1"/>
              <a:t>foundToy</a:t>
            </a:r>
            <a:r>
              <a:rPr lang="en-US" sz="1400" dirty="0"/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 };</a:t>
            </a:r>
          </a:p>
          <a:p>
            <a:pPr marL="0" indent="0">
              <a:spcBef>
                <a:spcPts val="0"/>
              </a:spcBef>
              <a:buNone/>
            </a:pP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FFFF00"/>
                </a:solidFill>
              </a:rPr>
              <a:t> // </a:t>
            </a:r>
            <a:r>
              <a:rPr lang="ru-RU" sz="1400" dirty="0">
                <a:solidFill>
                  <a:srgbClr val="FFFF00"/>
                </a:solidFill>
              </a:rPr>
              <a:t>Удаление игрушки из хранилища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/>
              <a:t>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const</a:t>
            </a:r>
            <a:r>
              <a:rPr lang="en-US" sz="1400" dirty="0"/>
              <a:t> </a:t>
            </a:r>
            <a:r>
              <a:rPr lang="en-US" sz="1400" dirty="0" err="1"/>
              <a:t>requestDelete</a:t>
            </a:r>
            <a:r>
              <a:rPr lang="en-US" sz="1400" dirty="0"/>
              <a:t> = </a:t>
            </a:r>
            <a:r>
              <a:rPr lang="en-US" sz="1400" dirty="0" err="1"/>
              <a:t>objectStore.</a:t>
            </a:r>
            <a:r>
              <a:rPr lang="en-US" sz="1400" dirty="0" err="1">
                <a:solidFill>
                  <a:srgbClr val="00B0F0"/>
                </a:solidFill>
              </a:rPr>
              <a:t>delete</a:t>
            </a:r>
            <a:r>
              <a:rPr lang="en-US" sz="1400" dirty="0"/>
              <a:t>(2);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</a:t>
            </a:r>
            <a:r>
              <a:rPr lang="en-US" sz="1400" dirty="0" err="1"/>
              <a:t>requestDelete.</a:t>
            </a:r>
            <a:r>
              <a:rPr lang="en-US" sz="1400" dirty="0" err="1">
                <a:solidFill>
                  <a:srgbClr val="00B0F0"/>
                </a:solidFill>
              </a:rPr>
              <a:t>onsuccess</a:t>
            </a:r>
            <a:r>
              <a:rPr lang="en-US" sz="1400" dirty="0"/>
              <a:t> =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function</a:t>
            </a:r>
            <a:r>
              <a:rPr lang="en-US" sz="1400" dirty="0"/>
              <a:t>(event)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  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console</a:t>
            </a:r>
            <a:r>
              <a:rPr lang="en-US" sz="1400" dirty="0"/>
              <a:t>.</a:t>
            </a:r>
            <a:r>
              <a:rPr lang="en-US" sz="1400" dirty="0">
                <a:solidFill>
                  <a:srgbClr val="00B0F0"/>
                </a:solidFill>
              </a:rPr>
              <a:t>log</a:t>
            </a:r>
            <a:r>
              <a:rPr lang="en-US" sz="1400" dirty="0"/>
              <a:t>("</a:t>
            </a:r>
            <a:r>
              <a:rPr lang="en-US" sz="1400" dirty="0">
                <a:solidFill>
                  <a:srgbClr val="FFFF00"/>
                </a:solidFill>
              </a:rPr>
              <a:t>Toy deleted successfully</a:t>
            </a:r>
            <a:r>
              <a:rPr lang="en-US" sz="1400" dirty="0"/>
              <a:t>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 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}; 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803673-8705-4712-9CE9-02EB68FC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6E469E0-F500-4452-8904-7D089B87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348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IndexDB</a:t>
            </a:r>
            <a:r>
              <a:rPr lang="en-US" sz="2400" dirty="0"/>
              <a:t> </a:t>
            </a:r>
            <a:r>
              <a:rPr lang="ru-RU" sz="2400" dirty="0"/>
              <a:t>и кэш браузера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674646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>
                <a:solidFill>
                  <a:srgbClr val="FFFF00"/>
                </a:solidFill>
              </a:rPr>
              <a:t>Кэш браузера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ts val="600"/>
              </a:spcBef>
              <a:buClrTx/>
              <a:buSzTx/>
              <a:buNone/>
            </a:pPr>
            <a:r>
              <a:rPr lang="ru-RU" sz="1400" dirty="0"/>
              <a:t>Кэш браузера - это область памяти, где браузер хранит ресурсы, такие как изображения, скрипты, стили и другие веб-контент, чтобы ускорить загрузку страниц и сократить использование интернет-трафика.</a:t>
            </a:r>
            <a:endParaRPr lang="ru-RU" altLang="ru-RU" sz="1400" dirty="0">
              <a:solidFill>
                <a:schemeClr val="tx1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400" dirty="0"/>
              <a:t>Основные характеристики кэша браузера: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b="1" dirty="0"/>
              <a:t>Объем хранения</a:t>
            </a:r>
            <a:r>
              <a:rPr lang="ru-RU" sz="1400" dirty="0"/>
              <a:t>: Кэш браузера может хранить большие объемы ресурсов, но он ограничен размером, который может варьироваться в зависимости от браузера и настроек пользователя.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b="1" dirty="0"/>
              <a:t>Время жизни</a:t>
            </a:r>
            <a:r>
              <a:rPr lang="ru-RU" sz="1400" dirty="0"/>
              <a:t>: Ресурсы в кэше имеют срок жизни, после которого они автоматически удаляются из кэша. Это позволяет браузеру получать актуальные ресурсы при необходимости.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b="1" dirty="0"/>
              <a:t>Обновление ресурсов</a:t>
            </a:r>
            <a:r>
              <a:rPr lang="ru-RU" sz="1400" dirty="0"/>
              <a:t>: Кэш браузера может хранить несколько версий одного и того же ресурса. Браузер использует заголовки HTTP, такие как </a:t>
            </a:r>
            <a:r>
              <a:rPr lang="ru-RU" sz="1400" dirty="0" err="1"/>
              <a:t>ETag</a:t>
            </a:r>
            <a:r>
              <a:rPr lang="ru-RU" sz="1400" dirty="0"/>
              <a:t> и </a:t>
            </a:r>
            <a:r>
              <a:rPr lang="ru-RU" sz="1400" dirty="0" err="1"/>
              <a:t>Last-Modified</a:t>
            </a:r>
            <a:r>
              <a:rPr lang="ru-RU" sz="1400" dirty="0"/>
              <a:t>, для определения, был ли ресурс изменен с момента последнего хранения в кэше.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b="1" dirty="0"/>
              <a:t>Очистка кэша</a:t>
            </a:r>
            <a:r>
              <a:rPr lang="ru-RU" sz="1400" dirty="0"/>
              <a:t>: Пользователь может очистить кэш браузера вручную или настроить автоматическую очистку, чтобы освободить место для новых ресурсов.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803673-8705-4712-9CE9-02EB68FC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6E469E0-F500-4452-8904-7D089B87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559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IndexDB</a:t>
            </a:r>
            <a:r>
              <a:rPr lang="en-US" sz="2400" dirty="0"/>
              <a:t> </a:t>
            </a:r>
            <a:r>
              <a:rPr lang="ru-RU" sz="2400" dirty="0"/>
              <a:t>и кэш браузера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674646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dirty="0"/>
              <a:t>Преимущества кэша браузера: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/>
              <a:t>Ускорение загрузки страниц</a:t>
            </a:r>
            <a:r>
              <a:rPr lang="ru-RU" sz="1400" dirty="0"/>
              <a:t>: Кэш браузера хранит ресурсы, которые уже были загружены, что позволяет ускорить загрузку страниц и сократить время ожидания.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/>
              <a:t>Сокращение использования интернет-трафика</a:t>
            </a:r>
            <a:r>
              <a:rPr lang="ru-RU" sz="1400" dirty="0"/>
              <a:t>: Кэш браузера позволяет избегать повторной загрузки ресурсов, что сокращает использование интернет-трафика и экономит время пользователя.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/>
              <a:t>Обновление контента</a:t>
            </a:r>
            <a:r>
              <a:rPr lang="ru-RU" sz="1400" dirty="0"/>
              <a:t>: Кэш браузера может хранить несколько версий одного и того же ресурса, что позволяет браузеру получать актуальные ресурсы при необходимости.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1400" dirty="0"/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803673-8705-4712-9CE9-02EB68FC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6E469E0-F500-4452-8904-7D089B87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7412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IndexDB</a:t>
            </a:r>
            <a:r>
              <a:rPr lang="en-US" sz="2400" dirty="0"/>
              <a:t> </a:t>
            </a:r>
            <a:r>
              <a:rPr lang="ru-RU" sz="2400" dirty="0"/>
              <a:t>и кэш браузера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674646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ru-RU" sz="1400" dirty="0">
                <a:solidFill>
                  <a:srgbClr val="FFFF00"/>
                </a:solidFill>
              </a:rPr>
              <a:t>Пример использования кэша браузера: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cache = 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window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.caches.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myCache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Получение экземпляра кэша браузера</a:t>
            </a:r>
            <a:endParaRPr lang="en-US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cache.then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((cache) =&gt; {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Загрузка ресурса в кэш</a:t>
            </a:r>
            <a:endParaRPr lang="en-US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cache.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add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https://example.com/image.jpg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});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cache.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then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((cache) =&gt; {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Получение ресурса из кэша</a:t>
            </a:r>
            <a:endParaRPr lang="en-US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cache.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match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https://example.com/image.jpg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").then((response) =&gt;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(response) {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Ресурс найден в кэше</a:t>
            </a:r>
            <a:endParaRPr lang="en-US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image = 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createElement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img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"); 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image.src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URL.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createObjectURL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response.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blob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.body.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appendChild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(image);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else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Ресурс не найден в кэше, загрузка из сети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     // ...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});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});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803673-8705-4712-9CE9-02EB68FC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6E469E0-F500-4452-8904-7D089B87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9699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IndexDB</a:t>
            </a:r>
            <a:r>
              <a:rPr lang="en-US" sz="2400" dirty="0"/>
              <a:t> </a:t>
            </a:r>
            <a:r>
              <a:rPr lang="ru-RU" sz="2400" dirty="0"/>
              <a:t>и кэш браузера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674646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Обновление ресурса в кэше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 err="1">
                <a:latin typeface="Consolas" panose="020B0609020204030204" pitchFamily="49" charset="0"/>
              </a:rPr>
              <a:t>cache.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put</a:t>
            </a:r>
            <a:r>
              <a:rPr lang="en-US" sz="1400" dirty="0">
                <a:latin typeface="Consolas" panose="020B0609020204030204" pitchFamily="49" charset="0"/>
              </a:rPr>
              <a:t>("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https://example.com/image.jpg</a:t>
            </a:r>
            <a:r>
              <a:rPr lang="en-US" sz="1400" dirty="0">
                <a:latin typeface="Consolas" panose="020B0609020204030204" pitchFamily="49" charset="0"/>
              </a:rPr>
              <a:t>", new Response("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New content</a:t>
            </a:r>
            <a:r>
              <a:rPr lang="en-US" sz="1400" dirty="0">
                <a:latin typeface="Consolas" panose="020B0609020204030204" pitchFamily="49" charset="0"/>
              </a:rPr>
              <a:t>"));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Удаление ресурса из кэша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 err="1">
                <a:latin typeface="Consolas" panose="020B0609020204030204" pitchFamily="49" charset="0"/>
              </a:rPr>
              <a:t>cache.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delete</a:t>
            </a:r>
            <a:r>
              <a:rPr lang="en-US" sz="1400" dirty="0">
                <a:latin typeface="Consolas" panose="020B0609020204030204" pitchFamily="49" charset="0"/>
              </a:rPr>
              <a:t>("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https://example.com/image.jpg</a:t>
            </a:r>
            <a:r>
              <a:rPr lang="en-US" sz="1400" dirty="0">
                <a:latin typeface="Consolas" panose="020B0609020204030204" pitchFamily="49" charset="0"/>
              </a:rPr>
              <a:t>");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Очистка кэша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 err="1">
                <a:latin typeface="Consolas" panose="020B0609020204030204" pitchFamily="49" charset="0"/>
              </a:rPr>
              <a:t>cache.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clear</a:t>
            </a:r>
            <a:r>
              <a:rPr lang="en-US" sz="1400" dirty="0">
                <a:latin typeface="Consolas" panose="020B0609020204030204" pitchFamily="49" charset="0"/>
              </a:rPr>
              <a:t>();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Получение всех кэшей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window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.caches.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keys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().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then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cacheNames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300038" lvl="1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cacheNames.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forEach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cacheName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600075" lvl="2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Cache name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:",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cacheName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300038" lvl="1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});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803673-8705-4712-9CE9-02EB68FC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6E469E0-F500-4452-8904-7D089B87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8672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Домашняя работа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674646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1. Создайте поле </a:t>
            </a:r>
            <a:r>
              <a:rPr lang="ru-RU" altLang="ru-RU" sz="1400" dirty="0" err="1">
                <a:solidFill>
                  <a:schemeClr val="tx1"/>
                </a:solidFill>
              </a:rPr>
              <a:t>textarea</a:t>
            </a:r>
            <a:r>
              <a:rPr lang="ru-RU" altLang="ru-RU" sz="1400" dirty="0">
                <a:solidFill>
                  <a:schemeClr val="tx1"/>
                </a:solidFill>
              </a:rPr>
              <a:t>, значение которого будет автоматически сохраняться при каждом его изменении.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Когда пользователь закроет страницу и потом откроет её заново он должен увидеть последнее введённое значение.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2. Напишите функцию </a:t>
            </a:r>
            <a:r>
              <a:rPr lang="ru-RU" sz="1400" dirty="0" err="1">
                <a:solidFill>
                  <a:schemeClr val="tx1"/>
                </a:solidFill>
              </a:rPr>
              <a:t>hasCookie</a:t>
            </a:r>
            <a:r>
              <a:rPr lang="ru-RU" sz="1400" dirty="0">
                <a:solidFill>
                  <a:schemeClr val="tx1"/>
                </a:solidFill>
              </a:rPr>
              <a:t>(</a:t>
            </a:r>
            <a:r>
              <a:rPr lang="ru-RU" sz="1400" dirty="0" err="1">
                <a:solidFill>
                  <a:schemeClr val="tx1"/>
                </a:solidFill>
              </a:rPr>
              <a:t>name</a:t>
            </a:r>
            <a:r>
              <a:rPr lang="ru-RU" sz="1400" dirty="0">
                <a:solidFill>
                  <a:schemeClr val="tx1"/>
                </a:solidFill>
              </a:rPr>
              <a:t>), которая возвращает </a:t>
            </a:r>
            <a:r>
              <a:rPr lang="ru-RU" sz="1400" dirty="0" err="1">
                <a:solidFill>
                  <a:schemeClr val="tx1"/>
                </a:solidFill>
              </a:rPr>
              <a:t>true</a:t>
            </a:r>
            <a:r>
              <a:rPr lang="ru-RU" sz="1400" dirty="0">
                <a:solidFill>
                  <a:schemeClr val="tx1"/>
                </a:solidFill>
              </a:rPr>
              <a:t>, если </a:t>
            </a:r>
            <a:r>
              <a:rPr lang="ru-RU" sz="1400" dirty="0" err="1">
                <a:solidFill>
                  <a:schemeClr val="tx1"/>
                </a:solidFill>
              </a:rPr>
              <a:t>cookie</a:t>
            </a:r>
            <a:r>
              <a:rPr lang="ru-RU" sz="1400" dirty="0">
                <a:solidFill>
                  <a:schemeClr val="tx1"/>
                </a:solidFill>
              </a:rPr>
              <a:t> с указанным именем существует, и </a:t>
            </a:r>
            <a:r>
              <a:rPr lang="ru-RU" sz="1400" dirty="0" err="1">
                <a:solidFill>
                  <a:schemeClr val="tx1"/>
                </a:solidFill>
              </a:rPr>
              <a:t>false</a:t>
            </a:r>
            <a:r>
              <a:rPr lang="ru-RU" sz="1400" dirty="0">
                <a:solidFill>
                  <a:schemeClr val="tx1"/>
                </a:solidFill>
              </a:rPr>
              <a:t> в противном случае. Для удаления пробелов в начале и конце строки используйте метод </a:t>
            </a:r>
            <a:r>
              <a:rPr lang="en-US" sz="1400" dirty="0">
                <a:solidFill>
                  <a:srgbClr val="FFFF00"/>
                </a:solidFill>
              </a:rPr>
              <a:t>trim()</a:t>
            </a:r>
            <a:endParaRPr lang="ru-RU" sz="1400" dirty="0">
              <a:solidFill>
                <a:srgbClr val="FFFF00"/>
              </a:solidFill>
            </a:endParaRPr>
          </a:p>
          <a:p>
            <a:pPr marL="300038" lvl="1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hasCookie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name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{ </a:t>
            </a:r>
            <a:r>
              <a:rPr lang="ru-RU" altLang="ru-RU" sz="1400" i="1" dirty="0">
                <a:solidFill>
                  <a:srgbClr val="57A64A"/>
                </a:solidFill>
                <a:latin typeface="Consolas" panose="020B0609020204030204" pitchFamily="49" charset="0"/>
              </a:rPr>
              <a:t>// Реализуйте эту функцию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i="1" dirty="0">
                <a:solidFill>
                  <a:srgbClr val="57A64A"/>
                </a:solidFill>
                <a:latin typeface="Consolas" panose="020B0609020204030204" pitchFamily="49" charset="0"/>
              </a:rPr>
              <a:t>// ...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 </a:t>
            </a:r>
          </a:p>
          <a:p>
            <a:pPr marL="300038" lvl="1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if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(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hasCookie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ru-RU" altLang="ru-RU" sz="1400" dirty="0" err="1">
                <a:solidFill>
                  <a:srgbClr val="D69D85"/>
                </a:solidFill>
                <a:latin typeface="Consolas" panose="020B0609020204030204" pitchFamily="49" charset="0"/>
              </a:rPr>
              <a:t>username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")) { </a:t>
            </a:r>
          </a:p>
          <a:p>
            <a:pPr marL="300038" lvl="1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4EC9B0"/>
                </a:solidFill>
                <a:latin typeface="Consolas" panose="020B0609020204030204" pitchFamily="49" charset="0"/>
              </a:rPr>
              <a:t>    console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log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 err="1">
                <a:solidFill>
                  <a:srgbClr val="D69D85"/>
                </a:solidFill>
                <a:latin typeface="Consolas" panose="020B0609020204030204" pitchFamily="49" charset="0"/>
              </a:rPr>
              <a:t>Cookie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 '</a:t>
            </a:r>
            <a:r>
              <a:rPr lang="ru-RU" altLang="ru-RU" sz="1400" dirty="0" err="1">
                <a:solidFill>
                  <a:srgbClr val="D69D85"/>
                </a:solidFill>
                <a:latin typeface="Consolas" panose="020B0609020204030204" pitchFamily="49" charset="0"/>
              </a:rPr>
              <a:t>username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' существует"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</a:p>
          <a:p>
            <a:pPr marL="300038" lvl="1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} </a:t>
            </a:r>
            <a:r>
              <a:rPr lang="ru-RU" altLang="ru-RU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else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{ </a:t>
            </a:r>
          </a:p>
          <a:p>
            <a:pPr marL="300038" lvl="1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4EC9B0"/>
                </a:solidFill>
                <a:latin typeface="Consolas" panose="020B0609020204030204" pitchFamily="49" charset="0"/>
              </a:rPr>
              <a:t>     console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log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 err="1">
                <a:solidFill>
                  <a:srgbClr val="D69D85"/>
                </a:solidFill>
                <a:latin typeface="Consolas" panose="020B0609020204030204" pitchFamily="49" charset="0"/>
              </a:rPr>
              <a:t>Cookie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 '</a:t>
            </a:r>
            <a:r>
              <a:rPr lang="ru-RU" altLang="ru-RU" sz="1400" dirty="0" err="1">
                <a:solidFill>
                  <a:srgbClr val="D69D85"/>
                </a:solidFill>
                <a:latin typeface="Consolas" panose="020B0609020204030204" pitchFamily="49" charset="0"/>
              </a:rPr>
              <a:t>username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' не существует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"); </a:t>
            </a:r>
          </a:p>
          <a:p>
            <a:pPr marL="300038" lvl="1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}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3*. В </a:t>
            </a:r>
            <a:r>
              <a:rPr lang="en-US" altLang="ru-RU" sz="1400" dirty="0">
                <a:solidFill>
                  <a:schemeClr val="tx1"/>
                </a:solidFill>
              </a:rPr>
              <a:t>“Quotes” </a:t>
            </a:r>
            <a:r>
              <a:rPr lang="ru-RU" altLang="ru-RU" sz="1400" dirty="0">
                <a:solidFill>
                  <a:schemeClr val="tx1"/>
                </a:solidFill>
              </a:rPr>
              <a:t>проекте создать базу </a:t>
            </a:r>
            <a:r>
              <a:rPr lang="en-US" altLang="ru-RU" sz="1400" dirty="0" err="1">
                <a:solidFill>
                  <a:schemeClr val="tx1"/>
                </a:solidFill>
              </a:rPr>
              <a:t>IndexDB</a:t>
            </a:r>
            <a:r>
              <a:rPr lang="en-US" altLang="ru-RU" sz="1400" dirty="0">
                <a:solidFill>
                  <a:schemeClr val="tx1"/>
                </a:solidFill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и туда поместить массив объектов данных.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Получать отображаемые данные пользуясь данной базой данных. 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После перезагрузки страницы должны отображаться информация, которая было до перезагрузки. </a:t>
            </a:r>
            <a:r>
              <a:rPr lang="ru-RU" altLang="ru-RU" sz="1400" dirty="0">
                <a:solidFill>
                  <a:srgbClr val="FFFF00"/>
                </a:solidFill>
              </a:rPr>
              <a:t>(ПО ЖЕЛАНИЮ)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AE124-CE4D-44FE-BDAE-D4ACD770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8AC74E-AFD9-4EBA-92DC-E779AF69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803673-8705-4712-9CE9-02EB68FC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6E469E0-F500-4452-8904-7D089B87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12152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11634</TotalTime>
  <Words>2836</Words>
  <Application>Microsoft Office PowerPoint</Application>
  <PresentationFormat>Экран (16:9)</PresentationFormat>
  <Paragraphs>388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9" baseType="lpstr">
      <vt:lpstr>Arial</vt:lpstr>
      <vt:lpstr>Calibri</vt:lpstr>
      <vt:lpstr>Consolas</vt:lpstr>
      <vt:lpstr>Trebuchet MS</vt:lpstr>
      <vt:lpstr>Wingdings</vt:lpstr>
      <vt:lpstr>Wingdings 3</vt:lpstr>
      <vt:lpstr>Аспект</vt:lpstr>
      <vt:lpstr>Хранение данных в браузере    </vt:lpstr>
      <vt:lpstr>Куки, document.cookie</vt:lpstr>
      <vt:lpstr>Куки, document.cookie</vt:lpstr>
      <vt:lpstr>Куки, document.cookie</vt:lpstr>
      <vt:lpstr>Куки, document.cookie</vt:lpstr>
      <vt:lpstr>Куки, document.cookie</vt:lpstr>
      <vt:lpstr>Куки, document.cookie</vt:lpstr>
      <vt:lpstr>Куки, document.cookie</vt:lpstr>
      <vt:lpstr>Куки, document.cookie</vt:lpstr>
      <vt:lpstr>Куки, document.cookie</vt:lpstr>
      <vt:lpstr>Наши любимые задачки </vt:lpstr>
      <vt:lpstr>Наши любимые задачки </vt:lpstr>
      <vt:lpstr>LocalStorage, sessionStorage</vt:lpstr>
      <vt:lpstr>LocalStorage, sessionStorage</vt:lpstr>
      <vt:lpstr>LocalStorage, sessionStorage</vt:lpstr>
      <vt:lpstr>LocalStorage, sessionStorage</vt:lpstr>
      <vt:lpstr>LocalStorage, sessionStorage</vt:lpstr>
      <vt:lpstr>LocalStorage, sessionStorage</vt:lpstr>
      <vt:lpstr>LocalStorage, sessionStorage</vt:lpstr>
      <vt:lpstr>LocalStorage, sessionStorage</vt:lpstr>
      <vt:lpstr>LocalStorage, sessionStorage</vt:lpstr>
      <vt:lpstr>LocalStorage, sessionStorage</vt:lpstr>
      <vt:lpstr>IndexDB и кэш браузера</vt:lpstr>
      <vt:lpstr>IndexDB и кэш браузера</vt:lpstr>
      <vt:lpstr>IndexDB и кэш браузера</vt:lpstr>
      <vt:lpstr>IndexDB и кэш браузера</vt:lpstr>
      <vt:lpstr>IndexDB и кэш браузера</vt:lpstr>
      <vt:lpstr>IndexDB и кэш браузера</vt:lpstr>
      <vt:lpstr>IndexDB и кэш браузера</vt:lpstr>
      <vt:lpstr>IndexDB и кэш браузера</vt:lpstr>
      <vt:lpstr>IndexDB и кэш браузера</vt:lpstr>
      <vt:lpstr>Домашняя работа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JavaScript</dc:title>
  <dc:creator>БушмелеваЕА</dc:creator>
  <cp:lastModifiedBy>Mikhail Matveichuk</cp:lastModifiedBy>
  <cp:revision>499</cp:revision>
  <dcterms:created xsi:type="dcterms:W3CDTF">2021-11-26T04:54:28Z</dcterms:created>
  <dcterms:modified xsi:type="dcterms:W3CDTF">2025-01-19T08:12:29Z</dcterms:modified>
</cp:coreProperties>
</file>