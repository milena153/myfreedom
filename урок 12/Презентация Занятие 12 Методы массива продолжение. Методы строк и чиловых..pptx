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0">
  <p:sldMasterIdLst>
    <p:sldMasterId id="2147483727" r:id="rId1"/>
  </p:sldMasterIdLst>
  <p:notesMasterIdLst>
    <p:notesMasterId r:id="rId49"/>
  </p:notesMasterIdLst>
  <p:sldIdLst>
    <p:sldId id="388" r:id="rId2"/>
    <p:sldId id="367" r:id="rId3"/>
    <p:sldId id="306" r:id="rId4"/>
    <p:sldId id="587" r:id="rId5"/>
    <p:sldId id="553" r:id="rId6"/>
    <p:sldId id="567" r:id="rId7"/>
    <p:sldId id="568" r:id="rId8"/>
    <p:sldId id="571" r:id="rId9"/>
    <p:sldId id="572" r:id="rId10"/>
    <p:sldId id="573" r:id="rId11"/>
    <p:sldId id="574" r:id="rId12"/>
    <p:sldId id="575" r:id="rId13"/>
    <p:sldId id="576" r:id="rId14"/>
    <p:sldId id="577" r:id="rId15"/>
    <p:sldId id="578" r:id="rId16"/>
    <p:sldId id="584" r:id="rId17"/>
    <p:sldId id="585" r:id="rId18"/>
    <p:sldId id="586" r:id="rId19"/>
    <p:sldId id="580" r:id="rId20"/>
    <p:sldId id="579" r:id="rId21"/>
    <p:sldId id="588" r:id="rId22"/>
    <p:sldId id="589" r:id="rId23"/>
    <p:sldId id="590" r:id="rId24"/>
    <p:sldId id="591" r:id="rId25"/>
    <p:sldId id="592" r:id="rId26"/>
    <p:sldId id="593" r:id="rId27"/>
    <p:sldId id="594" r:id="rId28"/>
    <p:sldId id="595" r:id="rId29"/>
    <p:sldId id="596" r:id="rId30"/>
    <p:sldId id="597" r:id="rId31"/>
    <p:sldId id="598" r:id="rId32"/>
    <p:sldId id="599" r:id="rId33"/>
    <p:sldId id="600" r:id="rId34"/>
    <p:sldId id="601" r:id="rId35"/>
    <p:sldId id="581" r:id="rId36"/>
    <p:sldId id="582" r:id="rId37"/>
    <p:sldId id="602" r:id="rId38"/>
    <p:sldId id="603" r:id="rId39"/>
    <p:sldId id="604" r:id="rId40"/>
    <p:sldId id="605" r:id="rId41"/>
    <p:sldId id="606" r:id="rId42"/>
    <p:sldId id="607" r:id="rId43"/>
    <p:sldId id="608" r:id="rId44"/>
    <p:sldId id="609" r:id="rId45"/>
    <p:sldId id="610" r:id="rId46"/>
    <p:sldId id="611" r:id="rId47"/>
    <p:sldId id="612" r:id="rId4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hail Matveichuk" initials="MM" lastIdx="1" clrIdx="0">
    <p:extLst>
      <p:ext uri="{19B8F6BF-5375-455C-9EA6-DF929625EA0E}">
        <p15:presenceInfo xmlns:p15="http://schemas.microsoft.com/office/powerpoint/2012/main" userId="a99a9a51dadd0b2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07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4269" autoAdjust="0"/>
  </p:normalViewPr>
  <p:slideViewPr>
    <p:cSldViewPr>
      <p:cViewPr varScale="1">
        <p:scale>
          <a:sx n="151" d="100"/>
          <a:sy n="151" d="100"/>
        </p:scale>
        <p:origin x="678" y="1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DF2A5-73EA-4FCB-B5AE-B8580AC4EEA4}" type="datetimeFigureOut">
              <a:rPr lang="ru-RU" smtClean="0"/>
              <a:t>29.11.2024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5874F-DCBC-4EDB-9D62-895E1B66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06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834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815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8911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218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562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777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19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059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3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31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835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103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31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51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07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39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20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80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1012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240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4295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889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570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51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01175-608E-4CF0-AFCE-88287FB87CEA}" type="datetimeFigureOut">
              <a:rPr lang="ru-RU" smtClean="0"/>
              <a:t>29.11.2024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9971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87724" y="2247714"/>
            <a:ext cx="4968552" cy="648072"/>
          </a:xfrm>
        </p:spPr>
        <p:txBody>
          <a:bodyPr anchor="t"/>
          <a:lstStyle/>
          <a:p>
            <a:r>
              <a:rPr lang="ru-RU" b="1" dirty="0"/>
              <a:t>Методы массивов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517AB04-330B-455B-B5F8-13F8090D8F72}"/>
              </a:ext>
            </a:extLst>
          </p:cNvPr>
          <p:cNvSpPr txBox="1">
            <a:spLocks/>
          </p:cNvSpPr>
          <p:nvPr/>
        </p:nvSpPr>
        <p:spPr>
          <a:xfrm>
            <a:off x="323528" y="3939902"/>
            <a:ext cx="1835696" cy="7920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342900" rtl="0" eaLnBrk="1" latinLnBrk="0" hangingPunct="1">
              <a:spcBef>
                <a:spcPct val="0"/>
              </a:spcBef>
              <a:buNone/>
              <a:defRPr sz="405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ru-RU" sz="1400" dirty="0">
                <a:solidFill>
                  <a:schemeClr val="tx1"/>
                </a:solidFill>
              </a:rPr>
              <a:t>Матвейчук Михаил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Frontend Team Lead 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Codes Commanders </a:t>
            </a:r>
            <a:endParaRPr lang="ru-RU" sz="1400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1468D0-A03D-473D-82E5-22A9FF92E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74" t="26096" r="6477" b="16733"/>
          <a:stretch/>
        </p:blipFill>
        <p:spPr>
          <a:xfrm>
            <a:off x="6588224" y="267494"/>
            <a:ext cx="2249811" cy="82359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dist="50800" sx="1000" sy="1000" algn="ctr" rotWithShape="0">
              <a:srgbClr val="000000"/>
            </a:outerShdw>
            <a:reflection endPos="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909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Массивы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92D050"/>
                </a:solidFill>
              </a:rPr>
              <a:t>Что изучили ранее</a:t>
            </a:r>
            <a:r>
              <a:rPr lang="en-US" altLang="ru-RU" sz="1600" dirty="0">
                <a:solidFill>
                  <a:srgbClr val="92D050"/>
                </a:solidFill>
              </a:rPr>
              <a:t>?</a:t>
            </a:r>
            <a:endParaRPr lang="ru-RU" altLang="ru-RU" sz="1600" dirty="0">
              <a:solidFill>
                <a:srgbClr val="92D050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Методы, применяемые для копирования, удаления, вставки элементов из массива и в массив?</a:t>
            </a:r>
            <a:endParaRPr lang="en-US" altLang="ru-RU" sz="1800" dirty="0">
              <a:solidFill>
                <a:schemeClr val="tx1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Методы перебора массива?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Методы поиска элемента, элементов в массиве?</a:t>
            </a:r>
          </a:p>
        </p:txBody>
      </p:sp>
    </p:spTree>
    <p:extLst>
      <p:ext uri="{BB962C8B-B14F-4D97-AF65-F5344CB8AC3E}">
        <p14:creationId xmlns:p14="http://schemas.microsoft.com/office/powerpoint/2010/main" val="81419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CBA4E2-D840-44AD-A8C5-B07E96BD6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1989257"/>
            <a:ext cx="7560840" cy="798517"/>
          </a:xfrm>
        </p:spPr>
        <p:txBody>
          <a:bodyPr>
            <a:noAutofit/>
          </a:bodyPr>
          <a:lstStyle/>
          <a:p>
            <a:r>
              <a:rPr lang="ru-RU" sz="3600" dirty="0"/>
              <a:t>Домашнее задание </a:t>
            </a:r>
            <a:r>
              <a:rPr lang="ru-RU" sz="3600" dirty="0" err="1"/>
              <a:t>лайфкодинг</a:t>
            </a:r>
            <a:r>
              <a:rPr lang="ru-RU" sz="3600" dirty="0"/>
              <a:t> </a:t>
            </a:r>
            <a:r>
              <a:rPr lang="ru-RU" sz="3600" dirty="0">
                <a:sym typeface="Wingdings" panose="05000000000000000000" pitchFamily="2" charset="2"/>
              </a:rPr>
              <a:t>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988592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1. Изменить массив, удалив из него первый элемент и добавив в конец новый элемент.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2. Создать новый массив, который содержит все элементы исходного массива, кроме первого и последнего.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3. </a:t>
            </a:r>
            <a:r>
              <a:rPr lang="ru-RU" sz="1600" dirty="0"/>
              <a:t>Объединить два массива в один.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4. </a:t>
            </a:r>
            <a:r>
              <a:rPr lang="ru-RU" sz="1600" dirty="0"/>
              <a:t>Вывести на консоль все элементы массива используя метод </a:t>
            </a:r>
            <a:r>
              <a:rPr lang="en-US" sz="1600" dirty="0" err="1"/>
              <a:t>forEach</a:t>
            </a:r>
            <a:r>
              <a:rPr lang="ru-RU" sz="1600" dirty="0"/>
              <a:t>.</a:t>
            </a:r>
            <a:endParaRPr lang="en-US" sz="16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5. </a:t>
            </a:r>
            <a:r>
              <a:rPr lang="ru-RU" sz="1600" dirty="0">
                <a:solidFill>
                  <a:schemeClr val="tx1"/>
                </a:solidFill>
              </a:rPr>
              <a:t>Найти индекс первого и последнего вхождения элемента 3 в массиве.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6. </a:t>
            </a:r>
            <a:r>
              <a:rPr lang="ru-RU" sz="1600" dirty="0">
                <a:solidFill>
                  <a:schemeClr val="tx1"/>
                </a:solidFill>
              </a:rPr>
              <a:t>Проверить, содержит ли массив элемент 3.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7. </a:t>
            </a:r>
            <a:r>
              <a:rPr lang="ru-RU" sz="1600" dirty="0">
                <a:solidFill>
                  <a:schemeClr val="tx1"/>
                </a:solidFill>
              </a:rPr>
              <a:t>Найти первый элемент массива, который больше 3.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8. </a:t>
            </a:r>
            <a:r>
              <a:rPr lang="ru-RU" sz="1600" dirty="0">
                <a:solidFill>
                  <a:schemeClr val="tx1"/>
                </a:solidFill>
              </a:rPr>
              <a:t>Найти индекс первого и последнего элемента массива, который больше 3.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9. </a:t>
            </a:r>
            <a:r>
              <a:rPr lang="ru-RU" sz="1600" dirty="0">
                <a:solidFill>
                  <a:schemeClr val="tx1"/>
                </a:solidFill>
              </a:rPr>
              <a:t>Создать новый массив, который содержит все элементы исходного массива, которые больше 3.</a:t>
            </a:r>
          </a:p>
          <a:p>
            <a:pPr marL="342900" indent="-342900">
              <a:spcBef>
                <a:spcPts val="0"/>
              </a:spcBef>
              <a:buAutoNum type="arabicPeriod"/>
            </a:pPr>
            <a:endParaRPr lang="en-US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128164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1.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Удаление первого элемента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splice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0, 1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Добавление нового элемента в конец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splice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length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0, 6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[2, 3, 4, 5, 6]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2.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newArr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slice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-1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newArr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[2, 3, 4]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3.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arr1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arr2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4, 5, 6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newArr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arr1.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concat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(arr2);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newArr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[1, 2, 3, 4, 5, 6]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082144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4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forEach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(x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=&gt;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(x));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5.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1, 2, 3, 4, 3, 5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indexOf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lastIndexOf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6.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includes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7.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result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find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(x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=&gt;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x &gt;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(result);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4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849257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8.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findIndex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(x =&gt; x &gt;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findLastIndex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(x =&gt; x &gt;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9.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newArr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filter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(x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=&gt;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x &gt;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newArr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[4, 5]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053222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59632" y="2211710"/>
            <a:ext cx="6552728" cy="648072"/>
          </a:xfrm>
        </p:spPr>
        <p:txBody>
          <a:bodyPr anchor="t"/>
          <a:lstStyle/>
          <a:p>
            <a:pPr algn="ctr"/>
            <a:r>
              <a:rPr lang="ru-RU" sz="3600" b="1" dirty="0"/>
              <a:t>Преобразование массива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408675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Преобразование массива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b="1" dirty="0">
                <a:solidFill>
                  <a:srgbClr val="FFFF00"/>
                </a:solidFill>
              </a:rPr>
              <a:t>map (</a:t>
            </a:r>
            <a:r>
              <a:rPr lang="ru-RU" altLang="ru-RU" sz="1600" b="1" dirty="0">
                <a:solidFill>
                  <a:srgbClr val="FFFF00"/>
                </a:solidFill>
              </a:rPr>
              <a:t>также можно отнести к массивам перебора</a:t>
            </a:r>
            <a:r>
              <a:rPr lang="en-US" altLang="ru-RU" sz="1600" b="1" dirty="0">
                <a:solidFill>
                  <a:srgbClr val="FFFF00"/>
                </a:solidFill>
              </a:rPr>
              <a:t>)</a:t>
            </a:r>
            <a:endParaRPr lang="ru-RU" altLang="ru-RU" sz="1600" b="1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Он вызывает функцию для каждого элемента массива и возвращает массив результатов выполнения этой функции.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Синтаксис: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result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map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(item, index, array)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возвращается новое значение вместо элемента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lengths =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["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Бильбо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", "Гэндальф", "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Назгул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map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(item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=&gt;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item.length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(lengths);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6,8,6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95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Преобразование массива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b="1" dirty="0">
                <a:solidFill>
                  <a:srgbClr val="FFFF00"/>
                </a:solidFill>
              </a:rPr>
              <a:t>sort(</a:t>
            </a:r>
            <a:r>
              <a:rPr lang="en-US" altLang="ru-RU" sz="1400" b="1" dirty="0" err="1">
                <a:solidFill>
                  <a:srgbClr val="FFFF00"/>
                </a:solidFill>
              </a:rPr>
              <a:t>fn</a:t>
            </a:r>
            <a:r>
              <a:rPr lang="en-US" altLang="ru-RU" sz="1400" b="1" dirty="0">
                <a:solidFill>
                  <a:srgbClr val="FFFF00"/>
                </a:solidFill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/>
              <a:t>Вызов </a:t>
            </a:r>
            <a:r>
              <a:rPr lang="ru-RU" sz="1400" dirty="0" err="1">
                <a:solidFill>
                  <a:srgbClr val="FFFF00"/>
                </a:solidFill>
              </a:rPr>
              <a:t>arr.sort</a:t>
            </a:r>
            <a:r>
              <a:rPr lang="ru-RU" sz="1400" dirty="0">
                <a:solidFill>
                  <a:srgbClr val="FFFF00"/>
                </a:solidFill>
              </a:rPr>
              <a:t>()</a:t>
            </a:r>
            <a:r>
              <a:rPr lang="ru-RU" sz="1400" dirty="0"/>
              <a:t> сортирует массив </a:t>
            </a:r>
            <a:r>
              <a:rPr lang="ru-RU" sz="1400" i="1" dirty="0"/>
              <a:t>на месте</a:t>
            </a:r>
            <a:r>
              <a:rPr lang="ru-RU" sz="1400" dirty="0"/>
              <a:t>, меняя в нём порядок элементов.</a:t>
            </a:r>
            <a:endParaRPr lang="en-US" sz="1400" dirty="0"/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Он также возвращает отсортированный массив, но обычно возвращаемое значение игнорируется, так как изменяется сам </a:t>
            </a:r>
            <a:r>
              <a:rPr lang="ru-RU" altLang="ru-RU" sz="1400" dirty="0" err="1">
                <a:solidFill>
                  <a:schemeClr val="tx1"/>
                </a:solidFill>
              </a:rPr>
              <a:t>arr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ts val="60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[ </a:t>
            </a:r>
            <a:r>
              <a:rPr lang="ru-RU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1, 2, 15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sort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); 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1, 15, 2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(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странно!!!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)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b="1" dirty="0">
                <a:solidFill>
                  <a:srgbClr val="FFFF00"/>
                </a:solidFill>
              </a:rPr>
              <a:t>По умолчанию элементы сортируются как строки.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F656B34-7D85-4B67-9C74-1788DF993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429081"/>
              </p:ext>
            </p:extLst>
          </p:nvPr>
        </p:nvGraphicFramePr>
        <p:xfrm>
          <a:off x="835209" y="2787774"/>
          <a:ext cx="7488832" cy="188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4416">
                  <a:extLst>
                    <a:ext uri="{9D8B030D-6E8A-4147-A177-3AD203B41FA5}">
                      <a16:colId xmlns:a16="http://schemas.microsoft.com/office/drawing/2014/main" val="2047598661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78701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lv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function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compareNumeric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(a, b) {</a:t>
                      </a:r>
                    </a:p>
                    <a:p>
                      <a:pPr marL="0" lv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(a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b)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C907B2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lv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(a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==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b)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C907B2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lv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(a &lt; b)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C907B2"/>
                          </a:solidFill>
                          <a:latin typeface="Consolas" panose="020B0609020204030204" pitchFamily="49" charset="0"/>
                        </a:rPr>
                        <a:t>-1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lvl="0" indent="0" defTabSz="9144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None/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lv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let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= [ </a:t>
                      </a:r>
                      <a:r>
                        <a:rPr lang="en-US" sz="1400" dirty="0">
                          <a:solidFill>
                            <a:srgbClr val="C907B2"/>
                          </a:solidFill>
                          <a:latin typeface="Consolas" panose="020B0609020204030204" pitchFamily="49" charset="0"/>
                        </a:rPr>
                        <a:t>1, 2, 15 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];</a:t>
                      </a:r>
                    </a:p>
                    <a:p>
                      <a:pPr marL="0" lv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arr.</a:t>
                      </a:r>
                      <a:r>
                        <a:rPr lang="en-US" sz="1400" dirty="0" err="1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sort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compareNumeric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lv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sz="1400" dirty="0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alert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);  </a:t>
                      </a:r>
                      <a:r>
                        <a:rPr lang="en-US" sz="14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// 1, 2, 15</a:t>
                      </a:r>
                      <a:endParaRPr lang="ru-RU" sz="14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let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= [ </a:t>
                      </a:r>
                      <a:r>
                        <a:rPr lang="en-US" sz="1400" dirty="0">
                          <a:solidFill>
                            <a:srgbClr val="C907B2"/>
                          </a:solidFill>
                          <a:latin typeface="Consolas" panose="020B0609020204030204" pitchFamily="49" charset="0"/>
                        </a:rPr>
                        <a:t>1, 2, 15 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];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arr.</a:t>
                      </a:r>
                      <a:r>
                        <a:rPr lang="en-US" sz="1400" dirty="0" err="1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sort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function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(a, b) {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a - b;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});</a:t>
                      </a:r>
                    </a:p>
                    <a:p>
                      <a:r>
                        <a:rPr lang="en-US" sz="1400" dirty="0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alert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);  </a:t>
                      </a:r>
                      <a:r>
                        <a:rPr lang="en-US" sz="14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// 1, 2, 15</a:t>
                      </a:r>
                      <a:endParaRPr lang="ru-RU" sz="14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4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 другой вариант</a:t>
                      </a:r>
                    </a:p>
                    <a:p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arr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sz="1400" dirty="0" err="1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sort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(a, b)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=&gt;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a 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b 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);</a:t>
                      </a:r>
                      <a:endParaRPr lang="ru-RU" sz="14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303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586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Преобразование массива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b="1" dirty="0">
                <a:solidFill>
                  <a:srgbClr val="FFFF00"/>
                </a:solidFill>
              </a:rPr>
              <a:t>reverse</a:t>
            </a:r>
            <a:endParaRPr lang="ru-RU" sz="1500" b="1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Метод </a:t>
            </a:r>
            <a:r>
              <a:rPr lang="ru-RU" altLang="ru-RU" sz="1500" dirty="0" err="1">
                <a:solidFill>
                  <a:srgbClr val="FFFF00"/>
                </a:solidFill>
              </a:rPr>
              <a:t>arr.reverse</a:t>
            </a:r>
            <a:r>
              <a:rPr lang="ru-RU" altLang="ru-RU" sz="1500" dirty="0">
                <a:solidFill>
                  <a:srgbClr val="FFFF00"/>
                </a:solidFill>
              </a:rPr>
              <a:t> </a:t>
            </a:r>
            <a:r>
              <a:rPr lang="ru-RU" altLang="ru-RU" sz="1500" dirty="0">
                <a:solidFill>
                  <a:schemeClr val="tx1"/>
                </a:solidFill>
              </a:rPr>
              <a:t>меняет порядок элементов в </a:t>
            </a:r>
            <a:r>
              <a:rPr lang="ru-RU" altLang="ru-RU" sz="1500" dirty="0" err="1">
                <a:solidFill>
                  <a:srgbClr val="FFFF00"/>
                </a:solidFill>
              </a:rPr>
              <a:t>arr</a:t>
            </a:r>
            <a:r>
              <a:rPr lang="ru-RU" altLang="ru-RU" sz="1500" dirty="0">
                <a:solidFill>
                  <a:schemeClr val="tx1"/>
                </a:solidFill>
              </a:rPr>
              <a:t> на обратный.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>
                <a:solidFill>
                  <a:schemeClr val="tx1"/>
                </a:solidFill>
              </a:rPr>
              <a:t>Например: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reverse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5,4,3,2,1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>
                <a:solidFill>
                  <a:schemeClr val="tx1"/>
                </a:solidFill>
              </a:rPr>
              <a:t>Он также возвращает массив </a:t>
            </a:r>
            <a:r>
              <a:rPr lang="ru-RU" sz="1500" dirty="0" err="1">
                <a:solidFill>
                  <a:srgbClr val="FFFF00"/>
                </a:solidFill>
              </a:rPr>
              <a:t>arr</a:t>
            </a:r>
            <a:r>
              <a:rPr lang="ru-RU" sz="1500" dirty="0">
                <a:solidFill>
                  <a:schemeClr val="tx1"/>
                </a:solidFill>
              </a:rPr>
              <a:t> с изменённым порядком элементов.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b="1" dirty="0">
                <a:solidFill>
                  <a:srgbClr val="FFFF00"/>
                </a:solidFill>
              </a:rPr>
              <a:t>split </a:t>
            </a:r>
            <a:r>
              <a:rPr lang="ru-RU" sz="1500" b="1" dirty="0">
                <a:solidFill>
                  <a:srgbClr val="FFFF00"/>
                </a:solidFill>
              </a:rPr>
              <a:t>и </a:t>
            </a:r>
            <a:r>
              <a:rPr lang="en-US" sz="1500" b="1" dirty="0">
                <a:solidFill>
                  <a:srgbClr val="FFFF00"/>
                </a:solidFill>
              </a:rPr>
              <a:t>join</a:t>
            </a:r>
            <a:endParaRPr lang="ru-RU" sz="1500" b="1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sz="1500" dirty="0">
                <a:solidFill>
                  <a:schemeClr val="tx1"/>
                </a:solidFill>
              </a:rPr>
              <a:t>Метод </a:t>
            </a:r>
            <a:r>
              <a:rPr lang="ru-RU" sz="1500" dirty="0" err="1">
                <a:solidFill>
                  <a:srgbClr val="FFFF00"/>
                </a:solidFill>
              </a:rPr>
              <a:t>str.split</a:t>
            </a:r>
            <a:r>
              <a:rPr lang="ru-RU" sz="1500" dirty="0">
                <a:solidFill>
                  <a:srgbClr val="FFFF00"/>
                </a:solidFill>
              </a:rPr>
              <a:t>(</a:t>
            </a:r>
            <a:r>
              <a:rPr lang="ru-RU" sz="1500" dirty="0" err="1">
                <a:solidFill>
                  <a:srgbClr val="FFFF00"/>
                </a:solidFill>
              </a:rPr>
              <a:t>delim</a:t>
            </a:r>
            <a:r>
              <a:rPr lang="ru-RU" sz="1500" dirty="0">
                <a:solidFill>
                  <a:srgbClr val="FFFF00"/>
                </a:solidFill>
              </a:rPr>
              <a:t>) </a:t>
            </a:r>
            <a:r>
              <a:rPr lang="ru-RU" sz="1500" dirty="0">
                <a:solidFill>
                  <a:schemeClr val="tx1"/>
                </a:solidFill>
              </a:rPr>
              <a:t>разбивает строку на массив по заданному разделителю </a:t>
            </a:r>
            <a:r>
              <a:rPr lang="ru-RU" sz="1500" dirty="0" err="1">
                <a:solidFill>
                  <a:srgbClr val="FFFF00"/>
                </a:solidFill>
              </a:rPr>
              <a:t>delim</a:t>
            </a:r>
            <a:r>
              <a:rPr lang="ru-RU" sz="15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names =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Вася, Петя, Маша'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names.split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',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name 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 alert(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`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Сообщение получат: ${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name}.` 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endParaRPr 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Сообщение получат: Вася (и другие имена)</a:t>
            </a:r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 </a:t>
            </a:r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endParaRPr lang="ru-RU" sz="1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697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Преобразование массива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У метода </a:t>
            </a:r>
            <a:r>
              <a:rPr lang="ru-RU" altLang="ru-RU" sz="1500" dirty="0" err="1">
                <a:solidFill>
                  <a:srgbClr val="FFFF00"/>
                </a:solidFill>
              </a:rPr>
              <a:t>split</a:t>
            </a:r>
            <a:r>
              <a:rPr lang="ru-RU" altLang="ru-RU" sz="1500" dirty="0">
                <a:solidFill>
                  <a:schemeClr val="tx1"/>
                </a:solidFill>
              </a:rPr>
              <a:t> есть необязательный второй числовой аргумент – ограничение на количество элементов в массиве.  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Вася, Петя, Маша, Саша'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split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', '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Вася, Петя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</a:rPr>
              <a:t>Разбивка по буквам</a:t>
            </a:r>
            <a:endParaRPr lang="ru-RU" altLang="ru-RU" sz="15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</a:rPr>
              <a:t>Вызов </a:t>
            </a:r>
            <a:r>
              <a:rPr lang="ru-RU" altLang="ru-RU" sz="1500" dirty="0" err="1">
                <a:solidFill>
                  <a:srgbClr val="FFFF00"/>
                </a:solidFill>
              </a:rPr>
              <a:t>split</a:t>
            </a:r>
            <a:r>
              <a:rPr lang="ru-RU" altLang="ru-RU" sz="1500" dirty="0">
                <a:solidFill>
                  <a:srgbClr val="FFFF00"/>
                </a:solidFill>
              </a:rPr>
              <a:t>(s) </a:t>
            </a:r>
            <a:r>
              <a:rPr lang="ru-RU" altLang="ru-RU" sz="1500" dirty="0">
                <a:solidFill>
                  <a:srgbClr val="E2E3E7"/>
                </a:solidFill>
              </a:rPr>
              <a:t>с пустым аргументом </a:t>
            </a:r>
            <a:r>
              <a:rPr lang="ru-RU" altLang="ru-RU" sz="1500" dirty="0">
                <a:solidFill>
                  <a:srgbClr val="FFFF00"/>
                </a:solidFill>
              </a:rPr>
              <a:t>s</a:t>
            </a:r>
            <a:r>
              <a:rPr lang="ru-RU" altLang="ru-RU" sz="1500" dirty="0">
                <a:solidFill>
                  <a:srgbClr val="E2E3E7"/>
                </a:solidFill>
              </a:rPr>
              <a:t> разбил бы строку на массив букв: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str =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тест"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str.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split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''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 );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//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т,е,с,т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Вызов </a:t>
            </a:r>
            <a:r>
              <a:rPr lang="ru-RU" altLang="ru-RU" sz="1500" dirty="0" err="1">
                <a:solidFill>
                  <a:srgbClr val="FFFF00"/>
                </a:solidFill>
              </a:rPr>
              <a:t>arr.join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glue</a:t>
            </a:r>
            <a:r>
              <a:rPr lang="ru-RU" altLang="ru-RU" sz="1500" dirty="0">
                <a:solidFill>
                  <a:srgbClr val="FFFF00"/>
                </a:solidFill>
              </a:rPr>
              <a:t>) </a:t>
            </a:r>
            <a:r>
              <a:rPr lang="ru-RU" altLang="ru-RU" sz="1500" dirty="0">
                <a:solidFill>
                  <a:schemeClr val="tx1"/>
                </a:solidFill>
              </a:rPr>
              <a:t>делает в точности противоположное </a:t>
            </a:r>
            <a:r>
              <a:rPr lang="ru-RU" altLang="ru-RU" sz="1500" dirty="0" err="1">
                <a:solidFill>
                  <a:srgbClr val="FFFF00"/>
                </a:solidFill>
              </a:rPr>
              <a:t>split</a:t>
            </a:r>
            <a:r>
              <a:rPr lang="ru-RU" altLang="ru-RU" sz="1500" dirty="0">
                <a:solidFill>
                  <a:schemeClr val="tx1"/>
                </a:solidFill>
              </a:rPr>
              <a:t>. Он создаёт строку из элементов </a:t>
            </a:r>
            <a:r>
              <a:rPr lang="ru-RU" altLang="ru-RU" sz="1500" dirty="0" err="1">
                <a:solidFill>
                  <a:srgbClr val="FFFF00"/>
                </a:solidFill>
              </a:rPr>
              <a:t>arr</a:t>
            </a:r>
            <a:r>
              <a:rPr lang="ru-RU" altLang="ru-RU" sz="1500" dirty="0">
                <a:solidFill>
                  <a:schemeClr val="tx1"/>
                </a:solidFill>
              </a:rPr>
              <a:t>, вставляя </a:t>
            </a:r>
            <a:r>
              <a:rPr lang="ru-RU" altLang="ru-RU" sz="1500" dirty="0" err="1">
                <a:solidFill>
                  <a:srgbClr val="FFFF00"/>
                </a:solidFill>
              </a:rPr>
              <a:t>glue</a:t>
            </a:r>
            <a:r>
              <a:rPr lang="ru-RU" altLang="ru-RU" sz="1500" dirty="0">
                <a:solidFill>
                  <a:schemeClr val="tx1"/>
                </a:solidFill>
              </a:rPr>
              <a:t> между ними. 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Например: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Вася', 'Петя', 'Маша'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str =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join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';'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объединить массив в строку через 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str ); /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Вася;Петя;Маша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111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Преобразование массива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b="1" dirty="0">
                <a:solidFill>
                  <a:srgbClr val="FFFF00"/>
                </a:solidFill>
              </a:rPr>
              <a:t>reduce/</a:t>
            </a:r>
            <a:r>
              <a:rPr lang="en-US" altLang="ru-RU" sz="1500" b="1" dirty="0" err="1">
                <a:solidFill>
                  <a:srgbClr val="FFFF00"/>
                </a:solidFill>
              </a:rPr>
              <a:t>reduceRight</a:t>
            </a:r>
            <a:endParaRPr lang="ru-RU" altLang="ru-RU" sz="1500" b="1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500" dirty="0">
                <a:solidFill>
                  <a:schemeClr val="tx1"/>
                </a:solidFill>
              </a:rPr>
              <a:t>Методы </a:t>
            </a:r>
            <a:r>
              <a:rPr lang="ru-RU" sz="1500" dirty="0" err="1">
                <a:solidFill>
                  <a:srgbClr val="FFFF00"/>
                </a:solidFill>
              </a:rPr>
              <a:t>arr.reduce</a:t>
            </a:r>
            <a:r>
              <a:rPr lang="ru-RU" sz="1500" dirty="0">
                <a:solidFill>
                  <a:srgbClr val="FFFF00"/>
                </a:solidFill>
              </a:rPr>
              <a:t> </a:t>
            </a:r>
            <a:r>
              <a:rPr lang="ru-RU" sz="1500" dirty="0">
                <a:solidFill>
                  <a:schemeClr val="tx1"/>
                </a:solidFill>
              </a:rPr>
              <a:t>и </a:t>
            </a:r>
            <a:r>
              <a:rPr lang="ru-RU" sz="1500" dirty="0" err="1">
                <a:solidFill>
                  <a:srgbClr val="FFFF00"/>
                </a:solidFill>
              </a:rPr>
              <a:t>arr.reduceRight</a:t>
            </a:r>
            <a:r>
              <a:rPr lang="ru-RU" sz="1500" dirty="0">
                <a:solidFill>
                  <a:srgbClr val="FFFF00"/>
                </a:solidFill>
              </a:rPr>
              <a:t> </a:t>
            </a:r>
            <a:r>
              <a:rPr lang="ru-RU" sz="1500" dirty="0">
                <a:solidFill>
                  <a:schemeClr val="tx1"/>
                </a:solidFill>
              </a:rPr>
              <a:t>используются для вычисления единого значения на основе всего массива.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Синтаксис: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value =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reduce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(accumulator, item, index, array)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 // ...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}, [initial]);</a:t>
            </a: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Функция применяется по очереди ко всем элементам массива и «переносит» свой результат на следующий вызов.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accumulator</a:t>
            </a:r>
            <a:r>
              <a:rPr lang="ru-RU" altLang="ru-RU" sz="1500" dirty="0">
                <a:solidFill>
                  <a:schemeClr val="tx1"/>
                </a:solidFill>
              </a:rPr>
              <a:t> – результат предыдущего вызова этой функции, равен </a:t>
            </a:r>
            <a:r>
              <a:rPr lang="ru-RU" altLang="ru-RU" sz="1500" dirty="0" err="1">
                <a:solidFill>
                  <a:srgbClr val="FFFF00"/>
                </a:solidFill>
              </a:rPr>
              <a:t>initial</a:t>
            </a:r>
            <a:r>
              <a:rPr lang="ru-RU" altLang="ru-RU" sz="1500" dirty="0">
                <a:solidFill>
                  <a:schemeClr val="tx1"/>
                </a:solidFill>
              </a:rPr>
              <a:t> при первом вызове (если передан </a:t>
            </a:r>
            <a:r>
              <a:rPr lang="ru-RU" altLang="ru-RU" sz="1500" dirty="0" err="1">
                <a:solidFill>
                  <a:srgbClr val="FFFF00"/>
                </a:solidFill>
              </a:rPr>
              <a:t>initial</a:t>
            </a:r>
            <a:r>
              <a:rPr lang="ru-RU" altLang="ru-RU" sz="1500" dirty="0">
                <a:solidFill>
                  <a:schemeClr val="tx1"/>
                </a:solidFill>
              </a:rPr>
              <a:t>),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item</a:t>
            </a:r>
            <a:r>
              <a:rPr lang="ru-RU" altLang="ru-RU" sz="1500" dirty="0">
                <a:solidFill>
                  <a:schemeClr val="tx1"/>
                </a:solidFill>
              </a:rPr>
              <a:t> – очередной элемент массива,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index</a:t>
            </a:r>
            <a:r>
              <a:rPr lang="ru-RU" altLang="ru-RU" sz="1500" dirty="0">
                <a:solidFill>
                  <a:schemeClr val="tx1"/>
                </a:solidFill>
              </a:rPr>
              <a:t> – его позиция,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array</a:t>
            </a:r>
            <a:r>
              <a:rPr lang="ru-RU" altLang="ru-RU" sz="1500" dirty="0">
                <a:solidFill>
                  <a:schemeClr val="tx1"/>
                </a:solidFill>
              </a:rPr>
              <a:t> – сам массив.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По окончанию прохода возвращает </a:t>
            </a:r>
            <a:r>
              <a:rPr lang="en-US" altLang="ru-RU" sz="1500" dirty="0">
                <a:solidFill>
                  <a:schemeClr val="tx1"/>
                </a:solidFill>
              </a:rPr>
              <a:t>accumulator.</a:t>
            </a:r>
            <a:endParaRPr lang="ru-RU" altLang="ru-RU" sz="15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749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Преобразование массива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FFFF00"/>
                </a:solidFill>
              </a:rPr>
              <a:t>Пример: 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result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reduce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((sum, current) =&gt; sum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current,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(result);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15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При первом запуске </a:t>
            </a:r>
            <a:r>
              <a:rPr lang="ru-RU" altLang="ru-RU" sz="1600" dirty="0" err="1">
                <a:solidFill>
                  <a:srgbClr val="FFFF00"/>
                </a:solidFill>
              </a:rPr>
              <a:t>sum</a:t>
            </a:r>
            <a:r>
              <a:rPr lang="ru-RU" altLang="ru-RU" sz="1600" dirty="0">
                <a:solidFill>
                  <a:schemeClr val="tx1"/>
                </a:solidFill>
              </a:rPr>
              <a:t> равен </a:t>
            </a:r>
            <a:r>
              <a:rPr lang="ru-RU" altLang="ru-RU" sz="1600" dirty="0" err="1">
                <a:solidFill>
                  <a:srgbClr val="FFFF00"/>
                </a:solidFill>
              </a:rPr>
              <a:t>initial</a:t>
            </a:r>
            <a:r>
              <a:rPr lang="ru-RU" altLang="ru-RU" sz="1600" dirty="0">
                <a:solidFill>
                  <a:schemeClr val="tx1"/>
                </a:solidFill>
              </a:rPr>
              <a:t> (последний аргумент </a:t>
            </a:r>
            <a:r>
              <a:rPr lang="ru-RU" altLang="ru-RU" sz="1600" dirty="0" err="1">
                <a:solidFill>
                  <a:srgbClr val="FFFF00"/>
                </a:solidFill>
              </a:rPr>
              <a:t>reduce</a:t>
            </a:r>
            <a:r>
              <a:rPr lang="ru-RU" altLang="ru-RU" sz="1600" dirty="0">
                <a:solidFill>
                  <a:schemeClr val="tx1"/>
                </a:solidFill>
              </a:rPr>
              <a:t>), то есть 0, а </a:t>
            </a:r>
            <a:r>
              <a:rPr lang="ru-RU" altLang="ru-RU" sz="1600" dirty="0" err="1">
                <a:solidFill>
                  <a:srgbClr val="FFFF00"/>
                </a:solidFill>
              </a:rPr>
              <a:t>current</a:t>
            </a:r>
            <a:r>
              <a:rPr lang="ru-RU" altLang="ru-RU" sz="1600" dirty="0">
                <a:solidFill>
                  <a:schemeClr val="tx1"/>
                </a:solidFill>
              </a:rPr>
              <a:t> – первый элемент массива, равный 1. Таким образом, результат функции равен 1. 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При втором запуске </a:t>
            </a:r>
            <a:r>
              <a:rPr lang="ru-RU" altLang="ru-RU" sz="1600" dirty="0" err="1">
                <a:solidFill>
                  <a:srgbClr val="FFFF00"/>
                </a:solidFill>
              </a:rPr>
              <a:t>sum</a:t>
            </a:r>
            <a:r>
              <a:rPr lang="ru-RU" altLang="ru-RU" sz="1600" dirty="0">
                <a:solidFill>
                  <a:schemeClr val="tx1"/>
                </a:solidFill>
              </a:rPr>
              <a:t> = 1, к нему добавляется второй элемент массива (2) и возвращаем.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При третьем запуске </a:t>
            </a:r>
            <a:r>
              <a:rPr lang="ru-RU" altLang="ru-RU" sz="1600" dirty="0" err="1">
                <a:solidFill>
                  <a:srgbClr val="FFFF00"/>
                </a:solidFill>
              </a:rPr>
              <a:t>sum</a:t>
            </a:r>
            <a:r>
              <a:rPr lang="ru-RU" altLang="ru-RU" sz="1600" dirty="0">
                <a:solidFill>
                  <a:schemeClr val="tx1"/>
                </a:solidFill>
              </a:rPr>
              <a:t> = 3, к которому </a:t>
            </a:r>
            <a:r>
              <a:rPr lang="ru-RU" altLang="ru-RU" sz="1600" dirty="0" err="1">
                <a:solidFill>
                  <a:schemeClr val="tx1"/>
                </a:solidFill>
              </a:rPr>
              <a:t>добавлятся</a:t>
            </a:r>
            <a:r>
              <a:rPr lang="ru-RU" altLang="ru-RU" sz="1600" dirty="0">
                <a:solidFill>
                  <a:schemeClr val="tx1"/>
                </a:solidFill>
              </a:rPr>
              <a:t> следующий элемент, и так далее…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При отсутствии </a:t>
            </a:r>
            <a:r>
              <a:rPr lang="ru-RU" altLang="ru-RU" sz="1600" dirty="0" err="1">
                <a:solidFill>
                  <a:srgbClr val="FFFF00"/>
                </a:solidFill>
              </a:rPr>
              <a:t>initial</a:t>
            </a:r>
            <a:r>
              <a:rPr lang="ru-RU" altLang="ru-RU" sz="1600" dirty="0">
                <a:solidFill>
                  <a:srgbClr val="E2E3E7"/>
                </a:solidFill>
              </a:rPr>
              <a:t> в качестве первого значения берётся первый элемент массива, а перебор стартует со второго.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065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Преобразование массива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Можно опустить начальное значение: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ru-RU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убрано начальное значение (нет 0 в конце)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result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reduce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((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sum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ru-RU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=&gt;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sum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+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result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15</a:t>
            </a:r>
            <a:endParaRPr lang="ru-RU" altLang="ru-RU" sz="15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Но такое использование требует крайней осторожности. Если массив пуст, то вызов </a:t>
            </a:r>
            <a:r>
              <a:rPr lang="ru-RU" altLang="ru-RU" sz="1500" dirty="0" err="1">
                <a:solidFill>
                  <a:schemeClr val="tx1"/>
                </a:solidFill>
              </a:rPr>
              <a:t>reduce</a:t>
            </a:r>
            <a:r>
              <a:rPr lang="ru-RU" altLang="ru-RU" sz="1500" dirty="0">
                <a:solidFill>
                  <a:schemeClr val="tx1"/>
                </a:solidFill>
              </a:rPr>
              <a:t> без начального значения выдаст ошибку.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Пример: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[];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Error: Reduce of empty array with no initial value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если бы существовало начальное значение,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reduce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вернул бы его для пустого массива.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reduce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((sum, current)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=&gt;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sum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current);</a:t>
            </a: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Поэтому рекомендуется всегда указывать начальное значение.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Метод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arr.reduceRight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работает аналогично, но проходит по массиву справа налево.</a:t>
            </a:r>
          </a:p>
        </p:txBody>
      </p:sp>
    </p:spTree>
    <p:extLst>
      <p:ext uri="{BB962C8B-B14F-4D97-AF65-F5344CB8AC3E}">
        <p14:creationId xmlns:p14="http://schemas.microsoft.com/office/powerpoint/2010/main" val="2714896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1. Увеличьте все числа в массиве [1, 2, 3, 4, 5] в 2 раза с помощью метода </a:t>
            </a:r>
            <a:r>
              <a:rPr lang="en-US" sz="1600" dirty="0">
                <a:solidFill>
                  <a:schemeClr val="tx1"/>
                </a:solidFill>
              </a:rPr>
              <a:t>map</a:t>
            </a:r>
            <a:r>
              <a:rPr lang="ru-RU" sz="1600" dirty="0">
                <a:solidFill>
                  <a:schemeClr val="tx1"/>
                </a:solidFill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2. Отсортируйте массив чисел [3, 1, 4, 1, 5, 9, 2, 6] по возрастанию.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3. </a:t>
            </a:r>
            <a:r>
              <a:rPr lang="ru-RU" altLang="ru-RU" sz="1600" dirty="0">
                <a:solidFill>
                  <a:schemeClr val="tx1"/>
                </a:solidFill>
              </a:rPr>
              <a:t>Переверните массив строк ['</a:t>
            </a:r>
            <a:r>
              <a:rPr lang="ru-RU" altLang="ru-RU" sz="1600" dirty="0" err="1">
                <a:solidFill>
                  <a:schemeClr val="tx1"/>
                </a:solidFill>
              </a:rPr>
              <a:t>hello</a:t>
            </a:r>
            <a:r>
              <a:rPr lang="ru-RU" altLang="ru-RU" sz="1600" dirty="0">
                <a:solidFill>
                  <a:schemeClr val="tx1"/>
                </a:solidFill>
              </a:rPr>
              <a:t>', '</a:t>
            </a:r>
            <a:r>
              <a:rPr lang="ru-RU" altLang="ru-RU" sz="1600" dirty="0" err="1">
                <a:solidFill>
                  <a:schemeClr val="tx1"/>
                </a:solidFill>
              </a:rPr>
              <a:t>world</a:t>
            </a:r>
            <a:r>
              <a:rPr lang="ru-RU" altLang="ru-RU" sz="1600" dirty="0">
                <a:solidFill>
                  <a:schemeClr val="tx1"/>
                </a:solidFill>
              </a:rPr>
              <a:t>’].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4. </a:t>
            </a:r>
            <a:r>
              <a:rPr lang="ru-RU" altLang="ru-RU" sz="1600" dirty="0">
                <a:solidFill>
                  <a:schemeClr val="tx1"/>
                </a:solidFill>
              </a:rPr>
              <a:t>Разделите строку '</a:t>
            </a:r>
            <a:r>
              <a:rPr lang="ru-RU" altLang="ru-RU" sz="1600" dirty="0" err="1">
                <a:solidFill>
                  <a:schemeClr val="tx1"/>
                </a:solidFill>
              </a:rPr>
              <a:t>apple,banana,cherry</a:t>
            </a:r>
            <a:r>
              <a:rPr lang="ru-RU" altLang="ru-RU" sz="1600" dirty="0">
                <a:solidFill>
                  <a:schemeClr val="tx1"/>
                </a:solidFill>
              </a:rPr>
              <a:t>' на массив фруктов по запятой.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5. </a:t>
            </a:r>
            <a:r>
              <a:rPr lang="ru-RU" altLang="ru-RU" sz="1600" dirty="0">
                <a:solidFill>
                  <a:schemeClr val="tx1"/>
                </a:solidFill>
              </a:rPr>
              <a:t>Объедините массив слов ['</a:t>
            </a:r>
            <a:r>
              <a:rPr lang="ru-RU" altLang="ru-RU" sz="1600" dirty="0" err="1">
                <a:solidFill>
                  <a:schemeClr val="tx1"/>
                </a:solidFill>
              </a:rPr>
              <a:t>hello</a:t>
            </a:r>
            <a:r>
              <a:rPr lang="ru-RU" altLang="ru-RU" sz="1600" dirty="0">
                <a:solidFill>
                  <a:schemeClr val="tx1"/>
                </a:solidFill>
              </a:rPr>
              <a:t>', '</a:t>
            </a:r>
            <a:r>
              <a:rPr lang="ru-RU" altLang="ru-RU" sz="1600" dirty="0" err="1">
                <a:solidFill>
                  <a:schemeClr val="tx1"/>
                </a:solidFill>
              </a:rPr>
              <a:t>world</a:t>
            </a:r>
            <a:r>
              <a:rPr lang="ru-RU" altLang="ru-RU" sz="1600" dirty="0">
                <a:solidFill>
                  <a:schemeClr val="tx1"/>
                </a:solidFill>
              </a:rPr>
              <a:t>'] в строку через пробел.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6. </a:t>
            </a:r>
            <a:r>
              <a:rPr lang="ru-RU" altLang="ru-RU" sz="1600" dirty="0">
                <a:solidFill>
                  <a:schemeClr val="tx1"/>
                </a:solidFill>
              </a:rPr>
              <a:t>Найдите произведение всех чисел в массиве [1, 2, 3, 4, 5].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959546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1. 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const</a:t>
            </a:r>
            <a:r>
              <a:rPr lang="en-US" sz="1600" dirty="0">
                <a:solidFill>
                  <a:schemeClr val="tx1"/>
                </a:solidFill>
              </a:rPr>
              <a:t> numbers = [</a:t>
            </a:r>
            <a:r>
              <a:rPr lang="en-US" sz="1600" dirty="0">
                <a:solidFill>
                  <a:srgbClr val="C907B2"/>
                </a:solidFill>
              </a:rPr>
              <a:t>1, 2, 3, 4, 5</a:t>
            </a:r>
            <a:r>
              <a:rPr lang="en-US" sz="1600" dirty="0">
                <a:solidFill>
                  <a:schemeClr val="tx1"/>
                </a:solidFill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const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doubledNumbers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numbers.</a:t>
            </a:r>
            <a:r>
              <a:rPr lang="en-US" sz="1600" dirty="0" err="1">
                <a:solidFill>
                  <a:srgbClr val="00B0F0"/>
                </a:solidFill>
              </a:rPr>
              <a:t>map</a:t>
            </a:r>
            <a:r>
              <a:rPr lang="en-US" sz="1600" dirty="0">
                <a:solidFill>
                  <a:schemeClr val="tx1"/>
                </a:solidFill>
              </a:rPr>
              <a:t>(num 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=&gt;</a:t>
            </a:r>
            <a:r>
              <a:rPr lang="en-US" sz="1600" dirty="0">
                <a:solidFill>
                  <a:schemeClr val="tx1"/>
                </a:solidFill>
              </a:rPr>
              <a:t> num 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*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rgbClr val="C907B2"/>
                </a:solidFill>
              </a:rPr>
              <a:t>2</a:t>
            </a:r>
            <a:r>
              <a:rPr lang="en-US" sz="1600" dirty="0">
                <a:solidFill>
                  <a:schemeClr val="tx1"/>
                </a:solidFill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console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r>
              <a:rPr lang="en-US" sz="1600" dirty="0">
                <a:solidFill>
                  <a:srgbClr val="00B0F0"/>
                </a:solidFill>
              </a:rPr>
              <a:t>log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doubledNumbers</a:t>
            </a:r>
            <a:r>
              <a:rPr lang="en-US" sz="1600" dirty="0">
                <a:solidFill>
                  <a:schemeClr val="tx1"/>
                </a:solidFill>
              </a:rPr>
              <a:t>); </a:t>
            </a:r>
            <a:r>
              <a:rPr lang="en-US" sz="1600" dirty="0">
                <a:solidFill>
                  <a:srgbClr val="FFFF00"/>
                </a:solidFill>
              </a:rPr>
              <a:t>// [2, 4, 6, 8, 10]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2.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numbers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3, 1, 4, 1, 5, 9, 2, 6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numbers.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sort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((a, b)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=&gt;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a - b);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(numbers);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[1, 1, 2, 3, 4, 5, 6, 9]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3.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strings = [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'hello', 'world'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strings.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reverse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(strings);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['world', 'hello’]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4.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fruits =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en-US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apple,banana,cherry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fruitArray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split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','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fruitArray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['apple', 'banana', 'cherry']</a:t>
            </a:r>
          </a:p>
          <a:p>
            <a:pPr marL="0" indent="0">
              <a:spcBef>
                <a:spcPts val="0"/>
              </a:spcBef>
              <a:buNone/>
            </a:pP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226766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5.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words = [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'hello', 'world'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sentence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words.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join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(' 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(sentence);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'hello world’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6.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numbers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sum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numbers.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reduce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((acc, current)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=&gt; 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acc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current,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(sum);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15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227838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627784" y="2139702"/>
            <a:ext cx="3384376" cy="648072"/>
          </a:xfrm>
        </p:spPr>
        <p:txBody>
          <a:bodyPr anchor="t"/>
          <a:lstStyle/>
          <a:p>
            <a:r>
              <a:rPr lang="en-US" b="1" dirty="0" err="1"/>
              <a:t>Array.isArray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8499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/>
          </a:bodyPr>
          <a:lstStyle/>
          <a:p>
            <a:r>
              <a:rPr lang="en-US" b="1" dirty="0" err="1"/>
              <a:t>Array.isArray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Массивы не образуют отдельный тип данных. Они основаны на объектах.</a:t>
            </a:r>
            <a:endParaRPr lang="ru-RU" altLang="ru-RU" sz="16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Поэтому </a:t>
            </a:r>
            <a:r>
              <a:rPr lang="ru-RU" altLang="ru-RU" sz="1600" dirty="0" err="1">
                <a:solidFill>
                  <a:srgbClr val="FFFF00"/>
                </a:solidFill>
              </a:rPr>
              <a:t>typeof</a:t>
            </a:r>
            <a:r>
              <a:rPr lang="ru-RU" altLang="ru-RU" sz="1600" dirty="0">
                <a:solidFill>
                  <a:srgbClr val="E2E3E7"/>
                </a:solidFill>
              </a:rPr>
              <a:t> не может отличить простой объект от массива: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typeof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{});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object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typeof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[]);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тоже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object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 err="1">
                <a:solidFill>
                  <a:srgbClr val="FFFF00"/>
                </a:solidFill>
              </a:rPr>
              <a:t>Array.isArray</a:t>
            </a:r>
            <a:r>
              <a:rPr lang="en-US" altLang="ru-RU" sz="1600" dirty="0">
                <a:solidFill>
                  <a:srgbClr val="FFFF00"/>
                </a:solidFill>
              </a:rPr>
              <a:t>(value)</a:t>
            </a:r>
            <a:r>
              <a:rPr lang="ru-RU" altLang="ru-RU" sz="1600" dirty="0">
                <a:solidFill>
                  <a:srgbClr val="FFFF00"/>
                </a:solidFill>
              </a:rPr>
              <a:t> </a:t>
            </a:r>
            <a:r>
              <a:rPr lang="ru-RU" altLang="ru-RU" sz="1600" dirty="0">
                <a:solidFill>
                  <a:schemeClr val="tx1"/>
                </a:solidFill>
              </a:rPr>
              <a:t>возвращает </a:t>
            </a:r>
            <a:r>
              <a:rPr lang="en-US" altLang="ru-RU" sz="1600" dirty="0">
                <a:solidFill>
                  <a:srgbClr val="FFFF00"/>
                </a:solidFill>
              </a:rPr>
              <a:t>true</a:t>
            </a:r>
            <a:r>
              <a:rPr lang="en-US" altLang="ru-RU" sz="1600" dirty="0">
                <a:solidFill>
                  <a:schemeClr val="tx1"/>
                </a:solidFill>
              </a:rPr>
              <a:t>, </a:t>
            </a:r>
            <a:r>
              <a:rPr lang="ru-RU" altLang="ru-RU" sz="1600" dirty="0">
                <a:solidFill>
                  <a:schemeClr val="tx1"/>
                </a:solidFill>
              </a:rPr>
              <a:t>если </a:t>
            </a:r>
            <a:r>
              <a:rPr lang="en-US" altLang="ru-RU" sz="1600" dirty="0">
                <a:solidFill>
                  <a:schemeClr val="tx1"/>
                </a:solidFill>
              </a:rPr>
              <a:t>value </a:t>
            </a:r>
            <a:r>
              <a:rPr lang="ru-RU" altLang="ru-RU" sz="1600" dirty="0">
                <a:solidFill>
                  <a:schemeClr val="tx1"/>
                </a:solidFill>
              </a:rPr>
              <a:t>массив, и </a:t>
            </a:r>
            <a:r>
              <a:rPr lang="en-US" altLang="ru-RU" sz="1600" dirty="0">
                <a:solidFill>
                  <a:srgbClr val="FFFF00"/>
                </a:solidFill>
              </a:rPr>
              <a:t>false</a:t>
            </a:r>
            <a:r>
              <a:rPr lang="en-US" altLang="ru-RU" sz="1600" dirty="0">
                <a:solidFill>
                  <a:schemeClr val="tx1"/>
                </a:solidFill>
              </a:rPr>
              <a:t>, </a:t>
            </a:r>
            <a:r>
              <a:rPr lang="ru-RU" altLang="ru-RU" sz="1600" dirty="0">
                <a:solidFill>
                  <a:schemeClr val="tx1"/>
                </a:solidFill>
              </a:rPr>
              <a:t>если нет.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Array.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isArray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({}));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false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Array.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isArray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([]));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true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778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5696" y="2247714"/>
            <a:ext cx="5472608" cy="648072"/>
          </a:xfrm>
        </p:spPr>
        <p:txBody>
          <a:bodyPr anchor="t"/>
          <a:lstStyle/>
          <a:p>
            <a:r>
              <a:rPr lang="ru-RU" b="1" dirty="0"/>
              <a:t>Методы примитивов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10908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Методы примитивов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 err="1"/>
              <a:t>Ja</a:t>
            </a:r>
            <a:r>
              <a:rPr lang="ru-RU" sz="1400" dirty="0" err="1">
                <a:solidFill>
                  <a:schemeClr val="tx1"/>
                </a:solidFill>
              </a:rPr>
              <a:t>vaScript</a:t>
            </a:r>
            <a:r>
              <a:rPr lang="ru-RU" sz="1400" dirty="0">
                <a:solidFill>
                  <a:schemeClr val="tx1"/>
                </a:solidFill>
              </a:rPr>
              <a:t> позволяет нам работать с примитивными типами данных – строками, числами и т.д., как будто они являются объектами. У них есть и методы. 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Числа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 современном </a:t>
            </a:r>
            <a:r>
              <a:rPr lang="ru-RU" altLang="ru-RU" sz="1400" dirty="0" err="1">
                <a:solidFill>
                  <a:schemeClr val="tx1"/>
                </a:solidFill>
              </a:rPr>
              <a:t>JavaScript</a:t>
            </a:r>
            <a:r>
              <a:rPr lang="ru-RU" altLang="ru-RU" sz="1400" dirty="0">
                <a:solidFill>
                  <a:schemeClr val="tx1"/>
                </a:solidFill>
              </a:rPr>
              <a:t> существует </a:t>
            </a:r>
            <a:r>
              <a:rPr lang="ru-RU" altLang="ru-RU" sz="1400" dirty="0">
                <a:solidFill>
                  <a:srgbClr val="FFFF00"/>
                </a:solidFill>
              </a:rPr>
              <a:t>два</a:t>
            </a:r>
            <a:r>
              <a:rPr lang="ru-RU" altLang="ru-RU" sz="1400" dirty="0">
                <a:solidFill>
                  <a:schemeClr val="tx1"/>
                </a:solidFill>
              </a:rPr>
              <a:t> типа чисел: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Обычные числа в </a:t>
            </a:r>
            <a:r>
              <a:rPr lang="ru-RU" altLang="ru-RU" sz="1400" dirty="0" err="1">
                <a:solidFill>
                  <a:schemeClr val="tx1"/>
                </a:solidFill>
              </a:rPr>
              <a:t>JavaScript</a:t>
            </a:r>
            <a:r>
              <a:rPr lang="ru-RU" altLang="ru-RU" sz="1400" dirty="0">
                <a:solidFill>
                  <a:schemeClr val="tx1"/>
                </a:solidFill>
              </a:rPr>
              <a:t> хранятся в 64-битном формате IEEE-754 </a:t>
            </a:r>
            <a:r>
              <a:rPr lang="ru-RU" altLang="ru-RU" sz="1400" dirty="0">
                <a:solidFill>
                  <a:srgbClr val="FFFF00"/>
                </a:solidFill>
              </a:rPr>
              <a:t>(1,2,3,4,5…)</a:t>
            </a:r>
            <a:r>
              <a:rPr lang="ru-RU" altLang="ru-RU" sz="1400" dirty="0">
                <a:solidFill>
                  <a:schemeClr val="tx1"/>
                </a:solidFill>
              </a:rPr>
              <a:t>,</a:t>
            </a:r>
            <a:r>
              <a:rPr lang="ru-RU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который также называют «числа с плавающей точкой двойной точности» (</a:t>
            </a:r>
            <a:r>
              <a:rPr lang="ru-RU" altLang="ru-RU" sz="1400" dirty="0" err="1">
                <a:solidFill>
                  <a:schemeClr val="tx1"/>
                </a:solidFill>
              </a:rPr>
              <a:t>double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</a:rPr>
              <a:t>precision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</a:rPr>
              <a:t>floating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</a:rPr>
              <a:t>point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</a:rPr>
              <a:t>numbers</a:t>
            </a:r>
            <a:r>
              <a:rPr lang="ru-RU" altLang="ru-RU" sz="1400" dirty="0">
                <a:solidFill>
                  <a:schemeClr val="tx1"/>
                </a:solidFill>
              </a:rPr>
              <a:t>). 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BigInt</a:t>
            </a:r>
            <a:r>
              <a:rPr lang="ru-RU" altLang="ru-RU" sz="1400" dirty="0">
                <a:solidFill>
                  <a:schemeClr val="tx1"/>
                </a:solidFill>
              </a:rPr>
              <a:t> числа дают возможность работать с целыми числами произвольной длины. Они нужны достаточно редко и используются в случаях, когда необходимо работать со значениями более чем (2</a:t>
            </a:r>
            <a:r>
              <a:rPr lang="ru-RU" altLang="ru-RU" sz="1400" baseline="30000" dirty="0">
                <a:solidFill>
                  <a:schemeClr val="tx1"/>
                </a:solidFill>
              </a:rPr>
              <a:t>53-1</a:t>
            </a:r>
            <a:r>
              <a:rPr lang="ru-RU" altLang="ru-RU" sz="1400" dirty="0">
                <a:solidFill>
                  <a:schemeClr val="tx1"/>
                </a:solidFill>
              </a:rPr>
              <a:t>) или менее чем -(2</a:t>
            </a:r>
            <a:r>
              <a:rPr lang="ru-RU" altLang="ru-RU" sz="1400" baseline="30000" dirty="0">
                <a:solidFill>
                  <a:schemeClr val="tx1"/>
                </a:solidFill>
              </a:rPr>
              <a:t>53-1</a:t>
            </a:r>
            <a:r>
              <a:rPr lang="ru-RU" altLang="ru-RU" sz="1400" dirty="0">
                <a:solidFill>
                  <a:schemeClr val="tx1"/>
                </a:solidFill>
              </a:rPr>
              <a:t>). 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Метод </a:t>
            </a:r>
            <a:r>
              <a:rPr lang="ru-RU" altLang="ru-RU" sz="1400" dirty="0" err="1">
                <a:solidFill>
                  <a:srgbClr val="FFFF00"/>
                </a:solidFill>
              </a:rPr>
              <a:t>num.toString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base</a:t>
            </a:r>
            <a:r>
              <a:rPr lang="ru-RU" altLang="ru-RU" sz="1400" dirty="0">
                <a:solidFill>
                  <a:srgbClr val="FFFF00"/>
                </a:solidFill>
              </a:rPr>
              <a:t>) </a:t>
            </a:r>
            <a:r>
              <a:rPr lang="ru-RU" altLang="ru-RU" sz="1400" dirty="0">
                <a:solidFill>
                  <a:schemeClr val="tx1"/>
                </a:solidFill>
              </a:rPr>
              <a:t>возвращает строковое представление числа </a:t>
            </a:r>
            <a:r>
              <a:rPr lang="ru-RU" altLang="ru-RU" sz="1400" dirty="0" err="1">
                <a:solidFill>
                  <a:srgbClr val="FFFF00"/>
                </a:solidFill>
              </a:rPr>
              <a:t>num</a:t>
            </a:r>
            <a:r>
              <a:rPr lang="ru-RU" altLang="ru-RU" sz="1400" dirty="0">
                <a:solidFill>
                  <a:schemeClr val="tx1"/>
                </a:solidFill>
              </a:rPr>
              <a:t> в системе счисления </a:t>
            </a:r>
            <a:r>
              <a:rPr lang="ru-RU" altLang="ru-RU" sz="1400" dirty="0" err="1">
                <a:solidFill>
                  <a:srgbClr val="FFFF00"/>
                </a:solidFill>
              </a:rPr>
              <a:t>base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da-DK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da-DK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num = </a:t>
            </a:r>
            <a:r>
              <a:rPr lang="da-DK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255</a:t>
            </a:r>
            <a:r>
              <a:rPr lang="da-DK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da-DK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da-DK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num.</a:t>
            </a:r>
            <a:r>
              <a:rPr lang="da-DK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toString</a:t>
            </a:r>
            <a:r>
              <a:rPr lang="da-DK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da-DK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16</a:t>
            </a:r>
            <a:r>
              <a:rPr lang="da-DK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);  </a:t>
            </a:r>
            <a:r>
              <a:rPr lang="da-DK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ff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da-DK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da-DK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num.</a:t>
            </a:r>
            <a:r>
              <a:rPr lang="da-DK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toString</a:t>
            </a:r>
            <a:r>
              <a:rPr lang="da-DK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da-DK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da-DK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);   </a:t>
            </a:r>
            <a:r>
              <a:rPr lang="da-DK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11111111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ts val="60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base</a:t>
            </a:r>
            <a:r>
              <a:rPr lang="ru-RU" altLang="ru-RU" sz="1400" dirty="0">
                <a:solidFill>
                  <a:schemeClr val="tx1"/>
                </a:solidFill>
              </a:rPr>
              <a:t> может варьироваться от </a:t>
            </a:r>
            <a:r>
              <a:rPr lang="ru-RU" altLang="ru-RU" sz="1400" dirty="0">
                <a:solidFill>
                  <a:srgbClr val="FFFF00"/>
                </a:solidFill>
              </a:rPr>
              <a:t>2</a:t>
            </a:r>
            <a:r>
              <a:rPr lang="ru-RU" altLang="ru-RU" sz="1400" dirty="0">
                <a:solidFill>
                  <a:schemeClr val="tx1"/>
                </a:solidFill>
              </a:rPr>
              <a:t> до </a:t>
            </a:r>
            <a:r>
              <a:rPr lang="ru-RU" altLang="ru-RU" sz="1400" dirty="0">
                <a:solidFill>
                  <a:srgbClr val="FFFF00"/>
                </a:solidFill>
              </a:rPr>
              <a:t>36</a:t>
            </a:r>
            <a:r>
              <a:rPr lang="ru-RU" altLang="ru-RU" sz="1400" dirty="0">
                <a:solidFill>
                  <a:schemeClr val="tx1"/>
                </a:solidFill>
              </a:rPr>
              <a:t> (по умолчанию </a:t>
            </a:r>
            <a:r>
              <a:rPr lang="ru-RU" altLang="ru-RU" sz="1400" dirty="0">
                <a:solidFill>
                  <a:srgbClr val="FFFF00"/>
                </a:solidFill>
              </a:rPr>
              <a:t>10</a:t>
            </a:r>
            <a:r>
              <a:rPr lang="ru-RU" altLang="ru-RU" sz="1400" dirty="0">
                <a:solidFill>
                  <a:schemeClr val="tx1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33822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Методы примитивов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FFFF00"/>
                </a:solidFill>
              </a:rPr>
              <a:t>Две точки для вызова метода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123456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toString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36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2n9c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Две точки в </a:t>
            </a:r>
            <a:r>
              <a:rPr lang="ru-RU" altLang="ru-RU" sz="1600" dirty="0">
                <a:solidFill>
                  <a:srgbClr val="FFFF00"/>
                </a:solidFill>
              </a:rPr>
              <a:t>123456..toString(36) </a:t>
            </a:r>
            <a:r>
              <a:rPr lang="ru-RU" altLang="ru-RU" sz="1600" dirty="0">
                <a:solidFill>
                  <a:srgbClr val="E2E3E7"/>
                </a:solidFill>
              </a:rPr>
              <a:t>это не опечатка. Вызывая метод непосредственно на числе, как </a:t>
            </a:r>
            <a:r>
              <a:rPr lang="ru-RU" altLang="ru-RU" sz="1600" dirty="0" err="1">
                <a:solidFill>
                  <a:srgbClr val="E2E3E7"/>
                </a:solidFill>
              </a:rPr>
              <a:t>toString</a:t>
            </a:r>
            <a:r>
              <a:rPr lang="ru-RU" altLang="ru-RU" sz="1600" dirty="0">
                <a:solidFill>
                  <a:srgbClr val="E2E3E7"/>
                </a:solidFill>
              </a:rPr>
              <a:t> в примере выше, надо поставить две точки </a:t>
            </a:r>
            <a:r>
              <a:rPr lang="ru-RU" altLang="ru-RU" sz="1600" dirty="0">
                <a:solidFill>
                  <a:srgbClr val="FFFF00"/>
                </a:solidFill>
              </a:rPr>
              <a:t>..</a:t>
            </a:r>
            <a:r>
              <a:rPr lang="ru-RU" altLang="ru-RU" sz="1600" dirty="0">
                <a:solidFill>
                  <a:srgbClr val="E2E3E7"/>
                </a:solidFill>
              </a:rPr>
              <a:t> после числа.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Если поставить одну точку: 123456.toString(36), тогда это будет ошибкой, поскольку синтаксис </a:t>
            </a:r>
            <a:r>
              <a:rPr lang="ru-RU" altLang="ru-RU" sz="1600" dirty="0" err="1">
                <a:solidFill>
                  <a:srgbClr val="E2E3E7"/>
                </a:solidFill>
              </a:rPr>
              <a:t>JavaScript</a:t>
            </a:r>
            <a:r>
              <a:rPr lang="ru-RU" altLang="ru-RU" sz="1600" dirty="0">
                <a:solidFill>
                  <a:srgbClr val="E2E3E7"/>
                </a:solidFill>
              </a:rPr>
              <a:t> предполагает, что после первой точки начинается десятичная часть. А если поставить две точки, то </a:t>
            </a:r>
            <a:r>
              <a:rPr lang="ru-RU" altLang="ru-RU" sz="1600" dirty="0" err="1">
                <a:solidFill>
                  <a:srgbClr val="E2E3E7"/>
                </a:solidFill>
              </a:rPr>
              <a:t>JavaScript</a:t>
            </a:r>
            <a:r>
              <a:rPr lang="ru-RU" altLang="ru-RU" sz="1600" dirty="0">
                <a:solidFill>
                  <a:srgbClr val="E2E3E7"/>
                </a:solidFill>
              </a:rPr>
              <a:t> понимает, что десятичная часть отсутствует, и начинается метод.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Также можно записать как (123456).</a:t>
            </a:r>
            <a:r>
              <a:rPr lang="ru-RU" altLang="ru-RU" sz="1600" dirty="0" err="1">
                <a:solidFill>
                  <a:srgbClr val="FFFF00"/>
                </a:solidFill>
              </a:rPr>
              <a:t>toString</a:t>
            </a:r>
            <a:r>
              <a:rPr lang="ru-RU" altLang="ru-RU" sz="1600" dirty="0">
                <a:solidFill>
                  <a:srgbClr val="FFFF00"/>
                </a:solidFill>
              </a:rPr>
              <a:t>(36).</a:t>
            </a:r>
          </a:p>
        </p:txBody>
      </p:sp>
    </p:spTree>
    <p:extLst>
      <p:ext uri="{BB962C8B-B14F-4D97-AF65-F5344CB8AC3E}">
        <p14:creationId xmlns:p14="http://schemas.microsoft.com/office/powerpoint/2010/main" val="327468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Методы примитивов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FFFF00"/>
                </a:solidFill>
              </a:rPr>
              <a:t>Округление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Одна из часто используемых операций при работе с числами – это округление.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 </a:t>
            </a:r>
            <a:r>
              <a:rPr lang="ru-RU" altLang="ru-RU" sz="1400" dirty="0" err="1">
                <a:solidFill>
                  <a:schemeClr val="tx1"/>
                </a:solidFill>
              </a:rPr>
              <a:t>JavaScript</a:t>
            </a:r>
            <a:r>
              <a:rPr lang="ru-RU" altLang="ru-RU" sz="1400" dirty="0">
                <a:solidFill>
                  <a:schemeClr val="tx1"/>
                </a:solidFill>
              </a:rPr>
              <a:t> есть несколько встроенных функций для работы с округлением: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Math.floor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Округление в меньшую сторону: 3.1 становится 3, а -1.1 — -2.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Math.ceil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Округление в большую сторону: 3.1 становится 4, а -1.1 — -1.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Math.round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Округление до ближайшего целого: 3.1 становится 3, 3.6 — 4, а -1.1 — -1.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Math.trunc</a:t>
            </a:r>
            <a:r>
              <a:rPr lang="ru-RU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(не поддерживается в </a:t>
            </a:r>
            <a:r>
              <a:rPr lang="ru-RU" altLang="ru-RU" sz="1400" dirty="0" err="1">
                <a:solidFill>
                  <a:schemeClr val="tx1"/>
                </a:solidFill>
              </a:rPr>
              <a:t>Internet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</a:rPr>
              <a:t>Explorer</a:t>
            </a:r>
            <a:r>
              <a:rPr lang="ru-RU" altLang="ru-RU" sz="1400" dirty="0">
                <a:solidFill>
                  <a:schemeClr val="tx1"/>
                </a:solidFill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Производит удаление дробной части без округления: 3.1 становится 3, а -1.1 — -1.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C687729-B68B-45C0-A008-BDF2545819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5000"/>
                    </a14:imgEffect>
                    <a14:imgEffect>
                      <a14:saturation sat="12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9345"/>
          <a:stretch/>
        </p:blipFill>
        <p:spPr>
          <a:xfrm>
            <a:off x="1093170" y="3274462"/>
            <a:ext cx="6984776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43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Методы примитивов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FFFF00"/>
                </a:solidFill>
              </a:rPr>
              <a:t>Округление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Эти функции охватывают все возможные способы обработки десятичной части. Что если нам надо округлить число до n-ого количества цифр в дробной части?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Например, у нас есть 1.2345 и мы хотим округлить число до 2-х знаков после запятой, оставить только 1.23.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Есть два пути решения: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Умножить и разделить.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Например, чтобы округлить число до второго знака после запятой, мы можем умножить число на 100, вызвать функцию округления и разделить обратно.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num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1.23456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Math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round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(num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*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100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/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100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1.23456 -&gt; 123.456 -&gt; 123 -&gt; 1.23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10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Методы примитивов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FFFF00"/>
                </a:solidFill>
              </a:rPr>
              <a:t>Округление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Метод </a:t>
            </a:r>
            <a:r>
              <a:rPr lang="ru-RU" altLang="ru-RU" sz="1600" dirty="0" err="1">
                <a:solidFill>
                  <a:srgbClr val="FFFF00"/>
                </a:solidFill>
              </a:rPr>
              <a:t>toFixed</a:t>
            </a:r>
            <a:r>
              <a:rPr lang="ru-RU" altLang="ru-RU" sz="1600" dirty="0">
                <a:solidFill>
                  <a:srgbClr val="FFFF00"/>
                </a:solidFill>
              </a:rPr>
              <a:t>(n)</a:t>
            </a:r>
            <a:r>
              <a:rPr lang="ru-RU" altLang="ru-RU" sz="1600" dirty="0">
                <a:solidFill>
                  <a:srgbClr val="E2E3E7"/>
                </a:solidFill>
              </a:rPr>
              <a:t> </a:t>
            </a: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округляет число до 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n</a:t>
            </a: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 знаков после запятой и возвращает </a:t>
            </a:r>
            <a:r>
              <a:rPr lang="ru-RU" altLang="ru-RU" sz="1600" dirty="0">
                <a:solidFill>
                  <a:srgbClr val="E2E3E7"/>
                </a:solidFill>
              </a:rPr>
              <a:t>строковое представление результата.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da-DK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da-DK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num = </a:t>
            </a:r>
            <a:r>
              <a:rPr lang="da-DK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12.34</a:t>
            </a:r>
            <a:r>
              <a:rPr lang="da-DK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da-DK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da-DK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num.</a:t>
            </a:r>
            <a:r>
              <a:rPr lang="da-DK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toFixed</a:t>
            </a:r>
            <a:r>
              <a:rPr lang="da-DK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da-DK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da-DK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da-DK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"12.3"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Округляет значение до ближайшего числа, как в большую, так и в меньшую сторону, аналогично методу </a:t>
            </a:r>
            <a:r>
              <a:rPr lang="ru-RU" altLang="ru-RU" sz="1600" dirty="0" err="1">
                <a:solidFill>
                  <a:srgbClr val="FFFF00"/>
                </a:solidFill>
              </a:rPr>
              <a:t>Math.round</a:t>
            </a:r>
            <a:r>
              <a:rPr lang="ru-RU" altLang="ru-RU" sz="1600" dirty="0">
                <a:solidFill>
                  <a:srgbClr val="E2E3E7"/>
                </a:solidFill>
              </a:rPr>
              <a:t>:</a:t>
            </a:r>
            <a:r>
              <a:rPr lang="ru-RU" altLang="ru-RU" sz="800" dirty="0">
                <a:solidFill>
                  <a:schemeClr val="tx1"/>
                </a:solidFill>
              </a:rPr>
              <a:t> </a:t>
            </a:r>
            <a:endParaRPr lang="en-US" altLang="ru-RU" sz="8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da-DK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da-DK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num = </a:t>
            </a:r>
            <a:r>
              <a:rPr lang="da-DK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12.36</a:t>
            </a:r>
            <a:r>
              <a:rPr lang="da-DK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da-DK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da-DK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num.</a:t>
            </a:r>
            <a:r>
              <a:rPr lang="da-DK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toFixed</a:t>
            </a:r>
            <a:r>
              <a:rPr lang="da-DK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da-DK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da-DK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da-DK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"12.4" </a:t>
            </a:r>
          </a:p>
          <a:p>
            <a:pPr marL="0" indent="0" defTabSz="914400" eaLnBrk="0" fontAlgn="base" hangingPunct="0">
              <a:spcBef>
                <a:spcPts val="600"/>
              </a:spcBef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Обратите внимание, что результатом </a:t>
            </a:r>
            <a:r>
              <a:rPr lang="ru-RU" altLang="ru-RU" sz="1600" dirty="0" err="1">
                <a:solidFill>
                  <a:srgbClr val="FFFF00"/>
                </a:solidFill>
              </a:rPr>
              <a:t>toFixed</a:t>
            </a:r>
            <a:r>
              <a:rPr lang="ru-RU" altLang="ru-RU" sz="1600" dirty="0">
                <a:solidFill>
                  <a:srgbClr val="E2E3E7"/>
                </a:solidFill>
              </a:rPr>
              <a:t> является строка. Если десятичная часть короче, чем необходима, будут добавлены нули в конец строки:</a:t>
            </a:r>
            <a:r>
              <a:rPr lang="ru-RU" altLang="ru-RU" sz="800" dirty="0">
                <a:solidFill>
                  <a:schemeClr val="tx1"/>
                </a:solidFill>
              </a:rPr>
              <a:t> </a:t>
            </a:r>
            <a:endParaRPr lang="ru-RU" altLang="ru-RU" sz="1600" dirty="0">
              <a:solidFill>
                <a:srgbClr val="FFFF0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num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12.34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num.</a:t>
            </a: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toFixed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5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"12.34000", добавлены нули, чтобы получить 5 знаков после запятой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878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Методы примитивов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FFFF00"/>
                </a:solidFill>
              </a:rPr>
              <a:t>Проверка: </a:t>
            </a:r>
            <a:r>
              <a:rPr lang="en-US" altLang="ru-RU" sz="1600" b="1" dirty="0" err="1">
                <a:solidFill>
                  <a:srgbClr val="FFFF00"/>
                </a:solidFill>
              </a:rPr>
              <a:t>isFinite</a:t>
            </a:r>
            <a:r>
              <a:rPr lang="en-US" altLang="ru-RU" sz="1600" b="1" dirty="0">
                <a:solidFill>
                  <a:srgbClr val="FFFF00"/>
                </a:solidFill>
              </a:rPr>
              <a:t> </a:t>
            </a:r>
            <a:r>
              <a:rPr lang="ru-RU" altLang="ru-RU" sz="1600" b="1" dirty="0">
                <a:solidFill>
                  <a:srgbClr val="FFFF00"/>
                </a:solidFill>
              </a:rPr>
              <a:t>и </a:t>
            </a:r>
            <a:r>
              <a:rPr lang="en-US" altLang="ru-RU" sz="1600" b="1" dirty="0" err="1">
                <a:solidFill>
                  <a:srgbClr val="FFFF00"/>
                </a:solidFill>
              </a:rPr>
              <a:t>isNaN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Infinity</a:t>
            </a:r>
            <a:r>
              <a:rPr lang="ru-RU" altLang="ru-RU" sz="1400" dirty="0">
                <a:solidFill>
                  <a:srgbClr val="FFFF00"/>
                </a:solidFill>
              </a:rPr>
              <a:t> (и -</a:t>
            </a:r>
            <a:r>
              <a:rPr lang="ru-RU" altLang="ru-RU" sz="1400" dirty="0" err="1">
                <a:solidFill>
                  <a:srgbClr val="FFFF00"/>
                </a:solidFill>
              </a:rPr>
              <a:t>Infinity</a:t>
            </a:r>
            <a:r>
              <a:rPr lang="ru-RU" altLang="ru-RU" sz="1400" dirty="0">
                <a:solidFill>
                  <a:srgbClr val="FFFF00"/>
                </a:solidFill>
              </a:rPr>
              <a:t>) </a:t>
            </a:r>
            <a:r>
              <a:rPr lang="ru-RU" altLang="ru-RU" sz="1400" dirty="0">
                <a:solidFill>
                  <a:schemeClr val="tx1"/>
                </a:solidFill>
              </a:rPr>
              <a:t>— особенное численное значение, которое ведёт себя в точности как математическая бесконечность ∞.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NaN</a:t>
            </a:r>
            <a:r>
              <a:rPr lang="ru-RU" altLang="ru-RU" sz="1400" dirty="0">
                <a:solidFill>
                  <a:schemeClr val="tx1"/>
                </a:solidFill>
              </a:rPr>
              <a:t> представляет ошибку.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Эти числовые значения принадлежат типу </a:t>
            </a:r>
            <a:r>
              <a:rPr lang="ru-RU" altLang="ru-RU" sz="1400" dirty="0" err="1">
                <a:solidFill>
                  <a:srgbClr val="FFFF00"/>
                </a:solidFill>
              </a:rPr>
              <a:t>number</a:t>
            </a:r>
            <a:r>
              <a:rPr lang="ru-RU" altLang="ru-RU" sz="1400" dirty="0">
                <a:solidFill>
                  <a:schemeClr val="tx1"/>
                </a:solidFill>
              </a:rPr>
              <a:t>, но они не являются «обычными» числами, поэтому есть функции для их проверки: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isNaN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value</a:t>
            </a:r>
            <a:r>
              <a:rPr lang="ru-RU" altLang="ru-RU" sz="1400" dirty="0">
                <a:solidFill>
                  <a:srgbClr val="FFFF00"/>
                </a:solidFill>
              </a:rPr>
              <a:t>)</a:t>
            </a:r>
            <a:r>
              <a:rPr lang="ru-RU" altLang="ru-RU" sz="1400" dirty="0">
                <a:solidFill>
                  <a:schemeClr val="tx1"/>
                </a:solidFill>
              </a:rPr>
              <a:t> преобразует значение в число и проверяет является ли оно </a:t>
            </a:r>
            <a:r>
              <a:rPr lang="ru-RU" altLang="ru-RU" sz="1400" dirty="0" err="1">
                <a:solidFill>
                  <a:srgbClr val="FFFF00"/>
                </a:solidFill>
              </a:rPr>
              <a:t>NaN</a:t>
            </a:r>
            <a:r>
              <a:rPr lang="ru-RU" altLang="ru-RU" sz="1400" dirty="0">
                <a:solidFill>
                  <a:schemeClr val="tx1"/>
                </a:solidFill>
              </a:rPr>
              <a:t>: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isNaN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rgbClr val="C907B2"/>
                </a:solidFill>
                <a:latin typeface="Consolas" panose="020B0609020204030204" pitchFamily="49" charset="0"/>
              </a:rPr>
              <a:t>NaN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true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isNaN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"str"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true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isFinite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value</a:t>
            </a:r>
            <a:r>
              <a:rPr lang="ru-RU" altLang="ru-RU" sz="1400" dirty="0">
                <a:solidFill>
                  <a:srgbClr val="FFFF00"/>
                </a:solidFill>
              </a:rPr>
              <a:t>) </a:t>
            </a:r>
            <a:r>
              <a:rPr lang="ru-RU" altLang="ru-RU" sz="1400" dirty="0">
                <a:solidFill>
                  <a:schemeClr val="tx1"/>
                </a:solidFill>
              </a:rPr>
              <a:t>преобразует аргумент в число и возвращает </a:t>
            </a:r>
            <a:r>
              <a:rPr lang="ru-RU" altLang="ru-RU" sz="1400" dirty="0" err="1">
                <a:solidFill>
                  <a:schemeClr val="tx1"/>
                </a:solidFill>
              </a:rPr>
              <a:t>true</a:t>
            </a:r>
            <a:r>
              <a:rPr lang="ru-RU" altLang="ru-RU" sz="1400" dirty="0">
                <a:solidFill>
                  <a:schemeClr val="tx1"/>
                </a:solidFill>
              </a:rPr>
              <a:t>, если оно является обычным числом, т.е. не </a:t>
            </a:r>
            <a:r>
              <a:rPr lang="ru-RU" altLang="ru-RU" sz="1400" dirty="0" err="1">
                <a:solidFill>
                  <a:srgbClr val="FFFF00"/>
                </a:solidFill>
              </a:rPr>
              <a:t>NaN</a:t>
            </a:r>
            <a:r>
              <a:rPr lang="ru-RU" altLang="ru-RU" sz="1400" dirty="0">
                <a:solidFill>
                  <a:srgbClr val="FFFF00"/>
                </a:solidFill>
              </a:rPr>
              <a:t>/</a:t>
            </a:r>
            <a:r>
              <a:rPr lang="ru-RU" altLang="ru-RU" sz="1400" dirty="0" err="1">
                <a:solidFill>
                  <a:srgbClr val="FFFF00"/>
                </a:solidFill>
              </a:rPr>
              <a:t>Infinity</a:t>
            </a:r>
            <a:r>
              <a:rPr lang="ru-RU" altLang="ru-RU" sz="1400" dirty="0">
                <a:solidFill>
                  <a:srgbClr val="FFFF00"/>
                </a:solidFill>
              </a:rPr>
              <a:t>/-</a:t>
            </a:r>
            <a:r>
              <a:rPr lang="ru-RU" altLang="ru-RU" sz="1400" dirty="0" err="1">
                <a:solidFill>
                  <a:srgbClr val="FFFF00"/>
                </a:solidFill>
              </a:rPr>
              <a:t>Infinity</a:t>
            </a:r>
            <a:r>
              <a:rPr lang="ru-RU" altLang="ru-RU" sz="1400" dirty="0">
                <a:solidFill>
                  <a:srgbClr val="FFFF00"/>
                </a:solidFill>
              </a:rPr>
              <a:t>: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isFinite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"15"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true 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isFinite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"str"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false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Пустая строка интерпретируется как </a:t>
            </a:r>
            <a:r>
              <a:rPr lang="ru-RU" altLang="ru-RU" sz="1400" dirty="0">
                <a:solidFill>
                  <a:schemeClr val="tx1"/>
                </a:solidFill>
              </a:rPr>
              <a:t>0</a:t>
            </a:r>
            <a:r>
              <a:rPr lang="ru-RU" altLang="ru-RU" sz="1400" dirty="0">
                <a:solidFill>
                  <a:srgbClr val="E2E3E7"/>
                </a:solidFill>
              </a:rPr>
              <a:t> во всех числовых функциях, включая</a:t>
            </a:r>
            <a:r>
              <a:rPr lang="en-US" altLang="ru-RU" sz="1400" dirty="0">
                <a:solidFill>
                  <a:srgbClr val="E2E3E7"/>
                </a:solidFill>
              </a:rPr>
              <a:t> </a:t>
            </a:r>
            <a:r>
              <a:rPr lang="ru-RU" altLang="ru-RU" sz="1400" dirty="0" err="1">
                <a:solidFill>
                  <a:srgbClr val="FFFF00"/>
                </a:solidFill>
              </a:rPr>
              <a:t>isFinite</a:t>
            </a:r>
            <a:r>
              <a:rPr lang="ru-RU" altLang="ru-RU" sz="1400" dirty="0">
                <a:solidFill>
                  <a:srgbClr val="E2E3E7"/>
                </a:solidFill>
              </a:rPr>
              <a:t>.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Методы </a:t>
            </a:r>
            <a:r>
              <a:rPr lang="ru-RU" altLang="ru-RU" sz="1400" dirty="0" err="1">
                <a:solidFill>
                  <a:srgbClr val="FFFF00"/>
                </a:solidFill>
              </a:rPr>
              <a:t>Number.isNaN</a:t>
            </a:r>
            <a:r>
              <a:rPr lang="ru-RU" altLang="ru-RU" sz="1400" dirty="0">
                <a:solidFill>
                  <a:srgbClr val="FFFF00"/>
                </a:solidFill>
              </a:rPr>
              <a:t> </a:t>
            </a:r>
            <a:r>
              <a:rPr lang="ru-RU" altLang="ru-RU" sz="1400" dirty="0">
                <a:solidFill>
                  <a:srgbClr val="E2E3E7"/>
                </a:solidFill>
              </a:rPr>
              <a:t>и </a:t>
            </a:r>
            <a:r>
              <a:rPr lang="ru-RU" altLang="ru-RU" sz="1400" dirty="0" err="1">
                <a:solidFill>
                  <a:srgbClr val="FFFF00"/>
                </a:solidFill>
              </a:rPr>
              <a:t>Number.isFinite</a:t>
            </a:r>
            <a:r>
              <a:rPr lang="ru-RU" altLang="ru-RU" sz="1400" dirty="0">
                <a:solidFill>
                  <a:srgbClr val="FFFF00"/>
                </a:solidFill>
              </a:rPr>
              <a:t> </a:t>
            </a:r>
            <a:r>
              <a:rPr lang="ru-RU" altLang="ru-RU" sz="1400" dirty="0">
                <a:solidFill>
                  <a:srgbClr val="E2E3E7"/>
                </a:solidFill>
              </a:rPr>
              <a:t>– это более «строгие» версии функций </a:t>
            </a:r>
            <a:r>
              <a:rPr lang="ru-RU" altLang="ru-RU" sz="1400" dirty="0" err="1">
                <a:solidFill>
                  <a:srgbClr val="FFFF00"/>
                </a:solidFill>
              </a:rPr>
              <a:t>isNaN</a:t>
            </a:r>
            <a:r>
              <a:rPr lang="ru-RU" altLang="ru-RU" sz="1400" dirty="0">
                <a:solidFill>
                  <a:srgbClr val="E2E3E7"/>
                </a:solidFill>
              </a:rPr>
              <a:t> и </a:t>
            </a:r>
            <a:r>
              <a:rPr lang="ru-RU" altLang="ru-RU" sz="1400" dirty="0" err="1">
                <a:solidFill>
                  <a:srgbClr val="FFFF00"/>
                </a:solidFill>
              </a:rPr>
              <a:t>isFinite</a:t>
            </a:r>
            <a:r>
              <a:rPr lang="ru-RU" altLang="ru-RU" sz="1400" dirty="0">
                <a:solidFill>
                  <a:srgbClr val="E2E3E7"/>
                </a:solidFill>
              </a:rPr>
              <a:t>. Они не преобразуют аргумент в число, а наоборот – первым делом проверяют, является ли аргумент числом (принадлежит ли он к типу </a:t>
            </a:r>
            <a:r>
              <a:rPr lang="ru-RU" altLang="ru-RU" sz="1400" dirty="0" err="1">
                <a:solidFill>
                  <a:srgbClr val="FFFF00"/>
                </a:solidFill>
              </a:rPr>
              <a:t>number</a:t>
            </a:r>
            <a:r>
              <a:rPr lang="ru-RU" altLang="ru-RU" sz="1400" dirty="0">
                <a:solidFill>
                  <a:srgbClr val="E2E3E7"/>
                </a:solidFill>
              </a:rPr>
              <a:t>).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6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876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Методы примитивов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b="1" dirty="0">
                <a:solidFill>
                  <a:srgbClr val="FFFF00"/>
                </a:solidFill>
              </a:rPr>
              <a:t>Сравнение Object.is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Существует специальный метод </a:t>
            </a:r>
            <a:r>
              <a:rPr lang="ru-RU" altLang="ru-RU" sz="1400" dirty="0">
                <a:solidFill>
                  <a:srgbClr val="FFFF00"/>
                </a:solidFill>
              </a:rPr>
              <a:t>Object.is</a:t>
            </a:r>
            <a:r>
              <a:rPr lang="ru-RU" altLang="ru-RU" sz="1400" dirty="0">
                <a:solidFill>
                  <a:schemeClr val="tx1"/>
                </a:solidFill>
              </a:rPr>
              <a:t>, который сравнивает значения примерно как ===, но более надёжен в двух особых ситуациях: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Работает с </a:t>
            </a:r>
            <a:r>
              <a:rPr lang="ru-RU" altLang="ru-RU" sz="1400" dirty="0" err="1">
                <a:solidFill>
                  <a:schemeClr val="tx1"/>
                </a:solidFill>
              </a:rPr>
              <a:t>NaN</a:t>
            </a:r>
            <a:r>
              <a:rPr lang="ru-RU" altLang="ru-RU" sz="1400" dirty="0">
                <a:solidFill>
                  <a:schemeClr val="tx1"/>
                </a:solidFill>
              </a:rPr>
              <a:t>: Object.is(</a:t>
            </a:r>
            <a:r>
              <a:rPr lang="ru-RU" altLang="ru-RU" sz="1400" dirty="0" err="1">
                <a:solidFill>
                  <a:schemeClr val="tx1"/>
                </a:solidFill>
              </a:rPr>
              <a:t>NaN</a:t>
            </a:r>
            <a:r>
              <a:rPr lang="ru-RU" altLang="ru-RU" sz="1400" dirty="0">
                <a:solidFill>
                  <a:schemeClr val="tx1"/>
                </a:solidFill>
              </a:rPr>
              <a:t>, </a:t>
            </a:r>
            <a:r>
              <a:rPr lang="ru-RU" altLang="ru-RU" sz="1400" dirty="0" err="1">
                <a:solidFill>
                  <a:schemeClr val="tx1"/>
                </a:solidFill>
              </a:rPr>
              <a:t>NaN</a:t>
            </a:r>
            <a:r>
              <a:rPr lang="ru-RU" altLang="ru-RU" sz="1400" dirty="0">
                <a:solidFill>
                  <a:schemeClr val="tx1"/>
                </a:solidFill>
              </a:rPr>
              <a:t>) === </a:t>
            </a:r>
            <a:r>
              <a:rPr lang="ru-RU" altLang="ru-RU" sz="1400" dirty="0" err="1">
                <a:solidFill>
                  <a:schemeClr val="tx1"/>
                </a:solidFill>
              </a:rPr>
              <a:t>true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Значения 0 и -0 разные: Object.is(0, -0) === </a:t>
            </a:r>
            <a:r>
              <a:rPr lang="ru-RU" altLang="ru-RU" sz="1400" dirty="0" err="1">
                <a:solidFill>
                  <a:schemeClr val="tx1"/>
                </a:solidFill>
              </a:rPr>
              <a:t>false</a:t>
            </a:r>
            <a:r>
              <a:rPr lang="ru-RU" altLang="ru-RU" sz="1400" dirty="0">
                <a:solidFill>
                  <a:schemeClr val="tx1"/>
                </a:solidFill>
              </a:rPr>
              <a:t>, это редко используется, но технически эти значения разные.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Во всех других случаях Object.is(a, b) идентичен a === b.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3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Когда внутреннему алгоритму необходимо сравнить 2 значения на предмет точного совпадения, он использует </a:t>
            </a:r>
            <a:r>
              <a:rPr lang="ru-RU" altLang="ru-RU" sz="1400" dirty="0">
                <a:solidFill>
                  <a:srgbClr val="FFFF00"/>
                </a:solidFill>
              </a:rPr>
              <a:t>Object.is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rgbClr val="FFFF00"/>
                </a:solidFill>
              </a:rPr>
              <a:t>parseInt</a:t>
            </a:r>
            <a:r>
              <a:rPr lang="en-US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>
                <a:solidFill>
                  <a:srgbClr val="FFFF00"/>
                </a:solidFill>
              </a:rPr>
              <a:t>и </a:t>
            </a:r>
            <a:r>
              <a:rPr lang="en-US" altLang="ru-RU" sz="1400" dirty="0" err="1">
                <a:solidFill>
                  <a:srgbClr val="FFFF00"/>
                </a:solidFill>
              </a:rPr>
              <a:t>parseFloat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 реальной жизни часто сталкиваются со значениями у которых есть единица измерения, например "100px" или "12pt" в CSS. Также во множестве стран символ валюты записывается после номинала "19€".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parseInt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'100px'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); /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 100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parseFloat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'12.5em'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12.5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Функции </a:t>
            </a:r>
            <a:r>
              <a:rPr lang="ru-RU" altLang="ru-RU" sz="1400" dirty="0" err="1">
                <a:solidFill>
                  <a:schemeClr val="tx1"/>
                </a:solidFill>
              </a:rPr>
              <a:t>parseInt</a:t>
            </a:r>
            <a:r>
              <a:rPr lang="ru-RU" altLang="ru-RU" sz="1400" dirty="0">
                <a:solidFill>
                  <a:schemeClr val="tx1"/>
                </a:solidFill>
              </a:rPr>
              <a:t>/</a:t>
            </a:r>
            <a:r>
              <a:rPr lang="ru-RU" altLang="ru-RU" sz="1400" dirty="0" err="1">
                <a:solidFill>
                  <a:schemeClr val="tx1"/>
                </a:solidFill>
              </a:rPr>
              <a:t>parseFloat</a:t>
            </a:r>
            <a:r>
              <a:rPr lang="ru-RU" altLang="ru-RU" sz="1400" dirty="0">
                <a:solidFill>
                  <a:srgbClr val="E2E3E7"/>
                </a:solidFill>
              </a:rPr>
              <a:t> вернут </a:t>
            </a:r>
            <a:r>
              <a:rPr lang="ru-RU" altLang="ru-RU" sz="1400" dirty="0" err="1">
                <a:solidFill>
                  <a:schemeClr val="tx1"/>
                </a:solidFill>
              </a:rPr>
              <a:t>NaN</a:t>
            </a:r>
            <a:r>
              <a:rPr lang="ru-RU" altLang="ru-RU" sz="1400" dirty="0">
                <a:solidFill>
                  <a:srgbClr val="E2E3E7"/>
                </a:solidFill>
              </a:rPr>
              <a:t>, если не смогли прочитать ни одну цифру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parseInt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'a123'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NaN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FFFF00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FF7930D-B52C-420F-ADC8-E0BCCB80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2333"/>
            <a:ext cx="20550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0044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Методы примитивов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Другие математические функции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600" dirty="0"/>
              <a:t>В </a:t>
            </a:r>
            <a:r>
              <a:rPr lang="ru-RU" sz="1600" dirty="0" err="1"/>
              <a:t>JavaScript</a:t>
            </a:r>
            <a:r>
              <a:rPr lang="ru-RU" sz="1600" dirty="0"/>
              <a:t> встроен объект </a:t>
            </a:r>
            <a:r>
              <a:rPr lang="ru-RU" sz="1600" dirty="0" err="1">
                <a:solidFill>
                  <a:srgbClr val="FFFF00"/>
                </a:solidFill>
              </a:rPr>
              <a:t>Math</a:t>
            </a:r>
            <a:r>
              <a:rPr lang="ru-RU" sz="1600" dirty="0"/>
              <a:t>, который содержит различные математические функции и константы.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rgbClr val="FFFF00"/>
                </a:solidFill>
              </a:rPr>
              <a:t>Math.random</a:t>
            </a:r>
            <a:r>
              <a:rPr lang="ru-RU" altLang="ru-RU" sz="1600" dirty="0">
                <a:solidFill>
                  <a:srgbClr val="FFFF00"/>
                </a:solidFill>
              </a:rPr>
              <a:t>()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Возвращает псевдослучайное число в диапазоне от 0 (включительно) до 1 (но не включая 1)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Math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random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()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0.1234567894322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 err="1">
                <a:solidFill>
                  <a:srgbClr val="FFFF00"/>
                </a:solidFill>
              </a:rPr>
              <a:t>Math.max</a:t>
            </a:r>
            <a:r>
              <a:rPr lang="en-US" altLang="ru-RU" sz="1600" dirty="0">
                <a:solidFill>
                  <a:srgbClr val="FFFF00"/>
                </a:solidFill>
              </a:rPr>
              <a:t>(a, b, c...) / </a:t>
            </a:r>
            <a:r>
              <a:rPr lang="en-US" altLang="ru-RU" sz="1600" dirty="0" err="1">
                <a:solidFill>
                  <a:srgbClr val="FFFF00"/>
                </a:solidFill>
              </a:rPr>
              <a:t>Math.min</a:t>
            </a:r>
            <a:r>
              <a:rPr lang="en-US" altLang="ru-RU" sz="1600" dirty="0">
                <a:solidFill>
                  <a:srgbClr val="FFFF00"/>
                </a:solidFill>
              </a:rPr>
              <a:t>(a, b, c...)</a:t>
            </a:r>
            <a:endParaRPr lang="ru-RU" altLang="ru-RU" sz="16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Возвращает наибольшее/наименьшее число из перечисленных аргументов.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Math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max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3, 5, -10, 0, 1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5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Math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min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1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600" dirty="0" err="1">
                <a:solidFill>
                  <a:srgbClr val="FFFF00"/>
                </a:solidFill>
              </a:rPr>
              <a:t>Math.pow</a:t>
            </a:r>
            <a:r>
              <a:rPr lang="en-US" sz="1600" dirty="0">
                <a:solidFill>
                  <a:srgbClr val="FFFF00"/>
                </a:solidFill>
              </a:rPr>
              <a:t>(n, power)</a:t>
            </a:r>
            <a:endParaRPr lang="ru-RU" sz="16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Возвращает число </a:t>
            </a:r>
            <a:r>
              <a:rPr lang="ru-RU" altLang="ru-RU" sz="1600" dirty="0">
                <a:solidFill>
                  <a:srgbClr val="FFFF00"/>
                </a:solidFill>
              </a:rPr>
              <a:t>n</a:t>
            </a:r>
            <a:r>
              <a:rPr lang="ru-RU" altLang="ru-RU" sz="1600" dirty="0">
                <a:solidFill>
                  <a:schemeClr val="tx1"/>
                </a:solidFill>
              </a:rPr>
              <a:t>, возведённое в степень </a:t>
            </a:r>
            <a:r>
              <a:rPr lang="ru-RU" altLang="ru-RU" sz="1600" dirty="0" err="1">
                <a:solidFill>
                  <a:srgbClr val="FFFF00"/>
                </a:solidFill>
              </a:rPr>
              <a:t>power</a:t>
            </a:r>
            <a:endParaRPr lang="ru-RU" altLang="ru-RU" sz="16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Math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pow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2, 10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2 в степени 10 = 1024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FF7930D-B52C-420F-ADC8-E0BCCB80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2333"/>
            <a:ext cx="20550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9495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Методы примитивов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b="1" dirty="0">
                <a:solidFill>
                  <a:srgbClr val="FFFF00"/>
                </a:solidFill>
              </a:rPr>
              <a:t>Методы строк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Длина строки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`My\</a:t>
            </a:r>
            <a:r>
              <a:rPr lang="en-US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n`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length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3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Доступ к символам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str =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`Hello`;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первый символ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str[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H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str.</a:t>
            </a: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H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последний символ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str[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str.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length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- 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o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str.</a:t>
            </a: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-1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o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Также можно перебрать строку посимвольно, используя </a:t>
            </a:r>
            <a:r>
              <a:rPr lang="en-US" altLang="ru-RU" sz="1500" dirty="0" err="1">
                <a:solidFill>
                  <a:srgbClr val="FFFF00"/>
                </a:solidFill>
              </a:rPr>
              <a:t>for..of</a:t>
            </a:r>
            <a:r>
              <a:rPr lang="en-US" altLang="ru-RU" sz="1500" dirty="0">
                <a:solidFill>
                  <a:schemeClr val="tx1"/>
                </a:solidFill>
              </a:rPr>
              <a:t>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char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"Hello"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(char);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en-US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H,e,l,l,o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FF7930D-B52C-420F-ADC8-E0BCCB80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2333"/>
            <a:ext cx="20550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4519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Методы примитивов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b="1" dirty="0">
                <a:solidFill>
                  <a:srgbClr val="FFFF00"/>
                </a:solidFill>
              </a:rPr>
              <a:t>Методы строк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Изменение регистра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Методы </a:t>
            </a:r>
            <a:r>
              <a:rPr lang="ru-RU" sz="1400" dirty="0" err="1">
                <a:solidFill>
                  <a:srgbClr val="FFFF00"/>
                </a:solidFill>
              </a:rPr>
              <a:t>toLowerCase</a:t>
            </a:r>
            <a:r>
              <a:rPr lang="ru-RU" sz="1400" dirty="0">
                <a:solidFill>
                  <a:srgbClr val="FFFF00"/>
                </a:solidFill>
              </a:rPr>
              <a:t>() </a:t>
            </a:r>
            <a:r>
              <a:rPr lang="ru-RU" sz="1400" dirty="0"/>
              <a:t>и </a:t>
            </a:r>
            <a:r>
              <a:rPr lang="ru-RU" sz="1400" dirty="0" err="1">
                <a:solidFill>
                  <a:srgbClr val="FFFF00"/>
                </a:solidFill>
              </a:rPr>
              <a:t>toUpperCase</a:t>
            </a:r>
            <a:r>
              <a:rPr lang="ru-RU" sz="1400" dirty="0">
                <a:solidFill>
                  <a:srgbClr val="FFFF00"/>
                </a:solidFill>
              </a:rPr>
              <a:t>() </a:t>
            </a:r>
            <a:r>
              <a:rPr lang="ru-RU" sz="1400" dirty="0"/>
              <a:t>меняют регистр символов: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'Interface'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toUpperCase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INTERFACE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'Interface'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toLowerCase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interface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Поиск подстроки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rgbClr val="FFFF00"/>
                </a:solidFill>
              </a:rPr>
              <a:t>str.indexOf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Он ищет подстроку </a:t>
            </a:r>
            <a:r>
              <a:rPr lang="ru-RU" altLang="ru-RU" sz="1400" dirty="0" err="1">
                <a:solidFill>
                  <a:srgbClr val="FFFF00"/>
                </a:solidFill>
              </a:rPr>
              <a:t>substr</a:t>
            </a:r>
            <a:r>
              <a:rPr lang="ru-RU" altLang="ru-RU" sz="1400" dirty="0">
                <a:solidFill>
                  <a:schemeClr val="tx1"/>
                </a:solidFill>
              </a:rPr>
              <a:t> в строке </a:t>
            </a:r>
            <a:r>
              <a:rPr lang="ru-RU" altLang="ru-RU" sz="1400" dirty="0" err="1">
                <a:solidFill>
                  <a:srgbClr val="FFFF00"/>
                </a:solidFill>
              </a:rPr>
              <a:t>str</a:t>
            </a:r>
            <a:r>
              <a:rPr lang="ru-RU" altLang="ru-RU" sz="1400" dirty="0">
                <a:solidFill>
                  <a:schemeClr val="tx1"/>
                </a:solidFill>
              </a:rPr>
              <a:t>, начиная с позиции </a:t>
            </a:r>
            <a:r>
              <a:rPr lang="ru-RU" altLang="ru-RU" sz="1400" dirty="0" err="1">
                <a:solidFill>
                  <a:srgbClr val="FFFF00"/>
                </a:solidFill>
              </a:rPr>
              <a:t>pos</a:t>
            </a:r>
            <a:r>
              <a:rPr lang="ru-RU" altLang="ru-RU" sz="1400" dirty="0">
                <a:solidFill>
                  <a:schemeClr val="tx1"/>
                </a:solidFill>
              </a:rPr>
              <a:t>, и возвращает позицию, на которой располагается совпадение, либо </a:t>
            </a:r>
            <a:r>
              <a:rPr lang="ru-RU" altLang="ru-RU" sz="1400" dirty="0">
                <a:solidFill>
                  <a:srgbClr val="FFFF00"/>
                </a:solidFill>
              </a:rPr>
              <a:t>-1</a:t>
            </a:r>
            <a:r>
              <a:rPr lang="ru-RU" altLang="ru-RU" sz="1400" dirty="0">
                <a:solidFill>
                  <a:schemeClr val="tx1"/>
                </a:solidFill>
              </a:rPr>
              <a:t> при отсутствии совпадений. 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str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'Widget with id'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str.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indexOf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'Widget'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0, 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str.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indexOf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'widget'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-1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/>
              <a:t>Необязательный второй аргумент позволяет начать поиск с определённой позиции.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str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'Widget with id'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str.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indexOf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'id'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)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12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FF7930D-B52C-420F-ADC8-E0BCCB80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2333"/>
            <a:ext cx="20550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9880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Методы примитивов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b="1" dirty="0">
                <a:solidFill>
                  <a:srgbClr val="FFFF00"/>
                </a:solidFill>
              </a:rPr>
              <a:t>Методы строк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str.lastIndexOf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substr</a:t>
            </a:r>
            <a:r>
              <a:rPr lang="ru-RU" altLang="ru-RU" sz="1500" dirty="0">
                <a:solidFill>
                  <a:srgbClr val="FFFF00"/>
                </a:solidFill>
              </a:rPr>
              <a:t>, </a:t>
            </a:r>
            <a:r>
              <a:rPr lang="ru-RU" altLang="ru-RU" sz="1500" dirty="0" err="1">
                <a:solidFill>
                  <a:srgbClr val="FFFF00"/>
                </a:solidFill>
              </a:rPr>
              <a:t>position</a:t>
            </a:r>
            <a:r>
              <a:rPr lang="ru-RU" altLang="ru-RU" sz="1500" dirty="0">
                <a:solidFill>
                  <a:srgbClr val="FFFF00"/>
                </a:solidFill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</a:rPr>
              <a:t>Также есть похожий метод </a:t>
            </a:r>
            <a:r>
              <a:rPr lang="ru-RU" altLang="ru-RU" sz="1500" dirty="0" err="1">
                <a:solidFill>
                  <a:srgbClr val="FFFF00"/>
                </a:solidFill>
              </a:rPr>
              <a:t>str.lastIndexOf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substr</a:t>
            </a:r>
            <a:r>
              <a:rPr lang="ru-RU" altLang="ru-RU" sz="1500" dirty="0">
                <a:solidFill>
                  <a:srgbClr val="FFFF00"/>
                </a:solidFill>
              </a:rPr>
              <a:t>, </a:t>
            </a:r>
            <a:r>
              <a:rPr lang="ru-RU" altLang="ru-RU" sz="1500" dirty="0" err="1">
                <a:solidFill>
                  <a:srgbClr val="FFFF00"/>
                </a:solidFill>
              </a:rPr>
              <a:t>position</a:t>
            </a:r>
            <a:r>
              <a:rPr lang="ru-RU" altLang="ru-RU" sz="1500" dirty="0">
                <a:solidFill>
                  <a:srgbClr val="FFFF00"/>
                </a:solidFill>
              </a:rPr>
              <a:t>)</a:t>
            </a:r>
            <a:r>
              <a:rPr lang="ru-RU" altLang="ru-RU" sz="1500" dirty="0">
                <a:solidFill>
                  <a:srgbClr val="E2E3E7"/>
                </a:solidFill>
              </a:rPr>
              <a:t>, который ищет с конца строки к её началу.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FFFF00"/>
                </a:solidFill>
              </a:rPr>
              <a:t>includes, </a:t>
            </a:r>
            <a:r>
              <a:rPr lang="en-US" altLang="ru-RU" sz="1500" dirty="0" err="1">
                <a:solidFill>
                  <a:srgbClr val="FFFF00"/>
                </a:solidFill>
              </a:rPr>
              <a:t>startsWith</a:t>
            </a:r>
            <a:r>
              <a:rPr lang="en-US" altLang="ru-RU" sz="1500" dirty="0">
                <a:solidFill>
                  <a:srgbClr val="FFFF00"/>
                </a:solidFill>
              </a:rPr>
              <a:t>, </a:t>
            </a:r>
            <a:r>
              <a:rPr lang="en-US" altLang="ru-RU" sz="1500" dirty="0" err="1">
                <a:solidFill>
                  <a:srgbClr val="FFFF00"/>
                </a:solidFill>
              </a:rPr>
              <a:t>endsWith</a:t>
            </a:r>
            <a:endParaRPr lang="ru-RU" altLang="ru-RU" sz="1500" dirty="0">
              <a:solidFill>
                <a:srgbClr val="FFFF0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</a:rPr>
              <a:t>Более современный метод </a:t>
            </a:r>
            <a:r>
              <a:rPr lang="ru-RU" altLang="ru-RU" sz="1500" dirty="0" err="1">
                <a:solidFill>
                  <a:srgbClr val="FFFF00"/>
                </a:solidFill>
              </a:rPr>
              <a:t>str.includes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substr</a:t>
            </a:r>
            <a:r>
              <a:rPr lang="ru-RU" altLang="ru-RU" sz="1500" dirty="0">
                <a:solidFill>
                  <a:srgbClr val="FFFF00"/>
                </a:solidFill>
              </a:rPr>
              <a:t>, </a:t>
            </a:r>
            <a:r>
              <a:rPr lang="ru-RU" altLang="ru-RU" sz="1500" dirty="0" err="1">
                <a:solidFill>
                  <a:srgbClr val="FFFF00"/>
                </a:solidFill>
              </a:rPr>
              <a:t>pos</a:t>
            </a:r>
            <a:r>
              <a:rPr lang="ru-RU" altLang="ru-RU" sz="1500" dirty="0">
                <a:solidFill>
                  <a:srgbClr val="FFFF00"/>
                </a:solidFill>
              </a:rPr>
              <a:t>) </a:t>
            </a:r>
            <a:r>
              <a:rPr lang="ru-RU" altLang="ru-RU" sz="1500" dirty="0">
                <a:solidFill>
                  <a:srgbClr val="E2E3E7"/>
                </a:solidFill>
              </a:rPr>
              <a:t>возвращает </a:t>
            </a:r>
            <a:r>
              <a:rPr lang="ru-RU" altLang="ru-RU" sz="1500" dirty="0" err="1">
                <a:solidFill>
                  <a:srgbClr val="FFFF00"/>
                </a:solidFill>
              </a:rPr>
              <a:t>true</a:t>
            </a:r>
            <a:r>
              <a:rPr lang="ru-RU" altLang="ru-RU" sz="1500" dirty="0">
                <a:solidFill>
                  <a:srgbClr val="E2E3E7"/>
                </a:solidFill>
              </a:rPr>
              <a:t>, если в строке </a:t>
            </a:r>
            <a:r>
              <a:rPr lang="ru-RU" altLang="ru-RU" sz="1500" dirty="0" err="1">
                <a:solidFill>
                  <a:srgbClr val="FFFF00"/>
                </a:solidFill>
              </a:rPr>
              <a:t>str</a:t>
            </a:r>
            <a:r>
              <a:rPr lang="ru-RU" altLang="ru-RU" sz="1500" dirty="0">
                <a:solidFill>
                  <a:srgbClr val="E2E3E7"/>
                </a:solidFill>
              </a:rPr>
              <a:t> есть подстрока </a:t>
            </a:r>
            <a:r>
              <a:rPr lang="ru-RU" altLang="ru-RU" sz="1500" dirty="0" err="1">
                <a:solidFill>
                  <a:srgbClr val="FFFF00"/>
                </a:solidFill>
              </a:rPr>
              <a:t>substr</a:t>
            </a:r>
            <a:r>
              <a:rPr lang="ru-RU" altLang="ru-RU" sz="1500" dirty="0">
                <a:solidFill>
                  <a:srgbClr val="E2E3E7"/>
                </a:solidFill>
              </a:rPr>
              <a:t>, либо </a:t>
            </a:r>
            <a:r>
              <a:rPr lang="ru-RU" altLang="ru-RU" sz="1500" dirty="0" err="1">
                <a:solidFill>
                  <a:srgbClr val="FFFF00"/>
                </a:solidFill>
              </a:rPr>
              <a:t>false</a:t>
            </a:r>
            <a:r>
              <a:rPr lang="ru-RU" altLang="ru-RU" sz="1500" dirty="0">
                <a:solidFill>
                  <a:srgbClr val="E2E3E7"/>
                </a:solidFill>
              </a:rPr>
              <a:t>, если нет.</a:t>
            </a:r>
            <a:r>
              <a:rPr lang="ru-RU" altLang="ru-RU" sz="1500" dirty="0">
                <a:solidFill>
                  <a:schemeClr val="tx1"/>
                </a:solidFill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"Widget with </a:t>
            </a:r>
            <a:r>
              <a:rPr lang="en-US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id".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includes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"Widget"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true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en-US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Hello".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includes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"Bye"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false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Методы </a:t>
            </a:r>
            <a:r>
              <a:rPr lang="ru-RU" altLang="ru-RU" sz="1500" dirty="0" err="1">
                <a:solidFill>
                  <a:srgbClr val="FFFF00"/>
                </a:solidFill>
              </a:rPr>
              <a:t>str.startsWith</a:t>
            </a:r>
            <a:r>
              <a:rPr lang="ru-RU" altLang="ru-RU" sz="1500" dirty="0">
                <a:solidFill>
                  <a:srgbClr val="FFFF00"/>
                </a:solidFill>
              </a:rPr>
              <a:t> </a:t>
            </a:r>
            <a:r>
              <a:rPr lang="ru-RU" altLang="ru-RU" sz="1500" dirty="0">
                <a:solidFill>
                  <a:schemeClr val="tx1"/>
                </a:solidFill>
              </a:rPr>
              <a:t>и </a:t>
            </a:r>
            <a:r>
              <a:rPr lang="ru-RU" altLang="ru-RU" sz="1500" dirty="0" err="1">
                <a:solidFill>
                  <a:srgbClr val="FFFF00"/>
                </a:solidFill>
              </a:rPr>
              <a:t>str.endsWith</a:t>
            </a:r>
            <a:r>
              <a:rPr lang="ru-RU" altLang="ru-RU" sz="1500" dirty="0">
                <a:solidFill>
                  <a:srgbClr val="FFFF00"/>
                </a:solidFill>
              </a:rPr>
              <a:t> </a:t>
            </a:r>
            <a:r>
              <a:rPr lang="ru-RU" altLang="ru-RU" sz="1500" dirty="0">
                <a:solidFill>
                  <a:schemeClr val="tx1"/>
                </a:solidFill>
              </a:rPr>
              <a:t>проверяют, соответственно, начинается ли и заканчивается ли строка определённой строкой: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"Widget"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startsWith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en-US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Wid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true, "</a:t>
            </a:r>
            <a:r>
              <a:rPr lang="en-US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Wid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 —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начало "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Widget"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"Widget"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endsWith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"get"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true, "get" —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окончание "</a:t>
            </a:r>
            <a:r>
              <a:rPr lang="en-US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Widg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et"</a:t>
            </a:r>
            <a:endParaRPr lang="ru-RU" altLang="ru-RU" sz="1500" b="1" dirty="0">
              <a:solidFill>
                <a:srgbClr val="FFFF00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FF7930D-B52C-420F-ADC8-E0BCCB80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2333"/>
            <a:ext cx="20550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864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Методы примитивов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b="1" dirty="0">
                <a:solidFill>
                  <a:srgbClr val="FFFF00"/>
                </a:solidFill>
              </a:rPr>
              <a:t>Методы строк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Получение подстроки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 </a:t>
            </a:r>
            <a:r>
              <a:rPr lang="ru-RU" altLang="ru-RU" sz="1400" dirty="0" err="1">
                <a:solidFill>
                  <a:schemeClr val="tx1"/>
                </a:solidFill>
              </a:rPr>
              <a:t>JavaScript</a:t>
            </a:r>
            <a:r>
              <a:rPr lang="ru-RU" altLang="ru-RU" sz="1400" dirty="0">
                <a:solidFill>
                  <a:schemeClr val="tx1"/>
                </a:solidFill>
              </a:rPr>
              <a:t> есть 3 метода для получения подстроки: </a:t>
            </a:r>
            <a:r>
              <a:rPr lang="ru-RU" altLang="ru-RU" sz="1400" dirty="0" err="1">
                <a:solidFill>
                  <a:srgbClr val="FFFF00"/>
                </a:solidFill>
              </a:rPr>
              <a:t>substring</a:t>
            </a:r>
            <a:r>
              <a:rPr lang="ru-RU" altLang="ru-RU" sz="1400" dirty="0">
                <a:solidFill>
                  <a:srgbClr val="FFFF00"/>
                </a:solidFill>
              </a:rPr>
              <a:t>, </a:t>
            </a:r>
            <a:r>
              <a:rPr lang="ru-RU" altLang="ru-RU" sz="1400" dirty="0" err="1">
                <a:solidFill>
                  <a:srgbClr val="FFFF00"/>
                </a:solidFill>
              </a:rPr>
              <a:t>substr</a:t>
            </a:r>
            <a:r>
              <a:rPr lang="ru-RU" altLang="ru-RU" sz="1400" dirty="0">
                <a:solidFill>
                  <a:srgbClr val="FFFF00"/>
                </a:solidFill>
              </a:rPr>
              <a:t> и </a:t>
            </a:r>
            <a:r>
              <a:rPr lang="ru-RU" altLang="ru-RU" sz="1400" dirty="0" err="1">
                <a:solidFill>
                  <a:srgbClr val="FFFF00"/>
                </a:solidFill>
              </a:rPr>
              <a:t>slice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str.slice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start</a:t>
            </a:r>
            <a:r>
              <a:rPr lang="ru-RU" altLang="ru-RU" sz="1400" dirty="0">
                <a:solidFill>
                  <a:srgbClr val="FFFF00"/>
                </a:solidFill>
              </a:rPr>
              <a:t> [, </a:t>
            </a:r>
            <a:r>
              <a:rPr lang="ru-RU" altLang="ru-RU" sz="1400" dirty="0" err="1">
                <a:solidFill>
                  <a:srgbClr val="FFFF00"/>
                </a:solidFill>
              </a:rPr>
              <a:t>end</a:t>
            </a:r>
            <a:r>
              <a:rPr lang="ru-RU" altLang="ru-RU" sz="1400" dirty="0">
                <a:solidFill>
                  <a:srgbClr val="FFFF00"/>
                </a:solidFill>
              </a:rPr>
              <a:t>])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Возвращает часть строки от </a:t>
            </a:r>
            <a:r>
              <a:rPr lang="ru-RU" altLang="ru-RU" sz="1400" dirty="0" err="1">
                <a:solidFill>
                  <a:schemeClr val="tx1"/>
                </a:solidFill>
              </a:rPr>
              <a:t>start</a:t>
            </a:r>
            <a:r>
              <a:rPr lang="ru-RU" altLang="ru-RU" sz="1400" dirty="0">
                <a:solidFill>
                  <a:schemeClr val="tx1"/>
                </a:solidFill>
              </a:rPr>
              <a:t> до (не включая) </a:t>
            </a:r>
            <a:r>
              <a:rPr lang="ru-RU" altLang="ru-RU" sz="1400" dirty="0" err="1">
                <a:solidFill>
                  <a:schemeClr val="tx1"/>
                </a:solidFill>
              </a:rPr>
              <a:t>end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str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stringify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// '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strin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', символы от 0 до 5 (не включая 5)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str.</a:t>
            </a: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slice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ru-RU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 5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's', от 0 до 1, не включая 1, т. е. только один символ на позиции 0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str.</a:t>
            </a: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slice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ru-RU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 1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);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Если аргумент </a:t>
            </a:r>
            <a:r>
              <a:rPr lang="ru-RU" altLang="ru-RU" sz="1400" dirty="0" err="1">
                <a:solidFill>
                  <a:schemeClr val="tx1"/>
                </a:solidFill>
              </a:rPr>
              <a:t>end</a:t>
            </a:r>
            <a:r>
              <a:rPr lang="ru-RU" altLang="ru-RU" sz="1400" dirty="0">
                <a:solidFill>
                  <a:srgbClr val="E2E3E7"/>
                </a:solidFill>
              </a:rPr>
              <a:t> отсутствует, </a:t>
            </a:r>
            <a:r>
              <a:rPr lang="ru-RU" altLang="ru-RU" sz="1400" dirty="0" err="1">
                <a:solidFill>
                  <a:schemeClr val="tx1"/>
                </a:solidFill>
              </a:rPr>
              <a:t>slice</a:t>
            </a:r>
            <a:r>
              <a:rPr lang="ru-RU" altLang="ru-RU" sz="1400" dirty="0">
                <a:solidFill>
                  <a:srgbClr val="E2E3E7"/>
                </a:solidFill>
              </a:rPr>
              <a:t> возвращает символы до конца строки: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str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stringify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str.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slice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ringify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,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с позиции 2 и до конца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str.substring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start</a:t>
            </a:r>
            <a:r>
              <a:rPr lang="ru-RU" altLang="ru-RU" sz="1400" dirty="0">
                <a:solidFill>
                  <a:srgbClr val="FFFF00"/>
                </a:solidFill>
              </a:rPr>
              <a:t> [, </a:t>
            </a:r>
            <a:r>
              <a:rPr lang="ru-RU" altLang="ru-RU" sz="1400" dirty="0" err="1">
                <a:solidFill>
                  <a:srgbClr val="FFFF00"/>
                </a:solidFill>
              </a:rPr>
              <a:t>end</a:t>
            </a:r>
            <a:r>
              <a:rPr lang="ru-RU" altLang="ru-RU" sz="1400" dirty="0">
                <a:solidFill>
                  <a:srgbClr val="FFFF00"/>
                </a:solidFill>
              </a:rPr>
              <a:t>])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Возвращает часть строки между </a:t>
            </a:r>
            <a:r>
              <a:rPr lang="ru-RU" altLang="ru-RU" sz="1400" dirty="0" err="1">
                <a:solidFill>
                  <a:schemeClr val="tx1"/>
                </a:solidFill>
              </a:rPr>
              <a:t>start</a:t>
            </a:r>
            <a:r>
              <a:rPr lang="ru-RU" altLang="ru-RU" sz="1400" dirty="0">
                <a:solidFill>
                  <a:schemeClr val="tx1"/>
                </a:solidFill>
              </a:rPr>
              <a:t> и </a:t>
            </a:r>
            <a:r>
              <a:rPr lang="ru-RU" altLang="ru-RU" sz="1400" dirty="0" err="1">
                <a:solidFill>
                  <a:schemeClr val="tx1"/>
                </a:solidFill>
              </a:rPr>
              <a:t>end</a:t>
            </a:r>
            <a:r>
              <a:rPr lang="ru-RU" altLang="ru-RU" sz="1400" dirty="0">
                <a:solidFill>
                  <a:schemeClr val="tx1"/>
                </a:solidFill>
              </a:rPr>
              <a:t> (не включая) </a:t>
            </a:r>
            <a:r>
              <a:rPr lang="ru-RU" altLang="ru-RU" sz="1400" dirty="0" err="1">
                <a:solidFill>
                  <a:schemeClr val="tx1"/>
                </a:solidFill>
              </a:rPr>
              <a:t>end</a:t>
            </a:r>
            <a:r>
              <a:rPr lang="ru-RU" altLang="ru-RU" sz="1400" dirty="0">
                <a:solidFill>
                  <a:schemeClr val="tx1"/>
                </a:solidFill>
              </a:rPr>
              <a:t>. </a:t>
            </a:r>
            <a:r>
              <a:rPr lang="ru-RU" altLang="ru-RU" sz="1400" dirty="0">
                <a:solidFill>
                  <a:srgbClr val="E2E3E7"/>
                </a:solidFill>
              </a:rPr>
              <a:t>Это — почти то же, что и </a:t>
            </a:r>
            <a:r>
              <a:rPr lang="ru-RU" altLang="ru-RU" sz="1400" dirty="0" err="1">
                <a:solidFill>
                  <a:schemeClr val="tx1"/>
                </a:solidFill>
              </a:rPr>
              <a:t>slice</a:t>
            </a:r>
            <a:r>
              <a:rPr lang="ru-RU" altLang="ru-RU" sz="1400" dirty="0">
                <a:solidFill>
                  <a:srgbClr val="E2E3E7"/>
                </a:solidFill>
              </a:rPr>
              <a:t>, но можно задавать </a:t>
            </a:r>
            <a:r>
              <a:rPr lang="ru-RU" altLang="ru-RU" sz="1400" dirty="0" err="1">
                <a:solidFill>
                  <a:schemeClr val="tx1"/>
                </a:solidFill>
              </a:rPr>
              <a:t>start</a:t>
            </a:r>
            <a:r>
              <a:rPr lang="ru-RU" altLang="ru-RU" sz="1400" dirty="0">
                <a:solidFill>
                  <a:srgbClr val="E2E3E7"/>
                </a:solidFill>
              </a:rPr>
              <a:t> больше </a:t>
            </a:r>
            <a:r>
              <a:rPr lang="ru-RU" altLang="ru-RU" sz="1400" dirty="0" err="1">
                <a:solidFill>
                  <a:schemeClr val="tx1"/>
                </a:solidFill>
              </a:rPr>
              <a:t>end</a:t>
            </a:r>
            <a:r>
              <a:rPr lang="ru-RU" altLang="ru-RU" sz="1400" dirty="0">
                <a:solidFill>
                  <a:srgbClr val="E2E3E7"/>
                </a:solidFill>
              </a:rPr>
              <a:t>.</a:t>
            </a:r>
            <a:r>
              <a:rPr lang="ru-RU" altLang="ru-RU" sz="700" dirty="0">
                <a:solidFill>
                  <a:schemeClr val="tx1"/>
                </a:solidFill>
              </a:rPr>
              <a:t>  </a:t>
            </a:r>
            <a:r>
              <a:rPr lang="ru-RU" altLang="ru-RU" sz="1400" dirty="0">
                <a:solidFill>
                  <a:srgbClr val="E2E3E7"/>
                </a:solidFill>
              </a:rPr>
              <a:t>Отрицательные значения </a:t>
            </a:r>
            <a:r>
              <a:rPr lang="ru-RU" altLang="ru-RU" sz="1400" dirty="0" err="1">
                <a:solidFill>
                  <a:schemeClr val="tx1"/>
                </a:solidFill>
              </a:rPr>
              <a:t>substring</a:t>
            </a:r>
            <a:r>
              <a:rPr lang="ru-RU" altLang="ru-RU" sz="1400" dirty="0">
                <a:solidFill>
                  <a:srgbClr val="E2E3E7"/>
                </a:solidFill>
              </a:rPr>
              <a:t>, в отличие от </a:t>
            </a:r>
            <a:r>
              <a:rPr lang="ru-RU" altLang="ru-RU" sz="1400" dirty="0" err="1">
                <a:solidFill>
                  <a:schemeClr val="tx1"/>
                </a:solidFill>
              </a:rPr>
              <a:t>slice</a:t>
            </a:r>
            <a:r>
              <a:rPr lang="ru-RU" altLang="ru-RU" sz="1400" dirty="0">
                <a:solidFill>
                  <a:srgbClr val="E2E3E7"/>
                </a:solidFill>
              </a:rPr>
              <a:t>, не поддерживает, они интерпретируются как </a:t>
            </a:r>
            <a:r>
              <a:rPr lang="ru-RU" altLang="ru-RU" sz="1400" dirty="0">
                <a:solidFill>
                  <a:schemeClr val="tx1"/>
                </a:solidFill>
              </a:rPr>
              <a:t>0</a:t>
            </a:r>
            <a:r>
              <a:rPr lang="ru-RU" altLang="ru-RU" sz="700" dirty="0">
                <a:solidFill>
                  <a:schemeClr val="tx1"/>
                </a:solidFill>
              </a:rPr>
              <a:t> </a:t>
            </a:r>
            <a:endParaRPr lang="ru-RU" altLang="ru-RU" sz="20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FF7930D-B52C-420F-ADC8-E0BCCB80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2333"/>
            <a:ext cx="20550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9018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Методы примитивов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b="1" dirty="0">
                <a:solidFill>
                  <a:srgbClr val="FFFF00"/>
                </a:solidFill>
              </a:rPr>
              <a:t>Методы строк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rgbClr val="FFFF00"/>
                </a:solidFill>
              </a:rPr>
              <a:t>str.substr</a:t>
            </a:r>
            <a:r>
              <a:rPr lang="en-US" altLang="ru-RU" sz="1400" dirty="0">
                <a:solidFill>
                  <a:srgbClr val="FFFF00"/>
                </a:solidFill>
              </a:rPr>
              <a:t>(start [, length])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Возвращает часть строки от </a:t>
            </a:r>
            <a:r>
              <a:rPr lang="ru-RU" altLang="ru-RU" sz="1400" dirty="0" err="1">
                <a:solidFill>
                  <a:srgbClr val="FFFF00"/>
                </a:solidFill>
              </a:rPr>
              <a:t>start</a:t>
            </a:r>
            <a:r>
              <a:rPr lang="ru-RU" altLang="ru-RU" sz="1400" dirty="0">
                <a:solidFill>
                  <a:schemeClr val="tx1"/>
                </a:solidFill>
              </a:rPr>
              <a:t> длины </a:t>
            </a:r>
            <a:r>
              <a:rPr lang="ru-RU" altLang="ru-RU" sz="1400" dirty="0" err="1">
                <a:solidFill>
                  <a:srgbClr val="FFFF00"/>
                </a:solidFill>
              </a:rPr>
              <a:t>length</a:t>
            </a:r>
            <a:r>
              <a:rPr lang="ru-RU" altLang="ru-RU" sz="1400" dirty="0">
                <a:solidFill>
                  <a:schemeClr val="tx1"/>
                </a:solidFill>
              </a:rPr>
              <a:t>. 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str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stringify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ring,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получаем 4 символа, начиная с позиции 2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str.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substr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2, 4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);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Значение первого аргумента может быть отрицательным, тогда позиция определяется с конца: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str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stringify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str.</a:t>
            </a: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substr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-4, 2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);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// 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gi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,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Правильное сравнение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Вызов </a:t>
            </a:r>
            <a:r>
              <a:rPr lang="ru-RU" altLang="ru-RU" sz="1400" dirty="0" err="1">
                <a:solidFill>
                  <a:srgbClr val="FFFF00"/>
                </a:solidFill>
              </a:rPr>
              <a:t>str.localeCompare</a:t>
            </a:r>
            <a:r>
              <a:rPr lang="ru-RU" altLang="ru-RU" sz="1400" dirty="0">
                <a:solidFill>
                  <a:srgbClr val="FFFF00"/>
                </a:solidFill>
              </a:rPr>
              <a:t>(str2) </a:t>
            </a:r>
            <a:r>
              <a:rPr lang="ru-RU" altLang="ru-RU" sz="1400" dirty="0">
                <a:solidFill>
                  <a:schemeClr val="tx1"/>
                </a:solidFill>
              </a:rPr>
              <a:t>возвращает число, которое показывает, какая строка больше в соответствии с правилами языка: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Отрицательное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  <a:r>
              <a:rPr lang="ru-RU" altLang="ru-RU" sz="1400" dirty="0">
                <a:solidFill>
                  <a:srgbClr val="FFFF00"/>
                </a:solidFill>
              </a:rPr>
              <a:t>число</a:t>
            </a:r>
            <a:r>
              <a:rPr lang="ru-RU" altLang="ru-RU" sz="1400" dirty="0">
                <a:solidFill>
                  <a:schemeClr val="tx1"/>
                </a:solidFill>
              </a:rPr>
              <a:t>, если </a:t>
            </a:r>
            <a:r>
              <a:rPr lang="ru-RU" altLang="ru-RU" sz="1400" dirty="0" err="1">
                <a:solidFill>
                  <a:srgbClr val="FFFF00"/>
                </a:solidFill>
              </a:rPr>
              <a:t>str</a:t>
            </a:r>
            <a:r>
              <a:rPr lang="ru-RU" altLang="ru-RU" sz="1400" dirty="0">
                <a:solidFill>
                  <a:schemeClr val="tx1"/>
                </a:solidFill>
              </a:rPr>
              <a:t> меньше </a:t>
            </a:r>
            <a:r>
              <a:rPr lang="ru-RU" altLang="ru-RU" sz="1400" dirty="0">
                <a:solidFill>
                  <a:srgbClr val="FFFF00"/>
                </a:solidFill>
              </a:rPr>
              <a:t>str2</a:t>
            </a:r>
            <a:r>
              <a:rPr lang="ru-RU" altLang="ru-RU" sz="1400" dirty="0">
                <a:solidFill>
                  <a:schemeClr val="tx1"/>
                </a:solidFill>
              </a:rPr>
              <a:t>, </a:t>
            </a:r>
            <a:r>
              <a:rPr lang="ru-RU" altLang="ru-RU" sz="1400" dirty="0">
                <a:solidFill>
                  <a:srgbClr val="FFFF00"/>
                </a:solidFill>
              </a:rPr>
              <a:t>положительное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  <a:r>
              <a:rPr lang="ru-RU" altLang="ru-RU" sz="1400" dirty="0">
                <a:solidFill>
                  <a:srgbClr val="FFFF00"/>
                </a:solidFill>
              </a:rPr>
              <a:t>число</a:t>
            </a:r>
            <a:r>
              <a:rPr lang="ru-RU" altLang="ru-RU" sz="1400" dirty="0">
                <a:solidFill>
                  <a:schemeClr val="tx1"/>
                </a:solidFill>
              </a:rPr>
              <a:t>, если </a:t>
            </a:r>
            <a:r>
              <a:rPr lang="ru-RU" altLang="ru-RU" sz="1400" dirty="0" err="1">
                <a:solidFill>
                  <a:srgbClr val="FFFF00"/>
                </a:solidFill>
              </a:rPr>
              <a:t>str</a:t>
            </a:r>
            <a:r>
              <a:rPr lang="ru-RU" altLang="ru-RU" sz="1400" dirty="0">
                <a:solidFill>
                  <a:schemeClr val="tx1"/>
                </a:solidFill>
              </a:rPr>
              <a:t> больше </a:t>
            </a:r>
            <a:r>
              <a:rPr lang="ru-RU" altLang="ru-RU" sz="1400" dirty="0">
                <a:solidFill>
                  <a:srgbClr val="FFFF00"/>
                </a:solidFill>
              </a:rPr>
              <a:t>str2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0</a:t>
            </a:r>
            <a:r>
              <a:rPr lang="ru-RU" altLang="ru-RU" sz="1400" dirty="0">
                <a:solidFill>
                  <a:schemeClr val="tx1"/>
                </a:solidFill>
              </a:rPr>
              <a:t>, если строки </a:t>
            </a:r>
            <a:r>
              <a:rPr lang="ru-RU" altLang="ru-RU" sz="1400" dirty="0">
                <a:solidFill>
                  <a:srgbClr val="FFFF00"/>
                </a:solidFill>
              </a:rPr>
              <a:t>равны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Österreich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localeCompare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Zealand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-1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FF7930D-B52C-420F-ADC8-E0BCCB80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2333"/>
            <a:ext cx="20550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9503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Итого: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Числа: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</a:rPr>
              <a:t>Чтобы писать числа с большим количеством нулей: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Используйте краткую форму записи чисел – "e", с указанным количеством нулей. Например: 123e6 это 123 с 6-ю нулями 123000000.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Отрицательное число после "e" приводит к делению числа на 1 с указанным количеством нулей. Например: 123e-6 это 0.000123 (123 миллионных).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</a:rPr>
              <a:t>Для других систем счисления: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Можно записывать числа сразу в шестнадцатеричной (0x), восьмеричной (0o) и бинарной (0b) системах счисления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E2E3E7"/>
                </a:solidFill>
              </a:rPr>
              <a:t>parseInt</a:t>
            </a:r>
            <a:r>
              <a:rPr lang="ru-RU" altLang="ru-RU" sz="1500" dirty="0">
                <a:solidFill>
                  <a:srgbClr val="E2E3E7"/>
                </a:solidFill>
              </a:rPr>
              <a:t>(</a:t>
            </a:r>
            <a:r>
              <a:rPr lang="ru-RU" altLang="ru-RU" sz="1500" dirty="0" err="1">
                <a:solidFill>
                  <a:srgbClr val="E2E3E7"/>
                </a:solidFill>
              </a:rPr>
              <a:t>str</a:t>
            </a:r>
            <a:r>
              <a:rPr lang="ru-RU" altLang="ru-RU" sz="1500" dirty="0">
                <a:solidFill>
                  <a:srgbClr val="E2E3E7"/>
                </a:solidFill>
              </a:rPr>
              <a:t>, </a:t>
            </a:r>
            <a:r>
              <a:rPr lang="ru-RU" altLang="ru-RU" sz="1500" dirty="0" err="1">
                <a:solidFill>
                  <a:srgbClr val="E2E3E7"/>
                </a:solidFill>
              </a:rPr>
              <a:t>base</a:t>
            </a:r>
            <a:r>
              <a:rPr lang="ru-RU" altLang="ru-RU" sz="1500" dirty="0">
                <a:solidFill>
                  <a:srgbClr val="E2E3E7"/>
                </a:solidFill>
              </a:rPr>
              <a:t>) преобразует строку в целое число в соответствии с указанной системой счисления: 2 ≤ </a:t>
            </a:r>
            <a:r>
              <a:rPr lang="ru-RU" altLang="ru-RU" sz="1500" dirty="0" err="1">
                <a:solidFill>
                  <a:srgbClr val="E2E3E7"/>
                </a:solidFill>
              </a:rPr>
              <a:t>base</a:t>
            </a:r>
            <a:r>
              <a:rPr lang="ru-RU" altLang="ru-RU" sz="1500" dirty="0">
                <a:solidFill>
                  <a:srgbClr val="E2E3E7"/>
                </a:solidFill>
              </a:rPr>
              <a:t> ≤ 36.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E2E3E7"/>
                </a:solidFill>
              </a:rPr>
              <a:t>num.toString</a:t>
            </a:r>
            <a:r>
              <a:rPr lang="ru-RU" altLang="ru-RU" sz="1500" dirty="0">
                <a:solidFill>
                  <a:srgbClr val="E2E3E7"/>
                </a:solidFill>
              </a:rPr>
              <a:t>(</a:t>
            </a:r>
            <a:r>
              <a:rPr lang="ru-RU" altLang="ru-RU" sz="1500" dirty="0" err="1">
                <a:solidFill>
                  <a:srgbClr val="E2E3E7"/>
                </a:solidFill>
              </a:rPr>
              <a:t>base</a:t>
            </a:r>
            <a:r>
              <a:rPr lang="ru-RU" altLang="ru-RU" sz="1500" dirty="0">
                <a:solidFill>
                  <a:srgbClr val="E2E3E7"/>
                </a:solidFill>
              </a:rPr>
              <a:t>) представляет число в строковом виде в указанной системе счисления </a:t>
            </a:r>
            <a:r>
              <a:rPr lang="ru-RU" altLang="ru-RU" sz="1500" dirty="0" err="1">
                <a:solidFill>
                  <a:srgbClr val="E2E3E7"/>
                </a:solidFill>
              </a:rPr>
              <a:t>base</a:t>
            </a:r>
            <a:r>
              <a:rPr lang="ru-RU" altLang="ru-RU" sz="1500" dirty="0">
                <a:solidFill>
                  <a:srgbClr val="E2E3E7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</a:rPr>
              <a:t>Для проверки на </a:t>
            </a:r>
            <a:r>
              <a:rPr lang="ru-RU" altLang="ru-RU" sz="1500" dirty="0" err="1">
                <a:solidFill>
                  <a:srgbClr val="E2E3E7"/>
                </a:solidFill>
              </a:rPr>
              <a:t>NaN</a:t>
            </a:r>
            <a:r>
              <a:rPr lang="ru-RU" altLang="ru-RU" sz="1500" dirty="0">
                <a:solidFill>
                  <a:srgbClr val="E2E3E7"/>
                </a:solidFill>
              </a:rPr>
              <a:t> и </a:t>
            </a:r>
            <a:r>
              <a:rPr lang="ru-RU" altLang="ru-RU" sz="1500" dirty="0" err="1">
                <a:solidFill>
                  <a:srgbClr val="E2E3E7"/>
                </a:solidFill>
              </a:rPr>
              <a:t>Infinity</a:t>
            </a:r>
            <a:r>
              <a:rPr lang="ru-RU" altLang="ru-RU" sz="1500" dirty="0">
                <a:solidFill>
                  <a:srgbClr val="E2E3E7"/>
                </a:solidFill>
              </a:rPr>
              <a:t>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E2E3E7"/>
                </a:solidFill>
              </a:rPr>
              <a:t>isNaN</a:t>
            </a:r>
            <a:r>
              <a:rPr lang="ru-RU" altLang="ru-RU" sz="1500" dirty="0">
                <a:solidFill>
                  <a:srgbClr val="E2E3E7"/>
                </a:solidFill>
              </a:rPr>
              <a:t>(</a:t>
            </a:r>
            <a:r>
              <a:rPr lang="ru-RU" altLang="ru-RU" sz="1500" dirty="0" err="1">
                <a:solidFill>
                  <a:srgbClr val="E2E3E7"/>
                </a:solidFill>
              </a:rPr>
              <a:t>value</a:t>
            </a:r>
            <a:r>
              <a:rPr lang="ru-RU" altLang="ru-RU" sz="1500" dirty="0">
                <a:solidFill>
                  <a:srgbClr val="E2E3E7"/>
                </a:solidFill>
              </a:rPr>
              <a:t>) преобразует аргумент в число и проверяет, является ли оно </a:t>
            </a:r>
            <a:r>
              <a:rPr lang="ru-RU" altLang="ru-RU" sz="1500" dirty="0" err="1">
                <a:solidFill>
                  <a:srgbClr val="E2E3E7"/>
                </a:solidFill>
              </a:rPr>
              <a:t>NaN</a:t>
            </a:r>
            <a:endParaRPr lang="ru-RU" altLang="ru-RU" sz="1500" dirty="0">
              <a:solidFill>
                <a:srgbClr val="E2E3E7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E2E3E7"/>
                </a:solidFill>
              </a:rPr>
              <a:t>Number.isNaN</a:t>
            </a:r>
            <a:r>
              <a:rPr lang="ru-RU" altLang="ru-RU" sz="1500" dirty="0">
                <a:solidFill>
                  <a:srgbClr val="E2E3E7"/>
                </a:solidFill>
              </a:rPr>
              <a:t>(</a:t>
            </a:r>
            <a:r>
              <a:rPr lang="ru-RU" altLang="ru-RU" sz="1500" dirty="0" err="1">
                <a:solidFill>
                  <a:srgbClr val="E2E3E7"/>
                </a:solidFill>
              </a:rPr>
              <a:t>value</a:t>
            </a:r>
            <a:r>
              <a:rPr lang="ru-RU" altLang="ru-RU" sz="1500" dirty="0">
                <a:solidFill>
                  <a:srgbClr val="E2E3E7"/>
                </a:solidFill>
              </a:rPr>
              <a:t>) проверяет, является ли аргумент числом, и если да, то проверяет, является ли оно </a:t>
            </a:r>
            <a:r>
              <a:rPr lang="ru-RU" altLang="ru-RU" sz="1500" dirty="0" err="1">
                <a:solidFill>
                  <a:srgbClr val="E2E3E7"/>
                </a:solidFill>
              </a:rPr>
              <a:t>NaN</a:t>
            </a:r>
            <a:endParaRPr lang="ru-RU" altLang="ru-RU" sz="15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dirty="0">
              <a:solidFill>
                <a:srgbClr val="E2E3E7"/>
              </a:solidFill>
              <a:latin typeface="BlinkMacSystemFont"/>
            </a:endParaRPr>
          </a:p>
        </p:txBody>
      </p:sp>
    </p:spTree>
    <p:extLst>
      <p:ext uri="{BB962C8B-B14F-4D97-AF65-F5344CB8AC3E}">
        <p14:creationId xmlns:p14="http://schemas.microsoft.com/office/powerpoint/2010/main" val="27356815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Итого: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E2E3E7"/>
                </a:solidFill>
              </a:rPr>
              <a:t>isFinite</a:t>
            </a:r>
            <a:r>
              <a:rPr lang="ru-RU" altLang="ru-RU" sz="1500" dirty="0">
                <a:solidFill>
                  <a:srgbClr val="E2E3E7"/>
                </a:solidFill>
              </a:rPr>
              <a:t>(</a:t>
            </a:r>
            <a:r>
              <a:rPr lang="ru-RU" altLang="ru-RU" sz="1500" dirty="0" err="1">
                <a:solidFill>
                  <a:srgbClr val="E2E3E7"/>
                </a:solidFill>
              </a:rPr>
              <a:t>value</a:t>
            </a:r>
            <a:r>
              <a:rPr lang="ru-RU" altLang="ru-RU" sz="1500" dirty="0">
                <a:solidFill>
                  <a:srgbClr val="E2E3E7"/>
                </a:solidFill>
              </a:rPr>
              <a:t>) преобразует аргумент в число и проверяет, что оно не является </a:t>
            </a:r>
            <a:r>
              <a:rPr lang="ru-RU" altLang="ru-RU" sz="1500" dirty="0" err="1">
                <a:solidFill>
                  <a:srgbClr val="E2E3E7"/>
                </a:solidFill>
              </a:rPr>
              <a:t>NaN</a:t>
            </a:r>
            <a:r>
              <a:rPr lang="ru-RU" altLang="ru-RU" sz="1500" dirty="0">
                <a:solidFill>
                  <a:srgbClr val="E2E3E7"/>
                </a:solidFill>
              </a:rPr>
              <a:t>/</a:t>
            </a:r>
            <a:r>
              <a:rPr lang="ru-RU" altLang="ru-RU" sz="1500" dirty="0" err="1">
                <a:solidFill>
                  <a:srgbClr val="E2E3E7"/>
                </a:solidFill>
              </a:rPr>
              <a:t>Infinity</a:t>
            </a:r>
            <a:r>
              <a:rPr lang="ru-RU" altLang="ru-RU" sz="1500" dirty="0">
                <a:solidFill>
                  <a:srgbClr val="E2E3E7"/>
                </a:solidFill>
              </a:rPr>
              <a:t>/-</a:t>
            </a:r>
            <a:r>
              <a:rPr lang="ru-RU" altLang="ru-RU" sz="1500" dirty="0" err="1">
                <a:solidFill>
                  <a:srgbClr val="E2E3E7"/>
                </a:solidFill>
              </a:rPr>
              <a:t>Infinity</a:t>
            </a:r>
            <a:endParaRPr lang="ru-RU" altLang="ru-RU" sz="1500" dirty="0">
              <a:solidFill>
                <a:srgbClr val="E2E3E7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E2E3E7"/>
                </a:solidFill>
              </a:rPr>
              <a:t>Number.isFinite</a:t>
            </a:r>
            <a:r>
              <a:rPr lang="ru-RU" altLang="ru-RU" sz="1500" dirty="0">
                <a:solidFill>
                  <a:srgbClr val="E2E3E7"/>
                </a:solidFill>
              </a:rPr>
              <a:t>(</a:t>
            </a:r>
            <a:r>
              <a:rPr lang="ru-RU" altLang="ru-RU" sz="1500" dirty="0" err="1">
                <a:solidFill>
                  <a:srgbClr val="E2E3E7"/>
                </a:solidFill>
              </a:rPr>
              <a:t>value</a:t>
            </a:r>
            <a:r>
              <a:rPr lang="ru-RU" altLang="ru-RU" sz="1500" dirty="0">
                <a:solidFill>
                  <a:srgbClr val="E2E3E7"/>
                </a:solidFill>
              </a:rPr>
              <a:t>) проверяет, является ли аргумент числом, и если да, то проверяет, что оно не является </a:t>
            </a:r>
            <a:r>
              <a:rPr lang="ru-RU" altLang="ru-RU" sz="1500" dirty="0" err="1">
                <a:solidFill>
                  <a:srgbClr val="E2E3E7"/>
                </a:solidFill>
              </a:rPr>
              <a:t>NaN</a:t>
            </a:r>
            <a:r>
              <a:rPr lang="ru-RU" altLang="ru-RU" sz="1500" dirty="0">
                <a:solidFill>
                  <a:srgbClr val="E2E3E7"/>
                </a:solidFill>
              </a:rPr>
              <a:t>/</a:t>
            </a:r>
            <a:r>
              <a:rPr lang="ru-RU" altLang="ru-RU" sz="1500" dirty="0" err="1">
                <a:solidFill>
                  <a:srgbClr val="E2E3E7"/>
                </a:solidFill>
              </a:rPr>
              <a:t>Infinity</a:t>
            </a:r>
            <a:r>
              <a:rPr lang="ru-RU" altLang="ru-RU" sz="1500" dirty="0">
                <a:solidFill>
                  <a:srgbClr val="E2E3E7"/>
                </a:solidFill>
              </a:rPr>
              <a:t>/-</a:t>
            </a:r>
            <a:r>
              <a:rPr lang="ru-RU" altLang="ru-RU" sz="1500" dirty="0" err="1">
                <a:solidFill>
                  <a:srgbClr val="E2E3E7"/>
                </a:solidFill>
              </a:rPr>
              <a:t>Infinity</a:t>
            </a:r>
            <a:endParaRPr lang="ru-RU" altLang="ru-RU" sz="15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</a:rPr>
              <a:t>Для преобразования значений типа 12pt и 100px в число: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Используйте </a:t>
            </a:r>
            <a:r>
              <a:rPr lang="ru-RU" altLang="ru-RU" sz="1500" dirty="0" err="1">
                <a:solidFill>
                  <a:srgbClr val="E2E3E7"/>
                </a:solidFill>
              </a:rPr>
              <a:t>parseInt</a:t>
            </a:r>
            <a:r>
              <a:rPr lang="ru-RU" altLang="ru-RU" sz="1500" dirty="0">
                <a:solidFill>
                  <a:srgbClr val="E2E3E7"/>
                </a:solidFill>
              </a:rPr>
              <a:t>/</a:t>
            </a:r>
            <a:r>
              <a:rPr lang="ru-RU" altLang="ru-RU" sz="1500" dirty="0" err="1">
                <a:solidFill>
                  <a:srgbClr val="E2E3E7"/>
                </a:solidFill>
              </a:rPr>
              <a:t>parseFloat</a:t>
            </a:r>
            <a:r>
              <a:rPr lang="ru-RU" altLang="ru-RU" sz="1500" dirty="0">
                <a:solidFill>
                  <a:srgbClr val="E2E3E7"/>
                </a:solidFill>
              </a:rPr>
              <a:t> для «мягкого» преобразования строки в число, данные функции по порядку считывают число из строки до тех пор пока не возникнет ошибка.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</a:rPr>
              <a:t>Для дробей: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Используйте округления </a:t>
            </a:r>
            <a:r>
              <a:rPr lang="ru-RU" altLang="ru-RU" sz="1500" dirty="0" err="1">
                <a:solidFill>
                  <a:srgbClr val="E2E3E7"/>
                </a:solidFill>
              </a:rPr>
              <a:t>Math.floor</a:t>
            </a:r>
            <a:r>
              <a:rPr lang="ru-RU" altLang="ru-RU" sz="1500" dirty="0">
                <a:solidFill>
                  <a:srgbClr val="E2E3E7"/>
                </a:solidFill>
              </a:rPr>
              <a:t>, </a:t>
            </a:r>
            <a:r>
              <a:rPr lang="ru-RU" altLang="ru-RU" sz="1500" dirty="0" err="1">
                <a:solidFill>
                  <a:srgbClr val="E2E3E7"/>
                </a:solidFill>
              </a:rPr>
              <a:t>Math.ceil</a:t>
            </a:r>
            <a:r>
              <a:rPr lang="ru-RU" altLang="ru-RU" sz="1500" dirty="0">
                <a:solidFill>
                  <a:srgbClr val="E2E3E7"/>
                </a:solidFill>
              </a:rPr>
              <a:t>, </a:t>
            </a:r>
            <a:r>
              <a:rPr lang="ru-RU" altLang="ru-RU" sz="1500" dirty="0" err="1">
                <a:solidFill>
                  <a:srgbClr val="E2E3E7"/>
                </a:solidFill>
              </a:rPr>
              <a:t>Math.trunc</a:t>
            </a:r>
            <a:r>
              <a:rPr lang="ru-RU" altLang="ru-RU" sz="1500" dirty="0">
                <a:solidFill>
                  <a:srgbClr val="E2E3E7"/>
                </a:solidFill>
              </a:rPr>
              <a:t>, </a:t>
            </a:r>
            <a:r>
              <a:rPr lang="ru-RU" altLang="ru-RU" sz="1500" dirty="0" err="1">
                <a:solidFill>
                  <a:srgbClr val="E2E3E7"/>
                </a:solidFill>
              </a:rPr>
              <a:t>Math.round</a:t>
            </a:r>
            <a:r>
              <a:rPr lang="ru-RU" altLang="ru-RU" sz="1500" dirty="0">
                <a:solidFill>
                  <a:srgbClr val="E2E3E7"/>
                </a:solidFill>
              </a:rPr>
              <a:t> или </a:t>
            </a:r>
            <a:r>
              <a:rPr lang="ru-RU" altLang="ru-RU" sz="1500" dirty="0" err="1">
                <a:solidFill>
                  <a:srgbClr val="E2E3E7"/>
                </a:solidFill>
              </a:rPr>
              <a:t>num.toFixed</a:t>
            </a:r>
            <a:r>
              <a:rPr lang="ru-RU" altLang="ru-RU" sz="1500" dirty="0">
                <a:solidFill>
                  <a:srgbClr val="E2E3E7"/>
                </a:solidFill>
              </a:rPr>
              <a:t>(</a:t>
            </a:r>
            <a:r>
              <a:rPr lang="ru-RU" altLang="ru-RU" sz="1500" dirty="0" err="1">
                <a:solidFill>
                  <a:srgbClr val="E2E3E7"/>
                </a:solidFill>
              </a:rPr>
              <a:t>precision</a:t>
            </a:r>
            <a:r>
              <a:rPr lang="ru-RU" altLang="ru-RU" sz="1500" dirty="0">
                <a:solidFill>
                  <a:srgbClr val="E2E3E7"/>
                </a:solidFill>
              </a:rPr>
              <a:t>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</a:rPr>
              <a:t>Ещё больше математических функций: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Документация по объекту </a:t>
            </a:r>
            <a:r>
              <a:rPr lang="ru-RU" altLang="ru-RU" sz="1500" dirty="0" err="1">
                <a:solidFill>
                  <a:srgbClr val="E2E3E7"/>
                </a:solidFill>
              </a:rPr>
              <a:t>Math</a:t>
            </a:r>
            <a:r>
              <a:rPr lang="ru-RU" altLang="ru-RU" sz="1500" dirty="0">
                <a:solidFill>
                  <a:srgbClr val="E2E3E7"/>
                </a:solidFill>
              </a:rPr>
              <a:t>. Библиотека маленькая, но содержит всё самое важное.</a:t>
            </a:r>
          </a:p>
          <a:p>
            <a:pPr marL="15716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750" dirty="0">
              <a:solidFill>
                <a:srgbClr val="E2E3E7"/>
              </a:solidFill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ru-RU" altLang="ru-RU" sz="1600" dirty="0">
              <a:solidFill>
                <a:srgbClr val="E2E3E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5323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Итого: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Строки</a:t>
            </a:r>
            <a:endParaRPr lang="ru-RU" altLang="ru-RU" sz="15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Есть три типа кавычек. Строки, использующие обратные кавычки, могут занимать более одной строки в коде и включать выражения ${…}.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Строки в </a:t>
            </a:r>
            <a:r>
              <a:rPr lang="ru-RU" altLang="ru-RU" sz="1500" dirty="0" err="1">
                <a:solidFill>
                  <a:srgbClr val="E2E3E7"/>
                </a:solidFill>
              </a:rPr>
              <a:t>JavaScript</a:t>
            </a:r>
            <a:r>
              <a:rPr lang="ru-RU" altLang="ru-RU" sz="1500" dirty="0">
                <a:solidFill>
                  <a:srgbClr val="E2E3E7"/>
                </a:solidFill>
              </a:rPr>
              <a:t> кодируются в UTF-16.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Есть специальные символы, такие как разрыв строки \n.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Для получения символа используйте [] или метод </a:t>
            </a:r>
            <a:r>
              <a:rPr lang="ru-RU" altLang="ru-RU" sz="1500" dirty="0" err="1">
                <a:solidFill>
                  <a:srgbClr val="E2E3E7"/>
                </a:solidFill>
              </a:rPr>
              <a:t>at</a:t>
            </a:r>
            <a:r>
              <a:rPr lang="ru-RU" altLang="ru-RU" sz="1500" dirty="0">
                <a:solidFill>
                  <a:srgbClr val="E2E3E7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Для получения подстроки используйте </a:t>
            </a:r>
            <a:r>
              <a:rPr lang="ru-RU" altLang="ru-RU" sz="1500" dirty="0" err="1">
                <a:solidFill>
                  <a:srgbClr val="E2E3E7"/>
                </a:solidFill>
              </a:rPr>
              <a:t>slice</a:t>
            </a:r>
            <a:r>
              <a:rPr lang="ru-RU" altLang="ru-RU" sz="1500" dirty="0">
                <a:solidFill>
                  <a:srgbClr val="E2E3E7"/>
                </a:solidFill>
              </a:rPr>
              <a:t> или </a:t>
            </a:r>
            <a:r>
              <a:rPr lang="ru-RU" altLang="ru-RU" sz="1500" dirty="0" err="1">
                <a:solidFill>
                  <a:srgbClr val="E2E3E7"/>
                </a:solidFill>
              </a:rPr>
              <a:t>substring</a:t>
            </a:r>
            <a:r>
              <a:rPr lang="ru-RU" altLang="ru-RU" sz="1500" dirty="0">
                <a:solidFill>
                  <a:srgbClr val="E2E3E7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Для того, чтобы перевести строку в нижний или верхний регистр, используйте </a:t>
            </a:r>
            <a:r>
              <a:rPr lang="ru-RU" altLang="ru-RU" sz="1500" dirty="0" err="1">
                <a:solidFill>
                  <a:srgbClr val="E2E3E7"/>
                </a:solidFill>
              </a:rPr>
              <a:t>toLowerCase</a:t>
            </a:r>
            <a:r>
              <a:rPr lang="ru-RU" altLang="ru-RU" sz="1500" dirty="0">
                <a:solidFill>
                  <a:srgbClr val="E2E3E7"/>
                </a:solidFill>
              </a:rPr>
              <a:t>/</a:t>
            </a:r>
            <a:r>
              <a:rPr lang="ru-RU" altLang="ru-RU" sz="1500" dirty="0" err="1">
                <a:solidFill>
                  <a:srgbClr val="E2E3E7"/>
                </a:solidFill>
              </a:rPr>
              <a:t>toUpperCase</a:t>
            </a:r>
            <a:r>
              <a:rPr lang="ru-RU" altLang="ru-RU" sz="1500" dirty="0">
                <a:solidFill>
                  <a:srgbClr val="E2E3E7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Для поиска подстроки используйте </a:t>
            </a:r>
            <a:r>
              <a:rPr lang="ru-RU" altLang="ru-RU" sz="1500" dirty="0" err="1">
                <a:solidFill>
                  <a:srgbClr val="E2E3E7"/>
                </a:solidFill>
              </a:rPr>
              <a:t>indexOf</a:t>
            </a:r>
            <a:r>
              <a:rPr lang="ru-RU" altLang="ru-RU" sz="1500" dirty="0">
                <a:solidFill>
                  <a:srgbClr val="E2E3E7"/>
                </a:solidFill>
              </a:rPr>
              <a:t> или </a:t>
            </a:r>
            <a:r>
              <a:rPr lang="ru-RU" altLang="ru-RU" sz="1500" dirty="0" err="1">
                <a:solidFill>
                  <a:srgbClr val="E2E3E7"/>
                </a:solidFill>
              </a:rPr>
              <a:t>includes</a:t>
            </a:r>
            <a:r>
              <a:rPr lang="ru-RU" altLang="ru-RU" sz="1500" dirty="0">
                <a:solidFill>
                  <a:srgbClr val="E2E3E7"/>
                </a:solidFill>
              </a:rPr>
              <a:t>/</a:t>
            </a:r>
            <a:r>
              <a:rPr lang="ru-RU" altLang="ru-RU" sz="1500" dirty="0" err="1">
                <a:solidFill>
                  <a:srgbClr val="E2E3E7"/>
                </a:solidFill>
              </a:rPr>
              <a:t>startsWith</a:t>
            </a:r>
            <a:r>
              <a:rPr lang="ru-RU" altLang="ru-RU" sz="1500" dirty="0">
                <a:solidFill>
                  <a:srgbClr val="E2E3E7"/>
                </a:solidFill>
              </a:rPr>
              <a:t>/</a:t>
            </a:r>
            <a:r>
              <a:rPr lang="ru-RU" altLang="ru-RU" sz="1500" dirty="0" err="1">
                <a:solidFill>
                  <a:srgbClr val="E2E3E7"/>
                </a:solidFill>
              </a:rPr>
              <a:t>endsWith</a:t>
            </a:r>
            <a:r>
              <a:rPr lang="ru-RU" altLang="ru-RU" sz="1500" dirty="0">
                <a:solidFill>
                  <a:srgbClr val="E2E3E7"/>
                </a:solidFill>
              </a:rPr>
              <a:t>, когда надо только проверить, есть ли вхождение.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Чтобы сравнить строки с учётом правил языка, используйте </a:t>
            </a:r>
            <a:r>
              <a:rPr lang="ru-RU" altLang="ru-RU" sz="1500" dirty="0" err="1">
                <a:solidFill>
                  <a:srgbClr val="E2E3E7"/>
                </a:solidFill>
              </a:rPr>
              <a:t>localeCompare</a:t>
            </a:r>
            <a:r>
              <a:rPr lang="ru-RU" altLang="ru-RU" sz="1500" dirty="0">
                <a:solidFill>
                  <a:srgbClr val="E2E3E7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Строки также имеют ещё кое-какие полезные методы:</a:t>
            </a:r>
            <a:endParaRPr lang="ru-RU" altLang="ru-RU" sz="15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E2E3E7"/>
                </a:solidFill>
              </a:rPr>
              <a:t>str.trim</a:t>
            </a:r>
            <a:r>
              <a:rPr lang="ru-RU" altLang="ru-RU" sz="1500" dirty="0">
                <a:solidFill>
                  <a:srgbClr val="E2E3E7"/>
                </a:solidFill>
              </a:rPr>
              <a:t>() — убирает пробелы в начале и конце строки.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E2E3E7"/>
                </a:solidFill>
              </a:rPr>
              <a:t>str.repeat</a:t>
            </a:r>
            <a:r>
              <a:rPr lang="ru-RU" altLang="ru-RU" sz="1500" dirty="0">
                <a:solidFill>
                  <a:srgbClr val="E2E3E7"/>
                </a:solidFill>
              </a:rPr>
              <a:t>(n) — повторяет строку n раз.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dirty="0">
              <a:solidFill>
                <a:srgbClr val="E2E3E7"/>
              </a:solidFill>
              <a:latin typeface="BlinkMacSystemFont"/>
            </a:endParaRPr>
          </a:p>
        </p:txBody>
      </p:sp>
    </p:spTree>
    <p:extLst>
      <p:ext uri="{BB962C8B-B14F-4D97-AF65-F5344CB8AC3E}">
        <p14:creationId xmlns:p14="http://schemas.microsoft.com/office/powerpoint/2010/main" val="9603304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987824" y="2247714"/>
            <a:ext cx="2592288" cy="648072"/>
          </a:xfrm>
        </p:spPr>
        <p:txBody>
          <a:bodyPr anchor="t"/>
          <a:lstStyle/>
          <a:p>
            <a:r>
              <a:rPr lang="en-US" b="1" dirty="0"/>
              <a:t>Map </a:t>
            </a:r>
            <a:r>
              <a:rPr lang="ru-RU" b="1" dirty="0"/>
              <a:t>и </a:t>
            </a:r>
            <a:r>
              <a:rPr lang="en-US" b="1" dirty="0"/>
              <a:t>Set</a:t>
            </a:r>
          </a:p>
        </p:txBody>
      </p:sp>
    </p:spTree>
    <p:extLst>
      <p:ext uri="{BB962C8B-B14F-4D97-AF65-F5344CB8AC3E}">
        <p14:creationId xmlns:p14="http://schemas.microsoft.com/office/powerpoint/2010/main" val="11742526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Map </a:t>
            </a:r>
            <a:r>
              <a:rPr lang="ru-RU" sz="2800" b="1" dirty="0"/>
              <a:t>и </a:t>
            </a:r>
            <a:r>
              <a:rPr lang="en-US" sz="2800" b="1" dirty="0"/>
              <a:t>Set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Map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chemeClr val="tx1"/>
                </a:solidFill>
              </a:rPr>
              <a:t>Map</a:t>
            </a:r>
            <a:r>
              <a:rPr lang="ru-RU" altLang="ru-RU" sz="1400" dirty="0">
                <a:solidFill>
                  <a:schemeClr val="tx1"/>
                </a:solidFill>
              </a:rPr>
              <a:t> – это коллекция ключ/значение, как и </a:t>
            </a:r>
            <a:r>
              <a:rPr lang="ru-RU" altLang="ru-RU" sz="1400" dirty="0" err="1">
                <a:solidFill>
                  <a:schemeClr val="tx1"/>
                </a:solidFill>
              </a:rPr>
              <a:t>Object</a:t>
            </a:r>
            <a:r>
              <a:rPr lang="ru-RU" altLang="ru-RU" sz="1400" dirty="0">
                <a:solidFill>
                  <a:schemeClr val="tx1"/>
                </a:solidFill>
              </a:rPr>
              <a:t>. Но основное отличие в том, что </a:t>
            </a:r>
            <a:r>
              <a:rPr lang="ru-RU" altLang="ru-RU" sz="1400" dirty="0" err="1">
                <a:solidFill>
                  <a:schemeClr val="tx1"/>
                </a:solidFill>
              </a:rPr>
              <a:t>Map</a:t>
            </a:r>
            <a:r>
              <a:rPr lang="ru-RU" altLang="ru-RU" sz="1400" dirty="0">
                <a:solidFill>
                  <a:schemeClr val="tx1"/>
                </a:solidFill>
              </a:rPr>
              <a:t> позволяет использовать ключи любого типа.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Методы и свойства: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new</a:t>
            </a:r>
            <a:r>
              <a:rPr lang="ru-RU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 err="1">
                <a:solidFill>
                  <a:srgbClr val="FFFF00"/>
                </a:solidFill>
              </a:rPr>
              <a:t>Map</a:t>
            </a:r>
            <a:r>
              <a:rPr lang="ru-RU" altLang="ru-RU" sz="1400" dirty="0">
                <a:solidFill>
                  <a:srgbClr val="FFFF00"/>
                </a:solidFill>
              </a:rPr>
              <a:t>() </a:t>
            </a:r>
            <a:r>
              <a:rPr lang="ru-RU" altLang="ru-RU" sz="1400" dirty="0">
                <a:solidFill>
                  <a:schemeClr val="tx1"/>
                </a:solidFill>
              </a:rPr>
              <a:t>– создаёт коллекцию.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map.set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key</a:t>
            </a:r>
            <a:r>
              <a:rPr lang="ru-RU" altLang="ru-RU" sz="1400" dirty="0">
                <a:solidFill>
                  <a:srgbClr val="FFFF00"/>
                </a:solidFill>
              </a:rPr>
              <a:t>, </a:t>
            </a:r>
            <a:r>
              <a:rPr lang="ru-RU" altLang="ru-RU" sz="1400" dirty="0" err="1">
                <a:solidFill>
                  <a:srgbClr val="FFFF00"/>
                </a:solidFill>
              </a:rPr>
              <a:t>value</a:t>
            </a:r>
            <a:r>
              <a:rPr lang="ru-RU" altLang="ru-RU" sz="1400" dirty="0">
                <a:solidFill>
                  <a:srgbClr val="FFFF00"/>
                </a:solidFill>
              </a:rPr>
              <a:t>) </a:t>
            </a:r>
            <a:r>
              <a:rPr lang="ru-RU" altLang="ru-RU" sz="1400" dirty="0">
                <a:solidFill>
                  <a:schemeClr val="tx1"/>
                </a:solidFill>
              </a:rPr>
              <a:t>– записывает по ключу </a:t>
            </a:r>
            <a:r>
              <a:rPr lang="ru-RU" altLang="ru-RU" sz="1400" dirty="0" err="1">
                <a:solidFill>
                  <a:schemeClr val="tx1"/>
                </a:solidFill>
              </a:rPr>
              <a:t>key</a:t>
            </a:r>
            <a:r>
              <a:rPr lang="ru-RU" altLang="ru-RU" sz="1400" dirty="0">
                <a:solidFill>
                  <a:schemeClr val="tx1"/>
                </a:solidFill>
              </a:rPr>
              <a:t> значение </a:t>
            </a:r>
            <a:r>
              <a:rPr lang="ru-RU" altLang="ru-RU" sz="1400" dirty="0" err="1">
                <a:solidFill>
                  <a:schemeClr val="tx1"/>
                </a:solidFill>
              </a:rPr>
              <a:t>value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map.get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key</a:t>
            </a:r>
            <a:r>
              <a:rPr lang="ru-RU" altLang="ru-RU" sz="1400" dirty="0">
                <a:solidFill>
                  <a:srgbClr val="FFFF00"/>
                </a:solidFill>
              </a:rPr>
              <a:t>) </a:t>
            </a:r>
            <a:r>
              <a:rPr lang="ru-RU" altLang="ru-RU" sz="1400" dirty="0">
                <a:solidFill>
                  <a:schemeClr val="tx1"/>
                </a:solidFill>
              </a:rPr>
              <a:t>– возвращает значение по ключу или </a:t>
            </a:r>
            <a:r>
              <a:rPr lang="ru-RU" altLang="ru-RU" sz="1400" dirty="0" err="1">
                <a:solidFill>
                  <a:schemeClr val="tx1"/>
                </a:solidFill>
              </a:rPr>
              <a:t>undefined</a:t>
            </a:r>
            <a:r>
              <a:rPr lang="ru-RU" altLang="ru-RU" sz="1400" dirty="0">
                <a:solidFill>
                  <a:schemeClr val="tx1"/>
                </a:solidFill>
              </a:rPr>
              <a:t>, если ключ </a:t>
            </a:r>
            <a:r>
              <a:rPr lang="ru-RU" altLang="ru-RU" sz="1400" dirty="0" err="1">
                <a:solidFill>
                  <a:schemeClr val="tx1"/>
                </a:solidFill>
              </a:rPr>
              <a:t>key</a:t>
            </a:r>
            <a:r>
              <a:rPr lang="ru-RU" altLang="ru-RU" sz="1400" dirty="0">
                <a:solidFill>
                  <a:schemeClr val="tx1"/>
                </a:solidFill>
              </a:rPr>
              <a:t> отсутствует.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map.has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key</a:t>
            </a:r>
            <a:r>
              <a:rPr lang="ru-RU" altLang="ru-RU" sz="1400" dirty="0">
                <a:solidFill>
                  <a:srgbClr val="FFFF00"/>
                </a:solidFill>
              </a:rPr>
              <a:t>) </a:t>
            </a:r>
            <a:r>
              <a:rPr lang="ru-RU" altLang="ru-RU" sz="1400" dirty="0">
                <a:solidFill>
                  <a:schemeClr val="tx1"/>
                </a:solidFill>
              </a:rPr>
              <a:t>– возвращает </a:t>
            </a:r>
            <a:r>
              <a:rPr lang="ru-RU" altLang="ru-RU" sz="1400" dirty="0" err="1">
                <a:solidFill>
                  <a:schemeClr val="tx1"/>
                </a:solidFill>
              </a:rPr>
              <a:t>true</a:t>
            </a:r>
            <a:r>
              <a:rPr lang="ru-RU" altLang="ru-RU" sz="1400" dirty="0">
                <a:solidFill>
                  <a:schemeClr val="tx1"/>
                </a:solidFill>
              </a:rPr>
              <a:t>, если ключ </a:t>
            </a:r>
            <a:r>
              <a:rPr lang="ru-RU" altLang="ru-RU" sz="1400" dirty="0" err="1">
                <a:solidFill>
                  <a:schemeClr val="tx1"/>
                </a:solidFill>
              </a:rPr>
              <a:t>key</a:t>
            </a:r>
            <a:r>
              <a:rPr lang="ru-RU" altLang="ru-RU" sz="1400" dirty="0">
                <a:solidFill>
                  <a:schemeClr val="tx1"/>
                </a:solidFill>
              </a:rPr>
              <a:t> присутствует в коллекции, иначе </a:t>
            </a:r>
            <a:r>
              <a:rPr lang="ru-RU" altLang="ru-RU" sz="1400" dirty="0" err="1">
                <a:solidFill>
                  <a:schemeClr val="tx1"/>
                </a:solidFill>
              </a:rPr>
              <a:t>false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map.delete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key</a:t>
            </a:r>
            <a:r>
              <a:rPr lang="ru-RU" altLang="ru-RU" sz="1400" dirty="0">
                <a:solidFill>
                  <a:srgbClr val="FFFF00"/>
                </a:solidFill>
              </a:rPr>
              <a:t>) </a:t>
            </a:r>
            <a:r>
              <a:rPr lang="ru-RU" altLang="ru-RU" sz="1400" dirty="0">
                <a:solidFill>
                  <a:schemeClr val="tx1"/>
                </a:solidFill>
              </a:rPr>
              <a:t>– удаляет элемент (пару «ключ/значение») по ключу </a:t>
            </a:r>
            <a:r>
              <a:rPr lang="ru-RU" altLang="ru-RU" sz="1400" dirty="0" err="1">
                <a:solidFill>
                  <a:schemeClr val="tx1"/>
                </a:solidFill>
              </a:rPr>
              <a:t>key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map.clear</a:t>
            </a:r>
            <a:r>
              <a:rPr lang="ru-RU" altLang="ru-RU" sz="1400" dirty="0">
                <a:solidFill>
                  <a:srgbClr val="FFFF00"/>
                </a:solidFill>
              </a:rPr>
              <a:t>() </a:t>
            </a:r>
            <a:r>
              <a:rPr lang="ru-RU" altLang="ru-RU" sz="1400" dirty="0">
                <a:solidFill>
                  <a:schemeClr val="tx1"/>
                </a:solidFill>
              </a:rPr>
              <a:t>– очищает коллекцию от всех элементов.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map.size</a:t>
            </a:r>
            <a:r>
              <a:rPr lang="ru-RU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– возвращает текущее количество элементов.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map =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Map();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map.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"1", "str1"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  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строка в качестве ключа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map.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(true,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"bool1"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булево значение как ключ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// </a:t>
            </a:r>
            <a:r>
              <a:rPr lang="en-US" altLang="ru-RU" sz="1400" dirty="0">
                <a:solidFill>
                  <a:srgbClr val="FFFF00"/>
                </a:solidFill>
              </a:rPr>
              <a:t>Map </a:t>
            </a:r>
            <a:r>
              <a:rPr lang="ru-RU" altLang="ru-RU" sz="1400" dirty="0">
                <a:solidFill>
                  <a:srgbClr val="FFFF00"/>
                </a:solidFill>
              </a:rPr>
              <a:t>сохраняет тип ключей, так что в этом случае сохранится 2 разных значения: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map.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get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"1"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"num1"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map.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size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2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FF7930D-B52C-420F-ADC8-E0BCCB80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2333"/>
            <a:ext cx="20550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2554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Map </a:t>
            </a:r>
            <a:r>
              <a:rPr lang="ru-RU" sz="2800" b="1" dirty="0"/>
              <a:t>и </a:t>
            </a:r>
            <a:r>
              <a:rPr lang="en-US" sz="2800" b="1" dirty="0"/>
              <a:t>Set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Перебор </a:t>
            </a:r>
            <a:r>
              <a:rPr lang="en-US" altLang="ru-RU" sz="1600" dirty="0">
                <a:solidFill>
                  <a:srgbClr val="FFFF00"/>
                </a:solidFill>
              </a:rPr>
              <a:t>Map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Для перебора коллекции </a:t>
            </a:r>
            <a:r>
              <a:rPr lang="ru-RU" altLang="ru-RU" sz="1600" dirty="0" err="1">
                <a:solidFill>
                  <a:srgbClr val="FFFF00"/>
                </a:solidFill>
              </a:rPr>
              <a:t>Map</a:t>
            </a:r>
            <a:r>
              <a:rPr lang="ru-RU" altLang="ru-RU" sz="1600" dirty="0">
                <a:solidFill>
                  <a:schemeClr val="tx1"/>
                </a:solidFill>
              </a:rPr>
              <a:t> есть </a:t>
            </a:r>
            <a:r>
              <a:rPr lang="ru-RU" altLang="ru-RU" sz="1600" dirty="0">
                <a:solidFill>
                  <a:srgbClr val="FFFF00"/>
                </a:solidFill>
              </a:rPr>
              <a:t>3</a:t>
            </a:r>
            <a:r>
              <a:rPr lang="ru-RU" altLang="ru-RU" sz="1600" dirty="0">
                <a:solidFill>
                  <a:schemeClr val="tx1"/>
                </a:solidFill>
              </a:rPr>
              <a:t> метода: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 err="1">
                <a:solidFill>
                  <a:srgbClr val="FFFF00"/>
                </a:solidFill>
              </a:rPr>
              <a:t>map.keys</a:t>
            </a:r>
            <a:r>
              <a:rPr lang="ru-RU" altLang="ru-RU" sz="1600" dirty="0">
                <a:solidFill>
                  <a:srgbClr val="FFFF00"/>
                </a:solidFill>
              </a:rPr>
              <a:t>() </a:t>
            </a:r>
            <a:r>
              <a:rPr lang="ru-RU" altLang="ru-RU" sz="1600" dirty="0">
                <a:solidFill>
                  <a:schemeClr val="tx1"/>
                </a:solidFill>
              </a:rPr>
              <a:t>– возвращает итерируемый объект по ключам,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 err="1">
                <a:solidFill>
                  <a:srgbClr val="FFFF00"/>
                </a:solidFill>
              </a:rPr>
              <a:t>map.values</a:t>
            </a:r>
            <a:r>
              <a:rPr lang="ru-RU" altLang="ru-RU" sz="1600" dirty="0">
                <a:solidFill>
                  <a:srgbClr val="FFFF00"/>
                </a:solidFill>
              </a:rPr>
              <a:t>() </a:t>
            </a:r>
            <a:r>
              <a:rPr lang="ru-RU" altLang="ru-RU" sz="1600" dirty="0">
                <a:solidFill>
                  <a:schemeClr val="tx1"/>
                </a:solidFill>
              </a:rPr>
              <a:t>– возвращает итерируемый объект по значениям,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 err="1">
                <a:solidFill>
                  <a:srgbClr val="FFFF00"/>
                </a:solidFill>
              </a:rPr>
              <a:t>map.entries</a:t>
            </a:r>
            <a:r>
              <a:rPr lang="ru-RU" altLang="ru-RU" sz="1600" dirty="0">
                <a:solidFill>
                  <a:srgbClr val="FFFF00"/>
                </a:solidFill>
              </a:rPr>
              <a:t>() </a:t>
            </a:r>
            <a:r>
              <a:rPr lang="ru-RU" altLang="ru-RU" sz="1600" dirty="0">
                <a:solidFill>
                  <a:schemeClr val="tx1"/>
                </a:solidFill>
              </a:rPr>
              <a:t>– возвращает итерируемый объект по парам вида [ключ, значение], этот вариант используется по умолчанию в </a:t>
            </a:r>
            <a:r>
              <a:rPr lang="ru-RU" altLang="ru-RU" sz="1600" dirty="0" err="1">
                <a:solidFill>
                  <a:srgbClr val="FFFF00"/>
                </a:solidFill>
              </a:rPr>
              <a:t>for</a:t>
            </a:r>
            <a:r>
              <a:rPr lang="ru-RU" altLang="ru-RU" sz="1600" dirty="0">
                <a:solidFill>
                  <a:srgbClr val="FFFF00"/>
                </a:solidFill>
              </a:rPr>
              <a:t>..</a:t>
            </a:r>
            <a:r>
              <a:rPr lang="ru-RU" altLang="ru-RU" sz="1600" dirty="0" err="1">
                <a:solidFill>
                  <a:srgbClr val="FFFF00"/>
                </a:solidFill>
              </a:rPr>
              <a:t>of</a:t>
            </a:r>
            <a:r>
              <a:rPr lang="ru-RU" altLang="ru-RU" sz="1600" dirty="0">
                <a:solidFill>
                  <a:schemeClr val="tx1"/>
                </a:solidFill>
              </a:rPr>
              <a:t>.</a:t>
            </a:r>
            <a:endParaRPr lang="en-US" altLang="ru-RU" sz="16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FF7930D-B52C-420F-ADC8-E0BCCB80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2333"/>
            <a:ext cx="20550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5515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Map </a:t>
            </a:r>
            <a:r>
              <a:rPr lang="ru-RU" sz="2800" b="1" dirty="0"/>
              <a:t>и </a:t>
            </a:r>
            <a:r>
              <a:rPr lang="en-US" sz="2800" b="1" dirty="0"/>
              <a:t>Set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Перебор </a:t>
            </a:r>
            <a:r>
              <a:rPr lang="en-US" altLang="ru-RU" sz="1400" dirty="0">
                <a:solidFill>
                  <a:srgbClr val="FFFF00"/>
                </a:solidFill>
              </a:rPr>
              <a:t>Map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recipeMap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Map([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[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огурец"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500],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[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"помидор"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350],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[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"лук"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   50]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]);</a:t>
            </a:r>
            <a:endParaRPr lang="en-US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перебор по ключам (овощи)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vegetable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recipeMap.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keys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(vegetable);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огурец, помидор, лук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en-US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перебор по значениям (числа)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amount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recipeMap.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values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(amount);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500, 350, 50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перебор по элементам в формате [ключ, значение]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entry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recipeMap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{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то же самое, что и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recipeMap.entries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()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(entry);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огурец,500 (и так далее)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FF7930D-B52C-420F-ADC8-E0BCCB80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2333"/>
            <a:ext cx="20550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0884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Map </a:t>
            </a:r>
            <a:r>
              <a:rPr lang="ru-RU" sz="2800" b="1" dirty="0"/>
              <a:t>и </a:t>
            </a:r>
            <a:r>
              <a:rPr lang="en-US" sz="2800" b="1" dirty="0"/>
              <a:t>Set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b="1" dirty="0">
                <a:solidFill>
                  <a:srgbClr val="FFFF00"/>
                </a:solidFill>
              </a:rPr>
              <a:t>Set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Объект </a:t>
            </a:r>
            <a:r>
              <a:rPr lang="ru-RU" altLang="ru-RU" sz="1500" dirty="0" err="1">
                <a:solidFill>
                  <a:srgbClr val="FFFF00"/>
                </a:solidFill>
              </a:rPr>
              <a:t>Set</a:t>
            </a:r>
            <a:r>
              <a:rPr lang="ru-RU" altLang="ru-RU" sz="1500" dirty="0">
                <a:solidFill>
                  <a:schemeClr val="tx1"/>
                </a:solidFill>
              </a:rPr>
              <a:t> – это особый вид коллекции: «множество» значений (без ключей), где каждое значение может появляться только один раз.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Его основные методы это: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new</a:t>
            </a:r>
            <a:r>
              <a:rPr lang="ru-RU" altLang="ru-RU" sz="1500" dirty="0">
                <a:solidFill>
                  <a:srgbClr val="FFFF00"/>
                </a:solidFill>
              </a:rPr>
              <a:t> </a:t>
            </a:r>
            <a:r>
              <a:rPr lang="ru-RU" altLang="ru-RU" sz="1500" dirty="0" err="1">
                <a:solidFill>
                  <a:srgbClr val="FFFF00"/>
                </a:solidFill>
              </a:rPr>
              <a:t>Set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iterable</a:t>
            </a:r>
            <a:r>
              <a:rPr lang="ru-RU" altLang="ru-RU" sz="1500" dirty="0">
                <a:solidFill>
                  <a:srgbClr val="FFFF00"/>
                </a:solidFill>
              </a:rPr>
              <a:t>) </a:t>
            </a:r>
            <a:r>
              <a:rPr lang="ru-RU" altLang="ru-RU" sz="1500" dirty="0">
                <a:solidFill>
                  <a:schemeClr val="tx1"/>
                </a:solidFill>
              </a:rPr>
              <a:t>– создаёт </a:t>
            </a:r>
            <a:r>
              <a:rPr lang="ru-RU" altLang="ru-RU" sz="1500" dirty="0" err="1">
                <a:solidFill>
                  <a:schemeClr val="tx1"/>
                </a:solidFill>
              </a:rPr>
              <a:t>Set</a:t>
            </a:r>
            <a:r>
              <a:rPr lang="ru-RU" altLang="ru-RU" sz="1500" dirty="0">
                <a:solidFill>
                  <a:schemeClr val="tx1"/>
                </a:solidFill>
              </a:rPr>
              <a:t>, и если в качестве аргумента был предоставлен итерируемый объект (обычно это массив), то копирует его значения в новый </a:t>
            </a:r>
            <a:r>
              <a:rPr lang="ru-RU" altLang="ru-RU" sz="1500" dirty="0" err="1">
                <a:solidFill>
                  <a:schemeClr val="tx1"/>
                </a:solidFill>
              </a:rPr>
              <a:t>Set</a:t>
            </a:r>
            <a:r>
              <a:rPr lang="ru-RU" altLang="ru-RU" sz="15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set.add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value</a:t>
            </a:r>
            <a:r>
              <a:rPr lang="ru-RU" altLang="ru-RU" sz="1500" dirty="0">
                <a:solidFill>
                  <a:srgbClr val="FFFF00"/>
                </a:solidFill>
              </a:rPr>
              <a:t>) </a:t>
            </a:r>
            <a:r>
              <a:rPr lang="ru-RU" altLang="ru-RU" sz="1500" dirty="0">
                <a:solidFill>
                  <a:schemeClr val="tx1"/>
                </a:solidFill>
              </a:rPr>
              <a:t>– добавляет значение (если оно уже есть, то ничего не делает), возвращает тот же объект </a:t>
            </a:r>
            <a:r>
              <a:rPr lang="ru-RU" altLang="ru-RU" sz="1500" dirty="0" err="1">
                <a:solidFill>
                  <a:schemeClr val="tx1"/>
                </a:solidFill>
              </a:rPr>
              <a:t>set</a:t>
            </a:r>
            <a:r>
              <a:rPr lang="ru-RU" altLang="ru-RU" sz="15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set.delete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value</a:t>
            </a:r>
            <a:r>
              <a:rPr lang="ru-RU" altLang="ru-RU" sz="1500" dirty="0">
                <a:solidFill>
                  <a:srgbClr val="FFFF00"/>
                </a:solidFill>
              </a:rPr>
              <a:t>) </a:t>
            </a:r>
            <a:r>
              <a:rPr lang="ru-RU" altLang="ru-RU" sz="1500" dirty="0">
                <a:solidFill>
                  <a:schemeClr val="tx1"/>
                </a:solidFill>
              </a:rPr>
              <a:t>– удаляет значение, возвращает </a:t>
            </a:r>
            <a:r>
              <a:rPr lang="ru-RU" altLang="ru-RU" sz="1500" dirty="0" err="1">
                <a:solidFill>
                  <a:schemeClr val="tx1"/>
                </a:solidFill>
              </a:rPr>
              <a:t>true</a:t>
            </a:r>
            <a:r>
              <a:rPr lang="ru-RU" altLang="ru-RU" sz="1500" dirty="0">
                <a:solidFill>
                  <a:schemeClr val="tx1"/>
                </a:solidFill>
              </a:rPr>
              <a:t>, если </a:t>
            </a:r>
            <a:r>
              <a:rPr lang="ru-RU" altLang="ru-RU" sz="1500" dirty="0" err="1">
                <a:solidFill>
                  <a:schemeClr val="tx1"/>
                </a:solidFill>
              </a:rPr>
              <a:t>value</a:t>
            </a:r>
            <a:r>
              <a:rPr lang="ru-RU" altLang="ru-RU" sz="1500" dirty="0">
                <a:solidFill>
                  <a:schemeClr val="tx1"/>
                </a:solidFill>
              </a:rPr>
              <a:t> было в множестве на момент вызова, иначе </a:t>
            </a:r>
            <a:r>
              <a:rPr lang="ru-RU" altLang="ru-RU" sz="1500" dirty="0" err="1">
                <a:solidFill>
                  <a:schemeClr val="tx1"/>
                </a:solidFill>
              </a:rPr>
              <a:t>false</a:t>
            </a:r>
            <a:r>
              <a:rPr lang="ru-RU" altLang="ru-RU" sz="15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set.has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value</a:t>
            </a:r>
            <a:r>
              <a:rPr lang="ru-RU" altLang="ru-RU" sz="1500" dirty="0">
                <a:solidFill>
                  <a:srgbClr val="FFFF00"/>
                </a:solidFill>
              </a:rPr>
              <a:t>) </a:t>
            </a:r>
            <a:r>
              <a:rPr lang="ru-RU" altLang="ru-RU" sz="1500" dirty="0">
                <a:solidFill>
                  <a:schemeClr val="tx1"/>
                </a:solidFill>
              </a:rPr>
              <a:t>– возвращает </a:t>
            </a:r>
            <a:r>
              <a:rPr lang="ru-RU" altLang="ru-RU" sz="1500" dirty="0" err="1">
                <a:solidFill>
                  <a:schemeClr val="tx1"/>
                </a:solidFill>
              </a:rPr>
              <a:t>true</a:t>
            </a:r>
            <a:r>
              <a:rPr lang="ru-RU" altLang="ru-RU" sz="1500" dirty="0">
                <a:solidFill>
                  <a:schemeClr val="tx1"/>
                </a:solidFill>
              </a:rPr>
              <a:t>, если значение присутствует в множестве, иначе </a:t>
            </a:r>
            <a:r>
              <a:rPr lang="ru-RU" altLang="ru-RU" sz="1500" dirty="0" err="1">
                <a:solidFill>
                  <a:schemeClr val="tx1"/>
                </a:solidFill>
              </a:rPr>
              <a:t>false</a:t>
            </a:r>
            <a:r>
              <a:rPr lang="ru-RU" altLang="ru-RU" sz="15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set.clear</a:t>
            </a:r>
            <a:r>
              <a:rPr lang="ru-RU" altLang="ru-RU" sz="1500" dirty="0">
                <a:solidFill>
                  <a:srgbClr val="FFFF00"/>
                </a:solidFill>
              </a:rPr>
              <a:t>() </a:t>
            </a:r>
            <a:r>
              <a:rPr lang="ru-RU" altLang="ru-RU" sz="1500" dirty="0">
                <a:solidFill>
                  <a:schemeClr val="tx1"/>
                </a:solidFill>
              </a:rPr>
              <a:t>– удаляет все имеющиеся значения.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set.size</a:t>
            </a:r>
            <a:r>
              <a:rPr lang="ru-RU" altLang="ru-RU" sz="1500" dirty="0">
                <a:solidFill>
                  <a:srgbClr val="FFFF00"/>
                </a:solidFill>
              </a:rPr>
              <a:t> </a:t>
            </a:r>
            <a:r>
              <a:rPr lang="ru-RU" altLang="ru-RU" sz="1500" dirty="0">
                <a:solidFill>
                  <a:schemeClr val="tx1"/>
                </a:solidFill>
              </a:rPr>
              <a:t>– возвращает количество элементов в множестве.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Основная «изюминка» – это то, что при повторных вызовах </a:t>
            </a:r>
            <a:r>
              <a:rPr lang="ru-RU" altLang="ru-RU" sz="1500" dirty="0" err="1">
                <a:solidFill>
                  <a:schemeClr val="tx1"/>
                </a:solidFill>
              </a:rPr>
              <a:t>set.add</a:t>
            </a:r>
            <a:r>
              <a:rPr lang="ru-RU" altLang="ru-RU" sz="1500" dirty="0">
                <a:solidFill>
                  <a:schemeClr val="tx1"/>
                </a:solidFill>
              </a:rPr>
              <a:t>() с одним и тем же значением ничего не происходит, за счёт этого как раз и получается, что каждое значение появляется один раз.</a:t>
            </a:r>
            <a:endParaRPr lang="en-US" altLang="ru-RU" sz="15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FF7930D-B52C-420F-ADC8-E0BCCB80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2333"/>
            <a:ext cx="20550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6009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Map </a:t>
            </a:r>
            <a:r>
              <a:rPr lang="ru-RU" sz="2800" b="1" dirty="0"/>
              <a:t>и </a:t>
            </a:r>
            <a:r>
              <a:rPr lang="en-US" sz="2800" b="1" dirty="0"/>
              <a:t>Set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b="1" dirty="0">
                <a:solidFill>
                  <a:srgbClr val="FFFF00"/>
                </a:solidFill>
              </a:rPr>
              <a:t>Set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Список </a:t>
            </a:r>
            <a:r>
              <a:rPr lang="ru-RU" altLang="ru-RU" sz="1400" dirty="0" err="1">
                <a:solidFill>
                  <a:srgbClr val="FFFF00"/>
                </a:solidFill>
              </a:rPr>
              <a:t>поситителей</a:t>
            </a:r>
            <a:br>
              <a:rPr lang="ru-RU" altLang="ru-RU" sz="1400" dirty="0">
                <a:solidFill>
                  <a:schemeClr val="tx1"/>
                </a:solidFill>
              </a:rPr>
            </a:br>
            <a:r>
              <a:rPr lang="ru-RU" altLang="ru-RU" sz="1400" dirty="0">
                <a:solidFill>
                  <a:schemeClr val="tx1"/>
                </a:solidFill>
              </a:rPr>
              <a:t>Множество </a:t>
            </a:r>
            <a:r>
              <a:rPr lang="en-US" altLang="ru-RU" sz="1400" dirty="0">
                <a:solidFill>
                  <a:schemeClr val="tx1"/>
                </a:solidFill>
              </a:rPr>
              <a:t>Set – </a:t>
            </a:r>
            <a:r>
              <a:rPr lang="ru-RU" altLang="ru-RU" sz="1400" dirty="0">
                <a:solidFill>
                  <a:schemeClr val="tx1"/>
                </a:solidFill>
              </a:rPr>
              <a:t>как раз то, что нужно для этого: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set =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Set();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john = {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"John"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pete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{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"Pete"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mary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{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"Mary"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</a:rPr>
              <a:t>считаем гостей, некоторые приходят несколько раз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set.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add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(john);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set.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add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pete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set.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add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mary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set.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add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(john);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set.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add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mary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</a:rPr>
              <a:t>// set </a:t>
            </a:r>
            <a:r>
              <a:rPr lang="ru-RU" altLang="ru-RU" sz="1400" dirty="0">
                <a:solidFill>
                  <a:srgbClr val="FFFF00"/>
                </a:solidFill>
              </a:rPr>
              <a:t>хранит только 3 уникальных значения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set.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size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3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set)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(user.name);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John (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потом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Pete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и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Mary)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FF7930D-B52C-420F-ADC8-E0BCCB80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2333"/>
            <a:ext cx="20550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2968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Map </a:t>
            </a:r>
            <a:r>
              <a:rPr lang="ru-RU" sz="2800" b="1" dirty="0"/>
              <a:t>и </a:t>
            </a:r>
            <a:r>
              <a:rPr lang="en-US" sz="2800" b="1" dirty="0"/>
              <a:t>Set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b="1" dirty="0">
                <a:solidFill>
                  <a:srgbClr val="FFFF00"/>
                </a:solidFill>
              </a:rPr>
              <a:t>Set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Перебор объекта </a:t>
            </a:r>
            <a:r>
              <a:rPr lang="en-US" altLang="ru-RU" sz="1400" dirty="0">
                <a:solidFill>
                  <a:srgbClr val="FFFF00"/>
                </a:solidFill>
              </a:rPr>
              <a:t>Set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Можно перебрать содержимое объекта </a:t>
            </a:r>
            <a:r>
              <a:rPr lang="ru-RU" altLang="ru-RU" sz="1400" dirty="0" err="1">
                <a:solidFill>
                  <a:schemeClr val="tx1"/>
                </a:solidFill>
              </a:rPr>
              <a:t>set</a:t>
            </a:r>
            <a:r>
              <a:rPr lang="ru-RU" altLang="ru-RU" sz="1400" dirty="0">
                <a:solidFill>
                  <a:schemeClr val="tx1"/>
                </a:solidFill>
              </a:rPr>
              <a:t> как с помощью метода </a:t>
            </a:r>
            <a:r>
              <a:rPr lang="ru-RU" altLang="ru-RU" sz="1400" dirty="0" err="1">
                <a:solidFill>
                  <a:srgbClr val="FFFF00"/>
                </a:solidFill>
              </a:rPr>
              <a:t>for</a:t>
            </a:r>
            <a:r>
              <a:rPr lang="ru-RU" altLang="ru-RU" sz="1400" dirty="0">
                <a:solidFill>
                  <a:srgbClr val="FFFF00"/>
                </a:solidFill>
              </a:rPr>
              <a:t>..</a:t>
            </a:r>
            <a:r>
              <a:rPr lang="ru-RU" altLang="ru-RU" sz="1400" dirty="0" err="1">
                <a:solidFill>
                  <a:srgbClr val="FFFF00"/>
                </a:solidFill>
              </a:rPr>
              <a:t>of</a:t>
            </a:r>
            <a:r>
              <a:rPr lang="ru-RU" altLang="ru-RU" sz="1400" dirty="0">
                <a:solidFill>
                  <a:schemeClr val="tx1"/>
                </a:solidFill>
              </a:rPr>
              <a:t>, так и используя </a:t>
            </a:r>
            <a:r>
              <a:rPr lang="ru-RU" altLang="ru-RU" sz="1400" dirty="0" err="1">
                <a:solidFill>
                  <a:srgbClr val="FFFF00"/>
                </a:solidFill>
              </a:rPr>
              <a:t>forEach</a:t>
            </a:r>
            <a:r>
              <a:rPr lang="ru-RU" altLang="ru-RU" sz="1400" dirty="0">
                <a:solidFill>
                  <a:schemeClr val="tx1"/>
                </a:solidFill>
              </a:rPr>
              <a:t>: 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set =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Set([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апельсин", "яблоко", "банан"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]);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value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set) 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(value);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то же самое с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forEach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set.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forEach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((value,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valueAgain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set) =&gt;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(value);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});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Set</a:t>
            </a:r>
            <a:r>
              <a:rPr lang="ru-RU" altLang="ru-RU" sz="1400" dirty="0">
                <a:solidFill>
                  <a:schemeClr val="tx1"/>
                </a:solidFill>
              </a:rPr>
              <a:t> имеет те же встроенные методы, что и </a:t>
            </a:r>
            <a:r>
              <a:rPr lang="ru-RU" altLang="ru-RU" sz="1400" dirty="0" err="1">
                <a:solidFill>
                  <a:srgbClr val="FFFF00"/>
                </a:solidFill>
              </a:rPr>
              <a:t>Map</a:t>
            </a:r>
            <a:r>
              <a:rPr lang="ru-RU" altLang="ru-RU" sz="1400" dirty="0">
                <a:solidFill>
                  <a:schemeClr val="tx1"/>
                </a:solidFill>
              </a:rPr>
              <a:t>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set.values</a:t>
            </a:r>
            <a:r>
              <a:rPr lang="ru-RU" altLang="ru-RU" sz="1400" dirty="0">
                <a:solidFill>
                  <a:srgbClr val="FFFF00"/>
                </a:solidFill>
              </a:rPr>
              <a:t>() </a:t>
            </a:r>
            <a:r>
              <a:rPr lang="ru-RU" altLang="ru-RU" sz="1400" dirty="0">
                <a:solidFill>
                  <a:schemeClr val="tx1"/>
                </a:solidFill>
              </a:rPr>
              <a:t>– возвращает перебираемый объект для значений,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set.keys</a:t>
            </a:r>
            <a:r>
              <a:rPr lang="ru-RU" altLang="ru-RU" sz="1400" dirty="0">
                <a:solidFill>
                  <a:srgbClr val="FFFF00"/>
                </a:solidFill>
              </a:rPr>
              <a:t>() </a:t>
            </a:r>
            <a:r>
              <a:rPr lang="ru-RU" altLang="ru-RU" sz="1400" dirty="0">
                <a:solidFill>
                  <a:schemeClr val="tx1"/>
                </a:solidFill>
              </a:rPr>
              <a:t>– то же самое, что и </a:t>
            </a:r>
            <a:r>
              <a:rPr lang="ru-RU" altLang="ru-RU" sz="1400" dirty="0" err="1">
                <a:solidFill>
                  <a:schemeClr val="tx1"/>
                </a:solidFill>
              </a:rPr>
              <a:t>set.values</a:t>
            </a:r>
            <a:r>
              <a:rPr lang="ru-RU" altLang="ru-RU" sz="1400" dirty="0">
                <a:solidFill>
                  <a:schemeClr val="tx1"/>
                </a:solidFill>
              </a:rPr>
              <a:t>(), присутствует для обратной совместимости с </a:t>
            </a:r>
            <a:r>
              <a:rPr lang="ru-RU" altLang="ru-RU" sz="1400" dirty="0" err="1">
                <a:solidFill>
                  <a:schemeClr val="tx1"/>
                </a:solidFill>
              </a:rPr>
              <a:t>Map</a:t>
            </a:r>
            <a:r>
              <a:rPr lang="ru-RU" altLang="ru-RU" sz="1400" dirty="0">
                <a:solidFill>
                  <a:schemeClr val="tx1"/>
                </a:solidFill>
              </a:rPr>
              <a:t>,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set.entries</a:t>
            </a:r>
            <a:r>
              <a:rPr lang="ru-RU" altLang="ru-RU" sz="1400" dirty="0">
                <a:solidFill>
                  <a:srgbClr val="FFFF00"/>
                </a:solidFill>
              </a:rPr>
              <a:t>() </a:t>
            </a:r>
            <a:r>
              <a:rPr lang="ru-RU" altLang="ru-RU" sz="1400" dirty="0">
                <a:solidFill>
                  <a:schemeClr val="tx1"/>
                </a:solidFill>
              </a:rPr>
              <a:t>– возвращает перебираемый объект для пар вида [значение, значение], присутствует для обратной совместимости с </a:t>
            </a:r>
            <a:r>
              <a:rPr lang="ru-RU" altLang="ru-RU" sz="1400" dirty="0" err="1">
                <a:solidFill>
                  <a:schemeClr val="tx1"/>
                </a:solidFill>
              </a:rPr>
              <a:t>Map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FF7930D-B52C-420F-ADC8-E0BCCB80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2333"/>
            <a:ext cx="20550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2044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Итого: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b="1" dirty="0">
                <a:solidFill>
                  <a:srgbClr val="FFFF00"/>
                </a:solidFill>
              </a:rPr>
              <a:t>Map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Map</a:t>
            </a:r>
            <a:r>
              <a:rPr lang="ru-RU" altLang="ru-RU" sz="1500" dirty="0">
                <a:solidFill>
                  <a:srgbClr val="FFFF00"/>
                </a:solidFill>
              </a:rPr>
              <a:t> </a:t>
            </a:r>
            <a:r>
              <a:rPr lang="ru-RU" altLang="ru-RU" sz="1500" dirty="0">
                <a:solidFill>
                  <a:schemeClr val="tx1"/>
                </a:solidFill>
              </a:rPr>
              <a:t>– коллекция пар ключ-значение</a:t>
            </a:r>
            <a:r>
              <a:rPr lang="ru-RU" altLang="ru-RU" sz="1500" dirty="0">
                <a:solidFill>
                  <a:srgbClr val="FFFF00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Методы и свойства: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new</a:t>
            </a:r>
            <a:r>
              <a:rPr lang="ru-RU" altLang="ru-RU" sz="1500" dirty="0">
                <a:solidFill>
                  <a:srgbClr val="FFFF00"/>
                </a:solidFill>
              </a:rPr>
              <a:t> </a:t>
            </a:r>
            <a:r>
              <a:rPr lang="ru-RU" altLang="ru-RU" sz="1500" dirty="0" err="1">
                <a:solidFill>
                  <a:srgbClr val="FFFF00"/>
                </a:solidFill>
              </a:rPr>
              <a:t>Map</a:t>
            </a:r>
            <a:r>
              <a:rPr lang="ru-RU" altLang="ru-RU" sz="1500" dirty="0">
                <a:solidFill>
                  <a:srgbClr val="FFFF00"/>
                </a:solidFill>
              </a:rPr>
              <a:t>([</a:t>
            </a:r>
            <a:r>
              <a:rPr lang="ru-RU" altLang="ru-RU" sz="1500" dirty="0" err="1">
                <a:solidFill>
                  <a:srgbClr val="FFFF00"/>
                </a:solidFill>
              </a:rPr>
              <a:t>iterable</a:t>
            </a:r>
            <a:r>
              <a:rPr lang="ru-RU" altLang="ru-RU" sz="1500" dirty="0">
                <a:solidFill>
                  <a:srgbClr val="FFFF00"/>
                </a:solidFill>
              </a:rPr>
              <a:t>]) </a:t>
            </a:r>
            <a:r>
              <a:rPr lang="ru-RU" altLang="ru-RU" sz="1500" dirty="0">
                <a:solidFill>
                  <a:schemeClr val="tx1"/>
                </a:solidFill>
              </a:rPr>
              <a:t>– создаёт коллекцию, можно указать перебираемый объект (обычно массив) из пар [</a:t>
            </a:r>
            <a:r>
              <a:rPr lang="ru-RU" altLang="ru-RU" sz="1500" dirty="0" err="1">
                <a:solidFill>
                  <a:schemeClr val="tx1"/>
                </a:solidFill>
              </a:rPr>
              <a:t>ключ,значение</a:t>
            </a:r>
            <a:r>
              <a:rPr lang="ru-RU" altLang="ru-RU" sz="1500" dirty="0">
                <a:solidFill>
                  <a:schemeClr val="tx1"/>
                </a:solidFill>
              </a:rPr>
              <a:t>] для инициализации.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map.set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key</a:t>
            </a:r>
            <a:r>
              <a:rPr lang="ru-RU" altLang="ru-RU" sz="1500" dirty="0">
                <a:solidFill>
                  <a:srgbClr val="FFFF00"/>
                </a:solidFill>
              </a:rPr>
              <a:t>, </a:t>
            </a:r>
            <a:r>
              <a:rPr lang="ru-RU" altLang="ru-RU" sz="1500" dirty="0" err="1">
                <a:solidFill>
                  <a:srgbClr val="FFFF00"/>
                </a:solidFill>
              </a:rPr>
              <a:t>value</a:t>
            </a:r>
            <a:r>
              <a:rPr lang="ru-RU" altLang="ru-RU" sz="1500" dirty="0">
                <a:solidFill>
                  <a:srgbClr val="FFFF00"/>
                </a:solidFill>
              </a:rPr>
              <a:t>) </a:t>
            </a:r>
            <a:r>
              <a:rPr lang="ru-RU" altLang="ru-RU" sz="1500" dirty="0">
                <a:solidFill>
                  <a:schemeClr val="tx1"/>
                </a:solidFill>
              </a:rPr>
              <a:t>– записывает по ключу </a:t>
            </a:r>
            <a:r>
              <a:rPr lang="ru-RU" altLang="ru-RU" sz="1500" dirty="0" err="1">
                <a:solidFill>
                  <a:schemeClr val="tx1"/>
                </a:solidFill>
              </a:rPr>
              <a:t>key</a:t>
            </a:r>
            <a:r>
              <a:rPr lang="ru-RU" altLang="ru-RU" sz="1500" dirty="0">
                <a:solidFill>
                  <a:schemeClr val="tx1"/>
                </a:solidFill>
              </a:rPr>
              <a:t> значение </a:t>
            </a:r>
            <a:r>
              <a:rPr lang="ru-RU" altLang="ru-RU" sz="1500" dirty="0" err="1">
                <a:solidFill>
                  <a:schemeClr val="tx1"/>
                </a:solidFill>
              </a:rPr>
              <a:t>value</a:t>
            </a:r>
            <a:r>
              <a:rPr lang="ru-RU" altLang="ru-RU" sz="1500" dirty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map.get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key</a:t>
            </a:r>
            <a:r>
              <a:rPr lang="ru-RU" altLang="ru-RU" sz="1500" dirty="0">
                <a:solidFill>
                  <a:srgbClr val="FFFF00"/>
                </a:solidFill>
              </a:rPr>
              <a:t>) </a:t>
            </a:r>
            <a:r>
              <a:rPr lang="ru-RU" altLang="ru-RU" sz="1500" dirty="0">
                <a:solidFill>
                  <a:schemeClr val="tx1"/>
                </a:solidFill>
              </a:rPr>
              <a:t>– возвращает значение по ключу или </a:t>
            </a:r>
            <a:r>
              <a:rPr lang="ru-RU" altLang="ru-RU" sz="1500" dirty="0" err="1">
                <a:solidFill>
                  <a:schemeClr val="tx1"/>
                </a:solidFill>
              </a:rPr>
              <a:t>undefined</a:t>
            </a:r>
            <a:r>
              <a:rPr lang="ru-RU" altLang="ru-RU" sz="1500" dirty="0">
                <a:solidFill>
                  <a:schemeClr val="tx1"/>
                </a:solidFill>
              </a:rPr>
              <a:t>, если ключ </a:t>
            </a:r>
            <a:r>
              <a:rPr lang="ru-RU" altLang="ru-RU" sz="1500" dirty="0" err="1">
                <a:solidFill>
                  <a:schemeClr val="tx1"/>
                </a:solidFill>
              </a:rPr>
              <a:t>key</a:t>
            </a:r>
            <a:r>
              <a:rPr lang="ru-RU" altLang="ru-RU" sz="1500" dirty="0">
                <a:solidFill>
                  <a:schemeClr val="tx1"/>
                </a:solidFill>
              </a:rPr>
              <a:t> отсутствует.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map.has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key</a:t>
            </a:r>
            <a:r>
              <a:rPr lang="ru-RU" altLang="ru-RU" sz="1500" dirty="0">
                <a:solidFill>
                  <a:srgbClr val="FFFF00"/>
                </a:solidFill>
              </a:rPr>
              <a:t>) </a:t>
            </a:r>
            <a:r>
              <a:rPr lang="ru-RU" altLang="ru-RU" sz="1500" dirty="0">
                <a:solidFill>
                  <a:schemeClr val="tx1"/>
                </a:solidFill>
              </a:rPr>
              <a:t>– возвращает </a:t>
            </a:r>
            <a:r>
              <a:rPr lang="ru-RU" altLang="ru-RU" sz="1500" dirty="0" err="1">
                <a:solidFill>
                  <a:schemeClr val="tx1"/>
                </a:solidFill>
              </a:rPr>
              <a:t>true</a:t>
            </a:r>
            <a:r>
              <a:rPr lang="ru-RU" altLang="ru-RU" sz="1500" dirty="0">
                <a:solidFill>
                  <a:schemeClr val="tx1"/>
                </a:solidFill>
              </a:rPr>
              <a:t>, если ключ </a:t>
            </a:r>
            <a:r>
              <a:rPr lang="ru-RU" altLang="ru-RU" sz="1500" dirty="0" err="1">
                <a:solidFill>
                  <a:schemeClr val="tx1"/>
                </a:solidFill>
              </a:rPr>
              <a:t>key</a:t>
            </a:r>
            <a:r>
              <a:rPr lang="ru-RU" altLang="ru-RU" sz="1500" dirty="0">
                <a:solidFill>
                  <a:schemeClr val="tx1"/>
                </a:solidFill>
              </a:rPr>
              <a:t> присутствует в коллекции, иначе </a:t>
            </a:r>
            <a:r>
              <a:rPr lang="ru-RU" altLang="ru-RU" sz="1500" dirty="0" err="1">
                <a:solidFill>
                  <a:schemeClr val="tx1"/>
                </a:solidFill>
              </a:rPr>
              <a:t>false</a:t>
            </a:r>
            <a:r>
              <a:rPr lang="ru-RU" altLang="ru-RU" sz="1500" dirty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map.delete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key</a:t>
            </a:r>
            <a:r>
              <a:rPr lang="ru-RU" altLang="ru-RU" sz="1500" dirty="0">
                <a:solidFill>
                  <a:srgbClr val="FFFF00"/>
                </a:solidFill>
              </a:rPr>
              <a:t>) </a:t>
            </a:r>
            <a:r>
              <a:rPr lang="ru-RU" altLang="ru-RU" sz="1500" dirty="0">
                <a:solidFill>
                  <a:schemeClr val="tx1"/>
                </a:solidFill>
              </a:rPr>
              <a:t>– удаляет элемент по ключу </a:t>
            </a:r>
            <a:r>
              <a:rPr lang="ru-RU" altLang="ru-RU" sz="1500" dirty="0" err="1">
                <a:solidFill>
                  <a:schemeClr val="tx1"/>
                </a:solidFill>
              </a:rPr>
              <a:t>key</a:t>
            </a:r>
            <a:r>
              <a:rPr lang="ru-RU" altLang="ru-RU" sz="1500" dirty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map.clear</a:t>
            </a:r>
            <a:r>
              <a:rPr lang="ru-RU" altLang="ru-RU" sz="1500" dirty="0">
                <a:solidFill>
                  <a:srgbClr val="FFFF00"/>
                </a:solidFill>
              </a:rPr>
              <a:t>() </a:t>
            </a:r>
            <a:r>
              <a:rPr lang="ru-RU" altLang="ru-RU" sz="1500" dirty="0">
                <a:solidFill>
                  <a:schemeClr val="tx1"/>
                </a:solidFill>
              </a:rPr>
              <a:t>– очищает коллекцию от всех элементов.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map.size</a:t>
            </a:r>
            <a:r>
              <a:rPr lang="ru-RU" altLang="ru-RU" sz="1500" dirty="0">
                <a:solidFill>
                  <a:srgbClr val="FFFF00"/>
                </a:solidFill>
              </a:rPr>
              <a:t> </a:t>
            </a:r>
            <a:r>
              <a:rPr lang="ru-RU" altLang="ru-RU" sz="1500" dirty="0">
                <a:solidFill>
                  <a:schemeClr val="tx1"/>
                </a:solidFill>
              </a:rPr>
              <a:t>– возвращает текущее количество элементов.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Отличия от обычного объекта </a:t>
            </a:r>
            <a:r>
              <a:rPr lang="ru-RU" altLang="ru-RU" sz="1500" dirty="0" err="1">
                <a:solidFill>
                  <a:schemeClr val="tx1"/>
                </a:solidFill>
              </a:rPr>
              <a:t>Object</a:t>
            </a:r>
            <a:r>
              <a:rPr lang="ru-RU" altLang="ru-RU" sz="1500" dirty="0">
                <a:solidFill>
                  <a:schemeClr val="tx1"/>
                </a:solidFill>
              </a:rPr>
              <a:t>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</a:rPr>
              <a:t>Что угодно может быть ключом, в том числе и объекты.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</a:rPr>
              <a:t>Есть дополнительные методы, свойство </a:t>
            </a:r>
            <a:r>
              <a:rPr lang="ru-RU" altLang="ru-RU" sz="1500" dirty="0" err="1">
                <a:solidFill>
                  <a:schemeClr val="tx1"/>
                </a:solidFill>
              </a:rPr>
              <a:t>size</a:t>
            </a:r>
            <a:r>
              <a:rPr lang="ru-RU" altLang="ru-RU" sz="15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dirty="0">
              <a:solidFill>
                <a:srgbClr val="E2E3E7"/>
              </a:solidFill>
              <a:latin typeface="BlinkMacSystemFont"/>
            </a:endParaRPr>
          </a:p>
        </p:txBody>
      </p:sp>
    </p:spTree>
    <p:extLst>
      <p:ext uri="{BB962C8B-B14F-4D97-AF65-F5344CB8AC3E}">
        <p14:creationId xmlns:p14="http://schemas.microsoft.com/office/powerpoint/2010/main" val="26986792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Итого: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b="1" dirty="0">
                <a:solidFill>
                  <a:srgbClr val="FFFF00"/>
                </a:solidFill>
              </a:rPr>
              <a:t>Set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b="1" dirty="0" err="1">
                <a:solidFill>
                  <a:srgbClr val="FFFF00"/>
                </a:solidFill>
              </a:rPr>
              <a:t>Set</a:t>
            </a:r>
            <a:r>
              <a:rPr lang="ru-RU" altLang="ru-RU" sz="1500" b="1" dirty="0">
                <a:solidFill>
                  <a:srgbClr val="FFFF00"/>
                </a:solidFill>
              </a:rPr>
              <a:t> – коллекция уникальных значений, так называемое «множество».</a:t>
            </a:r>
          </a:p>
          <a:p>
            <a:pPr marL="0" lv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Методы и свойства:</a:t>
            </a:r>
          </a:p>
          <a:p>
            <a:pPr lvl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new</a:t>
            </a:r>
            <a:r>
              <a:rPr lang="ru-RU" altLang="ru-RU" sz="1500" dirty="0">
                <a:solidFill>
                  <a:srgbClr val="FFFF00"/>
                </a:solidFill>
              </a:rPr>
              <a:t> </a:t>
            </a:r>
            <a:r>
              <a:rPr lang="ru-RU" altLang="ru-RU" sz="1500" dirty="0" err="1">
                <a:solidFill>
                  <a:srgbClr val="FFFF00"/>
                </a:solidFill>
              </a:rPr>
              <a:t>Set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iterable</a:t>
            </a:r>
            <a:r>
              <a:rPr lang="ru-RU" altLang="ru-RU" sz="1500" dirty="0">
                <a:solidFill>
                  <a:srgbClr val="FFFF00"/>
                </a:solidFill>
              </a:rPr>
              <a:t>) </a:t>
            </a:r>
            <a:r>
              <a:rPr lang="ru-RU" altLang="ru-RU" sz="1500" dirty="0">
                <a:solidFill>
                  <a:schemeClr val="tx1"/>
                </a:solidFill>
              </a:rPr>
              <a:t>– создаёт </a:t>
            </a:r>
            <a:r>
              <a:rPr lang="ru-RU" altLang="ru-RU" sz="1500" dirty="0" err="1">
                <a:solidFill>
                  <a:schemeClr val="tx1"/>
                </a:solidFill>
              </a:rPr>
              <a:t>Set</a:t>
            </a:r>
            <a:r>
              <a:rPr lang="ru-RU" altLang="ru-RU" sz="1500" dirty="0">
                <a:solidFill>
                  <a:schemeClr val="tx1"/>
                </a:solidFill>
              </a:rPr>
              <a:t>, можно указать перебираемый объект со значениями для инициализации.</a:t>
            </a:r>
          </a:p>
          <a:p>
            <a:pPr lvl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set.add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value</a:t>
            </a:r>
            <a:r>
              <a:rPr lang="ru-RU" altLang="ru-RU" sz="1500" dirty="0">
                <a:solidFill>
                  <a:srgbClr val="FFFF00"/>
                </a:solidFill>
              </a:rPr>
              <a:t>) </a:t>
            </a:r>
            <a:r>
              <a:rPr lang="ru-RU" altLang="ru-RU" sz="1500" dirty="0">
                <a:solidFill>
                  <a:schemeClr val="tx1"/>
                </a:solidFill>
              </a:rPr>
              <a:t>– добавляет значение (если оно уже есть, то ничего не делает), возвращает тот же объект </a:t>
            </a:r>
            <a:r>
              <a:rPr lang="ru-RU" altLang="ru-RU" sz="1500" dirty="0" err="1">
                <a:solidFill>
                  <a:schemeClr val="tx1"/>
                </a:solidFill>
              </a:rPr>
              <a:t>set</a:t>
            </a:r>
            <a:r>
              <a:rPr lang="ru-RU" altLang="ru-RU" sz="1500" dirty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set.delete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value</a:t>
            </a:r>
            <a:r>
              <a:rPr lang="ru-RU" altLang="ru-RU" sz="1500" dirty="0">
                <a:solidFill>
                  <a:schemeClr val="tx1"/>
                </a:solidFill>
              </a:rPr>
              <a:t>) – удаляет значение, возвращает </a:t>
            </a:r>
            <a:r>
              <a:rPr lang="ru-RU" altLang="ru-RU" sz="1500" dirty="0" err="1">
                <a:solidFill>
                  <a:schemeClr val="tx1"/>
                </a:solidFill>
              </a:rPr>
              <a:t>true</a:t>
            </a:r>
            <a:r>
              <a:rPr lang="ru-RU" altLang="ru-RU" sz="1500" dirty="0">
                <a:solidFill>
                  <a:schemeClr val="tx1"/>
                </a:solidFill>
              </a:rPr>
              <a:t> если </a:t>
            </a:r>
            <a:r>
              <a:rPr lang="ru-RU" altLang="ru-RU" sz="1500" dirty="0" err="1">
                <a:solidFill>
                  <a:schemeClr val="tx1"/>
                </a:solidFill>
              </a:rPr>
              <a:t>value</a:t>
            </a:r>
            <a:r>
              <a:rPr lang="ru-RU" altLang="ru-RU" sz="1500" dirty="0">
                <a:solidFill>
                  <a:schemeClr val="tx1"/>
                </a:solidFill>
              </a:rPr>
              <a:t> было в множестве на момент вызова, иначе </a:t>
            </a:r>
            <a:r>
              <a:rPr lang="ru-RU" altLang="ru-RU" sz="1500" dirty="0" err="1">
                <a:solidFill>
                  <a:schemeClr val="tx1"/>
                </a:solidFill>
              </a:rPr>
              <a:t>false</a:t>
            </a:r>
            <a:r>
              <a:rPr lang="ru-RU" altLang="ru-RU" sz="1500" dirty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set.has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value</a:t>
            </a:r>
            <a:r>
              <a:rPr lang="ru-RU" altLang="ru-RU" sz="1500" dirty="0">
                <a:solidFill>
                  <a:srgbClr val="FFFF00"/>
                </a:solidFill>
              </a:rPr>
              <a:t>) </a:t>
            </a:r>
            <a:r>
              <a:rPr lang="ru-RU" altLang="ru-RU" sz="1500" dirty="0">
                <a:solidFill>
                  <a:schemeClr val="tx1"/>
                </a:solidFill>
              </a:rPr>
              <a:t>– возвращает </a:t>
            </a:r>
            <a:r>
              <a:rPr lang="ru-RU" altLang="ru-RU" sz="1500" dirty="0" err="1">
                <a:solidFill>
                  <a:schemeClr val="tx1"/>
                </a:solidFill>
              </a:rPr>
              <a:t>true</a:t>
            </a:r>
            <a:r>
              <a:rPr lang="ru-RU" altLang="ru-RU" sz="1500" dirty="0">
                <a:solidFill>
                  <a:schemeClr val="tx1"/>
                </a:solidFill>
              </a:rPr>
              <a:t>, если значение присутствует в множестве, иначе </a:t>
            </a:r>
            <a:r>
              <a:rPr lang="ru-RU" altLang="ru-RU" sz="1500" dirty="0" err="1">
                <a:solidFill>
                  <a:schemeClr val="tx1"/>
                </a:solidFill>
              </a:rPr>
              <a:t>false</a:t>
            </a:r>
            <a:r>
              <a:rPr lang="ru-RU" altLang="ru-RU" sz="1500" dirty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set.clear</a:t>
            </a:r>
            <a:r>
              <a:rPr lang="ru-RU" altLang="ru-RU" sz="1500" dirty="0">
                <a:solidFill>
                  <a:srgbClr val="FFFF00"/>
                </a:solidFill>
              </a:rPr>
              <a:t>() </a:t>
            </a:r>
            <a:r>
              <a:rPr lang="ru-RU" altLang="ru-RU" sz="1500" dirty="0">
                <a:solidFill>
                  <a:schemeClr val="tx1"/>
                </a:solidFill>
              </a:rPr>
              <a:t>– удаляет все имеющиеся значения.</a:t>
            </a:r>
          </a:p>
          <a:p>
            <a:pPr lvl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set.size</a:t>
            </a:r>
            <a:r>
              <a:rPr lang="ru-RU" altLang="ru-RU" sz="1500" dirty="0">
                <a:solidFill>
                  <a:srgbClr val="FFFF00"/>
                </a:solidFill>
              </a:rPr>
              <a:t> </a:t>
            </a:r>
            <a:r>
              <a:rPr lang="ru-RU" altLang="ru-RU" sz="1500" dirty="0">
                <a:solidFill>
                  <a:schemeClr val="tx1"/>
                </a:solidFill>
              </a:rPr>
              <a:t>– возвращает количество элементов в множестве.</a:t>
            </a:r>
          </a:p>
          <a:p>
            <a:pPr marL="0" lv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Перебор </a:t>
            </a:r>
            <a:r>
              <a:rPr lang="ru-RU" altLang="ru-RU" sz="1500" dirty="0" err="1">
                <a:solidFill>
                  <a:schemeClr val="tx1"/>
                </a:solidFill>
              </a:rPr>
              <a:t>Map</a:t>
            </a:r>
            <a:r>
              <a:rPr lang="ru-RU" altLang="ru-RU" sz="1500" dirty="0">
                <a:solidFill>
                  <a:schemeClr val="tx1"/>
                </a:solidFill>
              </a:rPr>
              <a:t> и </a:t>
            </a:r>
            <a:r>
              <a:rPr lang="ru-RU" altLang="ru-RU" sz="1500" dirty="0" err="1">
                <a:solidFill>
                  <a:schemeClr val="tx1"/>
                </a:solidFill>
              </a:rPr>
              <a:t>Set</a:t>
            </a:r>
            <a:r>
              <a:rPr lang="ru-RU" altLang="ru-RU" sz="1500" dirty="0">
                <a:solidFill>
                  <a:schemeClr val="tx1"/>
                </a:solidFill>
              </a:rPr>
              <a:t> всегда осуществляется в порядке добавления элементов, так что нельзя сказать, что это – неупорядоченные коллекции, но поменять порядок элементов или получить элемент напрямую по его номеру нельзя.</a:t>
            </a:r>
          </a:p>
        </p:txBody>
      </p:sp>
    </p:spTree>
    <p:extLst>
      <p:ext uri="{BB962C8B-B14F-4D97-AF65-F5344CB8AC3E}">
        <p14:creationId xmlns:p14="http://schemas.microsoft.com/office/powerpoint/2010/main" val="28075639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1. Создайте </a:t>
            </a:r>
            <a:r>
              <a:rPr lang="ru-RU" sz="1600" dirty="0" err="1"/>
              <a:t>Map</a:t>
            </a:r>
            <a:r>
              <a:rPr lang="ru-RU" sz="1600" dirty="0"/>
              <a:t>, добавьте в него несколько пар ключ-значение, а затем выполните операции с </a:t>
            </a:r>
            <a:r>
              <a:rPr lang="ru-RU" sz="1600" dirty="0" err="1"/>
              <a:t>Map</a:t>
            </a:r>
            <a:r>
              <a:rPr lang="ru-RU" sz="1600" dirty="0"/>
              <a:t>, такие как получение значения по ключу, удаление пары ключ-значение, проверка наличия ключа в </a:t>
            </a:r>
            <a:r>
              <a:rPr lang="ru-RU" sz="1600" dirty="0" err="1"/>
              <a:t>Map</a:t>
            </a:r>
            <a:r>
              <a:rPr lang="ru-RU" sz="1600" dirty="0"/>
              <a:t> перебор всех значений.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2. Выполните аналогичные действия как в задаче 1 только для </a:t>
            </a:r>
            <a:r>
              <a:rPr lang="en-US" altLang="ru-RU" sz="1600" dirty="0">
                <a:solidFill>
                  <a:schemeClr val="tx1"/>
                </a:solidFill>
              </a:rPr>
              <a:t>Set.</a:t>
            </a:r>
            <a:endParaRPr lang="ru-RU" altLang="ru-RU" sz="1600" dirty="0">
              <a:solidFill>
                <a:schemeClr val="tx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4153269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8148</TotalTime>
  <Words>5515</Words>
  <Application>Microsoft Office PowerPoint</Application>
  <PresentationFormat>Экран (16:9)</PresentationFormat>
  <Paragraphs>537</Paragraphs>
  <Slides>47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4" baseType="lpstr">
      <vt:lpstr>Arial</vt:lpstr>
      <vt:lpstr>BlinkMacSystemFont</vt:lpstr>
      <vt:lpstr>Calibri</vt:lpstr>
      <vt:lpstr>Consolas</vt:lpstr>
      <vt:lpstr>Trebuchet MS</vt:lpstr>
      <vt:lpstr>Wingdings 3</vt:lpstr>
      <vt:lpstr>Аспект</vt:lpstr>
      <vt:lpstr>Методы массивов</vt:lpstr>
      <vt:lpstr>Массивы </vt:lpstr>
      <vt:lpstr>Домашнее задание лайфкодинг </vt:lpstr>
      <vt:lpstr>Наши любимые задачки </vt:lpstr>
      <vt:lpstr>Наши любимые задачки </vt:lpstr>
      <vt:lpstr>Наши любимые задачки </vt:lpstr>
      <vt:lpstr>Наши любимые задачки </vt:lpstr>
      <vt:lpstr>Преобразование массива</vt:lpstr>
      <vt:lpstr>Преобразование массива</vt:lpstr>
      <vt:lpstr>Преобразование массива</vt:lpstr>
      <vt:lpstr>Преобразование массива</vt:lpstr>
      <vt:lpstr>Преобразование массива</vt:lpstr>
      <vt:lpstr>Преобразование массива</vt:lpstr>
      <vt:lpstr>Преобразование массива</vt:lpstr>
      <vt:lpstr>Преобразование массива</vt:lpstr>
      <vt:lpstr>Наши любимые задачки </vt:lpstr>
      <vt:lpstr>Наши любимые задачки </vt:lpstr>
      <vt:lpstr>Наши любимые задачки </vt:lpstr>
      <vt:lpstr>Array.isArray</vt:lpstr>
      <vt:lpstr>Array.isArray</vt:lpstr>
      <vt:lpstr>Методы примитивов</vt:lpstr>
      <vt:lpstr>Методы примитивов</vt:lpstr>
      <vt:lpstr>Методы примитивов</vt:lpstr>
      <vt:lpstr>Методы примитивов</vt:lpstr>
      <vt:lpstr>Методы примитивов</vt:lpstr>
      <vt:lpstr>Методы примитивов</vt:lpstr>
      <vt:lpstr>Методы примитивов</vt:lpstr>
      <vt:lpstr>Методы примитивов</vt:lpstr>
      <vt:lpstr>Методы примитивов</vt:lpstr>
      <vt:lpstr>Методы примитивов</vt:lpstr>
      <vt:lpstr>Методы примитивов</vt:lpstr>
      <vt:lpstr>Методы примитивов</vt:lpstr>
      <vt:lpstr>Методы примитивов</vt:lpstr>
      <vt:lpstr>Методы примитивов</vt:lpstr>
      <vt:lpstr>Итого:</vt:lpstr>
      <vt:lpstr>Итого:</vt:lpstr>
      <vt:lpstr>Итого:</vt:lpstr>
      <vt:lpstr>Map и Set</vt:lpstr>
      <vt:lpstr>Map и Set</vt:lpstr>
      <vt:lpstr>Map и Set</vt:lpstr>
      <vt:lpstr>Map и Set</vt:lpstr>
      <vt:lpstr>Map и Set</vt:lpstr>
      <vt:lpstr>Map и Set</vt:lpstr>
      <vt:lpstr>Map и Set</vt:lpstr>
      <vt:lpstr>Итого:</vt:lpstr>
      <vt:lpstr>Итого:</vt:lpstr>
      <vt:lpstr>Наши любимые задачки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JavaScript</dc:title>
  <dc:creator>БушмелеваЕА</dc:creator>
  <cp:lastModifiedBy>Mikhail Matveichuk</cp:lastModifiedBy>
  <cp:revision>346</cp:revision>
  <dcterms:created xsi:type="dcterms:W3CDTF">2021-11-26T04:54:28Z</dcterms:created>
  <dcterms:modified xsi:type="dcterms:W3CDTF">2024-11-29T08:27:27Z</dcterms:modified>
</cp:coreProperties>
</file>