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6">
  <p:sldMasterIdLst>
    <p:sldMasterId id="2147483727" r:id="rId1"/>
  </p:sldMasterIdLst>
  <p:notesMasterIdLst>
    <p:notesMasterId r:id="rId27"/>
  </p:notesMasterIdLst>
  <p:sldIdLst>
    <p:sldId id="388" r:id="rId2"/>
    <p:sldId id="367" r:id="rId3"/>
    <p:sldId id="306" r:id="rId4"/>
    <p:sldId id="431" r:id="rId5"/>
    <p:sldId id="498" r:id="rId6"/>
    <p:sldId id="499" r:id="rId7"/>
    <p:sldId id="544" r:id="rId8"/>
    <p:sldId id="533" r:id="rId9"/>
    <p:sldId id="534" r:id="rId10"/>
    <p:sldId id="537" r:id="rId11"/>
    <p:sldId id="536" r:id="rId12"/>
    <p:sldId id="538" r:id="rId13"/>
    <p:sldId id="539" r:id="rId14"/>
    <p:sldId id="540" r:id="rId15"/>
    <p:sldId id="541" r:id="rId16"/>
    <p:sldId id="542" r:id="rId17"/>
    <p:sldId id="550" r:id="rId18"/>
    <p:sldId id="551" r:id="rId19"/>
    <p:sldId id="543" r:id="rId20"/>
    <p:sldId id="545" r:id="rId21"/>
    <p:sldId id="554" r:id="rId22"/>
    <p:sldId id="546" r:id="rId23"/>
    <p:sldId id="547" r:id="rId24"/>
    <p:sldId id="549" r:id="rId25"/>
    <p:sldId id="532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92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767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705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813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11/10/2024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10.11.2024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docs/Web/JavaScript/Reference/Global_Objects/Object/hasOwnPropert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31840" y="2247714"/>
            <a:ext cx="2412268" cy="648072"/>
          </a:xfrm>
        </p:spPr>
        <p:txBody>
          <a:bodyPr anchor="t"/>
          <a:lstStyle/>
          <a:p>
            <a:r>
              <a:rPr lang="ru-RU" b="1" dirty="0"/>
              <a:t>Массивы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92D050"/>
                </a:solidFill>
              </a:rPr>
              <a:t>Что изучили ранее</a:t>
            </a:r>
            <a:r>
              <a:rPr lang="en-US" altLang="ru-RU" sz="1600" dirty="0">
                <a:solidFill>
                  <a:srgbClr val="92D050"/>
                </a:solidFill>
              </a:rPr>
              <a:t>?</a:t>
            </a:r>
            <a:endParaRPr lang="ru-RU" altLang="ru-RU" sz="1600" dirty="0">
              <a:solidFill>
                <a:srgbClr val="92D050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 происходит копирование объектов (ссылка)?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 происходит сравнение объектов, отличие по сравнению с примитивными типами данных?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Клонирование объектов (поверхностное, глубокое).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Объединение объектов.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 3" charset="2"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Что такое сборщик мусора в </a:t>
            </a:r>
            <a:r>
              <a:rPr lang="ru-RU" altLang="ru-RU" sz="1600" dirty="0" err="1">
                <a:solidFill>
                  <a:schemeClr val="tx1"/>
                </a:solidFill>
              </a:rPr>
              <a:t>JavaScript</a:t>
            </a:r>
            <a:r>
              <a:rPr lang="ru-RU" altLang="ru-RU" sz="1600" dirty="0">
                <a:solidFill>
                  <a:schemeClr val="tx1"/>
                </a:solidFill>
              </a:rPr>
              <a:t>, общий алгоритм его работы?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Что такое методы объекта и для чего они нужны?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Ключевое слово </a:t>
            </a:r>
            <a:r>
              <a:rPr lang="en-US" altLang="ru-RU" sz="1600" dirty="0">
                <a:solidFill>
                  <a:schemeClr val="tx1"/>
                </a:solidFill>
              </a:rPr>
              <a:t>this </a:t>
            </a:r>
            <a:r>
              <a:rPr lang="ru-RU" altLang="ru-RU" sz="1600" dirty="0">
                <a:solidFill>
                  <a:schemeClr val="tx1"/>
                </a:solidFill>
              </a:rPr>
              <a:t>для чего оно нужно?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Чему равен </a:t>
            </a:r>
            <a:r>
              <a:rPr lang="en-US" altLang="ru-RU" sz="1600" dirty="0">
                <a:solidFill>
                  <a:schemeClr val="tx1"/>
                </a:solidFill>
              </a:rPr>
              <a:t>this </a:t>
            </a:r>
            <a:r>
              <a:rPr lang="ru-RU" altLang="ru-RU" sz="1600" dirty="0">
                <a:solidFill>
                  <a:schemeClr val="tx1"/>
                </a:solidFill>
              </a:rPr>
              <a:t>у функции?</a:t>
            </a: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BA4E2-D840-44AD-A8C5-B07E96B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989257"/>
            <a:ext cx="7560840" cy="798517"/>
          </a:xfrm>
        </p:spPr>
        <p:txBody>
          <a:bodyPr>
            <a:noAutofit/>
          </a:bodyPr>
          <a:lstStyle/>
          <a:p>
            <a:r>
              <a:rPr lang="ru-RU" sz="3600" dirty="0"/>
              <a:t>Домашнее задание </a:t>
            </a:r>
            <a:r>
              <a:rPr lang="ru-RU" sz="3600" dirty="0" err="1"/>
              <a:t>лайфкодинг</a:t>
            </a:r>
            <a:r>
              <a:rPr lang="ru-RU" sz="3600" dirty="0"/>
              <a:t> </a:t>
            </a:r>
            <a:r>
              <a:rPr lang="ru-RU" sz="3600" dirty="0">
                <a:sym typeface="Wingdings" panose="05000000000000000000" pitchFamily="2" charset="2"/>
              </a:rPr>
              <a:t>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8859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Домашнее задание </a:t>
            </a:r>
            <a:r>
              <a:rPr lang="ru-RU" sz="2800" dirty="0" err="1"/>
              <a:t>лайфкодинг</a:t>
            </a:r>
            <a:r>
              <a:rPr lang="ru-RU" sz="2800" dirty="0"/>
              <a:t> </a:t>
            </a:r>
            <a:r>
              <a:rPr lang="ru-RU" sz="2800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5EA80091-D443-4B1E-98EB-CD9E2796725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55650" y="708025"/>
            <a:ext cx="7704138" cy="4024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1. Создайте 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person</a:t>
            </a:r>
            <a:r>
              <a:rPr lang="ru-RU" altLang="ru-RU" sz="1400" dirty="0">
                <a:solidFill>
                  <a:schemeClr val="tx1"/>
                </a:solidFill>
              </a:rPr>
              <a:t> с следующими свойствами и методами: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: имя человека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age</a:t>
            </a:r>
            <a:r>
              <a:rPr lang="ru-RU" altLang="ru-RU" sz="1400" dirty="0">
                <a:solidFill>
                  <a:schemeClr val="tx1"/>
                </a:solidFill>
              </a:rPr>
              <a:t>: возраст человека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greet</a:t>
            </a:r>
            <a:r>
              <a:rPr lang="ru-RU" altLang="ru-RU" sz="1400" dirty="0">
                <a:solidFill>
                  <a:schemeClr val="tx1"/>
                </a:solidFill>
              </a:rPr>
              <a:t>(): возвращает приветственное сообщение с именем человека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haveBirthday</a:t>
            </a:r>
            <a:r>
              <a:rPr lang="ru-RU" altLang="ru-RU" sz="1400" dirty="0">
                <a:solidFill>
                  <a:schemeClr val="tx1"/>
                </a:solidFill>
              </a:rPr>
              <a:t>(): увеличивает возраст человека на 1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Реализуйте методы с использованием ключевого слова 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для доступа к свойствам объекта.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2. Создайте 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counter</a:t>
            </a:r>
            <a:r>
              <a:rPr lang="ru-RU" altLang="ru-RU" sz="1400" dirty="0">
                <a:solidFill>
                  <a:schemeClr val="tx1"/>
                </a:solidFill>
              </a:rPr>
              <a:t> с следующими свойствами и методами: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count</a:t>
            </a:r>
            <a:r>
              <a:rPr lang="ru-RU" altLang="ru-RU" sz="1400" dirty="0">
                <a:solidFill>
                  <a:schemeClr val="tx1"/>
                </a:solidFill>
              </a:rPr>
              <a:t>: текущий счёт (0)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increment</a:t>
            </a:r>
            <a:r>
              <a:rPr lang="ru-RU" altLang="ru-RU" sz="1400" dirty="0">
                <a:solidFill>
                  <a:schemeClr val="tx1"/>
                </a:solidFill>
              </a:rPr>
              <a:t>(): увеличивает счёт на 1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decrement</a:t>
            </a:r>
            <a:r>
              <a:rPr lang="ru-RU" altLang="ru-RU" sz="1400" dirty="0">
                <a:solidFill>
                  <a:schemeClr val="tx1"/>
                </a:solidFill>
              </a:rPr>
              <a:t>(): уменьшает счёт на 1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reset</a:t>
            </a:r>
            <a:r>
              <a:rPr lang="ru-RU" altLang="ru-RU" sz="1400" dirty="0">
                <a:solidFill>
                  <a:schemeClr val="tx1"/>
                </a:solidFill>
              </a:rPr>
              <a:t>(): сбрасывает счёт до 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Реализуйте методы с использованием ключевого слова 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для доступа к свойствам объекта.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3. Создайте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Settings</a:t>
            </a:r>
            <a:r>
              <a:rPr lang="ru-RU" altLang="ru-RU" sz="1400" dirty="0">
                <a:solidFill>
                  <a:schemeClr val="tx1"/>
                </a:solidFill>
              </a:rPr>
              <a:t> с методом </a:t>
            </a:r>
            <a:r>
              <a:rPr lang="ru-RU" altLang="ru-RU" sz="1400" dirty="0" err="1">
                <a:solidFill>
                  <a:schemeClr val="tx1"/>
                </a:solidFill>
              </a:rPr>
              <a:t>setProperty</a:t>
            </a:r>
            <a:r>
              <a:rPr lang="ru-RU" altLang="ru-RU" sz="1400" dirty="0">
                <a:solidFill>
                  <a:schemeClr val="tx1"/>
                </a:solidFill>
              </a:rPr>
              <a:t>, который принимает имя свойства и значение в качестве аргументов и устанавливает свойство в объекте, если оно существует. (для выполнения этой задачи можно использовать метод объекта </a:t>
            </a:r>
            <a:r>
              <a:rPr lang="ru-RU" altLang="ru-RU" sz="1400" dirty="0" err="1">
                <a:solidFill>
                  <a:srgbClr val="FFFF00"/>
                </a:solidFill>
                <a:hlinkClick r:id="rId3"/>
              </a:rPr>
              <a:t>hasOwnProperty</a:t>
            </a:r>
            <a:r>
              <a:rPr lang="ru-RU" altLang="ru-RU" sz="1400" dirty="0">
                <a:solidFill>
                  <a:schemeClr val="tx1"/>
                </a:solidFill>
              </a:rPr>
              <a:t>)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43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83768" y="2211710"/>
            <a:ext cx="4392488" cy="648072"/>
          </a:xfrm>
        </p:spPr>
        <p:txBody>
          <a:bodyPr anchor="t"/>
          <a:lstStyle/>
          <a:p>
            <a:pPr algn="ctr"/>
            <a:r>
              <a:rPr lang="ru-RU" b="1" dirty="0"/>
              <a:t>Массивы основы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8939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Массивы основы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/>
              <a:t>Объекты позволяют хранить данные со строковыми ключами. Часто когда приходится хранить коллекцию каких-то значений в виде упорядоченного списка  с ключами 1,2,3,4 и т.д. Использовать объект не удобно, так как у него нет методов управления порядковых элементов. Для таких действий есть структура данных, как </a:t>
            </a:r>
            <a:r>
              <a:rPr lang="en-US" sz="1400" dirty="0">
                <a:solidFill>
                  <a:srgbClr val="FFFF00"/>
                </a:solidFill>
              </a:rPr>
              <a:t>Array (</a:t>
            </a:r>
            <a:r>
              <a:rPr lang="ru-RU" sz="1400" dirty="0">
                <a:solidFill>
                  <a:srgbClr val="FFFF00"/>
                </a:solidFill>
              </a:rPr>
              <a:t>массив</a:t>
            </a:r>
            <a:r>
              <a:rPr lang="en-US" sz="1400" dirty="0">
                <a:solidFill>
                  <a:srgbClr val="FFFF00"/>
                </a:solidFill>
              </a:rPr>
              <a:t>)</a:t>
            </a:r>
            <a:r>
              <a:rPr lang="ru-RU" sz="1400" dirty="0"/>
              <a:t>.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Существует три варианта синтаксиса для создания пустого массива: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Примеры: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fruits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"Яблоко", "Апельсин", "Слива"</a:t>
            </a:r>
            <a:r>
              <a:rPr lang="ru-RU" sz="1400" dirty="0"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"Яблоко", "Апельсин", "Слива"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Array.of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"Яблоко", "Апельсин", "Слива"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Элементы массива нумеруются, начиная с нуля.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fruits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"Апельсин", "Слива"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400" dirty="0">
                <a:latin typeface="Consolas" panose="020B0609020204030204" pitchFamily="49" charset="0"/>
              </a:rPr>
              <a:t>( fruits[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latin typeface="Consolas" panose="020B0609020204030204" pitchFamily="49" charset="0"/>
              </a:rPr>
              <a:t>] 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400" dirty="0">
                <a:latin typeface="Consolas" panose="020B0609020204030204" pitchFamily="49" charset="0"/>
              </a:rPr>
              <a:t>( fruits[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] 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Апельсин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400" dirty="0">
                <a:latin typeface="Consolas" panose="020B0609020204030204" pitchFamily="49" charset="0"/>
              </a:rPr>
              <a:t>( fruits[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] 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Слива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3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Существует ещё два варианта синтаксиса для создания массива: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"Груша", "и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тд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10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или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arr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en-US" sz="1600" dirty="0" err="1"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"Груша", "и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тд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Многомерные массивы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Массивы могут содержать элементы, которые тоже являются массивами. Это можно использовать для создания многомерных массивов, например, для хранения матриц:</a:t>
            </a:r>
            <a:endParaRPr lang="en-US" altLang="ru-RU" sz="15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matrix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[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],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[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6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],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[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7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8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9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matrix[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][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5,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центральный элемент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E6795C9-7E6C-4DB4-9DA2-7189D19F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Массивы основы</a:t>
            </a:r>
          </a:p>
        </p:txBody>
      </p:sp>
    </p:spTree>
    <p:extLst>
      <p:ext uri="{BB962C8B-B14F-4D97-AF65-F5344CB8AC3E}">
        <p14:creationId xmlns:p14="http://schemas.microsoft.com/office/powerpoint/2010/main" val="74685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Массивы основы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</a:rPr>
              <a:t>Замена элемента: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fruits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] 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'Груша'; // теперь ["Яблоко", "Апельсин", "Груша"]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Добавление элемента по индексу</a:t>
            </a:r>
            <a:r>
              <a:rPr lang="en-US" altLang="ru-RU" sz="1400" dirty="0">
                <a:solidFill>
                  <a:srgbClr val="FFFF00"/>
                </a:solidFill>
              </a:rPr>
              <a:t>: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fruits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] 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'Лимон'; // теперь ["Яблоко", "Апельсин", "Груша", "Лимон"]</a:t>
            </a:r>
            <a:r>
              <a:rPr lang="ru-RU" altLang="ru-RU" sz="800" dirty="0">
                <a:solidFill>
                  <a:srgbClr val="FFFF00"/>
                </a:solidFill>
              </a:rPr>
              <a:t> </a:t>
            </a:r>
            <a:endParaRPr lang="ru-RU" altLang="ru-RU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Общее число элементов массива содержится в его свойстве </a:t>
            </a:r>
            <a:r>
              <a:rPr lang="ru-RU" altLang="ru-RU" sz="1400" dirty="0" err="1">
                <a:solidFill>
                  <a:srgbClr val="FFFF00"/>
                </a:solidFill>
              </a:rPr>
              <a:t>length</a:t>
            </a:r>
            <a:r>
              <a:rPr lang="ru-RU" altLang="ru-RU" sz="1400" dirty="0">
                <a:solidFill>
                  <a:srgbClr val="FFFF00"/>
                </a:solidFill>
              </a:rPr>
              <a:t>: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Яблоко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", 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Апельсин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", 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Слива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fruits.length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3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Вывести массив целиком можно при помощи </a:t>
            </a:r>
            <a:r>
              <a:rPr lang="ru-RU" altLang="ru-RU" sz="1400" dirty="0" err="1">
                <a:solidFill>
                  <a:srgbClr val="FFFF00"/>
                </a:solidFill>
              </a:rPr>
              <a:t>alert</a:t>
            </a:r>
            <a:r>
              <a:rPr lang="en-US" altLang="ru-RU" sz="1400" dirty="0">
                <a:solidFill>
                  <a:srgbClr val="FFFF00"/>
                </a:solidFill>
              </a:rPr>
              <a:t>: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"Апельсин", "Слива"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fruits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Яблоко, Апельсин, Слива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800" dirty="0">
                <a:solidFill>
                  <a:srgbClr val="FFFF00"/>
                </a:solidFill>
              </a:rPr>
              <a:t> </a:t>
            </a:r>
            <a:endParaRPr lang="ru-RU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В массиве могут храниться элементы любого типа.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Яблоко'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latin typeface="Consolas" panose="020B0609020204030204" pitchFamily="49" charset="0"/>
              </a:rPr>
              <a:t>{</a:t>
            </a:r>
            <a:r>
              <a:rPr lang="en-US" sz="1400" dirty="0">
                <a:latin typeface="Consolas" panose="020B0609020204030204" pitchFamily="49" charset="0"/>
              </a:rPr>
              <a:t>name: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Джон'</a:t>
            </a:r>
            <a:r>
              <a:rPr lang="ru-RU" sz="1400" dirty="0">
                <a:latin typeface="Consolas" panose="020B0609020204030204" pitchFamily="49" charset="0"/>
              </a:rPr>
              <a:t>}, </a:t>
            </a:r>
            <a:r>
              <a:rPr lang="en-US" sz="1400" dirty="0">
                <a:latin typeface="Consolas" panose="020B0609020204030204" pitchFamily="49" charset="0"/>
              </a:rPr>
              <a:t>true,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latin typeface="Consolas" panose="020B0609020204030204" pitchFamily="49" charset="0"/>
              </a:rPr>
              <a:t>(){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привет'</a:t>
            </a:r>
            <a:r>
              <a:rPr lang="ru-RU" sz="1400" dirty="0">
                <a:latin typeface="Consolas" panose="020B0609020204030204" pitchFamily="49" charset="0"/>
              </a:rPr>
              <a:t>);}];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].name);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Джон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latin typeface="Consolas" panose="020B0609020204030204" pitchFamily="49" charset="0"/>
              </a:rPr>
              <a:t>]();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привет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20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000" dirty="0"/>
              <a:t>Получение последних элементов при помощи «</a:t>
            </a:r>
            <a:r>
              <a:rPr lang="ru-RU" sz="2000" dirty="0" err="1"/>
              <a:t>at</a:t>
            </a:r>
            <a:r>
              <a:rPr lang="ru-RU" sz="2000" dirty="0"/>
              <a:t>»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1600" dirty="0">
                <a:solidFill>
                  <a:srgbClr val="FFFF00"/>
                </a:solidFill>
              </a:rPr>
              <a:t>Старый вариант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"Apple", "Orange", "Plum"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endParaRPr 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>
              <a:spcBef>
                <a:spcPts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</a:t>
            </a:r>
            <a:r>
              <a:rPr lang="en-US" sz="1600" dirty="0" err="1"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length</a:t>
            </a:r>
            <a:r>
              <a:rPr 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-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// Plum</a:t>
            </a:r>
            <a:endParaRPr lang="ru-RU" altLang="ru-RU" sz="16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Новый вариант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"Apple", "Orange", "Plum"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fruits.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-1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Plum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Другими словами, arr.at(i):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это ровно то же самое, что и </a:t>
            </a:r>
            <a:r>
              <a:rPr lang="ru-RU" altLang="ru-RU" sz="1600" dirty="0" err="1">
                <a:solidFill>
                  <a:schemeClr val="tx1"/>
                </a:solidFill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</a:rPr>
              <a:t>[i], если i &gt;= 0.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для отрицательных значений i, он отступает от конца массива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2365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Методы</a:t>
            </a:r>
            <a:r>
              <a:rPr lang="en-US" sz="2400" dirty="0"/>
              <a:t> pop/push, shift/unshift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Очередь</a:t>
            </a:r>
            <a:r>
              <a:rPr lang="ru-RU" altLang="ru-RU" sz="1600" dirty="0">
                <a:solidFill>
                  <a:srgbClr val="E2E3E7"/>
                </a:solidFill>
              </a:rPr>
              <a:t> – один из самых распространённых вариантов применения массива. В области компьютерных наук так называется упорядоченная коллекция элементов, поддерживающая два вида операций: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push</a:t>
            </a:r>
            <a:r>
              <a:rPr lang="ru-RU" altLang="ru-RU" sz="1600" dirty="0">
                <a:solidFill>
                  <a:srgbClr val="E2E3E7"/>
                </a:solidFill>
              </a:rPr>
              <a:t> добавляет элемент в конец.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u-RU" altLang="ru-RU" sz="1600" dirty="0" err="1">
                <a:solidFill>
                  <a:srgbClr val="FFFF00"/>
                </a:solidFill>
              </a:rPr>
              <a:t>shift</a:t>
            </a:r>
            <a:r>
              <a:rPr lang="ru-RU" altLang="ru-RU" sz="1600" dirty="0">
                <a:solidFill>
                  <a:srgbClr val="E2E3E7"/>
                </a:solidFill>
              </a:rPr>
              <a:t> удаляет элемент в начале, сдвигая очередь, так что второй элемент становится первым.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Массивы поддерживают обе операции.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На практике необходимость в этом возникает очень часто.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526A71-9236-4012-AEBD-385404E0F3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2000"/>
                    </a14:imgEffect>
                    <a14:imgEffect>
                      <a14:colorTemperature colorTemp="761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283718"/>
            <a:ext cx="2448272" cy="1382633"/>
          </a:xfrm>
          <a:prstGeom prst="rect">
            <a:avLst/>
          </a:prstGeom>
          <a:effectLst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575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Методы</a:t>
            </a:r>
            <a:r>
              <a:rPr lang="en-US" sz="2400" dirty="0"/>
              <a:t> pop/push, shift/unshift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Существует и другой вариант применения для массивов – структура данных, называемая </a:t>
            </a:r>
            <a:r>
              <a:rPr lang="ru-RU" altLang="ru-RU" sz="1600" dirty="0">
                <a:solidFill>
                  <a:srgbClr val="FFFF00"/>
                </a:solidFill>
              </a:rPr>
              <a:t>стек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Поддерживает два вида операций: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push</a:t>
            </a:r>
            <a:r>
              <a:rPr lang="ru-RU" altLang="ru-RU" sz="1600" dirty="0">
                <a:solidFill>
                  <a:schemeClr val="tx1"/>
                </a:solidFill>
              </a:rPr>
              <a:t> добавляет элемент в конец.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FFFF00"/>
                </a:solidFill>
              </a:rPr>
              <a:t>pop</a:t>
            </a:r>
            <a:r>
              <a:rPr lang="ru-RU" altLang="ru-RU" sz="1600" dirty="0">
                <a:solidFill>
                  <a:schemeClr val="tx1"/>
                </a:solidFill>
              </a:rPr>
              <a:t> удаляет последний элемент.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Таким образом, новые элементы всегда добавляются или удаляются из </a:t>
            </a:r>
            <a:r>
              <a:rPr lang="ru-RU" altLang="ru-RU" sz="1600" dirty="0">
                <a:solidFill>
                  <a:srgbClr val="FFFF00"/>
                </a:solidFill>
              </a:rPr>
              <a:t>«конца»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endParaRPr lang="ru-RU" sz="1600" dirty="0"/>
          </a:p>
          <a:p>
            <a:pPr marL="0" lvl="0" indent="0" defTabSz="914400" eaLnBrk="0" fontAlgn="base" hangingPunct="0">
              <a:spcBef>
                <a:spcPts val="0"/>
              </a:spcBef>
              <a:buClrTx/>
              <a:buSzTx/>
              <a:buNone/>
            </a:pPr>
            <a:r>
              <a:rPr lang="ru-RU" sz="1600" dirty="0"/>
              <a:t>Массивы в </a:t>
            </a:r>
            <a:r>
              <a:rPr lang="ru-RU" sz="1600" dirty="0" err="1"/>
              <a:t>JavaScript</a:t>
            </a:r>
            <a:r>
              <a:rPr lang="ru-RU" sz="1600" dirty="0"/>
              <a:t> могут работать и как очередь, и как стек. Можно добавлять/удалять элементы как в начало, так и в конец массива.</a:t>
            </a:r>
            <a:endParaRPr lang="ru-RU" altLang="ru-RU" sz="16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616B0F-EAA5-4376-BA66-FB3D4F1F98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5000"/>
                    </a14:imgEffect>
                    <a14:imgEffect>
                      <a14:colorTemperature colorTemp="761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2571750"/>
            <a:ext cx="2448000" cy="13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7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Методы</a:t>
            </a:r>
            <a:r>
              <a:rPr lang="en-US" sz="2400" dirty="0"/>
              <a:t> pop/push, shift/unshift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Метод </a:t>
            </a:r>
            <a:r>
              <a:rPr lang="en-US" altLang="ru-RU" sz="1600" dirty="0">
                <a:solidFill>
                  <a:srgbClr val="FFFF00"/>
                </a:solidFill>
              </a:rPr>
              <a:t>pop</a:t>
            </a:r>
            <a:r>
              <a:rPr lang="ru-RU" altLang="ru-RU" sz="1600" dirty="0">
                <a:solidFill>
                  <a:srgbClr val="FFFF00"/>
                </a:solidFill>
              </a:rPr>
              <a:t> удаляет последний элемент из массива и возвращает его: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"Апельсин", "Груша"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удаляем "Груша" и выводим его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Яблоко, Апельсин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И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и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-1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возвращают последний элемент массива, но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также изменяет массив, удаляя элемент.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Метод </a:t>
            </a:r>
            <a:r>
              <a:rPr lang="en-US" altLang="ru-RU" sz="1600" dirty="0">
                <a:solidFill>
                  <a:srgbClr val="FFFF00"/>
                </a:solidFill>
              </a:rPr>
              <a:t>push </a:t>
            </a:r>
            <a:r>
              <a:rPr lang="ru-RU" altLang="ru-RU" sz="1600" dirty="0">
                <a:solidFill>
                  <a:srgbClr val="FFFF00"/>
                </a:solidFill>
              </a:rPr>
              <a:t>добавляет элемент в конец массива: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push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Яблоко, Апельсин, Груша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Метод </a:t>
            </a:r>
            <a:r>
              <a:rPr lang="en-US" altLang="ru-RU" sz="1600" dirty="0">
                <a:solidFill>
                  <a:srgbClr val="FFFF00"/>
                </a:solidFill>
              </a:rPr>
              <a:t>shift </a:t>
            </a:r>
            <a:r>
              <a:rPr lang="ru-RU" altLang="ru-RU" sz="1600" dirty="0">
                <a:solidFill>
                  <a:srgbClr val="FFFF00"/>
                </a:solidFill>
              </a:rPr>
              <a:t>удаляет из массива первый элемент и возвращает его: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"Апельсин", "Груша"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shift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удаляем Яблоко и выводим его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Апельсин, Груша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22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en-US" sz="2400" dirty="0" err="1"/>
              <a:t>Методы</a:t>
            </a:r>
            <a:r>
              <a:rPr lang="en-US" sz="2400" dirty="0"/>
              <a:t> pop/push, shift/unshift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Метод </a:t>
            </a:r>
            <a:r>
              <a:rPr lang="en-US" altLang="ru-RU" sz="1600" dirty="0">
                <a:solidFill>
                  <a:srgbClr val="FFFF00"/>
                </a:solidFill>
              </a:rPr>
              <a:t>unshift</a:t>
            </a:r>
            <a:r>
              <a:rPr lang="ru-RU" altLang="ru-RU" sz="1600" dirty="0">
                <a:solidFill>
                  <a:srgbClr val="FFFF00"/>
                </a:solidFill>
              </a:rPr>
              <a:t> добавляет элемент в начало массива: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Апельсин", "Груша"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unshift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Яблоко'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Яблоко, Апельсин, Груша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Методы </a:t>
            </a:r>
            <a:r>
              <a:rPr lang="ru-RU" altLang="ru-RU" sz="1600" dirty="0" err="1">
                <a:solidFill>
                  <a:srgbClr val="FFFF00"/>
                </a:solidFill>
              </a:rPr>
              <a:t>push</a:t>
            </a:r>
            <a:r>
              <a:rPr lang="ru-RU" altLang="ru-RU" sz="1600" dirty="0">
                <a:solidFill>
                  <a:srgbClr val="FFFF00"/>
                </a:solidFill>
              </a:rPr>
              <a:t> и </a:t>
            </a:r>
            <a:r>
              <a:rPr lang="ru-RU" altLang="ru-RU" sz="1600" dirty="0" err="1">
                <a:solidFill>
                  <a:srgbClr val="FFFF00"/>
                </a:solidFill>
              </a:rPr>
              <a:t>unshift</a:t>
            </a:r>
            <a:r>
              <a:rPr lang="ru-RU" altLang="ru-RU" sz="1600" dirty="0">
                <a:solidFill>
                  <a:srgbClr val="FFFF00"/>
                </a:solidFill>
              </a:rPr>
              <a:t> могут добавлять сразу несколько элементов: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push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Апельсин", "Груша"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unshift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Ананас", "Лимон"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["Ананас", "Лимон", "Яблоко", "Апельсин", "Груша"]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 );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687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Внутреннее устройство массива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2753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Массив</a:t>
            </a:r>
            <a:r>
              <a:rPr lang="ru-RU" altLang="ru-RU" sz="1600" dirty="0">
                <a:solidFill>
                  <a:schemeClr val="tx1"/>
                </a:solidFill>
              </a:rPr>
              <a:t> – это особый подвид объектов. Квадратные скобки, используемые для того, чтобы получить доступ к свойству </a:t>
            </a:r>
            <a:r>
              <a:rPr lang="ru-RU" altLang="ru-RU" sz="1600" dirty="0" err="1">
                <a:solidFill>
                  <a:schemeClr val="tx1"/>
                </a:solidFill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</a:rPr>
              <a:t>[0] – это по сути обычный синтаксис доступа по ключу, как </a:t>
            </a:r>
            <a:r>
              <a:rPr lang="ru-RU" altLang="ru-RU" sz="1600" dirty="0" err="1">
                <a:solidFill>
                  <a:schemeClr val="tx1"/>
                </a:solidFill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</a:rPr>
              <a:t>[</a:t>
            </a:r>
            <a:r>
              <a:rPr lang="ru-RU" altLang="ru-RU" sz="1600" dirty="0" err="1">
                <a:solidFill>
                  <a:schemeClr val="tx1"/>
                </a:solidFill>
              </a:rPr>
              <a:t>key</a:t>
            </a:r>
            <a:r>
              <a:rPr lang="ru-RU" altLang="ru-RU" sz="1600" dirty="0">
                <a:solidFill>
                  <a:schemeClr val="tx1"/>
                </a:solidFill>
              </a:rPr>
              <a:t>], где в роли </a:t>
            </a:r>
            <a:r>
              <a:rPr lang="ru-RU" altLang="ru-RU" sz="1600" dirty="0" err="1">
                <a:solidFill>
                  <a:schemeClr val="tx1"/>
                </a:solidFill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</a:rPr>
              <a:t>, а в качестве ключа – числовой индекс.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Массивы расширяют объекты, так как предусматривают специальные методы для работы с упорядоченными коллекциями данных, а также свойство </a:t>
            </a:r>
            <a:r>
              <a:rPr lang="ru-RU" altLang="ru-RU" sz="1600" dirty="0" err="1">
                <a:solidFill>
                  <a:schemeClr val="tx1"/>
                </a:solidFill>
              </a:rPr>
              <a:t>length</a:t>
            </a:r>
            <a:r>
              <a:rPr lang="ru-RU" altLang="ru-RU" sz="1600" dirty="0">
                <a:solidFill>
                  <a:schemeClr val="tx1"/>
                </a:solidFill>
              </a:rPr>
              <a:t>. Но в основе всё равно лежит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Массив является объектом и, следовательно, ведёт себя как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Банан"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копируется по ссылке (две переменные ссылаются на один и тот же массив)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push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// массив меняется по ссылке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fruits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Банан, Груша - теперь два элемента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68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Эффективность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Методы </a:t>
            </a:r>
            <a:r>
              <a:rPr lang="ru-RU" altLang="ru-RU" sz="1500" dirty="0" err="1">
                <a:solidFill>
                  <a:schemeClr val="tx1"/>
                </a:solidFill>
              </a:rPr>
              <a:t>push</a:t>
            </a:r>
            <a:r>
              <a:rPr lang="ru-RU" altLang="ru-RU" sz="1500" dirty="0">
                <a:solidFill>
                  <a:schemeClr val="tx1"/>
                </a:solidFill>
              </a:rPr>
              <a:t>/</a:t>
            </a:r>
            <a:r>
              <a:rPr lang="ru-RU" altLang="ru-RU" sz="1500" dirty="0" err="1">
                <a:solidFill>
                  <a:schemeClr val="tx1"/>
                </a:solidFill>
              </a:rPr>
              <a:t>pop</a:t>
            </a:r>
            <a:r>
              <a:rPr lang="ru-RU" altLang="ru-RU" sz="1500" dirty="0">
                <a:solidFill>
                  <a:srgbClr val="E2E3E7"/>
                </a:solidFill>
              </a:rPr>
              <a:t> выполняются быстро, а методы </a:t>
            </a:r>
            <a:r>
              <a:rPr lang="ru-RU" altLang="ru-RU" sz="1500" dirty="0" err="1">
                <a:solidFill>
                  <a:srgbClr val="FFFF00"/>
                </a:solidFill>
              </a:rPr>
              <a:t>shift</a:t>
            </a:r>
            <a:r>
              <a:rPr lang="ru-RU" altLang="ru-RU" sz="1500" dirty="0">
                <a:solidFill>
                  <a:srgbClr val="FFFF00"/>
                </a:solidFill>
              </a:rPr>
              <a:t>/</a:t>
            </a:r>
            <a:r>
              <a:rPr lang="ru-RU" altLang="ru-RU" sz="1500" dirty="0" err="1">
                <a:solidFill>
                  <a:srgbClr val="FFFF00"/>
                </a:solidFill>
              </a:rPr>
              <a:t>unshift</a:t>
            </a:r>
            <a:r>
              <a:rPr lang="ru-RU" altLang="ru-RU" sz="1500" dirty="0">
                <a:solidFill>
                  <a:srgbClr val="E2E3E7"/>
                </a:solidFill>
              </a:rPr>
              <a:t> – медленно.</a:t>
            </a:r>
            <a:endParaRPr lang="en-US" altLang="ru-RU" sz="15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400" dirty="0">
              <a:solidFill>
                <a:srgbClr val="E2E3E7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Почему работать с концом массива быстрее, чем с его началом</a:t>
            </a:r>
            <a:r>
              <a:rPr lang="en-US" sz="1500" dirty="0"/>
              <a:t>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8F8F2"/>
                </a:solidFill>
                <a:latin typeface="Consolas" panose="020B0609020204030204" pitchFamily="49" charset="0"/>
              </a:rPr>
              <a:t>fruits.</a:t>
            </a: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shift</a:t>
            </a:r>
            <a:r>
              <a:rPr lang="ru-RU" altLang="ru-RU" sz="1500" dirty="0">
                <a:solidFill>
                  <a:srgbClr val="F8F8F2"/>
                </a:solidFill>
                <a:latin typeface="Consolas" panose="020B0609020204030204" pitchFamily="49" charset="0"/>
              </a:rPr>
              <a:t>();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удаляем первый элемент с начала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endParaRPr lang="ru-RU" altLang="ru-RU" sz="15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Просто взять и удалить элемент с номером 0 недостаточно. Нужно также заново пронумеровать остальные элементы.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Операция </a:t>
            </a:r>
            <a:r>
              <a:rPr lang="ru-RU" altLang="ru-RU" sz="1500" dirty="0" err="1">
                <a:solidFill>
                  <a:srgbClr val="FFFF00"/>
                </a:solidFill>
              </a:rPr>
              <a:t>shift</a:t>
            </a:r>
            <a:r>
              <a:rPr lang="ru-RU" altLang="ru-RU" sz="1500" dirty="0">
                <a:solidFill>
                  <a:srgbClr val="E2E3E7"/>
                </a:solidFill>
              </a:rPr>
              <a:t> должна выполнить 3 действия: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Удалить элемент с индексом 0.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Сдвинуть все элементы влево, заново пронумеровать их, заменив 1 на 0, 2 на 1 и т.д.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rgbClr val="E2E3E7"/>
                </a:solidFill>
              </a:rPr>
              <a:t>Обновить свойство </a:t>
            </a:r>
            <a:r>
              <a:rPr lang="ru-RU" altLang="ru-RU" sz="1500" dirty="0" err="1">
                <a:solidFill>
                  <a:srgbClr val="E2E3E7"/>
                </a:solidFill>
              </a:rPr>
              <a:t>length</a:t>
            </a:r>
            <a:r>
              <a:rPr lang="ru-RU" altLang="ru-RU" sz="1500" dirty="0">
                <a:solidFill>
                  <a:srgbClr val="E2E3E7"/>
                </a:solidFill>
              </a:rPr>
              <a:t> 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2893DB-17EA-4B15-82B4-D77693CA6F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2000"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01471"/>
            <a:ext cx="2492102" cy="11822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A0937F-3D12-4AC7-B52B-4B7A2B620C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2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801" y="1101471"/>
            <a:ext cx="4258424" cy="118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51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Эффективность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Чем </a:t>
            </a:r>
            <a:r>
              <a:rPr lang="ru-RU" altLang="ru-RU" sz="1400" dirty="0">
                <a:solidFill>
                  <a:srgbClr val="FFFF00"/>
                </a:solidFill>
              </a:rPr>
              <a:t>больше</a:t>
            </a:r>
            <a:r>
              <a:rPr lang="ru-RU" altLang="ru-RU" sz="1400" dirty="0">
                <a:solidFill>
                  <a:schemeClr val="tx1"/>
                </a:solidFill>
              </a:rPr>
              <a:t> элементов содержит массив, тем </a:t>
            </a:r>
            <a:r>
              <a:rPr lang="ru-RU" altLang="ru-RU" sz="1400" dirty="0">
                <a:solidFill>
                  <a:srgbClr val="FFFF00"/>
                </a:solidFill>
              </a:rPr>
              <a:t>больше</a:t>
            </a:r>
            <a:r>
              <a:rPr lang="ru-RU" altLang="ru-RU" sz="1400" dirty="0">
                <a:solidFill>
                  <a:schemeClr val="tx1"/>
                </a:solidFill>
              </a:rPr>
              <a:t> времени потребуется для того, чтобы их переместить, </a:t>
            </a:r>
            <a:r>
              <a:rPr lang="ru-RU" altLang="ru-RU" sz="1400" dirty="0">
                <a:solidFill>
                  <a:srgbClr val="FFFF00"/>
                </a:solidFill>
              </a:rPr>
              <a:t>больше</a:t>
            </a:r>
            <a:r>
              <a:rPr lang="ru-RU" altLang="ru-RU" sz="1400" dirty="0">
                <a:solidFill>
                  <a:schemeClr val="tx1"/>
                </a:solidFill>
              </a:rPr>
              <a:t> операций с памятью.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То же самое происходит с </a:t>
            </a:r>
            <a:r>
              <a:rPr lang="ru-RU" altLang="ru-RU" sz="1400" dirty="0" err="1">
                <a:solidFill>
                  <a:srgbClr val="FFFF00"/>
                </a:solidFill>
              </a:rPr>
              <a:t>unshift</a:t>
            </a:r>
            <a:r>
              <a:rPr lang="ru-RU" altLang="ru-RU" sz="1400" dirty="0">
                <a:solidFill>
                  <a:schemeClr val="tx1"/>
                </a:solidFill>
              </a:rPr>
              <a:t>: чтобы добавить элемент в начало массива, нам нужно сначала сдвинуть существующие элементы вправо, увеличивая их индексы.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А что же с </a:t>
            </a:r>
            <a:r>
              <a:rPr lang="ru-RU" altLang="ru-RU" sz="1400" dirty="0" err="1">
                <a:solidFill>
                  <a:srgbClr val="FFFF00"/>
                </a:solidFill>
              </a:rPr>
              <a:t>push</a:t>
            </a:r>
            <a:r>
              <a:rPr lang="ru-RU" altLang="ru-RU" sz="1400" dirty="0">
                <a:solidFill>
                  <a:srgbClr val="FFFF00"/>
                </a:solidFill>
              </a:rPr>
              <a:t>/</a:t>
            </a:r>
            <a:r>
              <a:rPr lang="ru-RU" altLang="ru-RU" sz="1400" dirty="0" err="1">
                <a:solidFill>
                  <a:srgbClr val="FFFF00"/>
                </a:solidFill>
              </a:rPr>
              <a:t>pop</a:t>
            </a:r>
            <a:r>
              <a:rPr lang="ru-RU" altLang="ru-RU" sz="1400" dirty="0">
                <a:solidFill>
                  <a:schemeClr val="tx1"/>
                </a:solidFill>
              </a:rPr>
              <a:t>? Им не нужно ничего перемещать. Чтобы удалить элемент в конце массива, метод </a:t>
            </a:r>
            <a:r>
              <a:rPr lang="ru-RU" altLang="ru-RU" sz="1400" dirty="0" err="1">
                <a:solidFill>
                  <a:srgbClr val="FFFF00"/>
                </a:solidFill>
              </a:rPr>
              <a:t>pop</a:t>
            </a:r>
            <a:r>
              <a:rPr lang="ru-RU" altLang="ru-RU" sz="1400" dirty="0">
                <a:solidFill>
                  <a:schemeClr val="tx1"/>
                </a:solidFill>
              </a:rPr>
              <a:t> очищает индекс и уменьшает значение </a:t>
            </a:r>
            <a:r>
              <a:rPr lang="ru-RU" altLang="ru-RU" sz="1400" dirty="0" err="1">
                <a:solidFill>
                  <a:srgbClr val="FFFF00"/>
                </a:solidFill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Действия при операции </a:t>
            </a:r>
            <a:r>
              <a:rPr lang="ru-RU" altLang="ru-RU" sz="1400" dirty="0" err="1">
                <a:solidFill>
                  <a:srgbClr val="FFFF00"/>
                </a:solidFill>
              </a:rPr>
              <a:t>pop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fruits.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();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удаляем один элемент с конца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endParaRPr lang="en-US" altLang="ru-RU" sz="1400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pop</a:t>
            </a:r>
            <a:r>
              <a:rPr lang="ru-RU" altLang="ru-RU" sz="1400" dirty="0">
                <a:solidFill>
                  <a:schemeClr val="tx1"/>
                </a:solidFill>
              </a:rPr>
              <a:t> не требует перемещения, потому что остальные элементы остаются с теми же индексами. Именно поэтому он выполняется очень быстро.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Аналогично работает 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push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F173D13-BCB0-43D5-81DE-A66115E012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0000"/>
                    </a14:imgEffect>
                    <a14:imgEffect>
                      <a14:colorTemperature colorTemp="7056"/>
                    </a14:imgEffect>
                    <a14:imgEffect>
                      <a14:saturation sat="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740145"/>
            <a:ext cx="4761083" cy="134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53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1. </a:t>
            </a:r>
            <a:r>
              <a:rPr lang="ru-RU" sz="1600" dirty="0"/>
              <a:t>Создайте массив, содержащий числа от 1 до 5.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2. </a:t>
            </a:r>
            <a:r>
              <a:rPr lang="ru-RU" sz="1600" dirty="0"/>
              <a:t>Создайте массив, содержащий строки "</a:t>
            </a:r>
            <a:r>
              <a:rPr lang="ru-RU" sz="1600" dirty="0" err="1"/>
              <a:t>apple</a:t>
            </a:r>
            <a:r>
              <a:rPr lang="ru-RU" sz="1600" dirty="0"/>
              <a:t>", "</a:t>
            </a:r>
            <a:r>
              <a:rPr lang="ru-RU" sz="1600" dirty="0" err="1"/>
              <a:t>banana</a:t>
            </a:r>
            <a:r>
              <a:rPr lang="ru-RU" sz="1600" dirty="0"/>
              <a:t>", "</a:t>
            </a:r>
            <a:r>
              <a:rPr lang="ru-RU" sz="1600" dirty="0" err="1"/>
              <a:t>orange</a:t>
            </a:r>
            <a:r>
              <a:rPr lang="ru-RU" sz="1600" dirty="0"/>
              <a:t>".</a:t>
            </a: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3. </a:t>
            </a:r>
            <a:r>
              <a:rPr lang="ru-RU" sz="1600" dirty="0"/>
              <a:t>Создайте массив, содержащий объекты с именами "</a:t>
            </a:r>
            <a:r>
              <a:rPr lang="ru-RU" sz="1600" dirty="0" err="1"/>
              <a:t>John</a:t>
            </a:r>
            <a:r>
              <a:rPr lang="ru-RU" sz="1600" dirty="0"/>
              <a:t>", "</a:t>
            </a:r>
            <a:r>
              <a:rPr lang="ru-RU" sz="1600" dirty="0" err="1"/>
              <a:t>Alice</a:t>
            </a:r>
            <a:r>
              <a:rPr lang="ru-RU" sz="1600" dirty="0"/>
              <a:t>", "</a:t>
            </a:r>
            <a:r>
              <a:rPr lang="ru-RU" sz="1600" dirty="0" err="1"/>
              <a:t>Bob</a:t>
            </a:r>
            <a:r>
              <a:rPr lang="ru-RU" sz="1600" dirty="0"/>
              <a:t>".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4. </a:t>
            </a:r>
            <a:r>
              <a:rPr lang="ru-RU" sz="1600" dirty="0"/>
              <a:t>Создайте массив, содержащий строки "</a:t>
            </a:r>
            <a:r>
              <a:rPr lang="en-US" sz="1600" dirty="0"/>
              <a:t>hello", "world", "</a:t>
            </a:r>
            <a:r>
              <a:rPr lang="en-US" sz="1600" dirty="0" err="1"/>
              <a:t>javascript</a:t>
            </a:r>
            <a:r>
              <a:rPr lang="en-US" sz="1600" dirty="0"/>
              <a:t>", </a:t>
            </a:r>
            <a:r>
              <a:rPr lang="ru-RU" sz="1600" dirty="0"/>
              <a:t>используя метод </a:t>
            </a:r>
            <a:r>
              <a:rPr lang="en-US" sz="1600" dirty="0" err="1"/>
              <a:t>Array.of</a:t>
            </a:r>
            <a:r>
              <a:rPr lang="en-US" sz="1600" dirty="0"/>
              <a:t>().</a:t>
            </a: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5. Получите 3 элемент массива [1, 2, 3, 4, 5].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6. Получите первый элемент массива [1, 2, 3, 4, 5] всеми возможными способами.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7. Получите последний элемент массива [1, 2, 3, 4, 5] всеми возможными способами.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endParaRPr lang="en-US" altLang="ru-RU" sz="13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389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1. </a:t>
            </a:r>
            <a:r>
              <a:rPr lang="da-DK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sz="1400" dirty="0">
                <a:latin typeface="Consolas" panose="020B0609020204030204" pitchFamily="49" charset="0"/>
              </a:rPr>
              <a:t> arr </a:t>
            </a:r>
            <a:r>
              <a:rPr lang="da-DK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da-DK" sz="1400" dirty="0">
                <a:latin typeface="Consolas" panose="020B0609020204030204" pitchFamily="49" charset="0"/>
              </a:rPr>
              <a:t> [</a:t>
            </a:r>
            <a:r>
              <a:rPr lang="da-DK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da-DK" sz="1400" dirty="0">
                <a:latin typeface="Consolas" panose="020B0609020204030204" pitchFamily="49" charset="0"/>
              </a:rPr>
              <a:t>, </a:t>
            </a:r>
            <a:r>
              <a:rPr lang="da-DK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da-DK" sz="1400" dirty="0">
                <a:latin typeface="Consolas" panose="020B0609020204030204" pitchFamily="49" charset="0"/>
              </a:rPr>
              <a:t>, </a:t>
            </a:r>
            <a:r>
              <a:rPr lang="da-DK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da-DK" sz="1400" dirty="0">
                <a:latin typeface="Consolas" panose="020B0609020204030204" pitchFamily="49" charset="0"/>
              </a:rPr>
              <a:t>, </a:t>
            </a:r>
            <a:r>
              <a:rPr lang="da-DK" sz="14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da-DK" sz="1400" dirty="0">
                <a:latin typeface="Consolas" panose="020B0609020204030204" pitchFamily="49" charset="0"/>
              </a:rPr>
              <a:t>, </a:t>
            </a:r>
            <a:r>
              <a:rPr lang="da-DK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da-DK" sz="1400" dirty="0">
                <a:latin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2. </a:t>
            </a:r>
            <a:r>
              <a:rPr lang="da-DK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sz="1400" dirty="0">
                <a:latin typeface="Consolas" panose="020B0609020204030204" pitchFamily="49" charset="0"/>
              </a:rPr>
              <a:t> arr </a:t>
            </a:r>
            <a:r>
              <a:rPr lang="da-DK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da-DK" sz="1400" dirty="0">
                <a:latin typeface="Consolas" panose="020B0609020204030204" pitchFamily="49" charset="0"/>
              </a:rPr>
              <a:t> ["</a:t>
            </a:r>
            <a:r>
              <a:rPr lang="da-DK" sz="1400" dirty="0">
                <a:solidFill>
                  <a:srgbClr val="FFFF00"/>
                </a:solidFill>
                <a:latin typeface="Consolas" panose="020B0609020204030204" pitchFamily="49" charset="0"/>
              </a:rPr>
              <a:t>apple</a:t>
            </a:r>
            <a:r>
              <a:rPr lang="da-DK" sz="1400" dirty="0">
                <a:latin typeface="Consolas" panose="020B0609020204030204" pitchFamily="49" charset="0"/>
              </a:rPr>
              <a:t>", "</a:t>
            </a:r>
            <a:r>
              <a:rPr lang="da-DK" sz="1400" dirty="0">
                <a:solidFill>
                  <a:srgbClr val="FFFF00"/>
                </a:solidFill>
                <a:latin typeface="Consolas" panose="020B0609020204030204" pitchFamily="49" charset="0"/>
              </a:rPr>
              <a:t>banana</a:t>
            </a:r>
            <a:r>
              <a:rPr lang="da-DK" sz="1400" dirty="0">
                <a:latin typeface="Consolas" panose="020B0609020204030204" pitchFamily="49" charset="0"/>
              </a:rPr>
              <a:t>", "</a:t>
            </a:r>
            <a:r>
              <a:rPr lang="da-DK" sz="1400" dirty="0">
                <a:solidFill>
                  <a:srgbClr val="FFFF00"/>
                </a:solidFill>
                <a:latin typeface="Consolas" panose="020B0609020204030204" pitchFamily="49" charset="0"/>
              </a:rPr>
              <a:t>orange</a:t>
            </a:r>
            <a:r>
              <a:rPr lang="da-DK" sz="1400" dirty="0">
                <a:latin typeface="Consolas" panose="020B0609020204030204" pitchFamily="49" charset="0"/>
              </a:rPr>
              <a:t>"];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3.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{ name: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en-US" sz="1400" dirty="0">
                <a:latin typeface="Consolas" panose="020B0609020204030204" pitchFamily="49" charset="0"/>
              </a:rPr>
              <a:t>"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{ name: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Alice</a:t>
            </a:r>
            <a:r>
              <a:rPr lang="en-US" sz="1400" dirty="0">
                <a:latin typeface="Consolas" panose="020B0609020204030204" pitchFamily="49" charset="0"/>
              </a:rPr>
              <a:t>"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{ name: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Bob</a:t>
            </a:r>
            <a:r>
              <a:rPr lang="en-US" sz="1400" dirty="0">
                <a:latin typeface="Consolas" panose="020B0609020204030204" pitchFamily="49" charset="0"/>
              </a:rPr>
              <a:t>"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4.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en-US" sz="1400" dirty="0" err="1"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hello</a:t>
            </a:r>
            <a:r>
              <a:rPr lang="en-US" sz="1400" dirty="0">
                <a:latin typeface="Consolas" panose="020B0609020204030204" pitchFamily="49" charset="0"/>
              </a:rPr>
              <a:t>", 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world</a:t>
            </a:r>
            <a:r>
              <a:rPr lang="en-US" sz="1400" dirty="0">
                <a:latin typeface="Consolas" panose="020B0609020204030204" pitchFamily="49" charset="0"/>
              </a:rPr>
              <a:t>", "</a:t>
            </a:r>
            <a:r>
              <a:rPr lang="en-US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5.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latin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firstElement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latin typeface="Consolas" panose="020B0609020204030204" pitchFamily="49" charset="0"/>
              </a:rPr>
              <a:t>=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6</a:t>
            </a:r>
            <a:r>
              <a:rPr lang="ru-RU" sz="1400" dirty="0">
                <a:latin typeface="Consolas" panose="020B0609020204030204" pitchFamily="49" charset="0"/>
              </a:rPr>
              <a:t>.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latin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firstElement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firstElement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arr.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firstElement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shift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7</a:t>
            </a:r>
            <a:r>
              <a:rPr lang="ru-RU" sz="1400" dirty="0">
                <a:latin typeface="Consolas" panose="020B0609020204030204" pitchFamily="49" charset="0"/>
              </a:rPr>
              <a:t>.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[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latin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lastElement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</a:t>
            </a:r>
            <a:r>
              <a:rPr lang="en-US" sz="1400" dirty="0"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lastElement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arr.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-1</a:t>
            </a:r>
            <a:r>
              <a:rPr lang="en-US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lastElement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arr.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pop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ru-RU" sz="13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45360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Перебор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Старый способ перебора массивов: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"Апельсин", "Груша"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arr.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++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 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Цикл </a:t>
            </a:r>
            <a:r>
              <a:rPr lang="ru-RU" altLang="ru-RU" sz="1600" dirty="0" err="1">
                <a:solidFill>
                  <a:srgbClr val="FFFF00"/>
                </a:solidFill>
              </a:rPr>
              <a:t>for</a:t>
            </a:r>
            <a:r>
              <a:rPr lang="ru-RU" altLang="ru-RU" sz="1600" dirty="0">
                <a:solidFill>
                  <a:srgbClr val="FFFF00"/>
                </a:solidFill>
              </a:rPr>
              <a:t>..</a:t>
            </a:r>
            <a:r>
              <a:rPr lang="ru-RU" altLang="ru-RU" sz="1600" dirty="0" err="1">
                <a:solidFill>
                  <a:srgbClr val="FFFF00"/>
                </a:solidFill>
              </a:rPr>
              <a:t>of</a:t>
            </a:r>
            <a:r>
              <a:rPr lang="ru-RU" altLang="ru-RU" sz="1600" dirty="0">
                <a:solidFill>
                  <a:srgbClr val="FFFF00"/>
                </a:solidFill>
              </a:rPr>
              <a:t>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 = [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Яблоко", "Апельсин", "Груша"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fruits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(fruit);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Цикл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..</a:t>
            </a:r>
            <a:r>
              <a:rPr lang="ru-RU" altLang="ru-RU" sz="1600" dirty="0" err="1">
                <a:solidFill>
                  <a:schemeClr val="tx1"/>
                </a:solidFill>
              </a:rPr>
              <a:t>of</a:t>
            </a:r>
            <a:r>
              <a:rPr lang="ru-RU" altLang="ru-RU" sz="1600" dirty="0">
                <a:solidFill>
                  <a:schemeClr val="tx1"/>
                </a:solidFill>
              </a:rPr>
              <a:t> не предоставляет доступа к номеру текущего элемента.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Технически, так как массив является объектом, можно использовать и вариант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..</a:t>
            </a:r>
            <a:r>
              <a:rPr lang="ru-RU" altLang="ru-RU" sz="1600" dirty="0" err="1">
                <a:solidFill>
                  <a:schemeClr val="tx1"/>
                </a:solidFill>
              </a:rPr>
              <a:t>in</a:t>
            </a:r>
            <a:r>
              <a:rPr lang="ru-RU" altLang="ru-RU" sz="1600" dirty="0">
                <a:solidFill>
                  <a:schemeClr val="tx1"/>
                </a:solidFill>
              </a:rPr>
              <a:t>. Но это плохая идея, так как этот цикл перебирает все свойства, а не только числовые и поэтому он намного медленнее работает</a:t>
            </a:r>
            <a:r>
              <a:rPr lang="ru-RU" altLang="ru-RU" sz="1500" dirty="0">
                <a:solidFill>
                  <a:schemeClr val="tx1"/>
                </a:solidFill>
              </a:rPr>
              <a:t>.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089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Правила сравнения: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Два объекта равны друг другу == только в том случае, если они ссылаются на один и тот же объект (ссылку).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Если один из аргументов == является объектом, а другой – примитивом, то объект преобразуется в примитив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За исключением </a:t>
            </a:r>
            <a:r>
              <a:rPr lang="ru-RU" altLang="ru-RU" sz="1500" dirty="0" err="1">
                <a:solidFill>
                  <a:schemeClr val="tx1"/>
                </a:solidFill>
              </a:rPr>
              <a:t>null</a:t>
            </a:r>
            <a:r>
              <a:rPr lang="ru-RU" altLang="ru-RU" sz="1500" dirty="0">
                <a:solidFill>
                  <a:schemeClr val="tx1"/>
                </a:solidFill>
              </a:rPr>
              <a:t> и </a:t>
            </a:r>
            <a:r>
              <a:rPr lang="ru-RU" altLang="ru-RU" sz="1500" dirty="0" err="1">
                <a:solidFill>
                  <a:schemeClr val="tx1"/>
                </a:solidFill>
              </a:rPr>
              <a:t>undefined</a:t>
            </a:r>
            <a:r>
              <a:rPr lang="ru-RU" altLang="ru-RU" sz="1500" dirty="0">
                <a:solidFill>
                  <a:schemeClr val="tx1"/>
                </a:solidFill>
              </a:rPr>
              <a:t>, которые равны == друг другу и ничему больше.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  <a:latin typeface="BlinkMacSystemFont"/>
              </a:rPr>
              <a:t>Оператор строгого равенства 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===</a:t>
            </a:r>
            <a:r>
              <a:rPr lang="ru-RU" altLang="ru-RU" sz="1500" dirty="0">
                <a:solidFill>
                  <a:schemeClr val="tx1"/>
                </a:solidFill>
                <a:latin typeface="BlinkMacSystemFont"/>
              </a:rPr>
              <a:t> ещё проще, так как он не преобразует типы.</a:t>
            </a:r>
            <a:r>
              <a:rPr lang="ru-RU" altLang="ru-RU" sz="1500" dirty="0">
                <a:solidFill>
                  <a:schemeClr val="tx1"/>
                </a:solidFill>
              </a:rPr>
              <a:t> </a:t>
            </a:r>
            <a:endParaRPr lang="ru-RU" altLang="ru-RU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Примеры: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( []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[]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false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[]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'0'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==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[]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</a:t>
            </a:r>
            <a:r>
              <a:rPr lang="en-US" altLang="ru-RU" sz="1500" dirty="0">
                <a:solidFill>
                  <a:srgbClr val="E2E3E7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false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Здесь, в обоих случаях, мы сравниваем примитив с объектом массива. Таким образом, массив [] преобразуется в примитив с целью сравнения и становится пустой строкой ''.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==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, так как '' преобразуется в число 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'0'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==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false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, нет преобразования типов, разные строки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E6795C9-7E6C-4DB4-9DA2-7189D19F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Сравнение массивов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D47DC-1295-496E-85A1-EA40AE064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82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Свойство </a:t>
            </a:r>
            <a:r>
              <a:rPr lang="ru-RU" altLang="ru-RU" sz="1400" dirty="0" err="1">
                <a:solidFill>
                  <a:schemeClr val="tx1"/>
                </a:solidFill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</a:rPr>
              <a:t> автоматически обновляется при изменении массива. Если быть точными, это не количество элементов массива, а наибольший цифровой индекс плюс один.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Например, единственный элемент, имеющий большой индекс, даёт большую длину: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fruits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[];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fruits[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123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Яблоко"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fruits.length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124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Ещё один интересный факт о свойстве </a:t>
            </a:r>
            <a:r>
              <a:rPr lang="ru-RU" altLang="ru-RU" sz="1400" dirty="0" err="1">
                <a:solidFill>
                  <a:schemeClr val="tx1"/>
                </a:solidFill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</a:rPr>
              <a:t> – его можно перезаписать.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вручную увеличить его, ничего интересного не произойдёт. Зато, если уменьшить его, массив станет короче. Этот процесс необратим: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arr.length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укорачиваем до двух элементов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[1, 2]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arr.length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возвращаем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length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как было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undefined: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значения не восстановились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Таким образом, самый простой способ очистить массив – это </a:t>
            </a:r>
            <a:r>
              <a:rPr lang="ru-RU" altLang="ru-RU" sz="1400" dirty="0" err="1">
                <a:solidFill>
                  <a:schemeClr val="tx1"/>
                </a:solidFill>
              </a:rPr>
              <a:t>arr.length</a:t>
            </a:r>
            <a:r>
              <a:rPr lang="ru-RU" altLang="ru-RU" sz="1400" dirty="0">
                <a:solidFill>
                  <a:schemeClr val="tx1"/>
                </a:solidFill>
              </a:rPr>
              <a:t> = 0.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E6795C9-7E6C-4DB4-9DA2-7189D19F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/>
          </a:bodyPr>
          <a:lstStyle/>
          <a:p>
            <a:r>
              <a:rPr lang="ru-RU" sz="2400" dirty="0"/>
              <a:t>Немного о «</a:t>
            </a:r>
            <a:r>
              <a:rPr lang="en-US" sz="2400" dirty="0"/>
              <a:t>length»</a:t>
            </a:r>
            <a:endParaRPr lang="ru-RU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D47DC-1295-496E-85A1-EA40AE064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778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27534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Массив – это особый тип объекта, предназначенный для работы с упорядоченным набором элементов.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Объявление: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[item1, item2...];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arr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Array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(item1, item2...);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BlinkMacSystemFont"/>
              </a:rPr>
              <a:t>Вызов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 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new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Array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number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 </a:t>
            </a:r>
            <a:r>
              <a:rPr lang="ru-RU" altLang="ru-RU" sz="1600" dirty="0">
                <a:solidFill>
                  <a:schemeClr val="tx1"/>
                </a:solidFill>
                <a:latin typeface="BlinkMacSystemFont"/>
              </a:rPr>
              <a:t>создаёт массив с заданной длиной, но без элементов.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endParaRPr lang="ru-RU" altLang="ru-RU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E2E3E7"/>
                </a:solidFill>
              </a:rPr>
              <a:t>Свойство </a:t>
            </a:r>
            <a:r>
              <a:rPr lang="ru-RU" altLang="ru-RU" sz="1600" dirty="0" err="1">
                <a:solidFill>
                  <a:srgbClr val="FFFF00"/>
                </a:solidFill>
              </a:rPr>
              <a:t>length</a:t>
            </a:r>
            <a:r>
              <a:rPr lang="ru-RU" altLang="ru-RU" sz="1600" dirty="0">
                <a:solidFill>
                  <a:srgbClr val="E2E3E7"/>
                </a:solidFill>
              </a:rPr>
              <a:t> отражает длину массива или, если точнее, его последний цифровой индекс плюс один. Длина корректируется автоматически методами массива.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>
                <a:solidFill>
                  <a:srgbClr val="E2E3E7"/>
                </a:solidFill>
              </a:rPr>
              <a:t>Если уменьшить</a:t>
            </a:r>
            <a:r>
              <a:rPr lang="ru-RU" altLang="ru-RU" sz="1600" dirty="0">
                <a:solidFill>
                  <a:srgbClr val="E2E3E7"/>
                </a:solidFill>
              </a:rPr>
              <a:t> </a:t>
            </a:r>
            <a:r>
              <a:rPr lang="ru-RU" altLang="ru-RU" sz="1600" dirty="0" err="1">
                <a:solidFill>
                  <a:srgbClr val="FFFF00"/>
                </a:solidFill>
              </a:rPr>
              <a:t>length</a:t>
            </a:r>
            <a:r>
              <a:rPr lang="ru-RU" altLang="ru-RU" sz="1600" dirty="0">
                <a:solidFill>
                  <a:srgbClr val="E2E3E7"/>
                </a:solidFill>
              </a:rPr>
              <a:t> вручную, массив укорачивается.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E2E3E7"/>
                </a:solidFill>
              </a:rPr>
              <a:t>Получение элементов:</a:t>
            </a:r>
          </a:p>
          <a:p>
            <a:pPr marL="885825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E2E3E7"/>
                </a:solidFill>
              </a:rPr>
              <a:t>Можно получить элемент по его индексу, например </a:t>
            </a:r>
            <a:r>
              <a:rPr lang="ru-RU" altLang="ru-RU" sz="1600" dirty="0" err="1">
                <a:solidFill>
                  <a:srgbClr val="FFFF00"/>
                </a:solidFill>
              </a:rPr>
              <a:t>arr</a:t>
            </a:r>
            <a:r>
              <a:rPr lang="ru-RU" altLang="ru-RU" sz="1600" dirty="0">
                <a:solidFill>
                  <a:srgbClr val="FFFF00"/>
                </a:solidFill>
              </a:rPr>
              <a:t>[0].</a:t>
            </a:r>
          </a:p>
          <a:p>
            <a:pPr marL="885825" lvl="2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rgbClr val="E2E3E7"/>
                </a:solidFill>
              </a:rPr>
              <a:t>Также мы можем использовать метод </a:t>
            </a:r>
            <a:r>
              <a:rPr lang="ru-RU" altLang="ru-RU" sz="1600" dirty="0" err="1">
                <a:solidFill>
                  <a:srgbClr val="FFFF00"/>
                </a:solidFill>
              </a:rPr>
              <a:t>at</a:t>
            </a:r>
            <a:r>
              <a:rPr lang="ru-RU" altLang="ru-RU" sz="1600" dirty="0">
                <a:solidFill>
                  <a:srgbClr val="FFFF00"/>
                </a:solidFill>
              </a:rPr>
              <a:t>(i) </a:t>
            </a:r>
            <a:r>
              <a:rPr lang="ru-RU" altLang="ru-RU" sz="1600" dirty="0">
                <a:solidFill>
                  <a:srgbClr val="E2E3E7"/>
                </a:solidFill>
              </a:rPr>
              <a:t>для получения элементов с отрицательным индексом, для отрицательных значений i, он отступает от конца массива. В остальном он работает так же, как </a:t>
            </a:r>
            <a:r>
              <a:rPr lang="ru-RU" altLang="ru-RU" sz="1600" dirty="0" err="1">
                <a:solidFill>
                  <a:srgbClr val="FFFF00"/>
                </a:solidFill>
              </a:rPr>
              <a:t>arr</a:t>
            </a:r>
            <a:r>
              <a:rPr lang="ru-RU" altLang="ru-RU" sz="1600" dirty="0">
                <a:solidFill>
                  <a:srgbClr val="FFFF00"/>
                </a:solidFill>
              </a:rPr>
              <a:t>[i]</a:t>
            </a:r>
            <a:r>
              <a:rPr lang="ru-RU" altLang="ru-RU" sz="1600" dirty="0">
                <a:solidFill>
                  <a:srgbClr val="E2E3E7"/>
                </a:solidFill>
              </a:rPr>
              <a:t>, если i &gt;= 0.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E6795C9-7E6C-4DB4-9DA2-7189D19F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432048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Итого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D47DC-1295-496E-85A1-EA40AE064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5469B12-EB51-4CEC-8D66-1C67B01CD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1382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0EFC1237-8004-46B2-BE68-B7D226EAC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1382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378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27534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600" dirty="0"/>
              <a:t>Основные методы массива: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E2E3E7"/>
                </a:solidFill>
              </a:rPr>
              <a:t>push</a:t>
            </a:r>
            <a:r>
              <a:rPr lang="ru-RU" altLang="ru-RU" sz="1600" dirty="0">
                <a:solidFill>
                  <a:srgbClr val="E2E3E7"/>
                </a:solidFill>
              </a:rPr>
              <a:t>(...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)добавляет 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 в конец массива.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E2E3E7"/>
                </a:solidFill>
              </a:rPr>
              <a:t>pop</a:t>
            </a:r>
            <a:r>
              <a:rPr lang="ru-RU" altLang="ru-RU" sz="1600" dirty="0">
                <a:solidFill>
                  <a:srgbClr val="E2E3E7"/>
                </a:solidFill>
              </a:rPr>
              <a:t>() удаляет элемент в конце массива и возвращает его.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E2E3E7"/>
                </a:solidFill>
              </a:rPr>
              <a:t>shift</a:t>
            </a:r>
            <a:r>
              <a:rPr lang="ru-RU" altLang="ru-RU" sz="1600" dirty="0">
                <a:solidFill>
                  <a:srgbClr val="E2E3E7"/>
                </a:solidFill>
              </a:rPr>
              <a:t>() удаляет элемент в начале массива и возвращает его.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rgbClr val="E2E3E7"/>
                </a:solidFill>
              </a:rPr>
              <a:t>unshift</a:t>
            </a:r>
            <a:r>
              <a:rPr lang="ru-RU" altLang="ru-RU" sz="1600" dirty="0">
                <a:solidFill>
                  <a:srgbClr val="E2E3E7"/>
                </a:solidFill>
              </a:rPr>
              <a:t>(...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) добавляет </a:t>
            </a:r>
            <a:r>
              <a:rPr lang="ru-RU" altLang="ru-RU" sz="1600" dirty="0" err="1">
                <a:solidFill>
                  <a:srgbClr val="E2E3E7"/>
                </a:solidFill>
              </a:rPr>
              <a:t>items</a:t>
            </a:r>
            <a:r>
              <a:rPr lang="ru-RU" altLang="ru-RU" sz="1600" dirty="0">
                <a:solidFill>
                  <a:srgbClr val="E2E3E7"/>
                </a:solidFill>
              </a:rPr>
              <a:t> в начало массива.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750" dirty="0">
                <a:solidFill>
                  <a:srgbClr val="E2E3E7"/>
                </a:solidFill>
              </a:rPr>
              <a:t>Чтобы пройтись по элементам массива:</a:t>
            </a:r>
            <a:endParaRPr lang="ru-RU" altLang="ru-RU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85788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 (</a:t>
            </a:r>
            <a:r>
              <a:rPr lang="ru-RU" altLang="ru-RU" sz="1600" dirty="0" err="1">
                <a:solidFill>
                  <a:schemeClr val="tx1"/>
                </a:solidFill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</a:rPr>
              <a:t> i = 0; i &lt; </a:t>
            </a:r>
            <a:r>
              <a:rPr lang="ru-RU" altLang="ru-RU" sz="1600" dirty="0" err="1">
                <a:solidFill>
                  <a:schemeClr val="tx1"/>
                </a:solidFill>
              </a:rPr>
              <a:t>arr.length</a:t>
            </a:r>
            <a:r>
              <a:rPr lang="ru-RU" altLang="ru-RU" sz="1600" dirty="0">
                <a:solidFill>
                  <a:schemeClr val="tx1"/>
                </a:solidFill>
              </a:rPr>
              <a:t>; i++) – работает быстрее всего, совместим со старыми браузерами.</a:t>
            </a:r>
          </a:p>
          <a:p>
            <a:pPr marL="585788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 (</a:t>
            </a:r>
            <a:r>
              <a:rPr lang="ru-RU" altLang="ru-RU" sz="1600" dirty="0" err="1">
                <a:solidFill>
                  <a:schemeClr val="tx1"/>
                </a:solidFill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item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of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</a:rPr>
              <a:t>) – современный синтаксис только для значений элементов (к индексам нет доступа).</a:t>
            </a:r>
          </a:p>
          <a:p>
            <a:pPr marL="585788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 (</a:t>
            </a:r>
            <a:r>
              <a:rPr lang="ru-RU" altLang="ru-RU" sz="1600" dirty="0" err="1">
                <a:solidFill>
                  <a:schemeClr val="tx1"/>
                </a:solidFill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</a:rPr>
              <a:t> i </a:t>
            </a:r>
            <a:r>
              <a:rPr lang="ru-RU" altLang="ru-RU" sz="1600" dirty="0" err="1">
                <a:solidFill>
                  <a:schemeClr val="tx1"/>
                </a:solidFill>
              </a:rPr>
              <a:t>in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arr</a:t>
            </a:r>
            <a:r>
              <a:rPr lang="ru-RU" altLang="ru-RU" sz="1600" dirty="0">
                <a:solidFill>
                  <a:schemeClr val="tx1"/>
                </a:solidFill>
              </a:rPr>
              <a:t>) – никогда не используйте для массивов!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ru-RU" altLang="ru-RU" sz="1750" dirty="0">
              <a:solidFill>
                <a:srgbClr val="E2E3E7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rgbClr val="E2E3E7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30EDD6-4F15-445F-BC3D-AF44B500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E6795C9-7E6C-4DB4-9DA2-7189D19F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432048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Итого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D47DC-1295-496E-85A1-EA40AE064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5469B12-EB51-4CEC-8D66-1C67B01CD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1382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0EFC1237-8004-46B2-BE68-B7D226EAC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1382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3FE57-184F-4EEC-ABA7-7015E8AA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1382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994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1. Напишите функцию, которая принимает массив чисел и возвращает сумму всех элементов массива с помощью цикла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2. Напишите функцию, которая принимает массив чисел и возвращает сумму всех элементов массива с помощью цикла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...</a:t>
            </a:r>
            <a:r>
              <a:rPr lang="ru-RU" altLang="ru-RU" sz="1600" dirty="0" err="1">
                <a:solidFill>
                  <a:schemeClr val="tx1"/>
                </a:solidFill>
              </a:rPr>
              <a:t>of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</a:rPr>
              <a:t>3. </a:t>
            </a:r>
            <a:r>
              <a:rPr lang="ru-RU" altLang="ru-RU" sz="1600" dirty="0">
                <a:solidFill>
                  <a:schemeClr val="tx1"/>
                </a:solidFill>
              </a:rPr>
              <a:t>У вас есть массив объектов, каждый из которых представляет собой человека с именем, возрастом и адресом. Напишите функцию, которая принимает этот массив и возвращает массив имён людей, возраст которых больше 18 лет и адрес которых является строкой.</a:t>
            </a:r>
            <a:r>
              <a:rPr lang="en-US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people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'John'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25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address: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'123 Main St'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'Jane'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17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address: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'456 Elm St'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'Bob'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address: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'789 Oak St'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'Alice'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22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address: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123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},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{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'Mike'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address: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'901 Maple St'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ru-RU" sz="15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4521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Домашняя работа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771550"/>
            <a:ext cx="738352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Напишите функцию, которая принимает массив строк и добавляет в него строку "</a:t>
            </a:r>
            <a:r>
              <a:rPr lang="ru-RU" altLang="ru-RU" sz="1600" dirty="0" err="1">
                <a:solidFill>
                  <a:schemeClr val="tx1"/>
                </a:solidFill>
              </a:rPr>
              <a:t>Hello</a:t>
            </a:r>
            <a:r>
              <a:rPr lang="ru-RU" altLang="ru-RU" sz="1600" dirty="0">
                <a:solidFill>
                  <a:schemeClr val="tx1"/>
                </a:solidFill>
              </a:rPr>
              <a:t>" с помощью метода </a:t>
            </a:r>
            <a:r>
              <a:rPr lang="ru-RU" altLang="ru-RU" sz="1600" dirty="0" err="1">
                <a:solidFill>
                  <a:schemeClr val="tx1"/>
                </a:solidFill>
              </a:rPr>
              <a:t>push</a:t>
            </a:r>
            <a:r>
              <a:rPr lang="en-US" altLang="ru-RU" sz="1600" dirty="0">
                <a:solidFill>
                  <a:schemeClr val="tx1"/>
                </a:solidFill>
              </a:rPr>
              <a:t>.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Напишите функцию, которая принимает массив чисел и возвращает сумму всех элементов массива с помощью цикла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...</a:t>
            </a:r>
            <a:r>
              <a:rPr lang="ru-RU" altLang="ru-RU" sz="1600" dirty="0" err="1">
                <a:solidFill>
                  <a:schemeClr val="tx1"/>
                </a:solidFill>
              </a:rPr>
              <a:t>of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Напишите функцию </a:t>
            </a:r>
            <a:r>
              <a:rPr lang="ru-RU" altLang="ru-RU" sz="1600" dirty="0" err="1">
                <a:solidFill>
                  <a:schemeClr val="tx1"/>
                </a:solidFill>
              </a:rPr>
              <a:t>sumInput</a:t>
            </a:r>
            <a:r>
              <a:rPr lang="ru-RU" altLang="ru-RU" sz="1600" dirty="0">
                <a:solidFill>
                  <a:schemeClr val="tx1"/>
                </a:solidFill>
              </a:rPr>
              <a:t>(), которая:</a:t>
            </a:r>
            <a:endParaRPr lang="en-US" altLang="ru-RU" sz="1600" dirty="0">
              <a:solidFill>
                <a:schemeClr val="tx1"/>
              </a:solidFill>
            </a:endParaRP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Просит пользователя ввести значения, используя </a:t>
            </a:r>
            <a:r>
              <a:rPr lang="ru-RU" altLang="ru-RU" sz="1600" dirty="0" err="1">
                <a:solidFill>
                  <a:schemeClr val="tx1"/>
                </a:solidFill>
              </a:rPr>
              <a:t>prompt</a:t>
            </a:r>
            <a:r>
              <a:rPr lang="ru-RU" altLang="ru-RU" sz="1600" dirty="0">
                <a:solidFill>
                  <a:schemeClr val="tx1"/>
                </a:solidFill>
              </a:rPr>
              <a:t> и сохраняет их в массив.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Заканчивает запрашивать значения, когда пользователь введёт не числовое значение, пустую строку или нажмёт «Отмена».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Подсчитывает и возвращает сумму элементов массива.</a:t>
            </a:r>
          </a:p>
          <a:p>
            <a:pPr marL="300038" lvl="1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P.S. Ноль 0 – считается числом, не останавливайте ввод значений при вводе «0».3.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0BBA53D-3800-4DF0-8BB1-34F905652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6321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6931</TotalTime>
  <Words>1441</Words>
  <Application>Microsoft Office PowerPoint</Application>
  <PresentationFormat>Экран (16:9)</PresentationFormat>
  <Paragraphs>286</Paragraphs>
  <Slides>25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BlinkMacSystemFont</vt:lpstr>
      <vt:lpstr>Calibri</vt:lpstr>
      <vt:lpstr>Consolas</vt:lpstr>
      <vt:lpstr>Trebuchet MS</vt:lpstr>
      <vt:lpstr>Wingdings</vt:lpstr>
      <vt:lpstr>Wingdings 3</vt:lpstr>
      <vt:lpstr>Аспект</vt:lpstr>
      <vt:lpstr>Массивы</vt:lpstr>
      <vt:lpstr>Объекты </vt:lpstr>
      <vt:lpstr>Домашнее задание лайфкодинг </vt:lpstr>
      <vt:lpstr>Домашнее задание лайфкодинг </vt:lpstr>
      <vt:lpstr>Массивы основы</vt:lpstr>
      <vt:lpstr>Массивы основы</vt:lpstr>
      <vt:lpstr>Массивы основы</vt:lpstr>
      <vt:lpstr>Массивы основы</vt:lpstr>
      <vt:lpstr>Получение последних элементов при помощи «at»</vt:lpstr>
      <vt:lpstr>Методы pop/push, shift/unshift</vt:lpstr>
      <vt:lpstr>Методы pop/push, shift/unshift</vt:lpstr>
      <vt:lpstr>Методы pop/push, shift/unshift</vt:lpstr>
      <vt:lpstr>Методы pop/push, shift/unshift</vt:lpstr>
      <vt:lpstr>Внутреннее устройство массива</vt:lpstr>
      <vt:lpstr>Эффективность</vt:lpstr>
      <vt:lpstr>Эффективность</vt:lpstr>
      <vt:lpstr>Наши любимые задачки </vt:lpstr>
      <vt:lpstr>Наши любимые задачки </vt:lpstr>
      <vt:lpstr>Перебор элементов</vt:lpstr>
      <vt:lpstr>Сравнение массивов</vt:lpstr>
      <vt:lpstr>Немного о «length»</vt:lpstr>
      <vt:lpstr>Итого</vt:lpstr>
      <vt:lpstr>Итого</vt:lpstr>
      <vt:lpstr>Наши любимые задачки </vt:lpstr>
      <vt:lpstr>Домашняя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321</cp:revision>
  <dcterms:created xsi:type="dcterms:W3CDTF">2021-11-26T04:54:28Z</dcterms:created>
  <dcterms:modified xsi:type="dcterms:W3CDTF">2024-11-10T06:04:30Z</dcterms:modified>
</cp:coreProperties>
</file>