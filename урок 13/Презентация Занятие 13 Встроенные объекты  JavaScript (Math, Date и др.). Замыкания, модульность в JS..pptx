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1">
  <p:sldMasterIdLst>
    <p:sldMasterId id="2147483727" r:id="rId1"/>
  </p:sldMasterIdLst>
  <p:notesMasterIdLst>
    <p:notesMasterId r:id="rId45"/>
  </p:notesMasterIdLst>
  <p:sldIdLst>
    <p:sldId id="388" r:id="rId2"/>
    <p:sldId id="367" r:id="rId3"/>
    <p:sldId id="306" r:id="rId4"/>
    <p:sldId id="613" r:id="rId5"/>
    <p:sldId id="571" r:id="rId6"/>
    <p:sldId id="573" r:id="rId7"/>
    <p:sldId id="614" r:id="rId8"/>
    <p:sldId id="615" r:id="rId9"/>
    <p:sldId id="616" r:id="rId10"/>
    <p:sldId id="617" r:id="rId11"/>
    <p:sldId id="619" r:id="rId12"/>
    <p:sldId id="620" r:id="rId13"/>
    <p:sldId id="621" r:id="rId14"/>
    <p:sldId id="622" r:id="rId15"/>
    <p:sldId id="623" r:id="rId16"/>
    <p:sldId id="624" r:id="rId17"/>
    <p:sldId id="625" r:id="rId18"/>
    <p:sldId id="626" r:id="rId19"/>
    <p:sldId id="627" r:id="rId20"/>
    <p:sldId id="628" r:id="rId21"/>
    <p:sldId id="629" r:id="rId22"/>
    <p:sldId id="630" r:id="rId23"/>
    <p:sldId id="631" r:id="rId24"/>
    <p:sldId id="632" r:id="rId25"/>
    <p:sldId id="633" r:id="rId26"/>
    <p:sldId id="636" r:id="rId27"/>
    <p:sldId id="637" r:id="rId28"/>
    <p:sldId id="638" r:id="rId29"/>
    <p:sldId id="639" r:id="rId30"/>
    <p:sldId id="640" r:id="rId31"/>
    <p:sldId id="641" r:id="rId32"/>
    <p:sldId id="635" r:id="rId33"/>
    <p:sldId id="642" r:id="rId34"/>
    <p:sldId id="643" r:id="rId35"/>
    <p:sldId id="644" r:id="rId36"/>
    <p:sldId id="645" r:id="rId37"/>
    <p:sldId id="646" r:id="rId38"/>
    <p:sldId id="647" r:id="rId39"/>
    <p:sldId id="648" r:id="rId40"/>
    <p:sldId id="649" r:id="rId41"/>
    <p:sldId id="650" r:id="rId42"/>
    <p:sldId id="651" r:id="rId43"/>
    <p:sldId id="618" r:id="rId4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hail Matveichuk" initials="MM" lastIdx="1" clrIdx="0">
    <p:extLst>
      <p:ext uri="{19B8F6BF-5375-455C-9EA6-DF929625EA0E}">
        <p15:presenceInfo xmlns:p15="http://schemas.microsoft.com/office/powerpoint/2012/main" userId="a99a9a51dadd0b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4269" autoAdjust="0"/>
  </p:normalViewPr>
  <p:slideViewPr>
    <p:cSldViewPr>
      <p:cViewPr varScale="1">
        <p:scale>
          <a:sx n="151" d="100"/>
          <a:sy n="151" d="100"/>
        </p:scale>
        <p:origin x="678" y="1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DF2A5-73EA-4FCB-B5AE-B8580AC4EEA4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5874F-DCBC-4EDB-9D62-895E1B66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06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896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52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698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203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12/6/2024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3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31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835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10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31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51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07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39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20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80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1012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240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4295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889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570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51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01175-608E-4CF0-AFCE-88287FB87CEA}" type="datetimeFigureOut">
              <a:rPr lang="ru-RU" smtClean="0"/>
              <a:t>06.12.2024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997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6.wdp"/><Relationship Id="rId4" Type="http://schemas.openxmlformats.org/officeDocument/2006/relationships/image" Target="../media/image7.png"/><Relationship Id="rId9" Type="http://schemas.microsoft.com/office/2007/relationships/hdphoto" Target="../media/hdphoto8.wdp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javascript.ru/import-expor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15616" y="1995686"/>
            <a:ext cx="6840760" cy="1188132"/>
          </a:xfrm>
        </p:spPr>
        <p:txBody>
          <a:bodyPr anchor="t"/>
          <a:lstStyle/>
          <a:p>
            <a:pPr algn="ctr"/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ru-RU" sz="2400" dirty="0"/>
              <a:t>др.). Замыкания, модульность в JS.</a:t>
            </a:r>
            <a:r>
              <a:rPr lang="ru-RU" dirty="0"/>
              <a:t> </a:t>
            </a:r>
            <a:br>
              <a:rPr lang="ru-RU" dirty="0"/>
            </a:br>
            <a:endParaRPr lang="ru-RU" b="1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517AB04-330B-455B-B5F8-13F8090D8F72}"/>
              </a:ext>
            </a:extLst>
          </p:cNvPr>
          <p:cNvSpPr txBox="1">
            <a:spLocks/>
          </p:cNvSpPr>
          <p:nvPr/>
        </p:nvSpPr>
        <p:spPr>
          <a:xfrm>
            <a:off x="323528" y="3939902"/>
            <a:ext cx="1835696" cy="7920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342900" rtl="0" eaLnBrk="1" latinLnBrk="0" hangingPunct="1">
              <a:spcBef>
                <a:spcPct val="0"/>
              </a:spcBef>
              <a:buNone/>
              <a:defRPr sz="405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ru-RU" sz="1400" dirty="0">
                <a:solidFill>
                  <a:schemeClr val="tx1"/>
                </a:solidFill>
              </a:rPr>
              <a:t>Матвейчук Михаил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Frontend Team Lead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Codes Commanders </a:t>
            </a:r>
            <a:endParaRPr lang="ru-RU" sz="1400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1468D0-A03D-473D-82E5-22A9FF92E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74" t="26096" r="6477" b="16733"/>
          <a:stretch/>
        </p:blipFill>
        <p:spPr>
          <a:xfrm>
            <a:off x="6588224" y="267494"/>
            <a:ext cx="2249811" cy="82359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909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Массивы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92D050"/>
                </a:solidFill>
              </a:rPr>
              <a:t>Что изучили ранее</a:t>
            </a:r>
            <a:r>
              <a:rPr lang="en-US" altLang="ru-RU" sz="1600" dirty="0">
                <a:solidFill>
                  <a:srgbClr val="92D050"/>
                </a:solidFill>
              </a:rPr>
              <a:t>?</a:t>
            </a:r>
            <a:endParaRPr lang="ru-RU" altLang="ru-RU" sz="1600" dirty="0">
              <a:solidFill>
                <a:srgbClr val="92D050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Методы</a:t>
            </a:r>
            <a:r>
              <a:rPr lang="en-US" altLang="ru-RU" sz="1800" dirty="0">
                <a:solidFill>
                  <a:schemeClr val="tx1"/>
                </a:solidFill>
              </a:rPr>
              <a:t> </a:t>
            </a:r>
            <a:r>
              <a:rPr lang="ru-RU" altLang="ru-RU" sz="1800" dirty="0">
                <a:solidFill>
                  <a:schemeClr val="tx1"/>
                </a:solidFill>
              </a:rPr>
              <a:t>преобразование массива?</a:t>
            </a:r>
            <a:endParaRPr lang="en-US" altLang="ru-RU" sz="1800" dirty="0">
              <a:solidFill>
                <a:schemeClr val="tx1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Методы  чисел?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Методы  строк?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Тип данных </a:t>
            </a:r>
            <a:r>
              <a:rPr lang="en-US" altLang="ru-RU" sz="1800" dirty="0">
                <a:solidFill>
                  <a:schemeClr val="tx1"/>
                </a:solidFill>
              </a:rPr>
              <a:t>Map. </a:t>
            </a:r>
            <a:r>
              <a:rPr lang="ru-RU" altLang="ru-RU" sz="1800" dirty="0">
                <a:solidFill>
                  <a:schemeClr val="tx1"/>
                </a:solidFill>
              </a:rPr>
              <a:t>Его методы?</a:t>
            </a:r>
          </a:p>
          <a:p>
            <a:pPr marL="342900" indent="-342900" defTabSz="914400" eaLnBrk="0" fontAlgn="base" hangingPunct="0">
              <a:spcBef>
                <a:spcPct val="0"/>
              </a:spcBef>
              <a:buClrTx/>
              <a:buSzTx/>
              <a:buFont typeface="Wingdings 3" charset="2"/>
              <a:buAutoNum type="arabicPeriod"/>
            </a:pPr>
            <a:r>
              <a:rPr lang="ru-RU" altLang="ru-RU" sz="1800" dirty="0">
                <a:solidFill>
                  <a:schemeClr val="tx1"/>
                </a:solidFill>
              </a:rPr>
              <a:t>Тип данных </a:t>
            </a:r>
            <a:r>
              <a:rPr lang="en-US" altLang="ru-RU" sz="1800" dirty="0">
                <a:solidFill>
                  <a:schemeClr val="tx1"/>
                </a:solidFill>
              </a:rPr>
              <a:t>Set. </a:t>
            </a:r>
            <a:r>
              <a:rPr lang="ru-RU" altLang="ru-RU" sz="1800" dirty="0">
                <a:solidFill>
                  <a:schemeClr val="tx1"/>
                </a:solidFill>
              </a:rPr>
              <a:t>Его методы?</a:t>
            </a:r>
          </a:p>
        </p:txBody>
      </p:sp>
    </p:spTree>
    <p:extLst>
      <p:ext uri="{BB962C8B-B14F-4D97-AF65-F5344CB8AC3E}">
        <p14:creationId xmlns:p14="http://schemas.microsoft.com/office/powerpoint/2010/main" val="81419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CBA4E2-D840-44AD-A8C5-B07E96BD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1989257"/>
            <a:ext cx="7560840" cy="798517"/>
          </a:xfrm>
        </p:spPr>
        <p:txBody>
          <a:bodyPr>
            <a:noAutofit/>
          </a:bodyPr>
          <a:lstStyle/>
          <a:p>
            <a:r>
              <a:rPr lang="ru-RU" sz="3600" dirty="0"/>
              <a:t>Домашнее задание </a:t>
            </a:r>
            <a:r>
              <a:rPr lang="ru-RU" sz="3600" dirty="0" err="1"/>
              <a:t>лайфкодинг</a:t>
            </a:r>
            <a:r>
              <a:rPr lang="ru-RU" sz="3600" dirty="0"/>
              <a:t> </a:t>
            </a:r>
            <a:r>
              <a:rPr lang="ru-RU" sz="3600" dirty="0">
                <a:sym typeface="Wingdings" panose="05000000000000000000" pitchFamily="2" charset="2"/>
              </a:rPr>
              <a:t>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988592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1. Создайте </a:t>
            </a:r>
            <a:r>
              <a:rPr lang="ru-RU" sz="1600" dirty="0" err="1"/>
              <a:t>Map</a:t>
            </a:r>
            <a:r>
              <a:rPr lang="ru-RU" sz="1600" dirty="0"/>
              <a:t>, добавьте в него несколько пар ключ-значение, а затем выполните операции с </a:t>
            </a:r>
            <a:r>
              <a:rPr lang="ru-RU" sz="1600" dirty="0" err="1"/>
              <a:t>Map</a:t>
            </a:r>
            <a:r>
              <a:rPr lang="ru-RU" sz="1600" dirty="0"/>
              <a:t>, такие как получение значения по ключу, удаление пары ключ-значение, проверка наличия ключа в </a:t>
            </a:r>
            <a:r>
              <a:rPr lang="ru-RU" sz="1600" dirty="0" err="1"/>
              <a:t>Map</a:t>
            </a:r>
            <a:r>
              <a:rPr lang="ru-RU" sz="1600" dirty="0"/>
              <a:t> перебор всех значений.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2. Выполните аналогичные действия как в задаче 1 только для </a:t>
            </a:r>
            <a:r>
              <a:rPr lang="en-US" altLang="ru-RU" sz="1600" dirty="0">
                <a:solidFill>
                  <a:schemeClr val="tx1"/>
                </a:solidFill>
              </a:rPr>
              <a:t>Set.</a:t>
            </a:r>
            <a:endParaRPr lang="ru-RU" altLang="ru-RU" sz="1600" dirty="0">
              <a:solidFill>
                <a:schemeClr val="tx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862493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95636" y="1995686"/>
            <a:ext cx="6552728" cy="1008112"/>
          </a:xfrm>
        </p:spPr>
        <p:txBody>
          <a:bodyPr anchor="t"/>
          <a:lstStyle/>
          <a:p>
            <a:pPr algn="ctr"/>
            <a:r>
              <a:rPr lang="ru-RU" sz="3200" dirty="0"/>
              <a:t>Встроенные объекты </a:t>
            </a:r>
            <a:r>
              <a:rPr lang="ru-RU" sz="3200" dirty="0" err="1"/>
              <a:t>JavaScript</a:t>
            </a:r>
            <a:r>
              <a:rPr lang="ru-RU" sz="3200" dirty="0"/>
              <a:t> </a:t>
            </a:r>
            <a:br>
              <a:rPr lang="ru-RU" sz="3200" dirty="0"/>
            </a:br>
            <a:r>
              <a:rPr lang="ru-RU" sz="3200" dirty="0"/>
              <a:t>(</a:t>
            </a:r>
            <a:r>
              <a:rPr lang="ru-RU" sz="3200" dirty="0" err="1"/>
              <a:t>Math</a:t>
            </a:r>
            <a:r>
              <a:rPr lang="ru-RU" sz="3200" dirty="0"/>
              <a:t>, </a:t>
            </a:r>
            <a:r>
              <a:rPr lang="ru-RU" sz="3200" dirty="0" err="1"/>
              <a:t>Date</a:t>
            </a:r>
            <a:r>
              <a:rPr lang="ru-RU" sz="3200" dirty="0"/>
              <a:t> и</a:t>
            </a:r>
            <a:r>
              <a:rPr lang="en-US" sz="3200" dirty="0"/>
              <a:t> </a:t>
            </a:r>
            <a:r>
              <a:rPr lang="ru-RU" sz="3200" dirty="0"/>
              <a:t>др.)</a:t>
            </a:r>
          </a:p>
        </p:txBody>
      </p:sp>
    </p:spTree>
    <p:extLst>
      <p:ext uri="{BB962C8B-B14F-4D97-AF65-F5344CB8AC3E}">
        <p14:creationId xmlns:p14="http://schemas.microsoft.com/office/powerpoint/2010/main" val="2408675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 др.).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500" dirty="0">
                <a:solidFill>
                  <a:srgbClr val="FFFF00"/>
                </a:solidFill>
              </a:rPr>
              <a:t>Объект </a:t>
            </a:r>
            <a:r>
              <a:rPr lang="en-US" sz="1500" dirty="0">
                <a:solidFill>
                  <a:srgbClr val="FFFF00"/>
                </a:solidFill>
              </a:rPr>
              <a:t>Math:</a:t>
            </a:r>
            <a:endParaRPr lang="ru-RU" sz="1500" dirty="0">
              <a:solidFill>
                <a:srgbClr val="FFFF00"/>
              </a:solidFill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/>
              <a:t>Объект </a:t>
            </a:r>
            <a:r>
              <a:rPr lang="ru-RU" sz="1500" dirty="0" err="1">
                <a:solidFill>
                  <a:srgbClr val="FFFF00"/>
                </a:solidFill>
              </a:rPr>
              <a:t>Math</a:t>
            </a:r>
            <a:r>
              <a:rPr lang="ru-RU" sz="1500" dirty="0"/>
              <a:t> помогает с математическими вычислениями в </a:t>
            </a:r>
            <a:r>
              <a:rPr lang="ru-RU" sz="1500" dirty="0" err="1"/>
              <a:t>JavaScript</a:t>
            </a:r>
            <a:r>
              <a:rPr lang="ru-RU" sz="1500" dirty="0"/>
              <a:t>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/>
              <a:t>Он не создается с помощью </a:t>
            </a:r>
            <a:r>
              <a:rPr lang="ru-RU" sz="1500" dirty="0" err="1">
                <a:solidFill>
                  <a:srgbClr val="FFFF00"/>
                </a:solidFill>
              </a:rPr>
              <a:t>new</a:t>
            </a:r>
            <a:r>
              <a:rPr lang="ru-RU" sz="1500" dirty="0"/>
              <a:t>, потому что это не функция конструктор.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/>
              <a:t>Объект </a:t>
            </a:r>
            <a:r>
              <a:rPr lang="ru-RU" sz="1500" dirty="0" err="1">
                <a:solidFill>
                  <a:srgbClr val="FFFF00"/>
                </a:solidFill>
              </a:rPr>
              <a:t>Math</a:t>
            </a:r>
            <a:r>
              <a:rPr lang="ru-RU" sz="1500" dirty="0"/>
              <a:t> содержит числа и функции, которые можно использовать без создания экземпляра.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500" dirty="0">
                <a:solidFill>
                  <a:srgbClr val="FFFF00"/>
                </a:solidFill>
              </a:rPr>
              <a:t>Некоторые часто используемые свойства и методы: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Math.PI</a:t>
            </a:r>
            <a:r>
              <a:rPr lang="ru-RU" sz="1500" dirty="0"/>
              <a:t>: Это число π, около 3.14159.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Math.abs</a:t>
            </a:r>
            <a:r>
              <a:rPr lang="ru-RU" sz="1500" dirty="0">
                <a:solidFill>
                  <a:srgbClr val="FFFF00"/>
                </a:solidFill>
              </a:rPr>
              <a:t>(x)</a:t>
            </a:r>
            <a:r>
              <a:rPr lang="ru-RU" sz="1500" dirty="0">
                <a:solidFill>
                  <a:schemeClr val="tx1"/>
                </a:solidFill>
              </a:rPr>
              <a:t>: </a:t>
            </a:r>
            <a:r>
              <a:rPr lang="ru-RU" sz="1500" dirty="0"/>
              <a:t>Возвращает модуль числа x, то есть его абсолютное значение.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Math.round</a:t>
            </a:r>
            <a:r>
              <a:rPr lang="ru-RU" sz="1500" dirty="0">
                <a:solidFill>
                  <a:srgbClr val="FFFF00"/>
                </a:solidFill>
              </a:rPr>
              <a:t>(x)</a:t>
            </a:r>
            <a:r>
              <a:rPr lang="ru-RU" sz="1500" dirty="0">
                <a:solidFill>
                  <a:schemeClr val="tx1"/>
                </a:solidFill>
              </a:rPr>
              <a:t>: </a:t>
            </a:r>
            <a:r>
              <a:rPr lang="ru-RU" sz="1500" dirty="0"/>
              <a:t>Округляет число x до ближайшего целого.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Math.pow</a:t>
            </a:r>
            <a:r>
              <a:rPr lang="ru-RU" sz="1500" dirty="0">
                <a:solidFill>
                  <a:srgbClr val="FFFF00"/>
                </a:solidFill>
              </a:rPr>
              <a:t>(x, y)</a:t>
            </a:r>
            <a:r>
              <a:rPr lang="ru-RU" sz="1500" dirty="0">
                <a:solidFill>
                  <a:schemeClr val="tx1"/>
                </a:solidFill>
              </a:rPr>
              <a:t>: </a:t>
            </a:r>
            <a:r>
              <a:rPr lang="ru-RU" sz="1500" dirty="0"/>
              <a:t>Возводит число x в степень y.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Math.sqrt</a:t>
            </a:r>
            <a:r>
              <a:rPr lang="ru-RU" sz="1500" dirty="0">
                <a:solidFill>
                  <a:srgbClr val="FFFF00"/>
                </a:solidFill>
              </a:rPr>
              <a:t>(x)</a:t>
            </a:r>
            <a:r>
              <a:rPr lang="ru-RU" sz="1500" dirty="0">
                <a:solidFill>
                  <a:schemeClr val="tx1"/>
                </a:solidFill>
              </a:rPr>
              <a:t>: </a:t>
            </a:r>
            <a:r>
              <a:rPr lang="ru-RU" sz="1500" dirty="0"/>
              <a:t>Находит квадратный корень из числа x.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Math.max</a:t>
            </a:r>
            <a:r>
              <a:rPr lang="ru-RU" sz="1500" dirty="0">
                <a:solidFill>
                  <a:srgbClr val="FFFF00"/>
                </a:solidFill>
              </a:rPr>
              <a:t>(x, y, z, ...)</a:t>
            </a:r>
            <a:r>
              <a:rPr lang="ru-RU" sz="1500" dirty="0">
                <a:solidFill>
                  <a:schemeClr val="tx1"/>
                </a:solidFill>
              </a:rPr>
              <a:t>: </a:t>
            </a:r>
            <a:r>
              <a:rPr lang="ru-RU" sz="1500" dirty="0"/>
              <a:t>Возвращает самое большое число из списка аргументов.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Math.min</a:t>
            </a:r>
            <a:r>
              <a:rPr lang="ru-RU" sz="1500" dirty="0">
                <a:solidFill>
                  <a:srgbClr val="FFFF00"/>
                </a:solidFill>
              </a:rPr>
              <a:t>(x, y, z, ...)</a:t>
            </a:r>
            <a:r>
              <a:rPr lang="ru-RU" sz="1500" dirty="0">
                <a:solidFill>
                  <a:schemeClr val="tx1"/>
                </a:solidFill>
              </a:rPr>
              <a:t>: </a:t>
            </a:r>
            <a:r>
              <a:rPr lang="ru-RU" sz="1500" dirty="0"/>
              <a:t>Возвращает самое маленькое число из списка аргументов.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Math.random</a:t>
            </a:r>
            <a:r>
              <a:rPr lang="ru-RU" sz="1500" dirty="0">
                <a:solidFill>
                  <a:srgbClr val="FFFF00"/>
                </a:solidFill>
              </a:rPr>
              <a:t>()</a:t>
            </a:r>
            <a:r>
              <a:rPr lang="ru-RU" sz="1500" dirty="0">
                <a:solidFill>
                  <a:schemeClr val="tx1"/>
                </a:solidFill>
              </a:rPr>
              <a:t>: </a:t>
            </a:r>
            <a:r>
              <a:rPr lang="ru-RU" sz="1500" dirty="0"/>
              <a:t>Возвращает случайное число от 0 (включительно) до 1 (исключительно).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ru-RU" sz="1500" dirty="0">
              <a:solidFill>
                <a:srgbClr val="FFFF00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ru-RU" sz="15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586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 др.).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500" dirty="0">
                <a:solidFill>
                  <a:srgbClr val="FFFF00"/>
                </a:solidFill>
              </a:rPr>
              <a:t>Задачи и их решения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500" dirty="0">
                <a:solidFill>
                  <a:schemeClr val="tx1"/>
                </a:solidFill>
              </a:rPr>
              <a:t>1. Найти самое большое и самое маленькое число в массиве: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numbers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[1, 5, 10, 2, 8];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maxNumber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Math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max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(...numbers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minNumber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Math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min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(...numbers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500" dirty="0">
                <a:solidFill>
                  <a:schemeClr val="tx1"/>
                </a:solidFill>
              </a:rPr>
              <a:t>2.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ru-RU" sz="1500" dirty="0">
                <a:solidFill>
                  <a:schemeClr val="tx1"/>
                </a:solidFill>
              </a:rPr>
              <a:t>Округлить число до ближайшего целого: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number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4.7;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roundedNumber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= </a:t>
            </a:r>
            <a:r>
              <a:rPr lang="en-US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Math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round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(number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endParaRPr lang="en-US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3</a:t>
            </a:r>
            <a:r>
              <a:rPr lang="ru-RU" sz="1500" dirty="0">
                <a:solidFill>
                  <a:schemeClr val="tx1"/>
                </a:solidFill>
              </a:rPr>
              <a:t>.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ru-RU" sz="1500" dirty="0">
                <a:solidFill>
                  <a:schemeClr val="tx1"/>
                </a:solidFill>
              </a:rPr>
              <a:t>Случайно выбрать элемент из массива:</a:t>
            </a:r>
            <a:endParaRPr lang="en-US" sz="15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fruits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[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'яблоко', 'банан', 'вишня'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randomIndex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= </a:t>
            </a:r>
            <a:r>
              <a:rPr lang="en-US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Math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floor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Math.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random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*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fruits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length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randomElement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= 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fruits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randomIndex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  <a:endParaRPr 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500" dirty="0">
                <a:solidFill>
                  <a:schemeClr val="tx1"/>
                </a:solidFill>
              </a:rPr>
              <a:t>4. Найти квадратный корень числа: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x = 25;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squareRoot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Math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sqrt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(x);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console.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log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squareRoot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Выведет: 5</a:t>
            </a:r>
          </a:p>
        </p:txBody>
      </p:sp>
    </p:spTree>
    <p:extLst>
      <p:ext uri="{BB962C8B-B14F-4D97-AF65-F5344CB8AC3E}">
        <p14:creationId xmlns:p14="http://schemas.microsoft.com/office/powerpoint/2010/main" val="1754758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 др.).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550" dirty="0">
                <a:solidFill>
                  <a:srgbClr val="FFFF00"/>
                </a:solidFill>
              </a:rPr>
              <a:t>Обзор объекта </a:t>
            </a:r>
            <a:r>
              <a:rPr lang="ru-RU" sz="1550" dirty="0" err="1">
                <a:solidFill>
                  <a:srgbClr val="FFFF00"/>
                </a:solidFill>
              </a:rPr>
              <a:t>Date</a:t>
            </a:r>
            <a:r>
              <a:rPr lang="ru-RU" sz="1550" dirty="0">
                <a:solidFill>
                  <a:srgbClr val="FFFF00"/>
                </a:solidFill>
              </a:rPr>
              <a:t>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50" dirty="0"/>
              <a:t>Объект </a:t>
            </a:r>
            <a:r>
              <a:rPr lang="ru-RU" sz="1550" dirty="0" err="1">
                <a:solidFill>
                  <a:srgbClr val="FFFF00"/>
                </a:solidFill>
              </a:rPr>
              <a:t>Date</a:t>
            </a:r>
            <a:r>
              <a:rPr lang="ru-RU" sz="1550" dirty="0"/>
              <a:t> предоставляет инструменты для работы с датами и временем в </a:t>
            </a:r>
            <a:r>
              <a:rPr lang="ru-RU" sz="1550" dirty="0" err="1"/>
              <a:t>JavaScript</a:t>
            </a:r>
            <a:r>
              <a:rPr lang="ru-RU" sz="1550" dirty="0"/>
              <a:t>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50" dirty="0"/>
              <a:t>Объект </a:t>
            </a:r>
            <a:r>
              <a:rPr lang="ru-RU" sz="1550" dirty="0" err="1">
                <a:solidFill>
                  <a:srgbClr val="FFFF00"/>
                </a:solidFill>
              </a:rPr>
              <a:t>Date</a:t>
            </a:r>
            <a:r>
              <a:rPr lang="ru-RU" sz="1550" dirty="0"/>
              <a:t> создается с помощью ключевого слова </a:t>
            </a:r>
            <a:r>
              <a:rPr lang="ru-RU" sz="1550" dirty="0" err="1">
                <a:solidFill>
                  <a:srgbClr val="FFFF00"/>
                </a:solidFill>
              </a:rPr>
              <a:t>new</a:t>
            </a:r>
            <a:r>
              <a:rPr lang="ru-RU" sz="1550" dirty="0"/>
              <a:t> и конструктора </a:t>
            </a:r>
            <a:r>
              <a:rPr lang="ru-RU" sz="1550" dirty="0" err="1">
                <a:solidFill>
                  <a:srgbClr val="FFFF00"/>
                </a:solidFill>
              </a:rPr>
              <a:t>Date</a:t>
            </a:r>
            <a:r>
              <a:rPr lang="ru-RU" sz="1550" dirty="0">
                <a:solidFill>
                  <a:srgbClr val="FFFF00"/>
                </a:solidFill>
              </a:rPr>
              <a:t>()</a:t>
            </a:r>
            <a:r>
              <a:rPr lang="ru-RU" sz="1550" dirty="0"/>
              <a:t>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50" dirty="0"/>
              <a:t>Объект </a:t>
            </a:r>
            <a:r>
              <a:rPr lang="ru-RU" sz="1550" dirty="0" err="1">
                <a:solidFill>
                  <a:srgbClr val="FFFF00"/>
                </a:solidFill>
              </a:rPr>
              <a:t>Date</a:t>
            </a:r>
            <a:r>
              <a:rPr lang="ru-RU" sz="1550" dirty="0"/>
              <a:t> хранит дату и время в виде чисел, которые называются "</a:t>
            </a:r>
            <a:r>
              <a:rPr lang="ru-RU" sz="1550" dirty="0" err="1">
                <a:solidFill>
                  <a:srgbClr val="FFFF00"/>
                </a:solidFill>
              </a:rPr>
              <a:t>timestamp</a:t>
            </a:r>
            <a:r>
              <a:rPr lang="ru-RU" sz="1550" dirty="0"/>
              <a:t>".</a:t>
            </a:r>
            <a:endParaRPr lang="en-US" sz="1550" dirty="0"/>
          </a:p>
          <a:p>
            <a:pPr marL="0" indent="0">
              <a:buNone/>
            </a:pPr>
            <a:r>
              <a:rPr lang="ru-RU" sz="1550" dirty="0">
                <a:solidFill>
                  <a:srgbClr val="FFFF00"/>
                </a:solidFill>
              </a:rPr>
              <a:t>Некоторые часто используемые свойства и методы</a:t>
            </a:r>
            <a:r>
              <a:rPr lang="en-US" sz="1550" dirty="0">
                <a:solidFill>
                  <a:srgbClr val="FFFF00"/>
                </a:solidFill>
              </a:rPr>
              <a:t>:</a:t>
            </a:r>
            <a:r>
              <a:rPr lang="ru-RU" sz="1550" dirty="0">
                <a:solidFill>
                  <a:srgbClr val="FFFF00"/>
                </a:solidFill>
              </a:rPr>
              <a:t>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50" dirty="0" err="1">
                <a:solidFill>
                  <a:srgbClr val="FFFF00"/>
                </a:solidFill>
              </a:rPr>
              <a:t>Date.now</a:t>
            </a:r>
            <a:r>
              <a:rPr lang="ru-RU" sz="1550" dirty="0">
                <a:solidFill>
                  <a:srgbClr val="FFFF00"/>
                </a:solidFill>
              </a:rPr>
              <a:t>()</a:t>
            </a:r>
            <a:r>
              <a:rPr lang="ru-RU" sz="1550" dirty="0">
                <a:solidFill>
                  <a:schemeClr val="tx1">
                    <a:lumMod val="95000"/>
                  </a:schemeClr>
                </a:solidFill>
              </a:rPr>
              <a:t>:</a:t>
            </a:r>
            <a:r>
              <a:rPr lang="ru-RU" sz="1550" dirty="0"/>
              <a:t> Возвращает текущее время в виде </a:t>
            </a:r>
            <a:r>
              <a:rPr lang="ru-RU" sz="1550" dirty="0" err="1">
                <a:solidFill>
                  <a:srgbClr val="FFFF00"/>
                </a:solidFill>
              </a:rPr>
              <a:t>timestamp</a:t>
            </a:r>
            <a:r>
              <a:rPr lang="ru-RU" sz="1550" dirty="0"/>
              <a:t>.</a:t>
            </a:r>
            <a:endParaRPr lang="en-US" sz="1550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FFFF00"/>
                </a:solidFill>
              </a:rPr>
              <a:t>new Date(year, month, day)</a:t>
            </a:r>
            <a:r>
              <a:rPr lang="en-US" sz="1550" dirty="0">
                <a:solidFill>
                  <a:schemeClr val="tx1"/>
                </a:solidFill>
              </a:rPr>
              <a:t>:</a:t>
            </a:r>
            <a:r>
              <a:rPr lang="en-US" sz="1550" dirty="0">
                <a:solidFill>
                  <a:srgbClr val="FFFF00"/>
                </a:solidFill>
              </a:rPr>
              <a:t> </a:t>
            </a:r>
            <a:r>
              <a:rPr lang="ru-RU" sz="1550" dirty="0"/>
              <a:t>возвращает </a:t>
            </a:r>
            <a:r>
              <a:rPr lang="en-US" sz="1550" dirty="0"/>
              <a:t>timestamp </a:t>
            </a:r>
            <a:r>
              <a:rPr lang="ru-RU" sz="1550" dirty="0"/>
              <a:t>даты в виде ГГГГ.ММ.ДД.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50" dirty="0" err="1">
                <a:solidFill>
                  <a:srgbClr val="FFFF00"/>
                </a:solidFill>
              </a:rPr>
              <a:t>getFullYear</a:t>
            </a:r>
            <a:r>
              <a:rPr lang="ru-RU" sz="1550" dirty="0">
                <a:solidFill>
                  <a:srgbClr val="FFFF00"/>
                </a:solidFill>
              </a:rPr>
              <a:t>()</a:t>
            </a:r>
            <a:r>
              <a:rPr lang="ru-RU" sz="1550" dirty="0">
                <a:solidFill>
                  <a:schemeClr val="tx1">
                    <a:lumMod val="95000"/>
                  </a:schemeClr>
                </a:solidFill>
              </a:rPr>
              <a:t>:</a:t>
            </a:r>
            <a:r>
              <a:rPr lang="ru-RU" sz="1550" dirty="0">
                <a:solidFill>
                  <a:srgbClr val="FFFF00"/>
                </a:solidFill>
              </a:rPr>
              <a:t> </a:t>
            </a:r>
            <a:r>
              <a:rPr lang="ru-RU" sz="1550" dirty="0"/>
              <a:t>Возвращает год из даты.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50" dirty="0" err="1">
                <a:solidFill>
                  <a:srgbClr val="FFFF00"/>
                </a:solidFill>
              </a:rPr>
              <a:t>getMonth</a:t>
            </a:r>
            <a:r>
              <a:rPr lang="ru-RU" sz="1550" dirty="0">
                <a:solidFill>
                  <a:srgbClr val="FFFF00"/>
                </a:solidFill>
              </a:rPr>
              <a:t>()</a:t>
            </a:r>
            <a:r>
              <a:rPr lang="ru-RU" sz="1550" dirty="0">
                <a:solidFill>
                  <a:schemeClr val="tx1">
                    <a:lumMod val="95000"/>
                  </a:schemeClr>
                </a:solidFill>
              </a:rPr>
              <a:t>:</a:t>
            </a:r>
            <a:r>
              <a:rPr lang="ru-RU" sz="1550" dirty="0"/>
              <a:t> Возвращает месяц из даты (от 0 до 11).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50" dirty="0" err="1">
                <a:solidFill>
                  <a:srgbClr val="FFFF00"/>
                </a:solidFill>
              </a:rPr>
              <a:t>getDate</a:t>
            </a:r>
            <a:r>
              <a:rPr lang="ru-RU" sz="1550" dirty="0">
                <a:solidFill>
                  <a:srgbClr val="FFFF00"/>
                </a:solidFill>
              </a:rPr>
              <a:t>()</a:t>
            </a:r>
            <a:r>
              <a:rPr lang="ru-RU" sz="1550" dirty="0">
                <a:solidFill>
                  <a:schemeClr val="tx1">
                    <a:lumMod val="95000"/>
                  </a:schemeClr>
                </a:solidFill>
              </a:rPr>
              <a:t>:</a:t>
            </a:r>
            <a:r>
              <a:rPr lang="ru-RU" sz="1550" dirty="0">
                <a:solidFill>
                  <a:srgbClr val="FFFF00"/>
                </a:solidFill>
              </a:rPr>
              <a:t> </a:t>
            </a:r>
            <a:r>
              <a:rPr lang="ru-RU" sz="1550" dirty="0"/>
              <a:t>Возвращает день месяца из даты.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50" dirty="0" err="1">
                <a:solidFill>
                  <a:srgbClr val="FFFF00"/>
                </a:solidFill>
              </a:rPr>
              <a:t>getHours</a:t>
            </a:r>
            <a:r>
              <a:rPr lang="ru-RU" sz="1550" dirty="0">
                <a:solidFill>
                  <a:srgbClr val="FFFF00"/>
                </a:solidFill>
              </a:rPr>
              <a:t>()</a:t>
            </a:r>
            <a:r>
              <a:rPr lang="ru-RU" sz="1550" dirty="0">
                <a:solidFill>
                  <a:schemeClr val="tx1">
                    <a:lumMod val="95000"/>
                  </a:schemeClr>
                </a:solidFill>
              </a:rPr>
              <a:t>:</a:t>
            </a:r>
            <a:r>
              <a:rPr lang="ru-RU" sz="1550" dirty="0">
                <a:solidFill>
                  <a:srgbClr val="FFFF00"/>
                </a:solidFill>
              </a:rPr>
              <a:t> </a:t>
            </a:r>
            <a:r>
              <a:rPr lang="ru-RU" sz="1550" dirty="0"/>
              <a:t>Возвращает часы из даты.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50" dirty="0" err="1">
                <a:solidFill>
                  <a:srgbClr val="FFFF00"/>
                </a:solidFill>
              </a:rPr>
              <a:t>getMinutes</a:t>
            </a:r>
            <a:r>
              <a:rPr lang="ru-RU" sz="1550" dirty="0">
                <a:solidFill>
                  <a:srgbClr val="FFFF00"/>
                </a:solidFill>
              </a:rPr>
              <a:t>()</a:t>
            </a:r>
            <a:r>
              <a:rPr lang="ru-RU" sz="1550" dirty="0">
                <a:solidFill>
                  <a:schemeClr val="tx1">
                    <a:lumMod val="95000"/>
                  </a:schemeClr>
                </a:solidFill>
              </a:rPr>
              <a:t>:</a:t>
            </a:r>
            <a:r>
              <a:rPr lang="ru-RU" sz="1550" dirty="0">
                <a:solidFill>
                  <a:srgbClr val="FFFF00"/>
                </a:solidFill>
              </a:rPr>
              <a:t> </a:t>
            </a:r>
            <a:r>
              <a:rPr lang="ru-RU" sz="1550" dirty="0"/>
              <a:t>Возвращает минуты из даты.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50" dirty="0" err="1">
                <a:solidFill>
                  <a:srgbClr val="FFFF00"/>
                </a:solidFill>
              </a:rPr>
              <a:t>getSeconds</a:t>
            </a:r>
            <a:r>
              <a:rPr lang="ru-RU" sz="1550" dirty="0">
                <a:solidFill>
                  <a:srgbClr val="FFFF00"/>
                </a:solidFill>
              </a:rPr>
              <a:t>()</a:t>
            </a:r>
            <a:r>
              <a:rPr lang="ru-RU" sz="1550" dirty="0">
                <a:solidFill>
                  <a:schemeClr val="tx1">
                    <a:lumMod val="95000"/>
                  </a:schemeClr>
                </a:solidFill>
              </a:rPr>
              <a:t>:</a:t>
            </a:r>
            <a:r>
              <a:rPr lang="ru-RU" sz="1550" dirty="0">
                <a:solidFill>
                  <a:srgbClr val="FFFF00"/>
                </a:solidFill>
              </a:rPr>
              <a:t> </a:t>
            </a:r>
            <a:r>
              <a:rPr lang="ru-RU" sz="1550" dirty="0"/>
              <a:t>Возвращает секунды из даты.</a:t>
            </a:r>
          </a:p>
          <a:p>
            <a:pPr marL="0" indent="0">
              <a:spcBef>
                <a:spcPts val="0"/>
              </a:spcBef>
              <a:buNone/>
            </a:pP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2927184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 др.).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rgbClr val="FFFF00"/>
                </a:solidFill>
              </a:rPr>
              <a:t>Задачи и их решения: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1. Получить текущую дату и время: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Date();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year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currentDate.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getFullYear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month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currentDate.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getMonth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1; </a:t>
            </a:r>
            <a:endParaRPr 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day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currentDate.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getDate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`Today: ${day}.${month}.${year}`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endParaRPr 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2. Получить текущее время: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Date();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hours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currentDate.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getHours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minutes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currentDate.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getMinutes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seconds =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currentDate.</a:t>
            </a:r>
            <a:r>
              <a:rPr lang="en-US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getSeconds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FF00"/>
                </a:solidFill>
                <a:latin typeface="Consolas" panose="020B0609020204030204" pitchFamily="49" charset="0"/>
              </a:rPr>
              <a:t>`Current time: ${hours}:${minutes}:${seconds}`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endParaRPr 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158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 др.).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b="1" dirty="0"/>
              <a:t>3. </a:t>
            </a:r>
            <a:r>
              <a:rPr lang="ru-RU" sz="1400" dirty="0"/>
              <a:t>Получить текущую дату и время в формате "YYYY-MM-DD HH:MM:SS":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Date();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year =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getFullYear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month =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getMonth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() + 1).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padStart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(2, '0');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day =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getDate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()).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padStart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(2, '0');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hours =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getHours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()).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padStart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(2, '0');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minutes =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getMinutes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()).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padStart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(2, '0');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seconds =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currentDate.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getSeconds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()).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padStart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(2, '0');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.log(`Today: ${year}-${month}-${day} ${hours}:${minutes}:${seconds}`);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dirty="0"/>
              <a:t>В примерах выше используется метод </a:t>
            </a:r>
            <a:r>
              <a:rPr lang="ru-RU" sz="1400" dirty="0" err="1">
                <a:solidFill>
                  <a:srgbClr val="FFFF00"/>
                </a:solidFill>
              </a:rPr>
              <a:t>padStart</a:t>
            </a:r>
            <a:r>
              <a:rPr lang="ru-RU" sz="1400" dirty="0">
                <a:solidFill>
                  <a:schemeClr val="tx2"/>
                </a:solidFill>
              </a:rPr>
              <a:t>(</a:t>
            </a:r>
            <a:r>
              <a:rPr lang="ru-RU" sz="1400" dirty="0" err="1">
                <a:solidFill>
                  <a:srgbClr val="FFFF00"/>
                </a:solidFill>
              </a:rPr>
              <a:t>length</a:t>
            </a:r>
            <a:r>
              <a:rPr lang="ru-RU" sz="1400" dirty="0">
                <a:solidFill>
                  <a:srgbClr val="FFFF00"/>
                </a:solidFill>
              </a:rPr>
              <a:t>,</a:t>
            </a:r>
            <a:r>
              <a:rPr lang="ru-RU" sz="1400" dirty="0"/>
              <a:t> </a:t>
            </a:r>
            <a:r>
              <a:rPr lang="ru-RU" sz="1400" dirty="0" err="1">
                <a:solidFill>
                  <a:srgbClr val="FFFF00"/>
                </a:solidFill>
              </a:rPr>
              <a:t>padString</a:t>
            </a:r>
            <a:r>
              <a:rPr lang="ru-RU" sz="1400" dirty="0">
                <a:solidFill>
                  <a:schemeClr val="tx2"/>
                </a:solidFill>
              </a:rPr>
              <a:t>),</a:t>
            </a:r>
            <a:r>
              <a:rPr lang="ru-RU" sz="1400" dirty="0"/>
              <a:t> который добавляет указанную строку </a:t>
            </a:r>
            <a:r>
              <a:rPr lang="ru-RU" sz="1400" dirty="0" err="1">
                <a:solidFill>
                  <a:srgbClr val="FFFF00"/>
                </a:solidFill>
              </a:rPr>
              <a:t>padString</a:t>
            </a:r>
            <a:r>
              <a:rPr lang="ru-RU" sz="1400" dirty="0"/>
              <a:t> в начало исходной строки до достижения указанной длины </a:t>
            </a:r>
            <a:r>
              <a:rPr lang="ru-RU" sz="1400" dirty="0" err="1">
                <a:solidFill>
                  <a:srgbClr val="FFFF00"/>
                </a:solidFill>
              </a:rPr>
              <a:t>length</a:t>
            </a:r>
            <a:r>
              <a:rPr lang="ru-RU" sz="1400" dirty="0"/>
              <a:t>.</a:t>
            </a:r>
          </a:p>
          <a:p>
            <a:pPr marL="0" indent="0">
              <a:buNone/>
            </a:pPr>
            <a:r>
              <a:rPr lang="ru-RU" sz="1400" dirty="0"/>
              <a:t>Эти примеры демонстрируют использование объекта </a:t>
            </a:r>
            <a:r>
              <a:rPr lang="ru-RU" sz="1400" dirty="0" err="1">
                <a:solidFill>
                  <a:srgbClr val="FFFF00"/>
                </a:solidFill>
              </a:rPr>
              <a:t>Date</a:t>
            </a:r>
            <a:r>
              <a:rPr lang="ru-RU" sz="1400" dirty="0"/>
              <a:t> для получения текущей даты и времени и для форматирования этой информации. Вы можете добавить больше задач и решений, которые лучше соответствуют вашей цели.</a:t>
            </a:r>
          </a:p>
          <a:p>
            <a:pPr marL="0" indent="0">
              <a:spcBef>
                <a:spcPts val="0"/>
              </a:spcBef>
              <a:buNone/>
            </a:pP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035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 др.).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b="1" dirty="0">
                <a:solidFill>
                  <a:srgbClr val="FFFF00"/>
                </a:solidFill>
              </a:rPr>
              <a:t>Некоторые дополнительные встроенные объекты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dirty="0" err="1"/>
              <a:t>JavaScript</a:t>
            </a:r>
            <a:r>
              <a:rPr lang="ru-RU" sz="1600" dirty="0"/>
              <a:t> предоставляет много встроенных объектов, которые можно использовать для выполнения различных задач. 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FFFF00"/>
                </a:solidFill>
              </a:rPr>
              <a:t>RegExp</a:t>
            </a:r>
            <a:r>
              <a:rPr lang="ru-RU" sz="1600" dirty="0"/>
              <a:t> - объект, представляющий регулярное выражение.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FFFF00"/>
                </a:solidFill>
              </a:rPr>
              <a:t>JSON</a:t>
            </a:r>
            <a:r>
              <a:rPr lang="ru-RU" sz="1600" dirty="0"/>
              <a:t> - объект, предоставляющий методы для работы с JSON (</a:t>
            </a:r>
            <a:r>
              <a:rPr lang="ru-RU" sz="1600" dirty="0" err="1"/>
              <a:t>JavaScript</a:t>
            </a:r>
            <a:r>
              <a:rPr lang="ru-RU" sz="1600" dirty="0"/>
              <a:t> </a:t>
            </a:r>
            <a:r>
              <a:rPr lang="ru-RU" sz="1600" dirty="0" err="1"/>
              <a:t>Object</a:t>
            </a:r>
            <a:r>
              <a:rPr lang="ru-RU" sz="1600" dirty="0"/>
              <a:t> </a:t>
            </a:r>
            <a:r>
              <a:rPr lang="ru-RU" sz="1600" dirty="0" err="1"/>
              <a:t>Notation</a:t>
            </a:r>
            <a:r>
              <a:rPr lang="ru-RU" sz="1600" dirty="0"/>
              <a:t>).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FFFF00"/>
                </a:solidFill>
              </a:rPr>
              <a:t>Global</a:t>
            </a:r>
            <a:r>
              <a:rPr lang="ru-RU" sz="1600" dirty="0"/>
              <a:t> - объект, представляющий глобальные переменные и функции.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FFFF00"/>
                </a:solidFill>
              </a:rPr>
              <a:t>Error</a:t>
            </a:r>
            <a:r>
              <a:rPr lang="ru-RU" sz="1600" dirty="0"/>
              <a:t> - объект, представляющий ошибку.</a:t>
            </a:r>
          </a:p>
          <a:p>
            <a:pPr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FFFF00"/>
                </a:solidFill>
              </a:rPr>
              <a:t>Console</a:t>
            </a:r>
            <a:r>
              <a:rPr lang="ru-RU" sz="1600" dirty="0"/>
              <a:t> - объект, предоставляющий методы для вывода информации в консоль.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endParaRPr lang="ru-RU" sz="1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305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 др.).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sz="1400" dirty="0"/>
              <a:t>Объект </a:t>
            </a:r>
            <a:r>
              <a:rPr lang="ru-RU" sz="1400" dirty="0" err="1">
                <a:solidFill>
                  <a:srgbClr val="FFFF00"/>
                </a:solidFill>
              </a:rPr>
              <a:t>RegExp</a:t>
            </a:r>
            <a:r>
              <a:rPr lang="ru-RU" sz="1400" dirty="0"/>
              <a:t> в </a:t>
            </a:r>
            <a:r>
              <a:rPr lang="ru-RU" sz="1400" dirty="0" err="1"/>
              <a:t>JavaScript</a:t>
            </a:r>
            <a:r>
              <a:rPr lang="ru-RU" sz="1400" dirty="0"/>
              <a:t> представляет регулярное выражение, которое используется для поиска, замены и проверки текста. Регулярные выражения позволяют определить шаблоны, которые могут соответствовать определенным условиям в тексте.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400" b="1" dirty="0">
                <a:solidFill>
                  <a:srgbClr val="FFFF00"/>
                </a:solidFill>
              </a:rPr>
              <a:t>Основные свойства и методы объекта </a:t>
            </a:r>
            <a:r>
              <a:rPr lang="ru-RU" sz="1400" b="1" dirty="0" err="1">
                <a:solidFill>
                  <a:srgbClr val="FFFF00"/>
                </a:solidFill>
              </a:rPr>
              <a:t>RegExp</a:t>
            </a:r>
            <a:r>
              <a:rPr lang="ru-RU" sz="1400" b="1" dirty="0">
                <a:solidFill>
                  <a:srgbClr val="FFFF00"/>
                </a:solidFill>
              </a:rPr>
              <a:t>: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400" b="1" dirty="0">
                <a:solidFill>
                  <a:schemeClr val="tx1"/>
                </a:solidFill>
              </a:rPr>
              <a:t>Свойства: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FFFF00"/>
                </a:solidFill>
              </a:rPr>
              <a:t>source</a:t>
            </a:r>
            <a:r>
              <a:rPr lang="ru-RU" sz="1400" dirty="0"/>
              <a:t> - возвращает исходное регулярное выражение в виде строки.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FFFF00"/>
                </a:solidFill>
              </a:rPr>
              <a:t>global</a:t>
            </a:r>
            <a:r>
              <a:rPr lang="ru-RU" sz="1400" dirty="0"/>
              <a:t> - возвращает </a:t>
            </a:r>
            <a:r>
              <a:rPr lang="ru-RU" sz="1400" dirty="0" err="1"/>
              <a:t>true</a:t>
            </a:r>
            <a:r>
              <a:rPr lang="ru-RU" sz="1400" dirty="0"/>
              <a:t>, если флаг g (глобальный поиск) установлен, иначе </a:t>
            </a:r>
            <a:r>
              <a:rPr lang="ru-RU" sz="1400" dirty="0" err="1"/>
              <a:t>false</a:t>
            </a:r>
            <a:r>
              <a:rPr lang="ru-RU" sz="1400" dirty="0"/>
              <a:t>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FFFF00"/>
                </a:solidFill>
              </a:rPr>
              <a:t>ignoreCase</a:t>
            </a:r>
            <a:r>
              <a:rPr lang="ru-RU" sz="1400" dirty="0"/>
              <a:t> - возвращает </a:t>
            </a:r>
            <a:r>
              <a:rPr lang="ru-RU" sz="1400" dirty="0" err="1"/>
              <a:t>true</a:t>
            </a:r>
            <a:r>
              <a:rPr lang="ru-RU" sz="1400" dirty="0"/>
              <a:t>, если флаг i (без учета регистра) установлен, иначе </a:t>
            </a:r>
            <a:r>
              <a:rPr lang="ru-RU" sz="1400" dirty="0" err="1"/>
              <a:t>false</a:t>
            </a:r>
            <a:r>
              <a:rPr lang="ru-RU" sz="1400" dirty="0"/>
              <a:t>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FFFF00"/>
                </a:solidFill>
              </a:rPr>
              <a:t>multiline</a:t>
            </a:r>
            <a:r>
              <a:rPr lang="ru-RU" sz="1400" dirty="0"/>
              <a:t> - возвращает </a:t>
            </a:r>
            <a:r>
              <a:rPr lang="ru-RU" sz="1400" dirty="0" err="1"/>
              <a:t>true</a:t>
            </a:r>
            <a:r>
              <a:rPr lang="ru-RU" sz="1400" dirty="0"/>
              <a:t>, если флаг m (многострочный поиск) установлен, иначе </a:t>
            </a:r>
            <a:r>
              <a:rPr lang="ru-RU" sz="1400" dirty="0" err="1"/>
              <a:t>false</a:t>
            </a:r>
            <a:r>
              <a:rPr lang="ru-RU" sz="1400" dirty="0"/>
              <a:t>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400" b="1" dirty="0">
                <a:solidFill>
                  <a:schemeClr val="tx1"/>
                </a:solidFill>
              </a:rPr>
              <a:t>Методы: 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FFFF00"/>
                </a:solidFill>
              </a:rPr>
              <a:t>exec</a:t>
            </a:r>
            <a:r>
              <a:rPr lang="ru-RU" sz="1400" dirty="0"/>
              <a:t>() - выполняет поиск по регулярному выражению и возвращает массив совпадений, либо </a:t>
            </a:r>
            <a:r>
              <a:rPr lang="ru-RU" sz="1400" dirty="0" err="1"/>
              <a:t>null</a:t>
            </a:r>
            <a:r>
              <a:rPr lang="ru-RU" sz="1400" dirty="0"/>
              <a:t>, если совпадений не найдено.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FFFF00"/>
                </a:solidFill>
              </a:rPr>
              <a:t>test</a:t>
            </a:r>
            <a:r>
              <a:rPr lang="ru-RU" sz="1400" dirty="0"/>
              <a:t>() - выполняет поиск по регулярному выражению и возвращает </a:t>
            </a:r>
            <a:r>
              <a:rPr lang="ru-RU" sz="1400" dirty="0" err="1"/>
              <a:t>true</a:t>
            </a:r>
            <a:r>
              <a:rPr lang="ru-RU" sz="1400" dirty="0"/>
              <a:t>, если совпадение найдено, иначе </a:t>
            </a:r>
            <a:r>
              <a:rPr lang="ru-RU" sz="1400" dirty="0" err="1"/>
              <a:t>false</a:t>
            </a:r>
            <a:r>
              <a:rPr lang="ru-RU" sz="1400" dirty="0"/>
              <a:t>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FFFF00"/>
                </a:solidFill>
              </a:rPr>
              <a:t>toString</a:t>
            </a:r>
            <a:r>
              <a:rPr lang="ru-RU" sz="1400" dirty="0"/>
              <a:t>() - возвращает строковое представление регулярного выражения.</a:t>
            </a:r>
          </a:p>
          <a:p>
            <a:pPr marL="0" indent="0">
              <a:spcBef>
                <a:spcPts val="0"/>
              </a:spcBef>
              <a:buNone/>
            </a:pPr>
            <a:endParaRPr lang="ru-RU" sz="15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85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 др.).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500" dirty="0">
                <a:solidFill>
                  <a:srgbClr val="FFFF00"/>
                </a:solidFill>
              </a:rPr>
              <a:t>// Создание регулярного выражения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latin typeface="Consolas" panose="020B0609020204030204" pitchFamily="49" charset="0"/>
              </a:rPr>
              <a:t> pattern =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/</a:t>
            </a:r>
            <a:r>
              <a:rPr lang="en-US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abc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/</a:t>
            </a:r>
            <a:r>
              <a:rPr lang="en-US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gim</a:t>
            </a:r>
            <a:r>
              <a:rPr lang="en-US" sz="1500" dirty="0">
                <a:latin typeface="Consolas" panose="020B0609020204030204" pitchFamily="49" charset="0"/>
              </a:rPr>
              <a:t>;</a:t>
            </a:r>
            <a:endParaRPr lang="en-US" sz="15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FFF00"/>
                </a:solidFill>
              </a:rPr>
              <a:t>// </a:t>
            </a:r>
            <a:r>
              <a:rPr lang="ru-RU" sz="1500" dirty="0">
                <a:solidFill>
                  <a:srgbClr val="FFFF00"/>
                </a:solidFill>
              </a:rPr>
              <a:t>Поиск совпадений с помощью </a:t>
            </a:r>
            <a:r>
              <a:rPr lang="en-US" sz="1500" dirty="0">
                <a:solidFill>
                  <a:srgbClr val="FFFF00"/>
                </a:solidFill>
              </a:rPr>
              <a:t>exec()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latin typeface="Consolas" panose="020B0609020204030204" pitchFamily="49" charset="0"/>
              </a:rPr>
              <a:t> text =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en-US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abc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abc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abc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latin typeface="Consolas" panose="020B0609020204030204" pitchFamily="49" charset="0"/>
              </a:rPr>
              <a:t> match = </a:t>
            </a:r>
            <a:r>
              <a:rPr lang="en-US" sz="1500" dirty="0" err="1">
                <a:latin typeface="Consolas" panose="020B0609020204030204" pitchFamily="49" charset="0"/>
              </a:rPr>
              <a:t>pattern.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exec</a:t>
            </a:r>
            <a:r>
              <a:rPr lang="en-US" sz="1500" dirty="0">
                <a:latin typeface="Consolas" panose="020B0609020204030204" pitchFamily="49" charset="0"/>
              </a:rPr>
              <a:t>(text);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500" dirty="0">
                <a:latin typeface="Consolas" panose="020B0609020204030204" pitchFamily="49" charset="0"/>
              </a:rPr>
              <a:t>.log(match);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// ["</a:t>
            </a:r>
            <a:r>
              <a:rPr lang="en-US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abc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", index: 0, input: "</a:t>
            </a:r>
            <a:r>
              <a:rPr lang="en-US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abc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abc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abc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"]</a:t>
            </a:r>
            <a:endParaRPr lang="en-US" sz="1500" dirty="0">
              <a:solidFill>
                <a:srgbClr val="FFFF00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FFF00"/>
                </a:solidFill>
              </a:rPr>
              <a:t>// </a:t>
            </a:r>
            <a:r>
              <a:rPr lang="ru-RU" sz="1500" dirty="0">
                <a:solidFill>
                  <a:srgbClr val="FFFF00"/>
                </a:solidFill>
              </a:rPr>
              <a:t>Проверка совпадения с помощью </a:t>
            </a:r>
            <a:r>
              <a:rPr lang="en-US" sz="1500" dirty="0">
                <a:solidFill>
                  <a:srgbClr val="FFFF00"/>
                </a:solidFill>
              </a:rPr>
              <a:t>test()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isMatch</a:t>
            </a:r>
            <a:r>
              <a:rPr lang="en-US" sz="1500" dirty="0">
                <a:latin typeface="Consolas" panose="020B0609020204030204" pitchFamily="49" charset="0"/>
              </a:rPr>
              <a:t> = </a:t>
            </a:r>
            <a:r>
              <a:rPr lang="en-US" sz="1500" dirty="0" err="1">
                <a:latin typeface="Consolas" panose="020B0609020204030204" pitchFamily="49" charset="0"/>
              </a:rPr>
              <a:t>pattern.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test</a:t>
            </a:r>
            <a:r>
              <a:rPr lang="en-US" sz="1500" dirty="0">
                <a:latin typeface="Consolas" panose="020B0609020204030204" pitchFamily="49" charset="0"/>
              </a:rPr>
              <a:t>(text);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500" dirty="0">
                <a:latin typeface="Consolas" panose="020B0609020204030204" pitchFamily="49" charset="0"/>
              </a:rPr>
              <a:t>.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500" dirty="0">
                <a:latin typeface="Consolas" panose="020B0609020204030204" pitchFamily="49" charset="0"/>
              </a:rPr>
              <a:t>(</a:t>
            </a:r>
            <a:r>
              <a:rPr lang="en-US" sz="1500" dirty="0" err="1">
                <a:latin typeface="Consolas" panose="020B0609020204030204" pitchFamily="49" charset="0"/>
              </a:rPr>
              <a:t>isMatch</a:t>
            </a:r>
            <a:r>
              <a:rPr lang="en-US" sz="1500" dirty="0">
                <a:latin typeface="Consolas" panose="020B0609020204030204" pitchFamily="49" charset="0"/>
              </a:rPr>
              <a:t>);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// true</a:t>
            </a:r>
            <a:endParaRPr lang="ru-RU" sz="1500" b="1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431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 др.).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500" dirty="0"/>
              <a:t>Объект </a:t>
            </a:r>
            <a:r>
              <a:rPr lang="en-US" sz="1500" dirty="0"/>
              <a:t>JSON </a:t>
            </a:r>
            <a:r>
              <a:rPr lang="ru-RU" sz="1500" dirty="0"/>
              <a:t>в </a:t>
            </a:r>
            <a:r>
              <a:rPr lang="en-US" sz="1500" dirty="0"/>
              <a:t>JavaScript </a:t>
            </a:r>
            <a:r>
              <a:rPr lang="ru-RU" sz="1500" dirty="0"/>
              <a:t>предоставляет методы для преобразования объектов </a:t>
            </a:r>
            <a:r>
              <a:rPr lang="en-US" sz="1500" dirty="0"/>
              <a:t>JavaScript </a:t>
            </a:r>
            <a:r>
              <a:rPr lang="ru-RU" sz="1500" dirty="0"/>
              <a:t>в </a:t>
            </a:r>
            <a:r>
              <a:rPr lang="en-US" sz="1500" dirty="0"/>
              <a:t>JSON-</a:t>
            </a:r>
            <a:r>
              <a:rPr lang="ru-RU" sz="1500" dirty="0"/>
              <a:t>строки и обратно. Основные методы объекта </a:t>
            </a:r>
            <a:r>
              <a:rPr lang="en-US" sz="1500" dirty="0"/>
              <a:t>JSON: </a:t>
            </a:r>
          </a:p>
          <a:p>
            <a:pPr marL="0" indent="0">
              <a:buNone/>
            </a:pPr>
            <a:r>
              <a:rPr lang="ru-RU" sz="1500" b="1" dirty="0">
                <a:solidFill>
                  <a:srgbClr val="FFFF00"/>
                </a:solidFill>
              </a:rPr>
              <a:t>Методы:</a:t>
            </a:r>
            <a:r>
              <a:rPr lang="ru-RU" sz="1500" dirty="0">
                <a:solidFill>
                  <a:srgbClr val="FFFF00"/>
                </a:solidFill>
              </a:rPr>
              <a:t> </a:t>
            </a:r>
            <a:endParaRPr lang="ru-RU" sz="1500" b="1" dirty="0">
              <a:solidFill>
                <a:srgbClr val="FFFF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FFFF00"/>
                </a:solidFill>
              </a:rPr>
              <a:t>JSON.stringify</a:t>
            </a:r>
            <a:r>
              <a:rPr lang="en-US" sz="1500" dirty="0">
                <a:solidFill>
                  <a:srgbClr val="FFFF00"/>
                </a:solidFill>
              </a:rPr>
              <a:t>(object) </a:t>
            </a:r>
            <a:r>
              <a:rPr lang="en-US" sz="1500" dirty="0"/>
              <a:t>- </a:t>
            </a:r>
            <a:r>
              <a:rPr lang="ru-RU" sz="1500" dirty="0"/>
              <a:t>преобразует объект </a:t>
            </a:r>
            <a:r>
              <a:rPr lang="en-US" sz="1500" dirty="0"/>
              <a:t>JavaScript </a:t>
            </a:r>
            <a:r>
              <a:rPr lang="ru-RU" sz="1500" dirty="0"/>
              <a:t>в </a:t>
            </a:r>
            <a:r>
              <a:rPr lang="en-US" sz="1500" dirty="0"/>
              <a:t>JSON-</a:t>
            </a:r>
            <a:r>
              <a:rPr lang="ru-RU" sz="1500" dirty="0"/>
              <a:t>строку.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rgbClr val="FFFF00"/>
                </a:solidFill>
              </a:rPr>
              <a:t>JSON.parse</a:t>
            </a:r>
            <a:r>
              <a:rPr lang="en-US" sz="1500" dirty="0">
                <a:solidFill>
                  <a:srgbClr val="FFFF00"/>
                </a:solidFill>
              </a:rPr>
              <a:t>(</a:t>
            </a:r>
            <a:r>
              <a:rPr lang="en-US" sz="1500" dirty="0" err="1">
                <a:solidFill>
                  <a:srgbClr val="FFFF00"/>
                </a:solidFill>
              </a:rPr>
              <a:t>jsonString</a:t>
            </a:r>
            <a:r>
              <a:rPr lang="en-US" sz="1500" dirty="0">
                <a:solidFill>
                  <a:srgbClr val="FFFF00"/>
                </a:solidFill>
              </a:rPr>
              <a:t>) </a:t>
            </a:r>
            <a:r>
              <a:rPr lang="en-US" sz="1500" dirty="0"/>
              <a:t>- </a:t>
            </a:r>
            <a:r>
              <a:rPr lang="ru-RU" sz="1500" dirty="0"/>
              <a:t>преобразует </a:t>
            </a:r>
            <a:r>
              <a:rPr lang="en-US" sz="1500" dirty="0"/>
              <a:t>JSON-</a:t>
            </a:r>
            <a:r>
              <a:rPr lang="ru-RU" sz="1500" dirty="0"/>
              <a:t>строку в объект </a:t>
            </a:r>
            <a:r>
              <a:rPr lang="en-US" sz="1500" dirty="0"/>
              <a:t>JavaScript.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500" dirty="0">
                <a:solidFill>
                  <a:srgbClr val="FFFF00"/>
                </a:solidFill>
              </a:rPr>
              <a:t>// Преобразование объекта </a:t>
            </a:r>
            <a:r>
              <a:rPr lang="en-US" sz="1500" dirty="0">
                <a:solidFill>
                  <a:srgbClr val="FFFF00"/>
                </a:solidFill>
              </a:rPr>
              <a:t>JavaScript </a:t>
            </a:r>
            <a:r>
              <a:rPr lang="ru-RU" sz="1500" dirty="0">
                <a:solidFill>
                  <a:srgbClr val="FFFF00"/>
                </a:solidFill>
              </a:rPr>
              <a:t>в </a:t>
            </a:r>
            <a:r>
              <a:rPr lang="en-US" sz="1500" dirty="0">
                <a:solidFill>
                  <a:srgbClr val="FFFF00"/>
                </a:solidFill>
              </a:rPr>
              <a:t>JSON-</a:t>
            </a:r>
            <a:r>
              <a:rPr lang="ru-RU" sz="1500" dirty="0">
                <a:solidFill>
                  <a:srgbClr val="FFFF00"/>
                </a:solidFill>
              </a:rPr>
              <a:t>строку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latin typeface="Consolas" panose="020B0609020204030204" pitchFamily="49" charset="0"/>
              </a:rPr>
              <a:t> person = { name: "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John</a:t>
            </a:r>
            <a:r>
              <a:rPr lang="en-US" sz="1500" dirty="0">
                <a:latin typeface="Consolas" panose="020B0609020204030204" pitchFamily="49" charset="0"/>
              </a:rPr>
              <a:t>", age: 30 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jsonString</a:t>
            </a:r>
            <a:r>
              <a:rPr lang="en-US" sz="1500" dirty="0"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JSON</a:t>
            </a:r>
            <a:r>
              <a:rPr lang="en-US" sz="1500" dirty="0" err="1">
                <a:latin typeface="Consolas" panose="020B0609020204030204" pitchFamily="49" charset="0"/>
              </a:rPr>
              <a:t>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stringify</a:t>
            </a:r>
            <a:r>
              <a:rPr lang="en-US" sz="1500" dirty="0">
                <a:latin typeface="Consolas" panose="020B0609020204030204" pitchFamily="49" charset="0"/>
              </a:rPr>
              <a:t>(person);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500" dirty="0">
                <a:latin typeface="Consolas" panose="020B0609020204030204" pitchFamily="49" charset="0"/>
              </a:rPr>
              <a:t>.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500" dirty="0">
                <a:latin typeface="Consolas" panose="020B0609020204030204" pitchFamily="49" charset="0"/>
              </a:rPr>
              <a:t>(</a:t>
            </a:r>
            <a:r>
              <a:rPr lang="en-US" sz="1500" dirty="0" err="1">
                <a:latin typeface="Consolas" panose="020B0609020204030204" pitchFamily="49" charset="0"/>
              </a:rPr>
              <a:t>jsonString</a:t>
            </a:r>
            <a:r>
              <a:rPr lang="en-US" sz="1500" dirty="0">
                <a:latin typeface="Consolas" panose="020B0609020204030204" pitchFamily="49" charset="0"/>
              </a:rPr>
              <a:t>);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// {"name":"John","age":30}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FFF00"/>
                </a:solidFill>
              </a:rPr>
              <a:t>// </a:t>
            </a:r>
            <a:r>
              <a:rPr lang="ru-RU" sz="1500" dirty="0">
                <a:solidFill>
                  <a:srgbClr val="FFFF00"/>
                </a:solidFill>
              </a:rPr>
              <a:t>Преобразование </a:t>
            </a:r>
            <a:r>
              <a:rPr lang="en-US" sz="1500" dirty="0">
                <a:solidFill>
                  <a:srgbClr val="FFFF00"/>
                </a:solidFill>
              </a:rPr>
              <a:t>JSON-</a:t>
            </a:r>
            <a:r>
              <a:rPr lang="ru-RU" sz="1500" dirty="0">
                <a:solidFill>
                  <a:srgbClr val="FFFF00"/>
                </a:solidFill>
              </a:rPr>
              <a:t>строки в объект </a:t>
            </a:r>
            <a:r>
              <a:rPr lang="en-US" sz="1500" dirty="0">
                <a:solidFill>
                  <a:srgbClr val="FFFF00"/>
                </a:solidFill>
              </a:rPr>
              <a:t>JavaScript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latin typeface="Consolas" panose="020B0609020204030204" pitchFamily="49" charset="0"/>
              </a:rPr>
              <a:t> </a:t>
            </a:r>
            <a:r>
              <a:rPr lang="en-US" sz="1500" dirty="0" err="1">
                <a:latin typeface="Consolas" panose="020B0609020204030204" pitchFamily="49" charset="0"/>
              </a:rPr>
              <a:t>jsonString</a:t>
            </a:r>
            <a:r>
              <a:rPr lang="en-US" sz="1500" dirty="0"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'{"name":"John","age":30}'</a:t>
            </a:r>
            <a:r>
              <a:rPr lang="en-US" sz="15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latin typeface="Consolas" panose="020B0609020204030204" pitchFamily="49" charset="0"/>
              </a:rPr>
              <a:t> person = </a:t>
            </a:r>
            <a:r>
              <a:rPr lang="en-US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JSON</a:t>
            </a:r>
            <a:r>
              <a:rPr lang="en-US" sz="1500" dirty="0" err="1">
                <a:latin typeface="Consolas" panose="020B0609020204030204" pitchFamily="49" charset="0"/>
              </a:rPr>
              <a:t>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parse</a:t>
            </a:r>
            <a:r>
              <a:rPr lang="en-US" sz="1500" dirty="0">
                <a:latin typeface="Consolas" panose="020B0609020204030204" pitchFamily="49" charset="0"/>
              </a:rPr>
              <a:t>(</a:t>
            </a:r>
            <a:r>
              <a:rPr lang="en-US" sz="1500" dirty="0" err="1">
                <a:latin typeface="Consolas" panose="020B0609020204030204" pitchFamily="49" charset="0"/>
              </a:rPr>
              <a:t>jsonString</a:t>
            </a:r>
            <a:r>
              <a:rPr lang="en-US" sz="15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500" dirty="0">
                <a:latin typeface="Consolas" panose="020B0609020204030204" pitchFamily="49" charset="0"/>
              </a:rPr>
              <a:t>.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500" dirty="0">
                <a:latin typeface="Consolas" panose="020B0609020204030204" pitchFamily="49" charset="0"/>
              </a:rPr>
              <a:t>(person.name);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// John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500" dirty="0">
                <a:latin typeface="Consolas" panose="020B0609020204030204" pitchFamily="49" charset="0"/>
              </a:rPr>
              <a:t>.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500" dirty="0">
                <a:latin typeface="Consolas" panose="020B0609020204030204" pitchFamily="49" charset="0"/>
              </a:rPr>
              <a:t>(</a:t>
            </a:r>
            <a:r>
              <a:rPr lang="en-US" sz="1500" dirty="0" err="1">
                <a:latin typeface="Consolas" panose="020B0609020204030204" pitchFamily="49" charset="0"/>
              </a:rPr>
              <a:t>person.age</a:t>
            </a:r>
            <a:r>
              <a:rPr lang="en-US" sz="1500" dirty="0">
                <a:latin typeface="Consolas" panose="020B0609020204030204" pitchFamily="49" charset="0"/>
              </a:rPr>
              <a:t>);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// 30</a:t>
            </a:r>
          </a:p>
        </p:txBody>
      </p:sp>
    </p:spTree>
    <p:extLst>
      <p:ext uri="{BB962C8B-B14F-4D97-AF65-F5344CB8AC3E}">
        <p14:creationId xmlns:p14="http://schemas.microsoft.com/office/powerpoint/2010/main" val="417116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 др.).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ru-RU" sz="1500" dirty="0"/>
              <a:t>Объект </a:t>
            </a:r>
            <a:r>
              <a:rPr lang="ru-RU" sz="1500" dirty="0" err="1">
                <a:solidFill>
                  <a:srgbClr val="FFFF00"/>
                </a:solidFill>
              </a:rPr>
              <a:t>Global</a:t>
            </a:r>
            <a:r>
              <a:rPr lang="en-US" sz="1500" dirty="0"/>
              <a:t> </a:t>
            </a:r>
            <a:r>
              <a:rPr lang="ru-RU" sz="1500" dirty="0"/>
              <a:t>в </a:t>
            </a:r>
            <a:r>
              <a:rPr lang="ru-RU" sz="1500" dirty="0" err="1"/>
              <a:t>JavaScript</a:t>
            </a:r>
            <a:r>
              <a:rPr lang="ru-RU" sz="1500" dirty="0"/>
              <a:t> представляет глобальные переменные и функции, которые доступны во всей программе. Он не является частью какого-либо конкретного модуля или объекта, а скорее является корневым объектом, который предоставляет доступ ко всем встроенным объектам и функциям </a:t>
            </a:r>
            <a:r>
              <a:rPr lang="ru-RU" sz="1500" dirty="0" err="1"/>
              <a:t>JavaScript</a:t>
            </a:r>
            <a:r>
              <a:rPr lang="ru-RU" sz="1500" dirty="0"/>
              <a:t>.</a:t>
            </a:r>
            <a:endParaRPr lang="en-US" sz="1500" dirty="0"/>
          </a:p>
          <a:p>
            <a:pPr marL="0" indent="0">
              <a:spcBef>
                <a:spcPts val="600"/>
              </a:spcBef>
              <a:buNone/>
            </a:pPr>
            <a:r>
              <a:rPr lang="ru-RU" sz="1500" dirty="0">
                <a:solidFill>
                  <a:srgbClr val="FFFF00"/>
                </a:solidFill>
              </a:rPr>
              <a:t>Основные свойства и методы объекта </a:t>
            </a:r>
            <a:r>
              <a:rPr lang="ru-RU" sz="1500" dirty="0" err="1">
                <a:solidFill>
                  <a:srgbClr val="FFFF00"/>
                </a:solidFill>
              </a:rPr>
              <a:t>Global</a:t>
            </a:r>
            <a:r>
              <a:rPr lang="ru-RU" sz="1500" dirty="0">
                <a:solidFill>
                  <a:srgbClr val="FFFF00"/>
                </a:solidFill>
              </a:rPr>
              <a:t>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500" b="1" dirty="0"/>
              <a:t>Свойства:</a:t>
            </a:r>
            <a:r>
              <a:rPr lang="ru-RU" sz="1500" dirty="0"/>
              <a:t> </a:t>
            </a:r>
            <a:endParaRPr lang="ru-RU" sz="1500" b="1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Infinity</a:t>
            </a:r>
            <a:r>
              <a:rPr lang="ru-RU" sz="1500" dirty="0"/>
              <a:t> - представляет бесконечность.</a:t>
            </a:r>
            <a:endParaRPr lang="ru-RU" sz="1500" b="1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NaN</a:t>
            </a:r>
            <a:r>
              <a:rPr lang="ru-RU" sz="1500" dirty="0"/>
              <a:t> - представляет </a:t>
            </a:r>
            <a:r>
              <a:rPr lang="ru-RU" sz="1500" dirty="0" err="1"/>
              <a:t>нечисло</a:t>
            </a:r>
            <a:r>
              <a:rPr lang="ru-RU" sz="1500" dirty="0"/>
              <a:t> (</a:t>
            </a:r>
            <a:r>
              <a:rPr lang="ru-RU" sz="1500" dirty="0" err="1"/>
              <a:t>Not</a:t>
            </a:r>
            <a:r>
              <a:rPr lang="ru-RU" sz="1500" dirty="0"/>
              <a:t> a </a:t>
            </a:r>
            <a:r>
              <a:rPr lang="ru-RU" sz="1500" dirty="0" err="1"/>
              <a:t>Number</a:t>
            </a:r>
            <a:r>
              <a:rPr lang="ru-RU" sz="1500" dirty="0"/>
              <a:t>).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undefined</a:t>
            </a:r>
            <a:r>
              <a:rPr lang="ru-RU" sz="1500" dirty="0"/>
              <a:t> - представляет отсутствие значения.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500" b="1" dirty="0"/>
              <a:t>Методы:</a:t>
            </a:r>
            <a:r>
              <a:rPr lang="ru-RU" sz="1500" dirty="0"/>
              <a:t> </a:t>
            </a:r>
            <a:endParaRPr lang="ru-RU" sz="1500" b="1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eval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code</a:t>
            </a:r>
            <a:r>
              <a:rPr lang="ru-RU" sz="1500" dirty="0">
                <a:solidFill>
                  <a:srgbClr val="FFFF00"/>
                </a:solidFill>
              </a:rPr>
              <a:t>) </a:t>
            </a:r>
            <a:r>
              <a:rPr lang="ru-RU" sz="1500" dirty="0"/>
              <a:t>- выполняет код </a:t>
            </a:r>
            <a:r>
              <a:rPr lang="ru-RU" sz="1500" dirty="0" err="1"/>
              <a:t>JavaScript</a:t>
            </a:r>
            <a:r>
              <a:rPr lang="ru-RU" sz="1500" dirty="0"/>
              <a:t>, представленный в виде строки.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parseInt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string</a:t>
            </a:r>
            <a:r>
              <a:rPr lang="ru-RU" sz="1500" dirty="0">
                <a:solidFill>
                  <a:srgbClr val="FFFF00"/>
                </a:solidFill>
              </a:rPr>
              <a:t>, </a:t>
            </a:r>
            <a:r>
              <a:rPr lang="ru-RU" sz="1500" dirty="0" err="1">
                <a:solidFill>
                  <a:srgbClr val="FFFF00"/>
                </a:solidFill>
              </a:rPr>
              <a:t>radix</a:t>
            </a:r>
            <a:r>
              <a:rPr lang="ru-RU" sz="1500" dirty="0">
                <a:solidFill>
                  <a:srgbClr val="FFFF00"/>
                </a:solidFill>
              </a:rPr>
              <a:t>) </a:t>
            </a:r>
            <a:r>
              <a:rPr lang="ru-RU" sz="1500" dirty="0"/>
              <a:t>- преобразует строку в целое число, используя указанный основание системы счисления.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parseFloat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string</a:t>
            </a:r>
            <a:r>
              <a:rPr lang="ru-RU" sz="1500" dirty="0">
                <a:solidFill>
                  <a:srgbClr val="FFFF00"/>
                </a:solidFill>
              </a:rPr>
              <a:t>) </a:t>
            </a:r>
            <a:r>
              <a:rPr lang="ru-RU" sz="1500" dirty="0"/>
              <a:t>- преобразует строку в число с плавающей точкой.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isNaN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value</a:t>
            </a:r>
            <a:r>
              <a:rPr lang="ru-RU" sz="1500" dirty="0">
                <a:solidFill>
                  <a:srgbClr val="FFFF00"/>
                </a:solidFill>
              </a:rPr>
              <a:t>) </a:t>
            </a:r>
            <a:r>
              <a:rPr lang="ru-RU" sz="1500" dirty="0">
                <a:solidFill>
                  <a:schemeClr val="tx1"/>
                </a:solidFill>
              </a:rPr>
              <a:t>-</a:t>
            </a:r>
            <a:r>
              <a:rPr lang="ru-RU" sz="1500" dirty="0">
                <a:solidFill>
                  <a:srgbClr val="FFFF00"/>
                </a:solidFill>
              </a:rPr>
              <a:t> </a:t>
            </a:r>
            <a:r>
              <a:rPr lang="ru-RU" sz="1500" dirty="0"/>
              <a:t>проверяет, является ли значение не</a:t>
            </a:r>
            <a:r>
              <a:rPr lang="en-US" sz="1500" dirty="0"/>
              <a:t> </a:t>
            </a:r>
            <a:r>
              <a:rPr lang="ru-RU" sz="1500" dirty="0"/>
              <a:t>числом (</a:t>
            </a:r>
            <a:r>
              <a:rPr lang="ru-RU" sz="1500" dirty="0" err="1"/>
              <a:t>Not</a:t>
            </a:r>
            <a:r>
              <a:rPr lang="ru-RU" sz="1500" dirty="0"/>
              <a:t> a </a:t>
            </a:r>
            <a:r>
              <a:rPr lang="ru-RU" sz="1500" dirty="0" err="1"/>
              <a:t>Number</a:t>
            </a:r>
            <a:r>
              <a:rPr lang="ru-RU" sz="1500" dirty="0"/>
              <a:t>).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isFinite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value</a:t>
            </a:r>
            <a:r>
              <a:rPr lang="ru-RU" sz="1500" dirty="0">
                <a:solidFill>
                  <a:srgbClr val="FFFF00"/>
                </a:solidFill>
              </a:rPr>
              <a:t>) </a:t>
            </a:r>
            <a:r>
              <a:rPr lang="ru-RU" sz="1500" dirty="0"/>
              <a:t>- проверяет, является ли значение конечным числом.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/>
              <a:t>и многие другие…</a:t>
            </a:r>
          </a:p>
        </p:txBody>
      </p:sp>
    </p:spTree>
    <p:extLst>
      <p:ext uri="{BB962C8B-B14F-4D97-AF65-F5344CB8AC3E}">
        <p14:creationId xmlns:p14="http://schemas.microsoft.com/office/powerpoint/2010/main" val="3478922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 др.).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sz="1500" dirty="0"/>
              <a:t>Объект </a:t>
            </a:r>
            <a:r>
              <a:rPr lang="ru-RU" sz="1500" dirty="0" err="1">
                <a:solidFill>
                  <a:srgbClr val="FFFF00"/>
                </a:solidFill>
              </a:rPr>
              <a:t>Error</a:t>
            </a:r>
            <a:r>
              <a:rPr lang="ru-RU" sz="1500" dirty="0"/>
              <a:t> в </a:t>
            </a:r>
            <a:r>
              <a:rPr lang="ru-RU" sz="1500" dirty="0" err="1"/>
              <a:t>JavaScript</a:t>
            </a:r>
            <a:r>
              <a:rPr lang="ru-RU" sz="1500" dirty="0"/>
              <a:t> представляет ошибку, которая может быть создана и вызвана во время выполнения программы. Объект </a:t>
            </a:r>
            <a:r>
              <a:rPr lang="ru-RU" sz="1500" dirty="0" err="1">
                <a:solidFill>
                  <a:srgbClr val="FFFF00"/>
                </a:solidFill>
              </a:rPr>
              <a:t>Error</a:t>
            </a:r>
            <a:r>
              <a:rPr lang="ru-RU" sz="1500" dirty="0"/>
              <a:t> предоставляет информацию о том, что произошло при возникновении ошибки, и позволяет обрабатывать ошибки в соответствующем месте в коде. </a:t>
            </a:r>
            <a:endParaRPr lang="en-US" sz="1500" dirty="0"/>
          </a:p>
          <a:p>
            <a:pPr marL="0" indent="0">
              <a:spcBef>
                <a:spcPts val="600"/>
              </a:spcBef>
              <a:buNone/>
            </a:pPr>
            <a:r>
              <a:rPr lang="ru-RU" sz="1500" dirty="0">
                <a:solidFill>
                  <a:srgbClr val="FFFF00"/>
                </a:solidFill>
              </a:rPr>
              <a:t>Основные свойства и методы объекта </a:t>
            </a:r>
            <a:r>
              <a:rPr lang="ru-RU" sz="1500" dirty="0" err="1">
                <a:solidFill>
                  <a:srgbClr val="FFFF00"/>
                </a:solidFill>
              </a:rPr>
              <a:t>Error</a:t>
            </a:r>
            <a:r>
              <a:rPr lang="ru-RU" sz="1500" dirty="0">
                <a:solidFill>
                  <a:srgbClr val="FFFF00"/>
                </a:solidFill>
              </a:rPr>
              <a:t>: </a:t>
            </a:r>
            <a:endParaRPr lang="en-US" sz="1500" dirty="0">
              <a:solidFill>
                <a:srgbClr val="FFFF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500" b="1" dirty="0"/>
              <a:t>Свойства:</a:t>
            </a:r>
            <a:r>
              <a:rPr lang="ru-RU" sz="1500" dirty="0"/>
              <a:t> </a:t>
            </a:r>
            <a:endParaRPr lang="en-US" sz="1500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name</a:t>
            </a:r>
            <a:r>
              <a:rPr lang="ru-RU" sz="1500" dirty="0"/>
              <a:t> - возвращает имя ошибки. Например, для стандартных ошибок </a:t>
            </a:r>
            <a:r>
              <a:rPr lang="ru-RU" sz="1500" dirty="0" err="1"/>
              <a:t>JavaScript</a:t>
            </a:r>
            <a:r>
              <a:rPr lang="ru-RU" sz="1500" dirty="0"/>
              <a:t>, таких как </a:t>
            </a:r>
            <a:r>
              <a:rPr lang="ru-RU" sz="1500" dirty="0" err="1"/>
              <a:t>SyntaxError</a:t>
            </a:r>
            <a:r>
              <a:rPr lang="ru-RU" sz="1500" dirty="0"/>
              <a:t>, </a:t>
            </a:r>
            <a:r>
              <a:rPr lang="ru-RU" sz="1500" dirty="0" err="1"/>
              <a:t>ReferenceError</a:t>
            </a:r>
            <a:r>
              <a:rPr lang="ru-RU" sz="1500" dirty="0"/>
              <a:t>, </a:t>
            </a:r>
            <a:r>
              <a:rPr lang="ru-RU" sz="1500" dirty="0" err="1"/>
              <a:t>TypeError</a:t>
            </a:r>
            <a:r>
              <a:rPr lang="ru-RU" sz="1500" dirty="0"/>
              <a:t> и т. д., это будет соответствующее имя ошибки.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message</a:t>
            </a:r>
            <a:r>
              <a:rPr lang="ru-RU" sz="1500" dirty="0"/>
              <a:t> - возвращает описание ошибки. Это текстовое сообщение, которое может быть предоставлено при создании объекта </a:t>
            </a:r>
            <a:r>
              <a:rPr lang="ru-RU" sz="1500" dirty="0" err="1"/>
              <a:t>Error</a:t>
            </a:r>
            <a:r>
              <a:rPr lang="ru-RU" sz="1500" dirty="0"/>
              <a:t>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stack</a:t>
            </a:r>
            <a:r>
              <a:rPr lang="ru-RU" sz="1500" dirty="0"/>
              <a:t> - возвращает стек вызовов, когда ошибка была создана. Стек вызовов предоставляет информацию о том, как код был выполнен до того, как ошибка произошла.</a:t>
            </a:r>
            <a:endParaRPr lang="en-US" sz="15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500" b="1" dirty="0"/>
              <a:t>Методы:</a:t>
            </a:r>
            <a:r>
              <a:rPr lang="ru-RU" sz="1500" dirty="0"/>
              <a:t> </a:t>
            </a:r>
            <a:r>
              <a:rPr lang="ru-RU" sz="1500" b="1" dirty="0"/>
              <a:t>1.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toString</a:t>
            </a:r>
            <a:r>
              <a:rPr lang="ru-RU" sz="1500" dirty="0">
                <a:solidFill>
                  <a:srgbClr val="FFFF00"/>
                </a:solidFill>
              </a:rPr>
              <a:t>() </a:t>
            </a:r>
            <a:r>
              <a:rPr lang="ru-RU" sz="1500" dirty="0"/>
              <a:t>- возвращает строковое представление объекта </a:t>
            </a:r>
            <a:r>
              <a:rPr lang="ru-RU" sz="1500" dirty="0" err="1"/>
              <a:t>Error</a:t>
            </a:r>
            <a:r>
              <a:rPr lang="ru-RU" sz="1500" dirty="0"/>
              <a:t>. Это комбинация свойств </a:t>
            </a:r>
            <a:r>
              <a:rPr lang="ru-RU" sz="1500" dirty="0" err="1"/>
              <a:t>name</a:t>
            </a:r>
            <a:r>
              <a:rPr lang="ru-RU" sz="1500" dirty="0"/>
              <a:t> и </a:t>
            </a:r>
            <a:r>
              <a:rPr lang="ru-RU" sz="1500" dirty="0" err="1"/>
              <a:t>message</a:t>
            </a:r>
            <a:r>
              <a:rPr lang="ru-RU" sz="1500" dirty="0"/>
              <a:t>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386968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 др.).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400" dirty="0"/>
              <a:t>// Создание объекта </a:t>
            </a:r>
            <a:r>
              <a:rPr lang="en-US" sz="1400" dirty="0"/>
              <a:t>Error </a:t>
            </a:r>
            <a:r>
              <a:rPr lang="ru-RU" sz="1400" dirty="0"/>
              <a:t>с помощью оператора </a:t>
            </a:r>
            <a:r>
              <a:rPr lang="en-US" sz="1400" dirty="0"/>
              <a:t>new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 error1 =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latin typeface="Consolas" panose="020B0609020204030204" pitchFamily="49" charset="0"/>
              </a:rPr>
              <a:t> Error("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Custom error message"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400" dirty="0">
                <a:latin typeface="Consolas" panose="020B0609020204030204" pitchFamily="49" charset="0"/>
              </a:rPr>
              <a:t>(error1.name);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Error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400" dirty="0">
                <a:latin typeface="Consolas" panose="020B0609020204030204" pitchFamily="49" charset="0"/>
              </a:rPr>
              <a:t>(error1.message);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Custom error message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FFFF00"/>
                </a:solidFill>
              </a:rPr>
              <a:t>// </a:t>
            </a:r>
            <a:r>
              <a:rPr lang="ru-RU" sz="1400" dirty="0">
                <a:solidFill>
                  <a:srgbClr val="FFFF00"/>
                </a:solidFill>
              </a:rPr>
              <a:t>Создание объекта </a:t>
            </a:r>
            <a:r>
              <a:rPr lang="en-US" sz="1400" dirty="0">
                <a:solidFill>
                  <a:srgbClr val="FFFF00"/>
                </a:solidFill>
              </a:rPr>
              <a:t>Error </a:t>
            </a:r>
            <a:r>
              <a:rPr lang="ru-RU" sz="1400" dirty="0">
                <a:solidFill>
                  <a:srgbClr val="FFFF00"/>
                </a:solidFill>
              </a:rPr>
              <a:t>с помощью глобальной функции </a:t>
            </a:r>
            <a:r>
              <a:rPr lang="en-US" sz="1400" dirty="0">
                <a:solidFill>
                  <a:srgbClr val="FFFF00"/>
                </a:solidFill>
              </a:rPr>
              <a:t>Error()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 error2 = Error("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Another custom error message</a:t>
            </a:r>
            <a:r>
              <a:rPr lang="en-US" sz="1400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400" dirty="0">
                <a:latin typeface="Consolas" panose="020B0609020204030204" pitchFamily="49" charset="0"/>
              </a:rPr>
              <a:t>(error2.name);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Error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400" dirty="0">
                <a:latin typeface="Consolas" panose="020B0609020204030204" pitchFamily="49" charset="0"/>
              </a:rPr>
              <a:t>(error2.message);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Another custom error message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FFFF00"/>
                </a:solidFill>
              </a:rPr>
              <a:t>// </a:t>
            </a:r>
            <a:r>
              <a:rPr lang="ru-RU" sz="1400" dirty="0">
                <a:solidFill>
                  <a:srgbClr val="FFFF00"/>
                </a:solidFill>
              </a:rPr>
              <a:t>Обработка ошибки с помощью </a:t>
            </a:r>
            <a:r>
              <a:rPr lang="en-US" sz="1400" dirty="0">
                <a:solidFill>
                  <a:srgbClr val="FFFF00"/>
                </a:solidFill>
              </a:rPr>
              <a:t>try-catch </a:t>
            </a:r>
            <a:r>
              <a:rPr lang="ru-RU" sz="1400" dirty="0">
                <a:solidFill>
                  <a:srgbClr val="FFFF00"/>
                </a:solidFill>
              </a:rPr>
              <a:t>блока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try</a:t>
            </a:r>
            <a:r>
              <a:rPr lang="en-US" sz="14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  //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Код, который может вызвать ошибку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latin typeface="Consolas" panose="020B0609020204030204" pitchFamily="49" charset="0"/>
              </a:rPr>
              <a:t> result = 10 /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} 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catch</a:t>
            </a:r>
            <a:r>
              <a:rPr lang="en-US" sz="1400" dirty="0">
                <a:latin typeface="Consolas" panose="020B0609020204030204" pitchFamily="49" charset="0"/>
              </a:rPr>
              <a:t> (error)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400" dirty="0">
                <a:latin typeface="Consolas" panose="020B0609020204030204" pitchFamily="49" charset="0"/>
              </a:rPr>
              <a:t>(error.name);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en-US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RangeError</a:t>
            </a:r>
            <a:endParaRPr lang="en-US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error.message</a:t>
            </a:r>
            <a:r>
              <a:rPr lang="en-US" sz="1400" dirty="0">
                <a:latin typeface="Consolas" panose="020B0609020204030204" pitchFamily="49" charset="0"/>
              </a:rPr>
              <a:t>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Division by zero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400" dirty="0"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400" dirty="0">
                <a:latin typeface="Consolas" panose="020B0609020204030204" pitchFamily="49" charset="0"/>
              </a:rPr>
              <a:t>(</a:t>
            </a:r>
            <a:r>
              <a:rPr lang="en-US" sz="1400" dirty="0" err="1">
                <a:latin typeface="Consolas" panose="020B0609020204030204" pitchFamily="49" charset="0"/>
              </a:rPr>
              <a:t>error.stack</a:t>
            </a:r>
            <a:r>
              <a:rPr lang="en-US" sz="1400" dirty="0">
                <a:latin typeface="Consolas" panose="020B0609020204030204" pitchFamily="49" charset="0"/>
              </a:rPr>
              <a:t>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стек вызовов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88943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dirty="0"/>
              <a:t>Встроенные объекты </a:t>
            </a:r>
            <a:r>
              <a:rPr lang="ru-RU" sz="2400" dirty="0" err="1"/>
              <a:t>JavaScript</a:t>
            </a:r>
            <a:r>
              <a:rPr lang="ru-RU" sz="2400" dirty="0"/>
              <a:t> (</a:t>
            </a:r>
            <a:r>
              <a:rPr lang="ru-RU" sz="2400" dirty="0" err="1"/>
              <a:t>Math</a:t>
            </a:r>
            <a:r>
              <a:rPr lang="ru-RU" sz="2400" dirty="0"/>
              <a:t>, </a:t>
            </a:r>
            <a:r>
              <a:rPr lang="ru-RU" sz="2400" dirty="0" err="1"/>
              <a:t>Date</a:t>
            </a:r>
            <a:r>
              <a:rPr lang="ru-RU" sz="2400" dirty="0"/>
              <a:t> и др.).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500" dirty="0"/>
              <a:t>Объект </a:t>
            </a:r>
            <a:r>
              <a:rPr lang="ru-RU" sz="1500" dirty="0" err="1">
                <a:solidFill>
                  <a:srgbClr val="FFFF00"/>
                </a:solidFill>
              </a:rPr>
              <a:t>Console</a:t>
            </a:r>
            <a:r>
              <a:rPr lang="ru-RU" sz="1500" dirty="0"/>
              <a:t> в </a:t>
            </a:r>
            <a:r>
              <a:rPr lang="ru-RU" sz="1500" dirty="0" err="1"/>
              <a:t>JavaScript</a:t>
            </a:r>
            <a:r>
              <a:rPr lang="ru-RU" sz="1500" dirty="0"/>
              <a:t> предоставляет различные методы для вывода информации в консоль браузера. Объект </a:t>
            </a:r>
            <a:r>
              <a:rPr lang="ru-RU" sz="1500" dirty="0" err="1">
                <a:solidFill>
                  <a:srgbClr val="FFFF00"/>
                </a:solidFill>
              </a:rPr>
              <a:t>Console</a:t>
            </a:r>
            <a:r>
              <a:rPr lang="ru-RU" sz="1500" dirty="0"/>
              <a:t> часто используется для отладки и тестирования кода.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500" dirty="0">
                <a:solidFill>
                  <a:srgbClr val="FFFF00"/>
                </a:solidFill>
              </a:rPr>
              <a:t>Основные методы объекта </a:t>
            </a:r>
            <a:r>
              <a:rPr lang="ru-RU" sz="1500" dirty="0" err="1">
                <a:solidFill>
                  <a:srgbClr val="FFFF00"/>
                </a:solidFill>
              </a:rPr>
              <a:t>Console</a:t>
            </a:r>
            <a:r>
              <a:rPr lang="ru-RU" sz="1500" dirty="0">
                <a:solidFill>
                  <a:srgbClr val="FFFF00"/>
                </a:solidFill>
              </a:rPr>
              <a:t>: </a:t>
            </a:r>
            <a:endParaRPr lang="ru-RU" sz="1500" b="1" dirty="0">
              <a:solidFill>
                <a:srgbClr val="FFFF00"/>
              </a:solidFill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rgbClr val="FFFF00"/>
                </a:solidFill>
              </a:rPr>
              <a:t>console.log(</a:t>
            </a:r>
            <a:r>
              <a:rPr lang="ru-RU" sz="1500" dirty="0" err="1">
                <a:solidFill>
                  <a:srgbClr val="FFFF00"/>
                </a:solidFill>
              </a:rPr>
              <a:t>message</a:t>
            </a:r>
            <a:r>
              <a:rPr lang="ru-RU" sz="1500" dirty="0">
                <a:solidFill>
                  <a:srgbClr val="FFFF00"/>
                </a:solidFill>
              </a:rPr>
              <a:t>) </a:t>
            </a:r>
            <a:r>
              <a:rPr lang="ru-RU" sz="1500" dirty="0"/>
              <a:t>- выводит сообщение в консоль.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rgbClr val="FFFF00"/>
                </a:solidFill>
              </a:rPr>
              <a:t>console.info(</a:t>
            </a:r>
            <a:r>
              <a:rPr lang="ru-RU" sz="1500" dirty="0" err="1">
                <a:solidFill>
                  <a:srgbClr val="FFFF00"/>
                </a:solidFill>
              </a:rPr>
              <a:t>message</a:t>
            </a:r>
            <a:r>
              <a:rPr lang="ru-RU" sz="1500" dirty="0">
                <a:solidFill>
                  <a:srgbClr val="FFFF00"/>
                </a:solidFill>
              </a:rPr>
              <a:t>) </a:t>
            </a:r>
            <a:r>
              <a:rPr lang="ru-RU" sz="1500" dirty="0"/>
              <a:t>- выводит информационное сообщение в консоль.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console.warn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message</a:t>
            </a:r>
            <a:r>
              <a:rPr lang="ru-RU" sz="1500" dirty="0">
                <a:solidFill>
                  <a:srgbClr val="FFFF00"/>
                </a:solidFill>
              </a:rPr>
              <a:t>) </a:t>
            </a:r>
            <a:r>
              <a:rPr lang="ru-RU" sz="1500" dirty="0"/>
              <a:t>- выводит предупреждение в консоль.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console.error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message</a:t>
            </a:r>
            <a:r>
              <a:rPr lang="ru-RU" sz="1500" dirty="0">
                <a:solidFill>
                  <a:srgbClr val="FFFF00"/>
                </a:solidFill>
              </a:rPr>
              <a:t>) </a:t>
            </a:r>
            <a:r>
              <a:rPr lang="ru-RU" sz="1500" dirty="0"/>
              <a:t>- выводит сообщение об ошибке в консоль.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console.debug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message</a:t>
            </a:r>
            <a:r>
              <a:rPr lang="ru-RU" sz="1500" dirty="0">
                <a:solidFill>
                  <a:srgbClr val="FFFF00"/>
                </a:solidFill>
              </a:rPr>
              <a:t>)</a:t>
            </a:r>
            <a:r>
              <a:rPr lang="ru-RU" sz="1500" dirty="0"/>
              <a:t> - выводит отладочное сообщение в консоль.</a:t>
            </a:r>
            <a:endParaRPr lang="en-US" sz="15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500" dirty="0">
                <a:solidFill>
                  <a:srgbClr val="FFFF00"/>
                </a:solidFill>
              </a:rPr>
              <a:t>После этих методов также добавляется перевод строки в конце.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console.table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data</a:t>
            </a:r>
            <a:r>
              <a:rPr lang="ru-RU" sz="1500" dirty="0">
                <a:solidFill>
                  <a:srgbClr val="FFFF00"/>
                </a:solidFill>
              </a:rPr>
              <a:t>) </a:t>
            </a:r>
            <a:r>
              <a:rPr lang="ru-RU" sz="1500" dirty="0"/>
              <a:t>- выводит данные в виде таблицы в консоль.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console.clear</a:t>
            </a:r>
            <a:r>
              <a:rPr lang="ru-RU" sz="1500" dirty="0">
                <a:solidFill>
                  <a:srgbClr val="FFFF00"/>
                </a:solidFill>
              </a:rPr>
              <a:t>() </a:t>
            </a:r>
            <a:r>
              <a:rPr lang="ru-RU" sz="1500" dirty="0"/>
              <a:t>- очищает консоль.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console.count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label</a:t>
            </a:r>
            <a:r>
              <a:rPr lang="ru-RU" sz="1500" dirty="0">
                <a:solidFill>
                  <a:srgbClr val="FFFF00"/>
                </a:solidFill>
              </a:rPr>
              <a:t>) </a:t>
            </a:r>
            <a:r>
              <a:rPr lang="ru-RU" sz="1500" dirty="0"/>
              <a:t>- увеличивает счетчик с указанным меткой и выводит его значение в консоль.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console.time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label</a:t>
            </a:r>
            <a:r>
              <a:rPr lang="ru-RU" sz="1500" dirty="0">
                <a:solidFill>
                  <a:srgbClr val="FFFF00"/>
                </a:solidFill>
              </a:rPr>
              <a:t>) </a:t>
            </a:r>
            <a:r>
              <a:rPr lang="ru-RU" sz="1500" dirty="0"/>
              <a:t>- запускает таймер с указанной меткой.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console.timeEnd</a:t>
            </a:r>
            <a:r>
              <a:rPr lang="ru-RU" sz="1500" dirty="0">
                <a:solidFill>
                  <a:srgbClr val="FFFF00"/>
                </a:solidFill>
              </a:rPr>
              <a:t>(</a:t>
            </a:r>
            <a:r>
              <a:rPr lang="ru-RU" sz="1500" dirty="0" err="1">
                <a:solidFill>
                  <a:srgbClr val="FFFF00"/>
                </a:solidFill>
              </a:rPr>
              <a:t>label</a:t>
            </a:r>
            <a:r>
              <a:rPr lang="ru-RU" sz="1500" dirty="0">
                <a:solidFill>
                  <a:srgbClr val="FFFF00"/>
                </a:solidFill>
              </a:rPr>
              <a:t>) </a:t>
            </a:r>
            <a:r>
              <a:rPr lang="ru-RU" sz="1500" dirty="0"/>
              <a:t>- останавливает таймер с указанной меткой и выводит время, прошедшее с момента запуска в консоль.</a:t>
            </a:r>
          </a:p>
        </p:txBody>
      </p:sp>
    </p:spTree>
    <p:extLst>
      <p:ext uri="{BB962C8B-B14F-4D97-AF65-F5344CB8AC3E}">
        <p14:creationId xmlns:p14="http://schemas.microsoft.com/office/powerpoint/2010/main" val="845218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123728" y="2103698"/>
            <a:ext cx="4752528" cy="936104"/>
          </a:xfrm>
        </p:spPr>
        <p:txBody>
          <a:bodyPr anchor="t"/>
          <a:lstStyle/>
          <a:p>
            <a:pPr algn="ctr"/>
            <a:r>
              <a:rPr lang="ru-RU" sz="2800" b="1" dirty="0"/>
              <a:t>Область видимости переменных, замыкание</a:t>
            </a:r>
          </a:p>
        </p:txBody>
      </p:sp>
    </p:spTree>
    <p:extLst>
      <p:ext uri="{BB962C8B-B14F-4D97-AF65-F5344CB8AC3E}">
        <p14:creationId xmlns:p14="http://schemas.microsoft.com/office/powerpoint/2010/main" val="3217629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Область видимости переменных, замыкание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600" b="1" dirty="0">
                <a:solidFill>
                  <a:srgbClr val="FFFF00"/>
                </a:solidFill>
              </a:rPr>
              <a:t>Область видимости переменных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600" dirty="0"/>
              <a:t>Переменные - это контейнеры для хранения информации. Они представляют собой именованные ячейки памяти, в которые мы можем поместить данные, чтобы использовать их позже в нашем коде. Важно понимать, что переменные являются одним из основных строительных блоков программирования и позволяют нам выполнять сложные задачи и хранить состояние нашего приложения.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tx1"/>
                </a:solidFill>
              </a:rPr>
              <a:t>Область видимости определяет, где в коде можно использовать переменную. Это означает, что переменные могут быть доступными только в определенных частях программы. В </a:t>
            </a:r>
            <a:r>
              <a:rPr lang="ru-RU" sz="1600" dirty="0" err="1">
                <a:solidFill>
                  <a:schemeClr val="tx1"/>
                </a:solidFill>
              </a:rPr>
              <a:t>JavaScript</a:t>
            </a:r>
            <a:r>
              <a:rPr lang="ru-RU" sz="1600" dirty="0">
                <a:solidFill>
                  <a:schemeClr val="tx1"/>
                </a:solidFill>
              </a:rPr>
              <a:t> существует три основные области видимости: глобальная, локальная и блочная.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ru-RU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850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Область видимости переменных, замыкание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sz="1500" b="1" dirty="0"/>
              <a:t>1. </a:t>
            </a:r>
            <a:r>
              <a:rPr lang="ru-RU" sz="1500" dirty="0">
                <a:solidFill>
                  <a:srgbClr val="FFFF00"/>
                </a:solidFill>
              </a:rPr>
              <a:t>Глобальная область видимости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500" b="1" dirty="0"/>
              <a:t>2. </a:t>
            </a:r>
            <a:r>
              <a:rPr lang="ru-RU" sz="1500" dirty="0">
                <a:solidFill>
                  <a:srgbClr val="FFFF00"/>
                </a:solidFill>
              </a:rPr>
              <a:t>Локальная область видимости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500" b="1" dirty="0"/>
              <a:t>3. </a:t>
            </a:r>
            <a:r>
              <a:rPr lang="ru-RU" sz="1500" dirty="0">
                <a:solidFill>
                  <a:srgbClr val="FFFF00"/>
                </a:solidFill>
              </a:rPr>
              <a:t>Блочная область видимости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500" dirty="0">
                <a:solidFill>
                  <a:srgbClr val="FFFF00"/>
                </a:solidFill>
              </a:rPr>
              <a:t>Глобальная область видимости </a:t>
            </a:r>
            <a:r>
              <a:rPr lang="ru-RU" sz="1500" dirty="0"/>
              <a:t>- это часть программы, где переменные, объявленные вне любой функции, доступны во всем коде. Это означает, что глобальные переменные могут быть использованы в любой части программы, включая вложенные функции и другие области кода.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Пример использования глобальной переменной: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let</a:t>
            </a:r>
            <a:r>
              <a:rPr lang="ru-RU" altLang="ru-RU" sz="15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globalVar</a:t>
            </a:r>
            <a:r>
              <a:rPr lang="ru-RU" altLang="ru-RU" sz="15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"I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am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global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ru-RU" altLang="ru-RU" sz="15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function</a:t>
            </a:r>
            <a:r>
              <a:rPr lang="ru-RU" altLang="ru-RU" sz="15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myFunction</a:t>
            </a:r>
            <a:r>
              <a:rPr lang="ru-RU" altLang="ru-RU" sz="15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 {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ru-RU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console</a:t>
            </a:r>
            <a:r>
              <a:rPr lang="ru-RU" altLang="ru-RU" sz="15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ru-RU" altLang="ru-RU" sz="150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log</a:t>
            </a:r>
            <a:r>
              <a:rPr lang="ru-RU" altLang="ru-RU" sz="15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globalVar</a:t>
            </a:r>
            <a:r>
              <a:rPr lang="ru-RU" altLang="ru-RU" sz="15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}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myFunction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();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// I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am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global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500" dirty="0"/>
              <a:t>В этом примере </a:t>
            </a:r>
            <a:r>
              <a:rPr lang="ru-RU" sz="1500" dirty="0" err="1"/>
              <a:t>globalVar</a:t>
            </a:r>
            <a:r>
              <a:rPr lang="ru-RU" sz="1500" dirty="0"/>
              <a:t> является глобальной переменной, которая доступна внутри функции </a:t>
            </a:r>
            <a:r>
              <a:rPr lang="ru-RU" sz="1500" dirty="0" err="1"/>
              <a:t>myFunction</a:t>
            </a:r>
            <a:r>
              <a:rPr lang="ru-RU" sz="1500" dirty="0"/>
              <a:t>(). Когда мы вызываем </a:t>
            </a:r>
            <a:r>
              <a:rPr lang="ru-RU" sz="1500" dirty="0" err="1"/>
              <a:t>myFunction</a:t>
            </a:r>
            <a:r>
              <a:rPr lang="ru-RU" sz="1500" dirty="0"/>
              <a:t>(), она выводит значение </a:t>
            </a:r>
            <a:r>
              <a:rPr lang="ru-RU" sz="1500" dirty="0" err="1"/>
              <a:t>globalVar</a:t>
            </a:r>
            <a:r>
              <a:rPr lang="ru-RU" sz="1500" dirty="0"/>
              <a:t> на консоль.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5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ru-RU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402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Область видимости переменных, замыкание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/>
              <a:t>Использование глобальных переменных может привести к некоторым проблемам, таким как конфликты имен и затрудненное управление кодом. Конфликты имен возникают, когда две или более переменных имеют одинаковые имена, что может привести к непредсказуемым результатам и ошибкам в программе. Управление кодом становится сложнее, когда глобальные переменные используются в больших и сложных проектах, поскольку любая часть кода может изменить или использовать глобальную переменную, что может привести к непредсказуемым последствиям.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>
                <a:solidFill>
                  <a:srgbClr val="FFFF00"/>
                </a:solidFill>
              </a:rPr>
              <a:t>Локальная область видимости </a:t>
            </a:r>
            <a:r>
              <a:rPr lang="ru-RU" sz="1500" dirty="0"/>
              <a:t>- это часть программы, где переменные, объявленные внутри функции, доступны только внутри этой функции. Это означает, что локальные переменные не видны в других частях программы, включая вложенные функции и другие области кода.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/>
              <a:t>Локальные переменные полезны для изолирования данных и уменьшения конфликтов имен. Они помогают сделать код более чистым и управляемым, поскольку изменения в одной локальной переменной не затрагивают другие части программы.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326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Область видимости переменных, замыкание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cs typeface="Arial" panose="020B0604020202020204" pitchFamily="34" charset="0"/>
              </a:rPr>
              <a:t>Пример использования локальной переменной: </a:t>
            </a:r>
            <a:endParaRPr lang="ru-RU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function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myFunction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 {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let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localVar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"I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am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local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ru-RU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console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ru-RU" altLang="ru-RU" sz="160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log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localVar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}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myFunction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// I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am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local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console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ru-RU" altLang="ru-RU" sz="160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log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localVar</a:t>
            </a:r>
            <a:r>
              <a:rPr lang="ru-RU" altLang="ru-RU" sz="160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//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Error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localVar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is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not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defined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В этом примере </a:t>
            </a:r>
            <a:r>
              <a:rPr lang="ru-RU" sz="1400" dirty="0" err="1">
                <a:solidFill>
                  <a:srgbClr val="FFFF00"/>
                </a:solidFill>
              </a:rPr>
              <a:t>localVar</a:t>
            </a:r>
            <a:r>
              <a:rPr lang="ru-RU" sz="1400" dirty="0"/>
              <a:t> является локальной переменной, которая объявлена внутри функции </a:t>
            </a:r>
            <a:r>
              <a:rPr lang="ru-RU" sz="1400" dirty="0" err="1">
                <a:solidFill>
                  <a:srgbClr val="FFFF00"/>
                </a:solidFill>
              </a:rPr>
              <a:t>myFunction</a:t>
            </a:r>
            <a:r>
              <a:rPr lang="ru-RU" sz="1400" dirty="0"/>
              <a:t>(). Когда мы вызываем </a:t>
            </a:r>
            <a:r>
              <a:rPr lang="ru-RU" sz="1400" dirty="0" err="1">
                <a:solidFill>
                  <a:srgbClr val="FFFF00"/>
                </a:solidFill>
              </a:rPr>
              <a:t>myFunction</a:t>
            </a:r>
            <a:r>
              <a:rPr lang="ru-RU" sz="1400" dirty="0"/>
              <a:t>(), она выводит значение </a:t>
            </a:r>
            <a:r>
              <a:rPr lang="ru-RU" sz="1400" dirty="0" err="1">
                <a:solidFill>
                  <a:srgbClr val="FFFF00"/>
                </a:solidFill>
              </a:rPr>
              <a:t>localVar</a:t>
            </a:r>
            <a:r>
              <a:rPr lang="ru-RU" sz="1400" dirty="0"/>
              <a:t> на консоль. Однако, попытка обратиться к </a:t>
            </a:r>
            <a:r>
              <a:rPr lang="ru-RU" sz="1400" dirty="0" err="1">
                <a:solidFill>
                  <a:srgbClr val="FFFF00"/>
                </a:solidFill>
              </a:rPr>
              <a:t>localVar</a:t>
            </a:r>
            <a:r>
              <a:rPr lang="ru-RU" sz="1400" dirty="0"/>
              <a:t> вне функции приводит к ошибке, поскольку локальная переменная не видна вне ее.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Локальные переменные имеют ограниченный срок жизни. Когда выполнение функции заканчивается, локальные переменные удаляются из памяти, и их значения становятся недоступными. Это означает, что локальные переменные должны быть переданы в качестве аргументов или возвращены из функции, если их значения должны быть использованы в других частях программы.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400" i="1" dirty="0">
              <a:solidFill>
                <a:srgbClr val="FFFF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908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Область видимости переменных, замыкание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rgbClr val="FFFF00"/>
                </a:solidFill>
                <a:cs typeface="Arial" panose="020B0604020202020204" pitchFamily="34" charset="0"/>
              </a:rPr>
              <a:t>Блочная область видимости </a:t>
            </a: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- это часть программы, где переменные, объявленные внутри блока кода (например, внутри </a:t>
            </a:r>
            <a:r>
              <a:rPr lang="ru-RU" altLang="ru-RU" sz="1450" dirty="0" err="1">
                <a:solidFill>
                  <a:srgbClr val="FFFF00"/>
                </a:solidFill>
                <a:cs typeface="Arial" panose="020B0604020202020204" pitchFamily="34" charset="0"/>
              </a:rPr>
              <a:t>if</a:t>
            </a: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ru-RU" altLang="ru-RU" sz="1450" dirty="0" err="1">
                <a:solidFill>
                  <a:srgbClr val="FFFF00"/>
                </a:solidFill>
                <a:cs typeface="Arial" panose="020B0604020202020204" pitchFamily="34" charset="0"/>
              </a:rPr>
              <a:t>for</a:t>
            </a: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ru-RU" altLang="ru-RU" sz="1450" dirty="0" err="1">
                <a:solidFill>
                  <a:srgbClr val="FFFF00"/>
                </a:solidFill>
                <a:cs typeface="Arial" panose="020B0604020202020204" pitchFamily="34" charset="0"/>
              </a:rPr>
              <a:t>while</a:t>
            </a: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), видны только внутри этого блока. Это означает, что блочные переменные не видны в других частях программы, включая вложенные блоки и другие области кода.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Блочная область видимости полезна для изолирования данных и уменьшения конфликтов имен. Она помогает сделать код более чистым и управляемым, поскольку изменения в одной блочной переменной не затрагивают другие части программы.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Обратите внимание, что блочная область видимости поддерживается только в </a:t>
            </a:r>
            <a:r>
              <a:rPr lang="ru-RU" altLang="ru-RU" sz="1450" dirty="0" err="1">
                <a:solidFill>
                  <a:schemeClr val="tx1"/>
                </a:solidFill>
                <a:cs typeface="Arial" panose="020B0604020202020204" pitchFamily="34" charset="0"/>
              </a:rPr>
              <a:t>JavaScript</a:t>
            </a: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 (ES6+). В более старых версиях </a:t>
            </a:r>
            <a:r>
              <a:rPr lang="ru-RU" altLang="ru-RU" sz="1450" dirty="0" err="1">
                <a:solidFill>
                  <a:schemeClr val="tx1"/>
                </a:solidFill>
                <a:cs typeface="Arial" panose="020B0604020202020204" pitchFamily="34" charset="0"/>
              </a:rPr>
              <a:t>JavaScript</a:t>
            </a: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 (ES5 и ниже) блочная область видимости не поддерживается.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Пример использования блочной переменной: </a:t>
            </a:r>
            <a:endParaRPr lang="ru-RU" altLang="ru-RU" sz="145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5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if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(</a:t>
            </a:r>
            <a:r>
              <a:rPr lang="ru-RU" altLang="ru-RU" sz="145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true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 {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ru-RU" altLang="ru-RU" sz="145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let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50" dirty="0" err="1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blockVar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"I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am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block-scoped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ru-RU" altLang="ru-RU" sz="145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console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ru-RU" altLang="ru-RU" sz="145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log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ru-RU" altLang="ru-RU" sz="1450" dirty="0" err="1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blockVar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 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// I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am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block-scoped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}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5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console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ru-RU" altLang="ru-RU" sz="145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log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ru-RU" altLang="ru-RU" sz="1450" dirty="0" err="1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blockVar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 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//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Error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blockVar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is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not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defined</a:t>
            </a:r>
            <a:endParaRPr lang="ru-RU" altLang="ru-RU" sz="145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817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Область видимости переменных, замыкание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rgbClr val="FFFF00"/>
                </a:solidFill>
                <a:cs typeface="Arial" panose="020B0604020202020204" pitchFamily="34" charset="0"/>
              </a:rPr>
              <a:t>Блочная область видимости </a:t>
            </a: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- это часть программы, где переменные, объявленные внутри блока кода (например, внутри </a:t>
            </a:r>
            <a:r>
              <a:rPr lang="ru-RU" altLang="ru-RU" sz="1450" dirty="0" err="1">
                <a:solidFill>
                  <a:srgbClr val="FFFF00"/>
                </a:solidFill>
                <a:cs typeface="Arial" panose="020B0604020202020204" pitchFamily="34" charset="0"/>
              </a:rPr>
              <a:t>if</a:t>
            </a: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ru-RU" altLang="ru-RU" sz="1450" dirty="0" err="1">
                <a:solidFill>
                  <a:srgbClr val="FFFF00"/>
                </a:solidFill>
                <a:cs typeface="Arial" panose="020B0604020202020204" pitchFamily="34" charset="0"/>
              </a:rPr>
              <a:t>for</a:t>
            </a: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, </a:t>
            </a:r>
            <a:r>
              <a:rPr lang="ru-RU" altLang="ru-RU" sz="1450" dirty="0" err="1">
                <a:solidFill>
                  <a:srgbClr val="FFFF00"/>
                </a:solidFill>
                <a:cs typeface="Arial" panose="020B0604020202020204" pitchFamily="34" charset="0"/>
              </a:rPr>
              <a:t>while</a:t>
            </a: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), видны только внутри этого блока. Это означает, что блочные переменные не видны в других частях программы, включая вложенные блоки и другие области кода.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Блочная область видимости полезна для изолирования данных и уменьшения конфликтов имен. Она помогает сделать код более чистым и управляемым, поскольку изменения в одной блочной переменной не затрагивают другие части программы.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Обратите внимание, что блочная область видимости поддерживается только в </a:t>
            </a:r>
            <a:r>
              <a:rPr lang="ru-RU" altLang="ru-RU" sz="1450" dirty="0" err="1">
                <a:solidFill>
                  <a:schemeClr val="tx1"/>
                </a:solidFill>
                <a:cs typeface="Arial" panose="020B0604020202020204" pitchFamily="34" charset="0"/>
              </a:rPr>
              <a:t>JavaScript</a:t>
            </a: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 (ES6+). В более старых версиях </a:t>
            </a:r>
            <a:r>
              <a:rPr lang="ru-RU" altLang="ru-RU" sz="1450" dirty="0" err="1">
                <a:solidFill>
                  <a:schemeClr val="tx1"/>
                </a:solidFill>
                <a:cs typeface="Arial" panose="020B0604020202020204" pitchFamily="34" charset="0"/>
              </a:rPr>
              <a:t>JavaScript</a:t>
            </a: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 (ES5 и ниже) блочная область видимости не поддерживается.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chemeClr val="tx1"/>
                </a:solidFill>
                <a:cs typeface="Arial" panose="020B0604020202020204" pitchFamily="34" charset="0"/>
              </a:rPr>
              <a:t>Пример использования блочной переменной: </a:t>
            </a:r>
            <a:endParaRPr lang="ru-RU" altLang="ru-RU" sz="145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5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if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(</a:t>
            </a:r>
            <a:r>
              <a:rPr lang="ru-RU" altLang="ru-RU" sz="145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true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 {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ru-RU" altLang="ru-RU" sz="145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let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50" dirty="0" err="1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blockVar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"I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am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block-scoped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"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</a:t>
            </a:r>
            <a:r>
              <a:rPr lang="ru-RU" altLang="ru-RU" sz="145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console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ru-RU" altLang="ru-RU" sz="145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log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ru-RU" altLang="ru-RU" sz="1450" dirty="0" err="1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blockVar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 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// I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am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block-scoped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}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5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console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  <a:r>
              <a:rPr lang="ru-RU" altLang="ru-RU" sz="1450" dirty="0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log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ru-RU" altLang="ru-RU" sz="1450" dirty="0" err="1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blockVar</a:t>
            </a:r>
            <a:r>
              <a:rPr lang="ru-RU" altLang="ru-RU" sz="1450" dirty="0">
                <a:solidFill>
                  <a:srgbClr val="DCDCDC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 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//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Error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: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blockVar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is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ru-RU" altLang="ru-RU" sz="1450" dirty="0" err="1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not</a:t>
            </a:r>
            <a:r>
              <a:rPr lang="ru-RU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altLang="ru-RU" sz="1450" dirty="0">
                <a:solidFill>
                  <a:srgbClr val="FFFF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defined</a:t>
            </a:r>
            <a:endParaRPr lang="ru-RU" altLang="ru-RU" sz="145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178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Область видимости переменных, замыкание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cs typeface="Arial" panose="020B0604020202020204" pitchFamily="34" charset="0"/>
              </a:rPr>
              <a:t>Замыкание и лексическое окружение: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В </a:t>
            </a:r>
            <a:r>
              <a:rPr lang="ru-RU" altLang="ru-RU" sz="1400" dirty="0" err="1">
                <a:solidFill>
                  <a:srgbClr val="E2E3E7"/>
                </a:solidFill>
              </a:rPr>
              <a:t>JavaScript</a:t>
            </a:r>
            <a:r>
              <a:rPr lang="ru-RU" altLang="ru-RU" sz="1400" dirty="0">
                <a:solidFill>
                  <a:srgbClr val="E2E3E7"/>
                </a:solidFill>
              </a:rPr>
              <a:t> у каждой выполняемой функции, блока кода </a:t>
            </a:r>
            <a:r>
              <a:rPr lang="ru-RU" altLang="ru-RU" sz="1400" dirty="0">
                <a:solidFill>
                  <a:schemeClr val="tx1"/>
                </a:solidFill>
              </a:rPr>
              <a:t>{...}</a:t>
            </a:r>
            <a:r>
              <a:rPr lang="ru-RU" altLang="ru-RU" sz="1400" dirty="0">
                <a:solidFill>
                  <a:srgbClr val="E2E3E7"/>
                </a:solidFill>
              </a:rPr>
              <a:t> и скрипта есть связанный с ними внутренний (скрытый) объект, называемый </a:t>
            </a:r>
            <a:r>
              <a:rPr lang="ru-RU" altLang="ru-RU" sz="1400" i="1" dirty="0">
                <a:solidFill>
                  <a:srgbClr val="FFFF00"/>
                </a:solidFill>
              </a:rPr>
              <a:t>лексическим окружением</a:t>
            </a:r>
            <a:r>
              <a:rPr lang="ru-RU" altLang="ru-RU" sz="1400" dirty="0">
                <a:solidFill>
                  <a:srgbClr val="E2E3E7"/>
                </a:solidFill>
              </a:rPr>
              <a:t>.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b="1" dirty="0"/>
              <a:t>Объект лексического окружения состоит из </a:t>
            </a:r>
            <a:r>
              <a:rPr lang="ru-RU" sz="1400" b="1" dirty="0">
                <a:solidFill>
                  <a:srgbClr val="FFFF00"/>
                </a:solidFill>
              </a:rPr>
              <a:t>двух</a:t>
            </a:r>
            <a:r>
              <a:rPr lang="ru-RU" sz="1400" b="1" dirty="0"/>
              <a:t> частей: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 err="1">
                <a:solidFill>
                  <a:srgbClr val="FFFF00"/>
                </a:solidFill>
              </a:rPr>
              <a:t>Environment</a:t>
            </a:r>
            <a:r>
              <a:rPr lang="ru-RU" sz="1400" dirty="0">
                <a:solidFill>
                  <a:srgbClr val="FFFF00"/>
                </a:solidFill>
              </a:rPr>
              <a:t> </a:t>
            </a:r>
            <a:r>
              <a:rPr lang="ru-RU" sz="1400" dirty="0" err="1">
                <a:solidFill>
                  <a:srgbClr val="FFFF00"/>
                </a:solidFill>
              </a:rPr>
              <a:t>Record</a:t>
            </a:r>
            <a:r>
              <a:rPr lang="ru-RU" sz="1400" dirty="0">
                <a:solidFill>
                  <a:srgbClr val="FFFF00"/>
                </a:solidFill>
              </a:rPr>
              <a:t> </a:t>
            </a:r>
            <a:r>
              <a:rPr lang="ru-RU" sz="1400" dirty="0"/>
              <a:t>– объект, в котором как свойства хранятся все локальные переменные (а также некоторая другая информация, такая как значение </a:t>
            </a:r>
            <a:r>
              <a:rPr lang="ru-RU" sz="1400" dirty="0" err="1"/>
              <a:t>this</a:t>
            </a:r>
            <a:r>
              <a:rPr lang="ru-RU" sz="1400" dirty="0"/>
              <a:t>).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rgbClr val="FFFF00"/>
                </a:solidFill>
              </a:rPr>
              <a:t>Ссылка на внешнее лексическое окружение </a:t>
            </a:r>
            <a:r>
              <a:rPr lang="ru-RU" sz="1400" dirty="0"/>
              <a:t>– то есть то, которое соответствует коду снаружи (снаружи от текущих фигурных скобок).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Лексическое окружение создается для каждой функции при ее определении и содержит все переменные, доступные в той области, где была определена функция.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sz="1400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40DB10B-0612-43F0-A55F-40ED2DD11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2000"/>
                    </a14:imgEffect>
                    <a14:imgEffect>
                      <a14:brightnessContrast contrast="2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545866"/>
            <a:ext cx="3240360" cy="78238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4403D2D-C10A-4F7F-B5F4-2B1477ACA8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2000"/>
                    </a14:imgEffect>
                    <a14:imgEffect>
                      <a14:brightnessContrast bright="5000" contras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3363838"/>
            <a:ext cx="4248472" cy="120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95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Область видимости переменных, замыкание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dirty="0"/>
              <a:t>Когда запускается функция, в начале ее вызова автоматически создается новое лексическое окружение для хранения локальных переменных и параметров вызова.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400" dirty="0">
              <a:solidFill>
                <a:srgbClr val="FFFF00"/>
              </a:solidFill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400" dirty="0">
              <a:solidFill>
                <a:srgbClr val="FFFF00"/>
              </a:solidFill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400" dirty="0">
              <a:solidFill>
                <a:srgbClr val="FFFF00"/>
              </a:solidFill>
              <a:cs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В процессе вызова функции есть два лексических окружения: </a:t>
            </a:r>
            <a:r>
              <a:rPr lang="ru-RU" sz="1400" dirty="0">
                <a:solidFill>
                  <a:srgbClr val="FFFF00"/>
                </a:solidFill>
              </a:rPr>
              <a:t>внутреннее</a:t>
            </a:r>
            <a:r>
              <a:rPr lang="ru-RU" sz="1400" dirty="0">
                <a:solidFill>
                  <a:schemeClr val="tx1"/>
                </a:solidFill>
              </a:rPr>
              <a:t> (для вызываемой функции) и </a:t>
            </a:r>
            <a:r>
              <a:rPr lang="ru-RU" sz="1400" dirty="0">
                <a:solidFill>
                  <a:srgbClr val="FFFF00"/>
                </a:solidFill>
              </a:rPr>
              <a:t>внешнее</a:t>
            </a:r>
            <a:r>
              <a:rPr lang="ru-RU" sz="1400" dirty="0">
                <a:solidFill>
                  <a:schemeClr val="tx1"/>
                </a:solidFill>
              </a:rPr>
              <a:t> (глобальное):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Внутреннее лексическое окружение соответствует текущему выполнению </a:t>
            </a:r>
            <a:r>
              <a:rPr lang="ru-RU" sz="1400" dirty="0" err="1">
                <a:solidFill>
                  <a:schemeClr val="tx1"/>
                </a:solidFill>
              </a:rPr>
              <a:t>say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В нём находится одна переменная </a:t>
            </a:r>
            <a:r>
              <a:rPr lang="ru-RU" sz="1400" dirty="0" err="1">
                <a:solidFill>
                  <a:schemeClr val="tx1"/>
                </a:solidFill>
              </a:rPr>
              <a:t>name</a:t>
            </a:r>
            <a:r>
              <a:rPr lang="ru-RU" sz="1400" dirty="0">
                <a:solidFill>
                  <a:schemeClr val="tx1"/>
                </a:solidFill>
              </a:rPr>
              <a:t>, параметр функции. Мы вызываем </a:t>
            </a:r>
            <a:r>
              <a:rPr lang="ru-RU" sz="1400" dirty="0" err="1">
                <a:solidFill>
                  <a:schemeClr val="tx1"/>
                </a:solidFill>
              </a:rPr>
              <a:t>say</a:t>
            </a:r>
            <a:r>
              <a:rPr lang="ru-RU" sz="1400" dirty="0">
                <a:solidFill>
                  <a:schemeClr val="tx1"/>
                </a:solidFill>
              </a:rPr>
              <a:t>("</a:t>
            </a:r>
            <a:r>
              <a:rPr lang="ru-RU" sz="1400" dirty="0" err="1">
                <a:solidFill>
                  <a:schemeClr val="tx1"/>
                </a:solidFill>
              </a:rPr>
              <a:t>John</a:t>
            </a:r>
            <a:r>
              <a:rPr lang="ru-RU" sz="1400" dirty="0">
                <a:solidFill>
                  <a:schemeClr val="tx1"/>
                </a:solidFill>
              </a:rPr>
              <a:t>"), так что значение переменной </a:t>
            </a:r>
            <a:r>
              <a:rPr lang="ru-RU" sz="1400" dirty="0" err="1">
                <a:solidFill>
                  <a:schemeClr val="tx1"/>
                </a:solidFill>
              </a:rPr>
              <a:t>name</a:t>
            </a:r>
            <a:r>
              <a:rPr lang="ru-RU" sz="1400" dirty="0">
                <a:solidFill>
                  <a:schemeClr val="tx1"/>
                </a:solidFill>
              </a:rPr>
              <a:t> равно "</a:t>
            </a:r>
            <a:r>
              <a:rPr lang="ru-RU" sz="1400" dirty="0" err="1">
                <a:solidFill>
                  <a:schemeClr val="tx1"/>
                </a:solidFill>
              </a:rPr>
              <a:t>John</a:t>
            </a:r>
            <a:r>
              <a:rPr lang="ru-RU" sz="1400" dirty="0">
                <a:solidFill>
                  <a:schemeClr val="tx1"/>
                </a:solidFill>
              </a:rPr>
              <a:t>".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Внешнее лексическое окружение – это глобальное лексическое окружение.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В нём находятся переменная </a:t>
            </a:r>
            <a:r>
              <a:rPr lang="ru-RU" sz="1400" dirty="0" err="1">
                <a:solidFill>
                  <a:schemeClr val="tx1"/>
                </a:solidFill>
              </a:rPr>
              <a:t>phrase</a:t>
            </a:r>
            <a:r>
              <a:rPr lang="ru-RU" sz="1400" dirty="0">
                <a:solidFill>
                  <a:schemeClr val="tx1"/>
                </a:solidFill>
              </a:rPr>
              <a:t> и сама функция.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У внутреннего лексического окружения есть ссылка на внешнее </a:t>
            </a:r>
            <a:r>
              <a:rPr lang="ru-RU" sz="1400" dirty="0" err="1">
                <a:solidFill>
                  <a:schemeClr val="tx1"/>
                </a:solidFill>
              </a:rPr>
              <a:t>outer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b="1" dirty="0">
                <a:solidFill>
                  <a:srgbClr val="FFFF00"/>
                </a:solidFill>
              </a:rPr>
              <a:t>Когда код хочет получить доступ к переменной – сначала происходит поиск во внутреннем лексическом окружении, затем во внешнем, затем в следующем и так далее, до глобального.</a:t>
            </a:r>
            <a:endParaRPr lang="ru-RU" altLang="ru-RU" sz="1400" dirty="0">
              <a:solidFill>
                <a:srgbClr val="FFFF00"/>
              </a:solidFill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E5A1BD-2852-4567-B307-B839F0A3B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6000"/>
                    </a14:imgEffect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916" y="1203598"/>
            <a:ext cx="5251372" cy="107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228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Область видимости переменных, замыкание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>
                <a:solidFill>
                  <a:srgbClr val="FFFF00"/>
                </a:solidFill>
              </a:rPr>
              <a:t>Замыкание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600" dirty="0">
                <a:solidFill>
                  <a:srgbClr val="FFFF00"/>
                </a:solidFill>
              </a:rPr>
              <a:t>Замыкание (</a:t>
            </a:r>
            <a:r>
              <a:rPr lang="ru-RU" sz="1600" dirty="0" err="1">
                <a:solidFill>
                  <a:srgbClr val="FFFF00"/>
                </a:solidFill>
              </a:rPr>
              <a:t>closure</a:t>
            </a:r>
            <a:r>
              <a:rPr lang="ru-RU" sz="1600" dirty="0">
                <a:solidFill>
                  <a:srgbClr val="FFFF00"/>
                </a:solidFill>
              </a:rPr>
              <a:t>) в </a:t>
            </a:r>
            <a:r>
              <a:rPr lang="ru-RU" sz="1600" dirty="0" err="1">
                <a:solidFill>
                  <a:srgbClr val="FFFF00"/>
                </a:solidFill>
              </a:rPr>
              <a:t>JavaScript</a:t>
            </a:r>
            <a:r>
              <a:rPr lang="ru-RU" sz="1600" dirty="0">
                <a:solidFill>
                  <a:srgbClr val="FFFF00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- это концепт, который описывает способность функции получать доступ к переменным и функциям из внешнего лексического окружения, даже после того, как внешнее окружение было уничтожено. Замыкание создается, когда внутренняя функция определяется внутри внешней функции и возвращается в качестве результата. Замыкание включает в себя два основных компонента:</a:t>
            </a:r>
          </a:p>
          <a:p>
            <a:pPr marL="0" indent="0">
              <a:buNone/>
            </a:pPr>
            <a:r>
              <a:rPr lang="ru-RU" sz="1600" b="1" dirty="0"/>
              <a:t>1. </a:t>
            </a:r>
            <a:r>
              <a:rPr lang="ru-RU" sz="1600" b="1" dirty="0">
                <a:solidFill>
                  <a:srgbClr val="FFFF00"/>
                </a:solidFill>
              </a:rPr>
              <a:t>Лек</a:t>
            </a:r>
            <a:r>
              <a:rPr lang="ru-RU" sz="1600" dirty="0">
                <a:solidFill>
                  <a:srgbClr val="FFFF00"/>
                </a:solidFill>
              </a:rPr>
              <a:t>сическое окружение</a:t>
            </a:r>
            <a:r>
              <a:rPr lang="ru-RU" sz="1600" dirty="0"/>
              <a:t>: Замыкание имеет доступ к лексическому окружению внешней функции, в которой была определена внутренняя функция. Это означает, что внутренняя функция может получить доступ к переменным и функциям, определенным во внешней функции.</a:t>
            </a:r>
          </a:p>
          <a:p>
            <a:pPr marL="0" indent="0">
              <a:buNone/>
            </a:pPr>
            <a:r>
              <a:rPr lang="ru-RU" sz="1600" b="1" dirty="0"/>
              <a:t>2. </a:t>
            </a:r>
            <a:r>
              <a:rPr lang="ru-RU" sz="1600" dirty="0">
                <a:solidFill>
                  <a:srgbClr val="FFFF00"/>
                </a:solidFill>
              </a:rPr>
              <a:t>Состояние</a:t>
            </a:r>
            <a:r>
              <a:rPr lang="ru-RU" sz="1600" dirty="0"/>
              <a:t>: Замыкание также хранит состояние внутренней функции. Это означает, что внутренняя функция может сохранять и изменять значения переменных, определенных во внешней функции, даже после того, как внешняя функция завершила выполнение.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sz="1400" dirty="0"/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sz="15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858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Область видимости переменных, замыкание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createCounter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count = 0;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   count++;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(count);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 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counter = 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createCounter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</a:rPr>
              <a:t>counter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();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en-US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Вывод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: 1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</a:rPr>
              <a:t>counter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();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en-US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Вывод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: 2</a:t>
            </a:r>
            <a:endParaRPr 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/>
              <a:t>В этой задаче мы определяем функцию </a:t>
            </a:r>
            <a:r>
              <a:rPr lang="ru-RU" sz="1500" dirty="0" err="1">
                <a:solidFill>
                  <a:srgbClr val="FFFF00"/>
                </a:solidFill>
              </a:rPr>
              <a:t>createCounter</a:t>
            </a:r>
            <a:r>
              <a:rPr lang="ru-RU" sz="1500" dirty="0">
                <a:solidFill>
                  <a:srgbClr val="FFFF00"/>
                </a:solidFill>
              </a:rPr>
              <a:t>()</a:t>
            </a:r>
            <a:r>
              <a:rPr lang="ru-RU" sz="1500" dirty="0">
                <a:solidFill>
                  <a:schemeClr val="tx1"/>
                </a:solidFill>
              </a:rPr>
              <a:t>,</a:t>
            </a:r>
            <a:r>
              <a:rPr lang="ru-RU" sz="1500" dirty="0">
                <a:solidFill>
                  <a:srgbClr val="FFFF00"/>
                </a:solidFill>
              </a:rPr>
              <a:t> </a:t>
            </a:r>
            <a:r>
              <a:rPr lang="ru-RU" sz="1500" dirty="0"/>
              <a:t>которая создает счетчик и возвращает внутреннюю функцию. Внутренняя функция имеет доступ к переменной </a:t>
            </a:r>
            <a:r>
              <a:rPr lang="ru-RU" sz="1500" dirty="0" err="1">
                <a:solidFill>
                  <a:srgbClr val="FFFF00"/>
                </a:solidFill>
              </a:rPr>
              <a:t>count</a:t>
            </a:r>
            <a:r>
              <a:rPr lang="ru-RU" sz="1500" dirty="0"/>
              <a:t> из внешней функции и может увеличивать ее значение при каждом вызове. Замыкание позволяет внутренней функции сохранять и изменять состояние счетчика, даже после того, как внешняя функция завершила выполнение.</a:t>
            </a:r>
            <a:endParaRPr 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595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Область видимости переменных, замыкание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createButton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button = </a:t>
            </a:r>
            <a:r>
              <a:rPr lang="en-US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createElement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button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button.</a:t>
            </a:r>
            <a:r>
              <a:rPr lang="en-US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textContent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= "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Нажми меня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";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button.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addEventListener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click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",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Кнопка была нажата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!");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});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button;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myButton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createButton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myButton.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click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();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Вывод: Кнопка была нажата!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/>
              <a:t>В этой задаче мы определяем функцию </a:t>
            </a:r>
            <a:r>
              <a:rPr lang="ru-RU" sz="1500" dirty="0" err="1"/>
              <a:t>createButton</a:t>
            </a:r>
            <a:r>
              <a:rPr lang="ru-RU" sz="1500" dirty="0"/>
              <a:t>(), которая создает кнопку и возвращает ее. Внутренний обработчик событий имеет доступ к переменной </a:t>
            </a:r>
            <a:r>
              <a:rPr lang="ru-RU" sz="1500" dirty="0" err="1"/>
              <a:t>button</a:t>
            </a:r>
            <a:r>
              <a:rPr lang="ru-RU" sz="1500" dirty="0"/>
              <a:t> из внешней функции и может использовать ее в своем теле. Замыкание позволяет обработчику событий сохранять и использовать ссылку на кнопку, даже после того, как внешняя функция завершила выполнение.</a:t>
            </a:r>
            <a:endParaRPr 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927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Область видимости переменных, замыкание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createButton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button = </a:t>
            </a:r>
            <a:r>
              <a:rPr lang="en-US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createElement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button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button.</a:t>
            </a:r>
            <a:r>
              <a:rPr lang="en-US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textContent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= "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Нажми меня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";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button.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addEventListener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click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",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console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sz="15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Кнопка была нажата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!");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});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button;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myButton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createButton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myButton.</a:t>
            </a:r>
            <a:r>
              <a:rPr lang="en-US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click</a:t>
            </a:r>
            <a:r>
              <a:rPr lang="en-US" sz="1500" dirty="0">
                <a:solidFill>
                  <a:schemeClr val="tx1"/>
                </a:solidFill>
                <a:latin typeface="Consolas" panose="020B0609020204030204" pitchFamily="49" charset="0"/>
              </a:rPr>
              <a:t>(); </a:t>
            </a:r>
            <a:r>
              <a:rPr lang="en-US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Вывод: Кнопка была нажата!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/>
              <a:t>В этой задаче мы определяем функцию </a:t>
            </a:r>
            <a:r>
              <a:rPr lang="ru-RU" sz="1500" dirty="0" err="1"/>
              <a:t>createButton</a:t>
            </a:r>
            <a:r>
              <a:rPr lang="ru-RU" sz="1500" dirty="0"/>
              <a:t>(), которая создает кнопку и возвращает ее. Внутренний обработчик событий имеет доступ к переменной </a:t>
            </a:r>
            <a:r>
              <a:rPr lang="ru-RU" sz="1500" dirty="0" err="1"/>
              <a:t>button</a:t>
            </a:r>
            <a:r>
              <a:rPr lang="ru-RU" sz="1500" dirty="0"/>
              <a:t> из внешней функции и может использовать ее в своем теле. Замыкание позволяет обработчику событий сохранять и использовать ссылку на кнопку, даже после того, как внешняя функция завершила выполнение.</a:t>
            </a:r>
            <a:endParaRPr 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3939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1</a:t>
            </a:r>
            <a:r>
              <a:rPr lang="en-US" altLang="ru-RU" sz="1400" dirty="0">
                <a:solidFill>
                  <a:schemeClr val="tx1"/>
                </a:solidFill>
              </a:rPr>
              <a:t>. </a:t>
            </a:r>
            <a:r>
              <a:rPr lang="ru-RU" altLang="ru-RU" sz="1400" dirty="0">
                <a:solidFill>
                  <a:schemeClr val="tx1"/>
                </a:solidFill>
              </a:rPr>
              <a:t>Функция </a:t>
            </a:r>
            <a:r>
              <a:rPr lang="ru-RU" altLang="ru-RU" sz="1400" dirty="0" err="1">
                <a:solidFill>
                  <a:schemeClr val="tx1"/>
                </a:solidFill>
              </a:rPr>
              <a:t>sayHi</a:t>
            </a:r>
            <a:r>
              <a:rPr lang="ru-RU" altLang="ru-RU" sz="1400" dirty="0">
                <a:solidFill>
                  <a:schemeClr val="tx1"/>
                </a:solidFill>
              </a:rPr>
              <a:t> использует имя внешней переменной. Какое значение будет использоваться при выполнении функции? 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name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"Hi, "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+ name);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name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"Pete"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что будет показано: 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John"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или 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Pete"?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2. </a:t>
            </a:r>
            <a:r>
              <a:rPr lang="ru-RU" dirty="0"/>
              <a:t>Какой будет результат у вызова на последней строке?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phrase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"Hello"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true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`${phrase}, ${user}`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???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BAA168-B9E3-4B9A-BB7F-E0F1E0532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498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3. </a:t>
            </a:r>
            <a:r>
              <a:rPr lang="ru-RU" altLang="ru-RU" sz="1500" dirty="0">
                <a:solidFill>
                  <a:srgbClr val="E2E3E7"/>
                </a:solidFill>
              </a:rPr>
              <a:t>Что покажет второй счётчик? </a:t>
            </a:r>
            <a:r>
              <a:rPr lang="ru-RU" altLang="ru-RU" sz="1500" dirty="0">
                <a:solidFill>
                  <a:schemeClr val="tx1"/>
                </a:solidFill>
              </a:rPr>
              <a:t>0,1</a:t>
            </a:r>
            <a:r>
              <a:rPr lang="ru-RU" altLang="ru-RU" sz="1500" dirty="0">
                <a:solidFill>
                  <a:srgbClr val="E2E3E7"/>
                </a:solidFill>
              </a:rPr>
              <a:t> или </a:t>
            </a:r>
            <a:r>
              <a:rPr lang="ru-RU" altLang="ru-RU" sz="1500" dirty="0">
                <a:solidFill>
                  <a:schemeClr val="tx1"/>
                </a:solidFill>
              </a:rPr>
              <a:t>2,3</a:t>
            </a:r>
            <a:r>
              <a:rPr lang="ru-RU" altLang="ru-RU" sz="1500" dirty="0">
                <a:solidFill>
                  <a:srgbClr val="E2E3E7"/>
                </a:solidFill>
              </a:rPr>
              <a:t> или что-то ещё и почему?</a:t>
            </a:r>
            <a:r>
              <a:rPr lang="ru-RU" altLang="ru-RU" sz="1500" dirty="0">
                <a:solidFill>
                  <a:schemeClr val="tx1"/>
                </a:solidFill>
              </a:rPr>
              <a:t>  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makeCounter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count = 0;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en-US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count++;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counter = 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makeCounter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counter2 = 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makeCounter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counter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()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0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counter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()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1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counter2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()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?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counter2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()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?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4. </a:t>
            </a:r>
            <a:r>
              <a:rPr lang="ru-RU" altLang="ru-RU" sz="1500" dirty="0">
                <a:solidFill>
                  <a:srgbClr val="E2E3E7"/>
                </a:solidFill>
              </a:rPr>
              <a:t>Напишите функцию </a:t>
            </a:r>
            <a:r>
              <a:rPr lang="ru-RU" altLang="ru-RU" sz="1500" dirty="0" err="1">
                <a:solidFill>
                  <a:schemeClr val="tx1"/>
                </a:solidFill>
              </a:rPr>
              <a:t>sum</a:t>
            </a:r>
            <a:r>
              <a:rPr lang="ru-RU" altLang="ru-RU" sz="1500" dirty="0">
                <a:solidFill>
                  <a:srgbClr val="E2E3E7"/>
                </a:solidFill>
              </a:rPr>
              <a:t>, которая работает таким образом: </a:t>
            </a:r>
            <a:r>
              <a:rPr lang="ru-RU" altLang="ru-RU" sz="1500" dirty="0" err="1">
                <a:solidFill>
                  <a:schemeClr val="tx1"/>
                </a:solidFill>
              </a:rPr>
              <a:t>sum</a:t>
            </a:r>
            <a:r>
              <a:rPr lang="ru-RU" altLang="ru-RU" sz="1500" dirty="0">
                <a:solidFill>
                  <a:schemeClr val="tx1"/>
                </a:solidFill>
              </a:rPr>
              <a:t>(a)(b) = a + b</a:t>
            </a:r>
            <a:r>
              <a:rPr lang="ru-RU" altLang="ru-RU" sz="1500" dirty="0">
                <a:solidFill>
                  <a:srgbClr val="E2E3E7"/>
                </a:solidFill>
              </a:rPr>
              <a:t>.</a:t>
            </a:r>
            <a:r>
              <a:rPr lang="ru-RU" altLang="ru-RU" sz="1500" dirty="0">
                <a:solidFill>
                  <a:schemeClr val="tx1"/>
                </a:solidFill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BAA168-B9E3-4B9A-BB7F-E0F1E0532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E976E2-5CFF-495B-A605-173E6BDB3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21993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E2E3E7"/>
                </a:solidFill>
                <a:effectLst/>
                <a:latin typeface="BlinkMacSystemFont"/>
              </a:rPr>
              <a:t> 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9BC0851-D821-4DF2-879E-7DDC7901C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0732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979712" y="2211710"/>
            <a:ext cx="5256584" cy="612068"/>
          </a:xfrm>
        </p:spPr>
        <p:txBody>
          <a:bodyPr anchor="t"/>
          <a:lstStyle/>
          <a:p>
            <a:pPr algn="ctr"/>
            <a:r>
              <a:rPr lang="ru-RU" sz="3200" b="1" dirty="0"/>
              <a:t>Модульность в </a:t>
            </a:r>
            <a:r>
              <a:rPr lang="en-US" sz="3200" b="1" dirty="0"/>
              <a:t>JavaScript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10219901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Модульность в </a:t>
            </a:r>
            <a:r>
              <a:rPr lang="en-US" sz="2400" b="1" dirty="0"/>
              <a:t>JavaScript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0973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>
                <a:solidFill>
                  <a:srgbClr val="FFFF00"/>
                </a:solidFill>
              </a:rPr>
              <a:t>Старые системы модулей:</a:t>
            </a:r>
            <a:endParaRPr lang="en-US" sz="1500" dirty="0">
              <a:solidFill>
                <a:srgbClr val="FFFF00"/>
              </a:solidFill>
            </a:endParaRPr>
          </a:p>
          <a:p>
            <a:pPr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rgbClr val="FFFF00"/>
                </a:solidFill>
              </a:rPr>
              <a:t>AMD</a:t>
            </a:r>
            <a:r>
              <a:rPr lang="ru-RU" sz="1500" dirty="0">
                <a:solidFill>
                  <a:schemeClr val="tx1"/>
                </a:solidFill>
              </a:rPr>
              <a:t> – одна из самых старых модульных систем, изначально реализована библиотекой require.js.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sz="1500" dirty="0" err="1">
                <a:solidFill>
                  <a:srgbClr val="FFFF00"/>
                </a:solidFill>
              </a:rPr>
              <a:t>CommonJS</a:t>
            </a:r>
            <a:r>
              <a:rPr lang="ru-RU" sz="1500" dirty="0">
                <a:solidFill>
                  <a:schemeClr val="tx1"/>
                </a:solidFill>
              </a:rPr>
              <a:t> – модульная система, созданная для сервера Node.js.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500" dirty="0">
                <a:solidFill>
                  <a:srgbClr val="FFFF00"/>
                </a:solidFill>
              </a:rPr>
              <a:t>UMD</a:t>
            </a:r>
            <a:r>
              <a:rPr lang="ru-RU" sz="1500" dirty="0">
                <a:solidFill>
                  <a:schemeClr val="tx1"/>
                </a:solidFill>
              </a:rPr>
              <a:t> – ещё одна модульная система, предлагается как универсальная, совместима с AMD и </a:t>
            </a:r>
            <a:r>
              <a:rPr lang="ru-RU" sz="1500" dirty="0" err="1">
                <a:solidFill>
                  <a:schemeClr val="tx1"/>
                </a:solidFill>
              </a:rPr>
              <a:t>CommonJS</a:t>
            </a:r>
            <a:r>
              <a:rPr lang="ru-RU" sz="1500" dirty="0">
                <a:solidFill>
                  <a:schemeClr val="tx1"/>
                </a:solidFill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rgbClr val="FFFF00"/>
                </a:solidFill>
              </a:rPr>
              <a:t>Модуль</a:t>
            </a:r>
            <a:r>
              <a:rPr lang="ru-RU" sz="1400" dirty="0">
                <a:solidFill>
                  <a:schemeClr val="tx1"/>
                </a:solidFill>
              </a:rPr>
              <a:t> – это просто файл. </a:t>
            </a:r>
            <a:r>
              <a:rPr lang="ru-RU" sz="1400" dirty="0">
                <a:solidFill>
                  <a:srgbClr val="FFFF00"/>
                </a:solidFill>
              </a:rPr>
              <a:t>Один скрипт </a:t>
            </a:r>
            <a:r>
              <a:rPr lang="ru-RU" sz="1400" dirty="0">
                <a:solidFill>
                  <a:schemeClr val="tx1"/>
                </a:solidFill>
              </a:rPr>
              <a:t>– это один модуль.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Модули могут загружать друг друга и использовать директивы </a:t>
            </a:r>
            <a:r>
              <a:rPr lang="ru-RU" sz="1400" dirty="0" err="1">
                <a:solidFill>
                  <a:srgbClr val="FFFF00"/>
                </a:solidFill>
              </a:rPr>
              <a:t>export</a:t>
            </a:r>
            <a:r>
              <a:rPr lang="ru-RU" sz="1400" dirty="0">
                <a:solidFill>
                  <a:schemeClr val="tx1"/>
                </a:solidFill>
              </a:rPr>
              <a:t> и </a:t>
            </a:r>
            <a:r>
              <a:rPr lang="ru-RU" sz="1400" dirty="0" err="1">
                <a:solidFill>
                  <a:srgbClr val="FFFF00"/>
                </a:solidFill>
              </a:rPr>
              <a:t>import</a:t>
            </a:r>
            <a:r>
              <a:rPr lang="ru-RU" sz="1400" dirty="0">
                <a:solidFill>
                  <a:schemeClr val="tx1"/>
                </a:solidFill>
              </a:rPr>
              <a:t>, чтобы обмениваться функциональностью, вызывать функции одного модуля из другого: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FFFF00"/>
                </a:solidFill>
              </a:rPr>
              <a:t>export</a:t>
            </a:r>
            <a:r>
              <a:rPr lang="ru-RU" sz="1400" dirty="0">
                <a:solidFill>
                  <a:schemeClr val="tx1"/>
                </a:solidFill>
              </a:rPr>
              <a:t> отмечает переменные и функции, которые должны быть доступны вне текущего модуля.</a:t>
            </a:r>
          </a:p>
          <a:p>
            <a:pPr defTabSz="914400" eaLnBrk="0" fontAlgn="base" hangingPunct="0"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400" dirty="0" err="1">
                <a:solidFill>
                  <a:srgbClr val="FFFF00"/>
                </a:solidFill>
              </a:rPr>
              <a:t>import</a:t>
            </a:r>
            <a:r>
              <a:rPr lang="ru-RU" sz="1400" dirty="0">
                <a:solidFill>
                  <a:schemeClr val="tx1"/>
                </a:solidFill>
              </a:rPr>
              <a:t> позволяет импортировать функциональность из других модулей.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D9DFAD89-7E98-40AB-9ADA-EC0F72A3F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399254"/>
              </p:ext>
            </p:extLst>
          </p:nvPr>
        </p:nvGraphicFramePr>
        <p:xfrm>
          <a:off x="899593" y="3723878"/>
          <a:ext cx="7200799" cy="1021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2367">
                  <a:extLst>
                    <a:ext uri="{9D8B030D-6E8A-4147-A177-3AD203B41FA5}">
                      <a16:colId xmlns:a16="http://schemas.microsoft.com/office/drawing/2014/main" val="3332989709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3044334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// </a:t>
                      </a:r>
                      <a:r>
                        <a:rPr lang="ru-RU" sz="1400" dirty="0">
                          <a:solidFill>
                            <a:srgbClr val="FFFF00"/>
                          </a:solidFill>
                        </a:rPr>
                        <a:t>📁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sayHi.js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export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function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sayHi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(user){</a:t>
                      </a:r>
                      <a:endParaRPr lang="ru-RU" sz="14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US" sz="1400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alert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4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`Hello, ${user}!`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  <a:endParaRPr lang="ru-RU" sz="14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// </a:t>
                      </a:r>
                      <a:r>
                        <a:rPr lang="ru-RU" sz="1500" dirty="0">
                          <a:solidFill>
                            <a:srgbClr val="FFFF00"/>
                          </a:solidFill>
                        </a:rPr>
                        <a:t>📁</a:t>
                      </a:r>
                      <a:r>
                        <a:rPr lang="ru-RU" sz="1500" dirty="0"/>
                        <a:t> </a:t>
                      </a:r>
                      <a:r>
                        <a:rPr lang="en-US" sz="1500" dirty="0"/>
                        <a:t>main.js</a:t>
                      </a:r>
                    </a:p>
                    <a:p>
                      <a:r>
                        <a:rPr lang="en-US" sz="15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1500" dirty="0">
                          <a:latin typeface="Consolas" panose="020B0609020204030204" pitchFamily="49" charset="0"/>
                        </a:rPr>
                        <a:t> {</a:t>
                      </a:r>
                      <a:r>
                        <a:rPr lang="ru-RU" sz="15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500" dirty="0" err="1">
                          <a:latin typeface="Consolas" panose="020B0609020204030204" pitchFamily="49" charset="0"/>
                        </a:rPr>
                        <a:t>sayHi</a:t>
                      </a:r>
                      <a:r>
                        <a:rPr lang="ru-RU" sz="15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500" dirty="0"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en-US" sz="15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sz="1500" dirty="0">
                          <a:latin typeface="Consolas" panose="020B0609020204030204" pitchFamily="49" charset="0"/>
                        </a:rPr>
                        <a:t> './sayHi.js';</a:t>
                      </a:r>
                    </a:p>
                    <a:p>
                      <a:r>
                        <a:rPr lang="en-US" sz="1500" dirty="0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alert</a:t>
                      </a:r>
                      <a:r>
                        <a:rPr lang="en-US" sz="15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ru-RU" sz="15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500" dirty="0" err="1">
                          <a:latin typeface="Consolas" panose="020B0609020204030204" pitchFamily="49" charset="0"/>
                        </a:rPr>
                        <a:t>sayHi</a:t>
                      </a:r>
                      <a:r>
                        <a:rPr lang="ru-RU" sz="15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500" dirty="0"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en-US" sz="15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// function...</a:t>
                      </a:r>
                    </a:p>
                    <a:p>
                      <a:r>
                        <a:rPr lang="en-US" sz="1500" dirty="0" err="1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sayHi</a:t>
                      </a:r>
                      <a:r>
                        <a:rPr lang="en-US" sz="1500" dirty="0">
                          <a:latin typeface="Consolas" panose="020B0609020204030204" pitchFamily="49" charset="0"/>
                        </a:rPr>
                        <a:t>(‘John’</a:t>
                      </a:r>
                      <a:r>
                        <a:rPr lang="ru-RU" sz="15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500" dirty="0"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en-US" sz="15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// Hello, John!</a:t>
                      </a:r>
                      <a:endParaRPr lang="ru-RU" sz="1500" dirty="0">
                        <a:solidFill>
                          <a:srgbClr val="FFFF00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597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5193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Модульность в </a:t>
            </a:r>
            <a:r>
              <a:rPr lang="en-US" sz="2400" b="1" dirty="0"/>
              <a:t>JavaScript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Так как модули поддерживают ряд специальных ключевых слов, и у них есть ряд особенностей, то необходимо явно сказать браузеру, что скрипт является модулем, при помощи атрибута </a:t>
            </a:r>
            <a:r>
              <a:rPr lang="ru-RU" altLang="ru-RU" sz="1600" dirty="0">
                <a:solidFill>
                  <a:srgbClr val="FFFF00"/>
                </a:solidFill>
              </a:rPr>
              <a:t>&lt;</a:t>
            </a:r>
            <a:r>
              <a:rPr lang="ru-RU" altLang="ru-RU" sz="1600" dirty="0" err="1">
                <a:solidFill>
                  <a:srgbClr val="FFFF00"/>
                </a:solidFill>
              </a:rPr>
              <a:t>script</a:t>
            </a:r>
            <a:r>
              <a:rPr lang="ru-RU" altLang="ru-RU" sz="1600" dirty="0">
                <a:solidFill>
                  <a:srgbClr val="FFFF00"/>
                </a:solidFill>
              </a:rPr>
              <a:t> </a:t>
            </a:r>
            <a:r>
              <a:rPr lang="ru-RU" altLang="ru-RU" sz="1600" dirty="0" err="1">
                <a:solidFill>
                  <a:srgbClr val="FFFF00"/>
                </a:solidFill>
              </a:rPr>
              <a:t>type</a:t>
            </a:r>
            <a:r>
              <a:rPr lang="ru-RU" altLang="ru-RU" sz="1600" dirty="0">
                <a:solidFill>
                  <a:srgbClr val="FFFF00"/>
                </a:solidFill>
              </a:rPr>
              <a:t>="</a:t>
            </a:r>
            <a:r>
              <a:rPr lang="ru-RU" altLang="ru-RU" sz="1600" dirty="0" err="1">
                <a:solidFill>
                  <a:srgbClr val="FFFF00"/>
                </a:solidFill>
              </a:rPr>
              <a:t>module</a:t>
            </a:r>
            <a:r>
              <a:rPr lang="ru-RU" altLang="ru-RU" sz="1600" dirty="0">
                <a:solidFill>
                  <a:srgbClr val="FFFF00"/>
                </a:solidFill>
              </a:rPr>
              <a:t>"&gt;</a:t>
            </a:r>
            <a:r>
              <a:rPr lang="ru-RU" altLang="ru-RU" sz="16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&lt;!</a:t>
            </a:r>
            <a:r>
              <a:rPr lang="en-US" altLang="ru-RU" sz="1600" dirty="0">
                <a:solidFill>
                  <a:srgbClr val="92D050"/>
                </a:solidFill>
                <a:latin typeface="Consolas" panose="020B0609020204030204" pitchFamily="49" charset="0"/>
              </a:rPr>
              <a:t>doctype html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script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type="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module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"&gt;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import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'./say.js'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document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.body.innerHTML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'John'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script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600" dirty="0"/>
              <a:t>Браузер автоматически загрузит и запустит импортированный модуль (и те, которые он импортирует, если надо), а затем запустит скрипт.</a:t>
            </a:r>
            <a:endParaRPr lang="ru-RU" alt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14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Модульность в </a:t>
            </a:r>
            <a:r>
              <a:rPr lang="en-US" sz="2400" b="1" dirty="0"/>
              <a:t>JavaScript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743561" cy="4032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Основные возможности модулей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1. Всегда «</a:t>
            </a:r>
            <a:r>
              <a:rPr lang="ru-RU" altLang="ru-RU" sz="1600" dirty="0" err="1">
                <a:solidFill>
                  <a:schemeClr val="tx1"/>
                </a:solidFill>
              </a:rPr>
              <a:t>use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</a:rPr>
              <a:t>strict</a:t>
            </a:r>
            <a:r>
              <a:rPr lang="ru-RU" altLang="ru-RU" sz="1600" dirty="0">
                <a:solidFill>
                  <a:schemeClr val="tx1"/>
                </a:solidFill>
              </a:rPr>
              <a:t>»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В модулях всегда используется режим </a:t>
            </a:r>
            <a:r>
              <a:rPr lang="ru-RU" altLang="ru-RU" sz="1600" dirty="0" err="1">
                <a:solidFill>
                  <a:srgbClr val="FFFF00"/>
                </a:solidFill>
              </a:rPr>
              <a:t>use</a:t>
            </a:r>
            <a:r>
              <a:rPr lang="ru-RU" altLang="ru-RU" sz="1600" dirty="0">
                <a:solidFill>
                  <a:srgbClr val="FFFF00"/>
                </a:solidFill>
              </a:rPr>
              <a:t> </a:t>
            </a:r>
            <a:r>
              <a:rPr lang="ru-RU" altLang="ru-RU" sz="1600" dirty="0" err="1">
                <a:solidFill>
                  <a:srgbClr val="FFFF00"/>
                </a:solidFill>
              </a:rPr>
              <a:t>strict</a:t>
            </a:r>
            <a:r>
              <a:rPr lang="ru-RU" altLang="ru-RU" sz="1600" dirty="0">
                <a:solidFill>
                  <a:schemeClr val="tx1"/>
                </a:solidFill>
              </a:rPr>
              <a:t>. Например, присваивание к необъявленной переменной вызовет ошибку.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script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type</a:t>
            </a:r>
            <a:r>
              <a:rPr lang="ru-RU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module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"&gt;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a </a:t>
            </a:r>
            <a:r>
              <a:rPr lang="ru-RU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5;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ошибка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script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2. Своя область видимости переменных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Каждый модуль имеет свою собственную область видимости. Другими словами, переменные и функции, объявленные в модуле, не видны в других скриптах.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Рассмотрим пример когда </a:t>
            </a: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импортированы 2 скрипта, и 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hello.js</a:t>
            </a:r>
            <a:r>
              <a:rPr lang="ru-RU" altLang="ru-RU" sz="1600" dirty="0">
                <a:solidFill>
                  <a:srgbClr val="FFFF00"/>
                </a:solidFill>
                <a:latin typeface="BlinkMacSystemFont"/>
              </a:rPr>
              <a:t> </a:t>
            </a: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пытается использовать переменную 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user</a:t>
            </a: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, объявленную в 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user.js.</a:t>
            </a:r>
            <a:endParaRPr lang="ru-RU" altLang="ru-RU" sz="16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5803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Модульность в </a:t>
            </a:r>
            <a:r>
              <a:rPr lang="en-US" sz="2400" b="1" dirty="0"/>
              <a:t>JavaScript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57630" y="699542"/>
            <a:ext cx="7743561" cy="4032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Модули должны экспортировать функциональность, предназначенную для использования извне. А другие модули могут её импортировать.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Так что надо импортировать </a:t>
            </a:r>
            <a:r>
              <a:rPr lang="ru-RU" altLang="ru-RU" sz="1400" dirty="0">
                <a:solidFill>
                  <a:srgbClr val="FFFF00"/>
                </a:solidFill>
              </a:rPr>
              <a:t>user.js </a:t>
            </a:r>
            <a:r>
              <a:rPr lang="ru-RU" altLang="ru-RU" sz="1400" dirty="0">
                <a:solidFill>
                  <a:schemeClr val="tx1"/>
                </a:solidFill>
              </a:rPr>
              <a:t>в </a:t>
            </a:r>
            <a:r>
              <a:rPr lang="ru-RU" altLang="ru-RU" sz="1400" dirty="0">
                <a:solidFill>
                  <a:srgbClr val="FFFF00"/>
                </a:solidFill>
              </a:rPr>
              <a:t>hello.js </a:t>
            </a:r>
            <a:r>
              <a:rPr lang="ru-RU" altLang="ru-RU" sz="1400" dirty="0">
                <a:solidFill>
                  <a:schemeClr val="tx1"/>
                </a:solidFill>
              </a:rPr>
              <a:t>и взять из него нужную функциональность, вместо того чтобы полагаться на глобальные переменные.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D61CBE8-DAD7-4F76-BFB0-DA6CE97658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8000"/>
                    </a14:imgEffect>
                    <a14:imgEffect>
                      <a14:brightnessContrast contras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8651"/>
          <a:stretch/>
        </p:blipFill>
        <p:spPr>
          <a:xfrm>
            <a:off x="899591" y="1781939"/>
            <a:ext cx="3571669" cy="114792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356B814-5E42-4887-B8CD-9A18B8C3F1B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8000"/>
                    </a14:imgEffect>
                    <a14:imgEffect>
                      <a14:brightnessContrast contras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769" b="34501"/>
          <a:stretch/>
        </p:blipFill>
        <p:spPr>
          <a:xfrm>
            <a:off x="4860032" y="1781939"/>
            <a:ext cx="3290514" cy="115019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F43DFCD-9729-481E-B1AA-4CBB9C90CEF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8000"/>
                    </a14:imgEffect>
                    <a14:imgEffect>
                      <a14:brightnessContrast contras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8636"/>
          <a:stretch/>
        </p:blipFill>
        <p:spPr>
          <a:xfrm>
            <a:off x="899591" y="3081197"/>
            <a:ext cx="3571669" cy="126647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66B059F-9044-4296-9C10-6F305C7B93E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18000"/>
                    </a14:imgEffect>
                    <a14:imgEffect>
                      <a14:brightnessContrast contras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4268"/>
          <a:stretch/>
        </p:blipFill>
        <p:spPr>
          <a:xfrm>
            <a:off x="4891936" y="3081197"/>
            <a:ext cx="3280577" cy="126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1412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Модульность в </a:t>
            </a:r>
            <a:r>
              <a:rPr lang="en-US" sz="2400" b="1" dirty="0"/>
              <a:t>JavaScript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57630" y="699542"/>
            <a:ext cx="7743561" cy="4032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3. </a:t>
            </a:r>
            <a:r>
              <a:rPr lang="ru-RU" altLang="ru-RU" sz="1400" dirty="0">
                <a:solidFill>
                  <a:schemeClr val="tx1"/>
                </a:solidFill>
              </a:rPr>
              <a:t>Код в модуле выполняется только один раз при импорте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Если один и тот же модуль используется в нескольких местах, то его код выполнится только один раз, после чего экспортируемая функциональность передаётся всем импортёрам.</a:t>
            </a:r>
            <a:endParaRPr lang="en-US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// </a:t>
            </a:r>
            <a:r>
              <a:rPr lang="en-US" altLang="ru-RU" sz="1400" dirty="0">
                <a:solidFill>
                  <a:srgbClr val="FFFF00"/>
                </a:solidFill>
              </a:rPr>
              <a:t>📁</a:t>
            </a:r>
            <a:r>
              <a:rPr lang="en-US" altLang="ru-RU" sz="1400" dirty="0">
                <a:solidFill>
                  <a:schemeClr val="tx1"/>
                </a:solidFill>
              </a:rPr>
              <a:t> admin.js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export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admin = {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Все импортёры получат один-единственный объект </a:t>
            </a:r>
            <a:r>
              <a:rPr lang="ru-RU" altLang="ru-RU" sz="1400" dirty="0" err="1">
                <a:solidFill>
                  <a:srgbClr val="FFFF00"/>
                </a:solidFill>
              </a:rPr>
              <a:t>admin</a:t>
            </a:r>
            <a:r>
              <a:rPr lang="ru-RU" altLang="ru-RU" sz="1400" dirty="0">
                <a:solidFill>
                  <a:schemeClr val="tx1"/>
                </a:solidFill>
              </a:rPr>
              <a:t>: 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</a:rPr>
              <a:t>📁</a:t>
            </a:r>
            <a:r>
              <a:rPr lang="ru-RU" altLang="ru-RU" sz="1400" dirty="0">
                <a:solidFill>
                  <a:schemeClr val="tx1"/>
                </a:solidFill>
              </a:rPr>
              <a:t> 1.</a:t>
            </a:r>
            <a:r>
              <a:rPr lang="en-US" altLang="ru-RU" sz="1400" dirty="0" err="1">
                <a:solidFill>
                  <a:schemeClr val="tx1"/>
                </a:solidFill>
              </a:rPr>
              <a:t>js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import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{ admin }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'./admin.js';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admin.name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"Pete"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</a:rPr>
              <a:t>📁</a:t>
            </a:r>
            <a:r>
              <a:rPr lang="ru-RU" altLang="ru-RU" sz="1400" dirty="0">
                <a:solidFill>
                  <a:schemeClr val="tx1"/>
                </a:solidFill>
              </a:rPr>
              <a:t> 2.</a:t>
            </a:r>
            <a:r>
              <a:rPr lang="en-US" altLang="ru-RU" sz="1400" dirty="0" err="1">
                <a:solidFill>
                  <a:schemeClr val="tx1"/>
                </a:solidFill>
              </a:rPr>
              <a:t>js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import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{ admin }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'./admin.js';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(admin.name);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Pete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</a:rPr>
              <a:t>Оба файла, 1.</a:t>
            </a:r>
            <a:r>
              <a:rPr lang="en-US" altLang="ru-RU" sz="1400" dirty="0" err="1">
                <a:solidFill>
                  <a:srgbClr val="FFFF00"/>
                </a:solidFill>
              </a:rPr>
              <a:t>js</a:t>
            </a:r>
            <a:r>
              <a:rPr lang="en-US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rgbClr val="FFFF00"/>
                </a:solidFill>
              </a:rPr>
              <a:t>и 2.</a:t>
            </a:r>
            <a:r>
              <a:rPr lang="en-US" altLang="ru-RU" sz="1400" dirty="0" err="1">
                <a:solidFill>
                  <a:srgbClr val="FFFF00"/>
                </a:solidFill>
              </a:rPr>
              <a:t>js</a:t>
            </a:r>
            <a:r>
              <a:rPr lang="en-US" altLang="ru-RU" sz="1400" dirty="0">
                <a:solidFill>
                  <a:srgbClr val="FFFF00"/>
                </a:solidFill>
              </a:rPr>
              <a:t>, </a:t>
            </a:r>
            <a:r>
              <a:rPr lang="ru-RU" altLang="ru-RU" sz="1400" dirty="0">
                <a:solidFill>
                  <a:srgbClr val="FFFF00"/>
                </a:solidFill>
              </a:rPr>
              <a:t>импортируют один и тот же объект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// Изменения, сделанные в 1.</a:t>
            </a:r>
            <a:r>
              <a:rPr lang="en-US" altLang="ru-RU" sz="1400" dirty="0" err="1">
                <a:solidFill>
                  <a:srgbClr val="FFFF00"/>
                </a:solidFill>
              </a:rPr>
              <a:t>js</a:t>
            </a:r>
            <a:r>
              <a:rPr lang="en-US" altLang="ru-RU" sz="1400" dirty="0">
                <a:solidFill>
                  <a:srgbClr val="FFFF00"/>
                </a:solidFill>
              </a:rPr>
              <a:t>, </a:t>
            </a:r>
            <a:r>
              <a:rPr lang="ru-RU" altLang="ru-RU" sz="1400" dirty="0">
                <a:solidFill>
                  <a:srgbClr val="FFFF00"/>
                </a:solidFill>
              </a:rPr>
              <a:t>будут видны в 2.</a:t>
            </a:r>
            <a:r>
              <a:rPr lang="en-US" altLang="ru-RU" sz="1400" dirty="0" err="1">
                <a:solidFill>
                  <a:srgbClr val="FFFF00"/>
                </a:solidFill>
              </a:rPr>
              <a:t>js</a:t>
            </a:r>
            <a:endParaRPr lang="ru-RU" altLang="ru-RU" sz="1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4867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Модульность в </a:t>
            </a:r>
            <a:r>
              <a:rPr lang="en-US" sz="2400" b="1" dirty="0"/>
              <a:t>JavaScript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57630" y="699542"/>
            <a:ext cx="7743561" cy="4032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4. </a:t>
            </a:r>
            <a:r>
              <a:rPr lang="ru-RU" altLang="ru-RU" sz="1400" dirty="0">
                <a:solidFill>
                  <a:schemeClr val="tx1"/>
                </a:solidFill>
              </a:rPr>
              <a:t>В модуле «</a:t>
            </a:r>
            <a:r>
              <a:rPr lang="ru-RU" altLang="ru-RU" sz="1400" dirty="0" err="1">
                <a:solidFill>
                  <a:schemeClr val="tx1"/>
                </a:solidFill>
              </a:rPr>
              <a:t>this</a:t>
            </a:r>
            <a:r>
              <a:rPr lang="ru-RU" altLang="ru-RU" sz="1400" dirty="0">
                <a:solidFill>
                  <a:schemeClr val="tx1"/>
                </a:solidFill>
              </a:rPr>
              <a:t>» не определён.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script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this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window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script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script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type="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module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"&gt;</a:t>
            </a:r>
          </a:p>
          <a:p>
            <a:pPr marL="0" lv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this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undefined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script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5. Модули являются отложенными (</a:t>
            </a:r>
            <a:r>
              <a:rPr lang="en-US" altLang="ru-RU" sz="1400" dirty="0">
                <a:solidFill>
                  <a:schemeClr val="tx1"/>
                </a:solidFill>
              </a:rPr>
              <a:t>deferred)</a:t>
            </a:r>
            <a:endParaRPr lang="ru-RU" altLang="ru-RU" sz="1400" dirty="0">
              <a:solidFill>
                <a:schemeClr val="tx1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загрузка внешних модулей, таких как &lt;</a:t>
            </a:r>
            <a:r>
              <a:rPr lang="ru-RU" altLang="ru-RU" sz="1400" dirty="0" err="1">
                <a:solidFill>
                  <a:schemeClr val="tx1"/>
                </a:solidFill>
              </a:rPr>
              <a:t>script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</a:rPr>
              <a:t>type</a:t>
            </a:r>
            <a:r>
              <a:rPr lang="ru-RU" altLang="ru-RU" sz="1400" dirty="0">
                <a:solidFill>
                  <a:schemeClr val="tx1"/>
                </a:solidFill>
              </a:rPr>
              <a:t>="</a:t>
            </a:r>
            <a:r>
              <a:rPr lang="ru-RU" altLang="ru-RU" sz="1400" dirty="0" err="1">
                <a:solidFill>
                  <a:schemeClr val="tx1"/>
                </a:solidFill>
              </a:rPr>
              <a:t>module</a:t>
            </a:r>
            <a:r>
              <a:rPr lang="ru-RU" altLang="ru-RU" sz="1400" dirty="0">
                <a:solidFill>
                  <a:schemeClr val="tx1"/>
                </a:solidFill>
              </a:rPr>
              <a:t>" </a:t>
            </a:r>
            <a:r>
              <a:rPr lang="ru-RU" altLang="ru-RU" sz="1400" dirty="0" err="1">
                <a:solidFill>
                  <a:schemeClr val="tx1"/>
                </a:solidFill>
              </a:rPr>
              <a:t>src</a:t>
            </a:r>
            <a:r>
              <a:rPr lang="ru-RU" altLang="ru-RU" sz="1400" dirty="0">
                <a:solidFill>
                  <a:schemeClr val="tx1"/>
                </a:solidFill>
              </a:rPr>
              <a:t>="..."&gt;, не блокирует обработку HTML.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модули, даже если загрузились быстро, ожидают полной загрузки HTML документа, и только затем выполняются.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сохраняется относительный порядок скриптов: скрипты, которые идут раньше в документе, выполняются раньше.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Как побочный эффект, модули всегда видят полностью загруженную HTML-страницу, включая элементы под ними.</a:t>
            </a:r>
          </a:p>
        </p:txBody>
      </p:sp>
    </p:spTree>
    <p:extLst>
      <p:ext uri="{BB962C8B-B14F-4D97-AF65-F5344CB8AC3E}">
        <p14:creationId xmlns:p14="http://schemas.microsoft.com/office/powerpoint/2010/main" val="9049122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Модульность в </a:t>
            </a:r>
            <a:r>
              <a:rPr lang="en-US" sz="2400" b="1" dirty="0"/>
              <a:t>JavaScript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57630" y="699542"/>
            <a:ext cx="7743561" cy="4032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5. </a:t>
            </a:r>
            <a:r>
              <a:rPr lang="ru-RU" altLang="ru-RU" sz="1400" dirty="0">
                <a:solidFill>
                  <a:schemeClr val="tx1"/>
                </a:solidFill>
              </a:rPr>
              <a:t>Инструменты сборки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 реальной жизни модули в браузерах редко используются в «сыром» виде. Обычно, мы объединяем модули вместе, используя специальный инструмент, например </a:t>
            </a:r>
            <a:r>
              <a:rPr lang="ru-RU" altLang="ru-RU" sz="1400" dirty="0" err="1">
                <a:solidFill>
                  <a:schemeClr val="tx1"/>
                </a:solidFill>
              </a:rPr>
              <a:t>Webpack</a:t>
            </a:r>
            <a:r>
              <a:rPr lang="ru-RU" altLang="ru-RU" sz="1400" dirty="0">
                <a:solidFill>
                  <a:schemeClr val="tx1"/>
                </a:solidFill>
              </a:rPr>
              <a:t> и после выкладываем код на рабочий сервер.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Одно из преимуществ использования сборщика – он предоставляет больший контроль над тем, как модули ищутся, позволяет использовать «голые» модули и многое другое «своё», например CSS/HTML-модули.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Сборщик делает следующее: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Берёт «основной» модуль, который мы собираемся поместить в &lt;</a:t>
            </a:r>
            <a:r>
              <a:rPr lang="ru-RU" altLang="ru-RU" sz="1400" dirty="0" err="1">
                <a:solidFill>
                  <a:schemeClr val="tx1"/>
                </a:solidFill>
              </a:rPr>
              <a:t>script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</a:rPr>
              <a:t>type</a:t>
            </a:r>
            <a:r>
              <a:rPr lang="ru-RU" altLang="ru-RU" sz="1400" dirty="0">
                <a:solidFill>
                  <a:schemeClr val="tx1"/>
                </a:solidFill>
              </a:rPr>
              <a:t>="</a:t>
            </a:r>
            <a:r>
              <a:rPr lang="ru-RU" altLang="ru-RU" sz="1400" dirty="0" err="1">
                <a:solidFill>
                  <a:schemeClr val="tx1"/>
                </a:solidFill>
              </a:rPr>
              <a:t>module</a:t>
            </a:r>
            <a:r>
              <a:rPr lang="ru-RU" altLang="ru-RU" sz="1400" dirty="0">
                <a:solidFill>
                  <a:schemeClr val="tx1"/>
                </a:solidFill>
              </a:rPr>
              <a:t>"&gt; в HTML.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Анализирует зависимости (импорты, импорты импортов и так далее)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Собирает один файл со всеми модулями (или несколько файлов, это можно настроить), перезаписывает встроенный </a:t>
            </a:r>
            <a:r>
              <a:rPr lang="ru-RU" altLang="ru-RU" sz="1400" dirty="0" err="1">
                <a:solidFill>
                  <a:schemeClr val="tx1"/>
                </a:solidFill>
              </a:rPr>
              <a:t>import</a:t>
            </a:r>
            <a:r>
              <a:rPr lang="ru-RU" altLang="ru-RU" sz="1400" dirty="0">
                <a:solidFill>
                  <a:schemeClr val="tx1"/>
                </a:solidFill>
              </a:rPr>
              <a:t> функцией импорта от сборщика, чтобы всё работало. «Специальные» типы модулей, такие как HTML/CSS тоже поддерживаются.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переменных на более короткие и т.д.).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altLang="ru-RU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615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677" y="232346"/>
            <a:ext cx="7674646" cy="504056"/>
          </a:xfrm>
        </p:spPr>
        <p:txBody>
          <a:bodyPr>
            <a:normAutofit/>
          </a:bodyPr>
          <a:lstStyle/>
          <a:p>
            <a:r>
              <a:rPr lang="ru-RU" sz="2400" b="1" dirty="0"/>
              <a:t>Модульность в </a:t>
            </a:r>
            <a:r>
              <a:rPr lang="en-US" sz="2400" b="1" dirty="0"/>
              <a:t>JavaScript</a:t>
            </a:r>
            <a:endParaRPr lang="ru-RU" sz="24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57630" y="699542"/>
            <a:ext cx="7743561" cy="4032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В процессе могут происходить и другие трансформации и оптимизации кода: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Недостижимый код удаляется.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Неиспользуемые экспорты удаляются («</a:t>
            </a:r>
            <a:r>
              <a:rPr lang="ru-RU" altLang="ru-RU" sz="1400" dirty="0" err="1">
                <a:solidFill>
                  <a:schemeClr val="tx1"/>
                </a:solidFill>
              </a:rPr>
              <a:t>tree-shaking</a:t>
            </a:r>
            <a:r>
              <a:rPr lang="ru-RU" altLang="ru-RU" sz="1400" dirty="0">
                <a:solidFill>
                  <a:schemeClr val="tx1"/>
                </a:solidFill>
              </a:rPr>
              <a:t>»).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Специфические операторы для разработки, такие как </a:t>
            </a:r>
            <a:r>
              <a:rPr lang="ru-RU" altLang="ru-RU" sz="1400" dirty="0" err="1">
                <a:solidFill>
                  <a:schemeClr val="tx1"/>
                </a:solidFill>
              </a:rPr>
              <a:t>console</a:t>
            </a:r>
            <a:r>
              <a:rPr lang="ru-RU" altLang="ru-RU" sz="1400" dirty="0">
                <a:solidFill>
                  <a:schemeClr val="tx1"/>
                </a:solidFill>
              </a:rPr>
              <a:t> и </a:t>
            </a:r>
            <a:r>
              <a:rPr lang="ru-RU" altLang="ru-RU" sz="1400" dirty="0" err="1">
                <a:solidFill>
                  <a:schemeClr val="tx1"/>
                </a:solidFill>
              </a:rPr>
              <a:t>debugger</a:t>
            </a:r>
            <a:r>
              <a:rPr lang="ru-RU" altLang="ru-RU" sz="1400" dirty="0">
                <a:solidFill>
                  <a:schemeClr val="tx1"/>
                </a:solidFill>
              </a:rPr>
              <a:t>, удаляются.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Современный синтаксис </a:t>
            </a:r>
            <a:r>
              <a:rPr lang="ru-RU" altLang="ru-RU" sz="1400" dirty="0" err="1">
                <a:solidFill>
                  <a:schemeClr val="tx1"/>
                </a:solidFill>
              </a:rPr>
              <a:t>JavaScript</a:t>
            </a:r>
            <a:r>
              <a:rPr lang="ru-RU" altLang="ru-RU" sz="1400" dirty="0">
                <a:solidFill>
                  <a:schemeClr val="tx1"/>
                </a:solidFill>
              </a:rPr>
              <a:t> также может быть трансформирован в предыдущий стандарт, с похожей функциональностью, например, с помощью </a:t>
            </a:r>
            <a:r>
              <a:rPr lang="ru-RU" altLang="ru-RU" sz="1400" dirty="0" err="1">
                <a:solidFill>
                  <a:schemeClr val="tx1"/>
                </a:solidFill>
              </a:rPr>
              <a:t>Babel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chemeClr val="tx1"/>
                </a:solidFill>
              </a:rPr>
              <a:t>Полученный файл можно минимизировать (удалить пробелы, заменить названия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Если использовать инструменты сборки, то они объединяют модули вместе в один или несколько файлов, и заменяют </a:t>
            </a:r>
            <a:r>
              <a:rPr lang="ru-RU" altLang="ru-RU" sz="1400" dirty="0" err="1">
                <a:solidFill>
                  <a:schemeClr val="tx1"/>
                </a:solidFill>
              </a:rPr>
              <a:t>import</a:t>
            </a:r>
            <a:r>
              <a:rPr lang="ru-RU" altLang="ru-RU" sz="1400" dirty="0">
                <a:solidFill>
                  <a:schemeClr val="tx1"/>
                </a:solidFill>
              </a:rPr>
              <a:t>/</a:t>
            </a:r>
            <a:r>
              <a:rPr lang="ru-RU" altLang="ru-RU" sz="1400" dirty="0" err="1">
                <a:solidFill>
                  <a:schemeClr val="tx1"/>
                </a:solidFill>
              </a:rPr>
              <a:t>export</a:t>
            </a:r>
            <a:r>
              <a:rPr lang="ru-RU" altLang="ru-RU" sz="1400" dirty="0">
                <a:solidFill>
                  <a:schemeClr val="tx1"/>
                </a:solidFill>
              </a:rPr>
              <a:t> на свои вызовы. Поэтому итоговую сборку можно подключать и без атрибута </a:t>
            </a:r>
            <a:r>
              <a:rPr lang="ru-RU" altLang="ru-RU" sz="1400" dirty="0" err="1">
                <a:solidFill>
                  <a:schemeClr val="tx1"/>
                </a:solidFill>
              </a:rPr>
              <a:t>type</a:t>
            </a:r>
            <a:r>
              <a:rPr lang="ru-RU" altLang="ru-RU" sz="1400" dirty="0">
                <a:solidFill>
                  <a:schemeClr val="tx1"/>
                </a:solidFill>
              </a:rPr>
              <a:t>="</a:t>
            </a:r>
            <a:r>
              <a:rPr lang="ru-RU" altLang="ru-RU" sz="1400" dirty="0" err="1">
                <a:solidFill>
                  <a:schemeClr val="tx1"/>
                </a:solidFill>
              </a:rPr>
              <a:t>module</a:t>
            </a:r>
            <a:r>
              <a:rPr lang="ru-RU" altLang="ru-RU" sz="1400" dirty="0">
                <a:solidFill>
                  <a:schemeClr val="tx1"/>
                </a:solidFill>
              </a:rPr>
              <a:t>", как обычный скрипт: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&lt;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script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rgbClr val="92D050"/>
                </a:solidFill>
                <a:latin typeface="Consolas" panose="020B0609020204030204" pitchFamily="49" charset="0"/>
              </a:rPr>
              <a:t>src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="bundle.js"&gt;&lt;/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script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endParaRPr lang="en-US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0910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Получить текущую дату и вывести ее на экран.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Получить текущее время и вывести его на экран.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Получить текущую дату и время в формате "YYYY-MM-DD HH:MM:SS" и вывести его на экран.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Рассчитать количество дней, прошедших с 01.01.2022 до текущего момента.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Рассчитать количество часов, прошедших с 01.01.2022 до текущего момента.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Рассчитать количество месяцев, прошедших с 01.01.2022 до текущего момента.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600" dirty="0"/>
              <a:t>Рассчитать количество лет, прошедших с 01.01.2022 до текущего момента.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>
                <a:solidFill>
                  <a:srgbClr val="FFFF00"/>
                </a:solidFill>
              </a:rPr>
              <a:t>Ознакомиться самостоятельно: </a:t>
            </a:r>
            <a:r>
              <a:rPr lang="en-US" sz="16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https://learn.javascript.ru/import-export</a:t>
            </a:r>
            <a:endParaRPr lang="ru-RU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altLang="ru-RU" sz="1600" dirty="0">
              <a:solidFill>
                <a:schemeClr val="tx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Домашняя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193539245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8863</TotalTime>
  <Words>4941</Words>
  <Application>Microsoft Office PowerPoint</Application>
  <PresentationFormat>Экран (16:9)</PresentationFormat>
  <Paragraphs>432</Paragraphs>
  <Slides>43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50" baseType="lpstr">
      <vt:lpstr>Arial</vt:lpstr>
      <vt:lpstr>BlinkMacSystemFont</vt:lpstr>
      <vt:lpstr>Calibri</vt:lpstr>
      <vt:lpstr>Consolas</vt:lpstr>
      <vt:lpstr>Trebuchet MS</vt:lpstr>
      <vt:lpstr>Wingdings 3</vt:lpstr>
      <vt:lpstr>Аспект</vt:lpstr>
      <vt:lpstr>Встроенные объекты JavaScript (Math, Date и  др.). Замыкания, модульность в JS.  </vt:lpstr>
      <vt:lpstr>Массивы </vt:lpstr>
      <vt:lpstr>Домашнее задание лайфкодинг </vt:lpstr>
      <vt:lpstr>Наши любимые задачки </vt:lpstr>
      <vt:lpstr>Встроенные объекты JavaScript  (Math, Date и др.)</vt:lpstr>
      <vt:lpstr>Встроенные объекты JavaScript (Math, Date и др.).</vt:lpstr>
      <vt:lpstr>Встроенные объекты JavaScript (Math, Date и др.).</vt:lpstr>
      <vt:lpstr>Встроенные объекты JavaScript (Math, Date и др.).</vt:lpstr>
      <vt:lpstr>Встроенные объекты JavaScript (Math, Date и др.).</vt:lpstr>
      <vt:lpstr>Встроенные объекты JavaScript (Math, Date и др.).</vt:lpstr>
      <vt:lpstr>Встроенные объекты JavaScript (Math, Date и др.).</vt:lpstr>
      <vt:lpstr>Встроенные объекты JavaScript (Math, Date и др.).</vt:lpstr>
      <vt:lpstr>Встроенные объекты JavaScript (Math, Date и др.).</vt:lpstr>
      <vt:lpstr>Встроенные объекты JavaScript (Math, Date и др.).</vt:lpstr>
      <vt:lpstr>Встроенные объекты JavaScript (Math, Date и др.).</vt:lpstr>
      <vt:lpstr>Встроенные объекты JavaScript (Math, Date и др.).</vt:lpstr>
      <vt:lpstr>Встроенные объекты JavaScript (Math, Date и др.).</vt:lpstr>
      <vt:lpstr>Встроенные объекты JavaScript (Math, Date и др.).</vt:lpstr>
      <vt:lpstr>Область видимости переменных, замыкание</vt:lpstr>
      <vt:lpstr>Область видимости переменных, замыкание</vt:lpstr>
      <vt:lpstr>Область видимости переменных, замыкание</vt:lpstr>
      <vt:lpstr>Область видимости переменных, замыкание</vt:lpstr>
      <vt:lpstr>Область видимости переменных, замыкание</vt:lpstr>
      <vt:lpstr>Область видимости переменных, замыкание</vt:lpstr>
      <vt:lpstr>Область видимости переменных, замыкание</vt:lpstr>
      <vt:lpstr>Область видимости переменных, замыкание</vt:lpstr>
      <vt:lpstr>Область видимости переменных, замыкание</vt:lpstr>
      <vt:lpstr>Область видимости переменных, замыкание</vt:lpstr>
      <vt:lpstr>Область видимости переменных, замыкание</vt:lpstr>
      <vt:lpstr>Область видимости переменных, замыкание</vt:lpstr>
      <vt:lpstr>Область видимости переменных, замыкание</vt:lpstr>
      <vt:lpstr>Наши любимые задачки </vt:lpstr>
      <vt:lpstr>Наши любимые задачки </vt:lpstr>
      <vt:lpstr>Модульность в JavaScript</vt:lpstr>
      <vt:lpstr>Модульность в JavaScript</vt:lpstr>
      <vt:lpstr>Модульность в JavaScript</vt:lpstr>
      <vt:lpstr>Модульность в JavaScript</vt:lpstr>
      <vt:lpstr>Модульность в JavaScript</vt:lpstr>
      <vt:lpstr>Модульность в JavaScript</vt:lpstr>
      <vt:lpstr>Модульность в JavaScript</vt:lpstr>
      <vt:lpstr>Модульность в JavaScript</vt:lpstr>
      <vt:lpstr>Модульность в JavaScript</vt:lpstr>
      <vt:lpstr>Домашняя работа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JavaScript</dc:title>
  <dc:creator>БушмелеваЕА</dc:creator>
  <cp:lastModifiedBy>Mikhail Matveichuk</cp:lastModifiedBy>
  <cp:revision>378</cp:revision>
  <dcterms:created xsi:type="dcterms:W3CDTF">2021-11-26T04:54:28Z</dcterms:created>
  <dcterms:modified xsi:type="dcterms:W3CDTF">2024-12-06T11:14:53Z</dcterms:modified>
</cp:coreProperties>
</file>