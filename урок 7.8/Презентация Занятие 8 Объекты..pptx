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5">
  <p:sldMasterIdLst>
    <p:sldMasterId id="2147483727" r:id="rId1"/>
  </p:sldMasterIdLst>
  <p:notesMasterIdLst>
    <p:notesMasterId r:id="rId30"/>
  </p:notesMasterIdLst>
  <p:sldIdLst>
    <p:sldId id="388" r:id="rId2"/>
    <p:sldId id="367" r:id="rId3"/>
    <p:sldId id="481" r:id="rId4"/>
    <p:sldId id="482" r:id="rId5"/>
    <p:sldId id="483" r:id="rId6"/>
    <p:sldId id="484" r:id="rId7"/>
    <p:sldId id="485" r:id="rId8"/>
    <p:sldId id="486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496" r:id="rId19"/>
    <p:sldId id="456" r:id="rId20"/>
    <p:sldId id="431" r:id="rId21"/>
    <p:sldId id="497" r:id="rId22"/>
    <p:sldId id="457" r:id="rId23"/>
    <p:sldId id="498" r:id="rId24"/>
    <p:sldId id="499" r:id="rId25"/>
    <p:sldId id="502" r:id="rId26"/>
    <p:sldId id="501" r:id="rId27"/>
    <p:sldId id="500" r:id="rId28"/>
    <p:sldId id="50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269" autoAdjust="0"/>
  </p:normalViewPr>
  <p:slideViewPr>
    <p:cSldViewPr>
      <p:cViewPr varScale="1">
        <p:scale>
          <a:sx n="151" d="100"/>
          <a:sy n="151" d="100"/>
        </p:scale>
        <p:origin x="336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2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616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708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29.10.2024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59832" y="2139702"/>
            <a:ext cx="2592288" cy="648072"/>
          </a:xfrm>
        </p:spPr>
        <p:txBody>
          <a:bodyPr anchor="t"/>
          <a:lstStyle/>
          <a:p>
            <a:pPr algn="ctr"/>
            <a:r>
              <a:rPr lang="ru-RU" sz="4000" dirty="0"/>
              <a:t>Объекты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В </a:t>
            </a:r>
            <a:r>
              <a:rPr lang="ru-RU" sz="1500" dirty="0" err="1"/>
              <a:t>JavaScript</a:t>
            </a:r>
            <a:r>
              <a:rPr lang="ru-RU" sz="1500" dirty="0"/>
              <a:t> существует </a:t>
            </a:r>
            <a:r>
              <a:rPr lang="ru-RU" sz="1500" dirty="0">
                <a:solidFill>
                  <a:srgbClr val="FFFF00"/>
                </a:solidFill>
              </a:rPr>
              <a:t>8 типов данных</a:t>
            </a:r>
            <a:r>
              <a:rPr lang="ru-RU" sz="1500" dirty="0"/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Семь из них называются «</a:t>
            </a:r>
            <a:r>
              <a:rPr lang="ru-RU" sz="1500" dirty="0">
                <a:solidFill>
                  <a:srgbClr val="FFFF00"/>
                </a:solidFill>
              </a:rPr>
              <a:t>примитивными</a:t>
            </a:r>
            <a:r>
              <a:rPr lang="ru-RU" sz="1500" dirty="0"/>
              <a:t>», так как содержат только одно значение (будь то строка, число или что-то другое).</a:t>
            </a:r>
            <a:br>
              <a:rPr lang="ru-RU" sz="1500" dirty="0"/>
            </a:br>
            <a:r>
              <a:rPr lang="ru-RU" sz="1500" dirty="0"/>
              <a:t>Объекты же используются для хранения коллекций различных значений и более сложных сущностей. В </a:t>
            </a:r>
            <a:r>
              <a:rPr lang="ru-RU" sz="1500" dirty="0" err="1"/>
              <a:t>JavaScript</a:t>
            </a:r>
            <a:r>
              <a:rPr lang="ru-RU" sz="1500" dirty="0"/>
              <a:t> объекты используются очень часто, это одна из основ языка. </a:t>
            </a:r>
            <a:br>
              <a:rPr lang="ru-RU" sz="1500" dirty="0"/>
            </a:br>
            <a:r>
              <a:rPr lang="ru-RU" sz="1500" dirty="0"/>
              <a:t>Объект может быть создан с помощью фигурных скобок </a:t>
            </a:r>
            <a:r>
              <a:rPr lang="ru-RU" sz="1500" dirty="0">
                <a:solidFill>
                  <a:srgbClr val="FFFF00"/>
                </a:solidFill>
              </a:rPr>
              <a:t>{…}</a:t>
            </a:r>
            <a:r>
              <a:rPr lang="ru-RU" sz="1500" dirty="0"/>
              <a:t> с необязательным списком свойств. </a:t>
            </a:r>
            <a:r>
              <a:rPr lang="ru-RU" sz="1500" dirty="0">
                <a:solidFill>
                  <a:srgbClr val="FFFF00"/>
                </a:solidFill>
              </a:rPr>
              <a:t>Свойство</a:t>
            </a:r>
            <a:r>
              <a:rPr lang="ru-RU" sz="1500" dirty="0"/>
              <a:t> – это пара </a:t>
            </a:r>
            <a:r>
              <a:rPr lang="ru-RU" sz="1500" dirty="0">
                <a:solidFill>
                  <a:srgbClr val="FFFF00"/>
                </a:solidFill>
              </a:rPr>
              <a:t>«ключ: значение»</a:t>
            </a:r>
            <a:r>
              <a:rPr lang="ru-RU" sz="1500" dirty="0">
                <a:solidFill>
                  <a:schemeClr val="tx1"/>
                </a:solidFill>
              </a:rPr>
              <a:t>,</a:t>
            </a:r>
            <a:r>
              <a:rPr lang="ru-RU" sz="1500" dirty="0">
                <a:solidFill>
                  <a:srgbClr val="FFFF00"/>
                </a:solidFill>
              </a:rPr>
              <a:t> </a:t>
            </a:r>
            <a:r>
              <a:rPr lang="ru-RU" sz="1500" dirty="0"/>
              <a:t>где ключ – это строка (также называемая </a:t>
            </a:r>
            <a:r>
              <a:rPr lang="ru-RU" sz="1500" dirty="0">
                <a:solidFill>
                  <a:srgbClr val="FFFF00"/>
                </a:solidFill>
              </a:rPr>
              <a:t>«именем свойства»</a:t>
            </a:r>
            <a:r>
              <a:rPr lang="ru-RU" sz="1500" dirty="0">
                <a:solidFill>
                  <a:schemeClr val="tx1"/>
                </a:solidFill>
              </a:rPr>
              <a:t>),</a:t>
            </a:r>
            <a:r>
              <a:rPr lang="ru-RU" sz="1500" dirty="0">
                <a:solidFill>
                  <a:srgbClr val="FFFF00"/>
                </a:solidFill>
              </a:rPr>
              <a:t> </a:t>
            </a:r>
            <a:r>
              <a:rPr lang="ru-RU" sz="1500" dirty="0"/>
              <a:t>а значение может быть чем угодно.</a:t>
            </a:r>
            <a:br>
              <a:rPr lang="ru-RU" sz="1500" dirty="0"/>
            </a:br>
            <a:r>
              <a:rPr lang="ru-RU" sz="1500" dirty="0"/>
              <a:t>Мы можем представить объект в виде ящика с подписанными папками. Каждый элемент данных хранится в своей папке, на которой написан ключ. По ключу папку легко найти, удалить или добавить в неё что-либо.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Пустой объект («пустой ящик») можно создать, используя один из двух вариантов синтаксиса: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new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синтаксис "конструктор объекта"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{};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 // синтаксис "литерал объекта. Он используется чаще"</a:t>
            </a: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Литералы и свойства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BlinkMacSystemFont"/>
              </a:rPr>
              <a:t>При использовании литерального синтаксиса 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{...}</a:t>
            </a:r>
            <a:r>
              <a:rPr lang="ru-RU" altLang="ru-RU" sz="1500" dirty="0">
                <a:solidFill>
                  <a:schemeClr val="tx1"/>
                </a:solidFill>
                <a:latin typeface="BlinkMacSystemFont"/>
              </a:rPr>
              <a:t> мы сразу можем поместить в объект несколько свойств в виде пар «ключ: значение»: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    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объект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5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 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под ключом "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name"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хранится значение "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John"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   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под ключом "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age"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хранится значение 30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У каждого свойства есть ключ (также называемый </a:t>
            </a:r>
            <a:r>
              <a:rPr lang="ru-RU" altLang="ru-RU" sz="1500" dirty="0">
                <a:solidFill>
                  <a:srgbClr val="FFFF00"/>
                </a:solidFill>
              </a:rPr>
              <a:t>«имя» </a:t>
            </a:r>
            <a:r>
              <a:rPr lang="ru-RU" altLang="ru-RU" sz="1500" dirty="0">
                <a:solidFill>
                  <a:schemeClr val="tx1"/>
                </a:solidFill>
              </a:rPr>
              <a:t>или «идентификатор»). После имени свойства следует двоеточие </a:t>
            </a:r>
            <a:r>
              <a:rPr lang="ru-RU" altLang="ru-RU" sz="1500" dirty="0">
                <a:solidFill>
                  <a:srgbClr val="FFFF00"/>
                </a:solidFill>
              </a:rPr>
              <a:t>":"</a:t>
            </a:r>
            <a:r>
              <a:rPr lang="ru-RU" altLang="ru-RU" sz="1500" dirty="0">
                <a:solidFill>
                  <a:schemeClr val="tx1"/>
                </a:solidFill>
              </a:rPr>
              <a:t>, и затем указывается значение свойства. Если в объекте несколько свойств, то они перечисляются через запятую.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 объекте 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 сейчас находятся два свойства: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Первое свойство с именем "</a:t>
            </a:r>
            <a:r>
              <a:rPr lang="ru-RU" altLang="ru-RU" sz="1500" dirty="0" err="1">
                <a:solidFill>
                  <a:schemeClr val="tx1"/>
                </a:solidFill>
              </a:rPr>
              <a:t>name</a:t>
            </a:r>
            <a:r>
              <a:rPr lang="ru-RU" altLang="ru-RU" sz="1500" dirty="0">
                <a:solidFill>
                  <a:schemeClr val="tx1"/>
                </a:solidFill>
              </a:rPr>
              <a:t>" и значением "</a:t>
            </a:r>
            <a:r>
              <a:rPr lang="ru-RU" altLang="ru-RU" sz="1500" dirty="0" err="1">
                <a:solidFill>
                  <a:schemeClr val="tx1"/>
                </a:solidFill>
              </a:rPr>
              <a:t>John</a:t>
            </a:r>
            <a:r>
              <a:rPr lang="ru-RU" altLang="ru-RU" sz="1500" dirty="0">
                <a:solidFill>
                  <a:schemeClr val="tx1"/>
                </a:solidFill>
              </a:rPr>
              <a:t>".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Второе свойство с именем "</a:t>
            </a:r>
            <a:r>
              <a:rPr lang="ru-RU" altLang="ru-RU" sz="1500" dirty="0" err="1">
                <a:solidFill>
                  <a:schemeClr val="tx1"/>
                </a:solidFill>
              </a:rPr>
              <a:t>age</a:t>
            </a:r>
            <a:r>
              <a:rPr lang="ru-RU" altLang="ru-RU" sz="1500" dirty="0">
                <a:solidFill>
                  <a:schemeClr val="tx1"/>
                </a:solidFill>
              </a:rPr>
              <a:t>" и значением 30.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Можно сказать, что наш объект 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 – это ящик с двумя папками, подписанными «</a:t>
            </a:r>
            <a:r>
              <a:rPr lang="ru-RU" altLang="ru-RU" sz="1500" dirty="0" err="1">
                <a:solidFill>
                  <a:schemeClr val="tx1"/>
                </a:solidFill>
              </a:rPr>
              <a:t>name</a:t>
            </a:r>
            <a:r>
              <a:rPr lang="ru-RU" altLang="ru-RU" sz="1500" dirty="0">
                <a:solidFill>
                  <a:schemeClr val="tx1"/>
                </a:solidFill>
              </a:rPr>
              <a:t>» и «</a:t>
            </a:r>
            <a:r>
              <a:rPr lang="ru-RU" altLang="ru-RU" sz="1500" dirty="0" err="1">
                <a:solidFill>
                  <a:schemeClr val="tx1"/>
                </a:solidFill>
              </a:rPr>
              <a:t>age</a:t>
            </a:r>
            <a:r>
              <a:rPr lang="ru-RU" altLang="ru-RU" sz="1500" dirty="0">
                <a:solidFill>
                  <a:schemeClr val="tx1"/>
                </a:solidFill>
              </a:rPr>
              <a:t>». </a:t>
            </a:r>
            <a:r>
              <a:rPr lang="ru-RU" sz="1500" dirty="0"/>
              <a:t>Мы можем в любой момент добавить в него новые папки, удалить папки или прочитать содержимое любой папки.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55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Литералы и свойства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Для обращения к свойствам используется запись «через точку»: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// получаем свойства объекта: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user.name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John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user.age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30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/>
              <a:t>Значение может быть любого типа. </a:t>
            </a:r>
            <a:r>
              <a:rPr lang="ru-RU" altLang="ru-RU" sz="1500" dirty="0" err="1">
                <a:solidFill>
                  <a:srgbClr val="F8F8F2"/>
                </a:solidFill>
                <a:latin typeface="Consolas" panose="020B0609020204030204" pitchFamily="49" charset="0"/>
              </a:rPr>
              <a:t>user.isAdmin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rgbClr val="F8F8F2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500" dirty="0">
                <a:solidFill>
                  <a:srgbClr val="F8F8F2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Для удаления свойства мы можем использовать оператор 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delete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delete</a:t>
            </a:r>
            <a:r>
              <a:rPr lang="en-US" altLang="ru-RU" sz="1500" dirty="0">
                <a:solidFill>
                  <a:schemeClr val="tx1"/>
                </a:solidFill>
              </a:rPr>
              <a:t> </a:t>
            </a:r>
            <a:r>
              <a:rPr lang="en-US" altLang="ru-RU" sz="1500" dirty="0" err="1">
                <a:solidFill>
                  <a:schemeClr val="tx1"/>
                </a:solidFill>
              </a:rPr>
              <a:t>user.age</a:t>
            </a:r>
            <a:r>
              <a:rPr lang="en-US" altLang="ru-RU" sz="1500" dirty="0">
                <a:solidFill>
                  <a:schemeClr val="tx1"/>
                </a:solidFill>
              </a:rPr>
              <a:t>;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Имя свойства может состоять из нескольких слов, но тогда оно должно быть заключено в кавычки: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age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"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likes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birds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":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// имя свойства из нескольких слов должно быть в кавычках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80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Литералы и свойства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Последнее свойство объекта может заканчиваться запятой: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500" dirty="0">
                <a:latin typeface="Consolas" panose="020B0609020204030204" pitchFamily="49" charset="0"/>
              </a:rPr>
              <a:t> </a:t>
            </a:r>
            <a:r>
              <a:rPr lang="ru-RU" sz="1500" dirty="0" err="1">
                <a:latin typeface="Consolas" panose="020B0609020204030204" pitchFamily="49" charset="0"/>
              </a:rPr>
              <a:t>user</a:t>
            </a:r>
            <a:r>
              <a:rPr lang="ru-RU" sz="1500" dirty="0">
                <a:latin typeface="Consolas" panose="020B0609020204030204" pitchFamily="49" charset="0"/>
              </a:rPr>
              <a:t>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latin typeface="Consolas" panose="020B0609020204030204" pitchFamily="49" charset="0"/>
              </a:rPr>
              <a:t>  </a:t>
            </a:r>
            <a:r>
              <a:rPr lang="ru-RU" sz="1500" dirty="0" err="1">
                <a:latin typeface="Consolas" panose="020B0609020204030204" pitchFamily="49" charset="0"/>
              </a:rPr>
              <a:t>name</a:t>
            </a:r>
            <a:r>
              <a:rPr lang="ru-RU" sz="1500" dirty="0">
                <a:latin typeface="Consolas" panose="020B0609020204030204" pitchFamily="49" charset="0"/>
              </a:rPr>
              <a:t>: 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500" dirty="0">
                <a:latin typeface="Consolas" panose="020B0609020204030204" pitchFamily="49" charset="0"/>
              </a:rPr>
              <a:t>  </a:t>
            </a:r>
            <a:r>
              <a:rPr lang="ru-RU" sz="1500" dirty="0" err="1">
                <a:latin typeface="Consolas" panose="020B0609020204030204" pitchFamily="49" charset="0"/>
              </a:rPr>
              <a:t>age</a:t>
            </a:r>
            <a:r>
              <a:rPr lang="ru-RU" sz="1500" dirty="0">
                <a:latin typeface="Consolas" panose="020B0609020204030204" pitchFamily="49" charset="0"/>
              </a:rPr>
              <a:t>: </a:t>
            </a:r>
            <a:r>
              <a:rPr 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ru-RU" sz="1500" dirty="0"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latin typeface="Consolas" panose="020B0609020204030204" pitchFamily="49" charset="0"/>
              </a:rPr>
              <a:t>}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Это называется </a:t>
            </a:r>
            <a:r>
              <a:rPr lang="ru-RU" sz="1500" dirty="0">
                <a:solidFill>
                  <a:srgbClr val="FFFF00"/>
                </a:solidFill>
              </a:rPr>
              <a:t>«висячая запятая»</a:t>
            </a:r>
            <a:r>
              <a:rPr lang="ru-RU" sz="1500" dirty="0"/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  <a:latin typeface="BlinkMacSystemFont"/>
              </a:rPr>
              <a:t>Объект, объявленный как константа, может быть изменён</a:t>
            </a:r>
            <a:endParaRPr lang="ru-RU" altLang="ru-RU" sz="15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  <a:latin typeface="BlinkMacSystemFont"/>
              </a:rPr>
              <a:t>Объект, объявленный через 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const</a:t>
            </a:r>
            <a:r>
              <a:rPr lang="ru-RU" altLang="ru-RU" sz="1500" dirty="0">
                <a:solidFill>
                  <a:srgbClr val="E2E3E7"/>
                </a:solidFill>
                <a:latin typeface="BlinkMacSystemFont"/>
              </a:rPr>
              <a:t>, </a:t>
            </a:r>
            <a:r>
              <a:rPr lang="ru-RU" altLang="ru-RU" sz="1500" i="1" dirty="0">
                <a:solidFill>
                  <a:srgbClr val="E2E3E7"/>
                </a:solidFill>
                <a:latin typeface="BlinkMacSystemFont"/>
              </a:rPr>
              <a:t>может</a:t>
            </a:r>
            <a:r>
              <a:rPr lang="ru-RU" altLang="ru-RU" sz="1500" dirty="0">
                <a:solidFill>
                  <a:srgbClr val="E2E3E7"/>
                </a:solidFill>
                <a:latin typeface="BlinkMacSystemFont"/>
              </a:rPr>
              <a:t> быть изменён.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  <a:latin typeface="BlinkMacSystemFont"/>
              </a:rPr>
              <a:t>Например:</a:t>
            </a:r>
            <a:endParaRPr lang="ru-RU" altLang="ru-RU" sz="15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user.name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"Pete"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(*)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здесь не будет ошибки</a:t>
            </a: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Pete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97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Квадратные скобки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>
                <a:solidFill>
                  <a:schemeClr val="tx1"/>
                </a:solidFill>
              </a:rPr>
              <a:t>Для свойств, имена которых состоят из нескольких слов, доступ к значению «через точку» не работает: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// это вызовет синтаксическую ошибку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</a:t>
            </a:r>
            <a:r>
              <a:rPr lang="ru-RU" altLang="ru-RU" sz="1500" dirty="0" err="1">
                <a:solidFill>
                  <a:srgbClr val="92D050"/>
                </a:solidFill>
                <a:latin typeface="Consolas" panose="020B0609020204030204" pitchFamily="49" charset="0"/>
              </a:rPr>
              <a:t>likes</a:t>
            </a:r>
            <a:r>
              <a:rPr lang="ru-RU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rgbClr val="92D050"/>
                </a:solidFill>
                <a:latin typeface="Consolas" panose="020B0609020204030204" pitchFamily="49" charset="0"/>
              </a:rPr>
              <a:t>birds</a:t>
            </a:r>
            <a:r>
              <a:rPr lang="ru-RU" altLang="ru-RU" sz="1500" dirty="0">
                <a:solidFill>
                  <a:srgbClr val="92D05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true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tx1"/>
                </a:solidFill>
              </a:rPr>
              <a:t>JavaScript</a:t>
            </a:r>
            <a:r>
              <a:rPr lang="ru-RU" altLang="ru-RU" sz="1500" dirty="0">
                <a:solidFill>
                  <a:schemeClr val="tx1"/>
                </a:solidFill>
              </a:rPr>
              <a:t> видит, что мы обращаемся к свойству </a:t>
            </a:r>
            <a:r>
              <a:rPr lang="ru-RU" altLang="ru-RU" sz="1500" dirty="0" err="1">
                <a:solidFill>
                  <a:schemeClr val="tx1"/>
                </a:solidFill>
              </a:rPr>
              <a:t>user.likes</a:t>
            </a:r>
            <a:r>
              <a:rPr lang="ru-RU" altLang="ru-RU" sz="1500" dirty="0">
                <a:solidFill>
                  <a:schemeClr val="tx1"/>
                </a:solidFill>
              </a:rPr>
              <a:t>, а затем идёт непонятное слово </a:t>
            </a:r>
            <a:r>
              <a:rPr lang="ru-RU" altLang="ru-RU" sz="1500" dirty="0" err="1">
                <a:solidFill>
                  <a:schemeClr val="tx1"/>
                </a:solidFill>
              </a:rPr>
              <a:t>birds</a:t>
            </a:r>
            <a:r>
              <a:rPr lang="ru-RU" altLang="ru-RU" sz="1500" dirty="0">
                <a:solidFill>
                  <a:schemeClr val="tx1"/>
                </a:solidFill>
              </a:rPr>
              <a:t>. В итоге синтаксическая ошибка.</a:t>
            </a:r>
          </a:p>
          <a:p>
            <a:pPr marL="0" lvl="0" indent="0" defTabSz="914400" eaLnBrk="0" fontAlgn="base" hangingPunct="0">
              <a:spcBef>
                <a:spcPts val="60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Альтернативный способ доступа к свойства: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{};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присваивание значения свойству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user["likes birds"] = true;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получение значения свойства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(user["likes birds"]);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удаление свойства</a:t>
            </a: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delete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user["likes birds"];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500" dirty="0">
                <a:solidFill>
                  <a:srgbClr val="FFFF00"/>
                </a:solidFill>
              </a:rPr>
              <a:t>Обратите внимание, что строка в квадратных скобках заключена в кавычки.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41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Квадратные скобки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Квадратные скобки также позволяют обратиться к свойству, имя которого может быть результатом выражения. Например, имя свойства может храниться в переменной: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"likes birds"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то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же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самое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что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и user["likes birds"] = true;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user[key] = true;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  <a:latin typeface="BlinkMacSystemFont"/>
              </a:rPr>
              <a:t>Здесь переменная 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400" dirty="0">
                <a:solidFill>
                  <a:srgbClr val="E2E3E7"/>
                </a:solidFill>
                <a:latin typeface="BlinkMacSystemFont"/>
              </a:rPr>
              <a:t> может быть вычислена во время выполнения кода или зависеть от пользовательского ввода. После этого мы использоваться для доступа к свойству.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endParaRPr lang="ru-RU" altLang="ru-RU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Пример: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age: 30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=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prompt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Что вы хотите узнать о пользователе?",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name"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доступ к свойству через переменную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user[key]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John 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если ввели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name")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5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730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Квадратные скобки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Запись «через точку» такого не позволяет: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"name"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user.key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undefined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Вычисляемые свойства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Можно использовать квадратные скобки в литеральной нотации для создания вычисляемого свойства.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fruit =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prompt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Какой фрукт купить?",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apple"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bag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[fruit]: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 5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имя свойства будет взято из переменной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fruit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bag.apple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5,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если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fruit="apple«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Смысл вычисляемого свойства прост: запись</a:t>
            </a:r>
            <a:r>
              <a:rPr lang="ru-RU" altLang="ru-RU" sz="1400" dirty="0">
                <a:solidFill>
                  <a:srgbClr val="FFFF00"/>
                </a:solidFill>
              </a:rPr>
              <a:t> [</a:t>
            </a:r>
            <a:r>
              <a:rPr lang="ru-RU" altLang="ru-RU" sz="1400" dirty="0" err="1">
                <a:solidFill>
                  <a:srgbClr val="FFFF00"/>
                </a:solidFill>
              </a:rPr>
              <a:t>fruit</a:t>
            </a:r>
            <a:r>
              <a:rPr lang="ru-RU" altLang="ru-RU" sz="1400" dirty="0">
                <a:solidFill>
                  <a:srgbClr val="FFFF00"/>
                </a:solidFill>
              </a:rPr>
              <a:t>] </a:t>
            </a:r>
            <a:r>
              <a:rPr lang="ru-RU" altLang="ru-RU" sz="1400" dirty="0">
                <a:solidFill>
                  <a:srgbClr val="E2E3E7"/>
                </a:solidFill>
              </a:rPr>
              <a:t>означает, что имя свойства необходимо взять из переменной </a:t>
            </a:r>
            <a:r>
              <a:rPr lang="ru-RU" altLang="ru-RU" sz="1400" dirty="0" err="1">
                <a:solidFill>
                  <a:srgbClr val="FFFF00"/>
                </a:solidFill>
              </a:rPr>
              <a:t>fruit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  <a:r>
              <a:rPr lang="ru-RU" altLang="ru-RU" sz="700" dirty="0">
                <a:solidFill>
                  <a:schemeClr val="tx1"/>
                </a:solidFill>
              </a:rPr>
              <a:t> </a:t>
            </a:r>
            <a:endParaRPr lang="ru-RU" altLang="ru-RU" sz="20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84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b="1" dirty="0">
                <a:solidFill>
                  <a:srgbClr val="FFFF00"/>
                </a:solidFill>
              </a:rPr>
              <a:t>Свойство из переменной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В реальном коде часто необходимо использовать существующие переменные как значения для свойств с тем же именем.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Например: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makeUser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(name, age)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name: name,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age: age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makeUser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John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Вместо 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name:name</a:t>
            </a:r>
            <a:r>
              <a:rPr lang="ru-RU" altLang="ru-RU" sz="1400" dirty="0">
                <a:solidFill>
                  <a:srgbClr val="FFFF00"/>
                </a:solidFill>
                <a:latin typeface="BlinkMacSystemFont"/>
              </a:rPr>
              <a:t> 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мы можем написать просто 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: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makeUser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name, age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name, age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dirty="0"/>
              <a:t>Мы можем использовать как обычные свойства, так и короткие в одном и том же объекте.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2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Ограничения на имена свойств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Как мы уже знаем, имя переменной не может совпадать с зарезервированными словами, такими как </a:t>
            </a:r>
            <a:r>
              <a:rPr lang="ru-RU" altLang="ru-RU" sz="1600" dirty="0">
                <a:solidFill>
                  <a:srgbClr val="FFFF00"/>
                </a:solidFill>
              </a:rPr>
              <a:t>«</a:t>
            </a:r>
            <a:r>
              <a:rPr lang="ru-RU" altLang="ru-RU" sz="1600" dirty="0" err="1">
                <a:solidFill>
                  <a:srgbClr val="FFFF00"/>
                </a:solidFill>
              </a:rPr>
              <a:t>for</a:t>
            </a:r>
            <a:r>
              <a:rPr lang="ru-RU" altLang="ru-RU" sz="1600" dirty="0">
                <a:solidFill>
                  <a:srgbClr val="FFFF00"/>
                </a:solidFill>
              </a:rPr>
              <a:t>»</a:t>
            </a:r>
            <a:r>
              <a:rPr lang="ru-RU" altLang="ru-RU" sz="1600" dirty="0">
                <a:solidFill>
                  <a:schemeClr val="tx1"/>
                </a:solidFill>
              </a:rPr>
              <a:t>, </a:t>
            </a:r>
            <a:r>
              <a:rPr lang="ru-RU" altLang="ru-RU" sz="1600" dirty="0">
                <a:solidFill>
                  <a:srgbClr val="FFFF00"/>
                </a:solidFill>
              </a:rPr>
              <a:t>«</a:t>
            </a:r>
            <a:r>
              <a:rPr lang="ru-RU" altLang="ru-RU" sz="1600" dirty="0" err="1">
                <a:solidFill>
                  <a:srgbClr val="FFFF00"/>
                </a:solidFill>
              </a:rPr>
              <a:t>let</a:t>
            </a:r>
            <a:r>
              <a:rPr lang="ru-RU" altLang="ru-RU" sz="1600" dirty="0">
                <a:solidFill>
                  <a:srgbClr val="FFFF00"/>
                </a:solidFill>
              </a:rPr>
              <a:t>»</a:t>
            </a:r>
            <a:r>
              <a:rPr lang="ru-RU" altLang="ru-RU" sz="1600" dirty="0">
                <a:solidFill>
                  <a:schemeClr val="tx1"/>
                </a:solidFill>
              </a:rPr>
              <a:t>,</a:t>
            </a:r>
            <a:r>
              <a:rPr lang="ru-RU" altLang="ru-RU" sz="1600" dirty="0">
                <a:solidFill>
                  <a:srgbClr val="FFFF00"/>
                </a:solidFill>
              </a:rPr>
              <a:t> «</a:t>
            </a:r>
            <a:r>
              <a:rPr lang="ru-RU" altLang="ru-RU" sz="1600" dirty="0" err="1">
                <a:solidFill>
                  <a:srgbClr val="FFFF00"/>
                </a:solidFill>
              </a:rPr>
              <a:t>return</a:t>
            </a:r>
            <a:r>
              <a:rPr lang="ru-RU" altLang="ru-RU" sz="1600" dirty="0">
                <a:solidFill>
                  <a:srgbClr val="FFFF00"/>
                </a:solidFill>
              </a:rPr>
              <a:t>» и т.д.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Но для свойств объекта такого ограничения нет: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эти имена свойств допустимы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obj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for: 1,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let: 2,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return: 3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obj.for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obj.let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obj.return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); 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6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600" dirty="0"/>
              <a:t>Нет никаких ограничений к именам свойств. Они могут быть в виде строк или символов (специальный тип для идентификаторов, который будет рассмотрен позже).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6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Ограничения на имена свойств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Все другие типы данных будут автоматически преобразованы к строке.</a:t>
            </a:r>
            <a:endParaRPr lang="ru-RU" altLang="ru-RU" sz="1600" b="1" dirty="0">
              <a:solidFill>
                <a:srgbClr val="FFFF0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0: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"Тест" // то же самое что и "0": "Тест"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обе функции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выведут одно и то же свойство (число 0 преобразуется в строку "0")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"0"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]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Тест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[0]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Тест (то же свойство)</a:t>
            </a:r>
          </a:p>
        </p:txBody>
      </p:sp>
    </p:spTree>
    <p:extLst>
      <p:ext uri="{BB962C8B-B14F-4D97-AF65-F5344CB8AC3E}">
        <p14:creationId xmlns:p14="http://schemas.microsoft.com/office/powerpoint/2010/main" val="297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Проверка существования свойства, оператор «</a:t>
            </a:r>
            <a:r>
              <a:rPr lang="ru-RU" altLang="ru-RU" sz="1600" b="1" dirty="0" err="1">
                <a:solidFill>
                  <a:srgbClr val="FFFF00"/>
                </a:solidFill>
              </a:rPr>
              <a:t>in</a:t>
            </a:r>
            <a:r>
              <a:rPr lang="ru-RU" altLang="ru-RU" sz="1600" b="1" dirty="0">
                <a:solidFill>
                  <a:srgbClr val="FFFF00"/>
                </a:solidFill>
              </a:rPr>
              <a:t>»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В отличие от многих других языков, особенность </a:t>
            </a:r>
            <a:r>
              <a:rPr lang="ru-RU" sz="1400" dirty="0" err="1">
                <a:solidFill>
                  <a:schemeClr val="tx1"/>
                </a:solidFill>
              </a:rPr>
              <a:t>JavaScript</a:t>
            </a:r>
            <a:r>
              <a:rPr lang="ru-RU" sz="1400" dirty="0">
                <a:solidFill>
                  <a:schemeClr val="tx1"/>
                </a:solidFill>
              </a:rPr>
              <a:t>-объектов в том, что можно получить доступ к любому свойству. Даже если свойства не существует – </a:t>
            </a:r>
            <a:r>
              <a:rPr lang="ru-RU" sz="1400" dirty="0">
                <a:solidFill>
                  <a:srgbClr val="FFFF00"/>
                </a:solidFill>
              </a:rPr>
              <a:t>ошибки не будет</a:t>
            </a:r>
            <a:r>
              <a:rPr lang="ru-RU" sz="1400" dirty="0">
                <a:solidFill>
                  <a:schemeClr val="tx1"/>
                </a:solidFill>
              </a:rPr>
              <a:t>!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При обращении к свойству, которого нет, возвращается </a:t>
            </a:r>
            <a:r>
              <a:rPr lang="ru-RU" altLang="ru-RU" sz="1400" dirty="0" err="1">
                <a:solidFill>
                  <a:srgbClr val="FFFF00"/>
                </a:solidFill>
              </a:rPr>
              <a:t>undefined</a:t>
            </a:r>
            <a:r>
              <a:rPr lang="ru-RU" altLang="ru-RU" sz="1400" dirty="0">
                <a:solidFill>
                  <a:srgbClr val="E2E3E7"/>
                </a:solidFill>
              </a:rPr>
              <a:t>. Это позволяет просто проверить существование свойства: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user.noSuchProperty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=== undefined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означает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свойства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нет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«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Также существует специальный оператор </a:t>
            </a:r>
            <a:r>
              <a:rPr lang="ru-RU" altLang="ru-RU" sz="1400" dirty="0">
                <a:solidFill>
                  <a:srgbClr val="FFFF00"/>
                </a:solidFill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</a:rPr>
              <a:t>in</a:t>
            </a:r>
            <a:r>
              <a:rPr lang="ru-RU" altLang="ru-RU" sz="1400" dirty="0">
                <a:solidFill>
                  <a:srgbClr val="FFFF00"/>
                </a:solidFill>
              </a:rPr>
              <a:t>" </a:t>
            </a:r>
            <a:r>
              <a:rPr lang="ru-RU" altLang="ru-RU" sz="1400" dirty="0">
                <a:solidFill>
                  <a:srgbClr val="E2E3E7"/>
                </a:solidFill>
              </a:rPr>
              <a:t>для проверки существования свойства в объекте.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ts val="60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Синтаксис оператора: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Пример: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age: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"age"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user.age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существует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blabla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false,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user.blabla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не существует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24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FFFF00"/>
                </a:solidFill>
              </a:rPr>
              <a:t>Проверка существования свойства, оператор «</a:t>
            </a:r>
            <a:r>
              <a:rPr lang="ru-RU" altLang="ru-RU" sz="1600" b="1" dirty="0" err="1">
                <a:solidFill>
                  <a:srgbClr val="FFFF00"/>
                </a:solidFill>
              </a:rPr>
              <a:t>in</a:t>
            </a:r>
            <a:r>
              <a:rPr lang="ru-RU" altLang="ru-RU" sz="1600" b="1" dirty="0">
                <a:solidFill>
                  <a:srgbClr val="FFFF00"/>
                </a:solidFill>
              </a:rPr>
              <a:t>»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Слева от оператора </a:t>
            </a:r>
            <a:r>
              <a:rPr lang="ru-RU" altLang="ru-RU" sz="1400" dirty="0" err="1">
                <a:solidFill>
                  <a:srgbClr val="FFFF00"/>
                </a:solidFill>
              </a:rPr>
              <a:t>in</a:t>
            </a:r>
            <a:r>
              <a:rPr lang="ru-RU" altLang="ru-RU" sz="1400" dirty="0">
                <a:solidFill>
                  <a:srgbClr val="E2E3E7"/>
                </a:solidFill>
              </a:rPr>
              <a:t> должно быть </a:t>
            </a:r>
            <a:r>
              <a:rPr lang="ru-RU" altLang="ru-RU" sz="1400" i="1" dirty="0">
                <a:solidFill>
                  <a:srgbClr val="FFFF00"/>
                </a:solidFill>
              </a:rPr>
              <a:t>имя свойства</a:t>
            </a:r>
            <a:r>
              <a:rPr lang="ru-RU" altLang="ru-RU" sz="1400" dirty="0">
                <a:solidFill>
                  <a:srgbClr val="E2E3E7"/>
                </a:solidFill>
              </a:rPr>
              <a:t>. Обычно это строка в кавычках.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dirty="0"/>
              <a:t>Если опустить кавычки, это значит, что указывается переменная, в которой находится имя свойства.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dirty="0"/>
              <a:t>Например: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age: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"age"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key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имя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свойства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было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взято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из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переменной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 key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большинстве случаев прекрасно сработает сравнение с </a:t>
            </a:r>
            <a:r>
              <a:rPr lang="ru-RU" altLang="ru-RU" sz="1400" dirty="0" err="1">
                <a:solidFill>
                  <a:srgbClr val="FFFF00"/>
                </a:solidFill>
              </a:rPr>
              <a:t>undefined</a:t>
            </a:r>
            <a:r>
              <a:rPr lang="ru-RU" altLang="ru-RU" sz="1400" dirty="0">
                <a:solidFill>
                  <a:schemeClr val="tx1"/>
                </a:solidFill>
              </a:rPr>
              <a:t>. Но есть особый случай, когда оно не подходит и нужно использовать </a:t>
            </a:r>
            <a:r>
              <a:rPr lang="ru-RU" altLang="ru-RU" sz="1400" dirty="0">
                <a:solidFill>
                  <a:srgbClr val="FFFF00"/>
                </a:solidFill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</a:rPr>
              <a:t>in</a:t>
            </a:r>
            <a:r>
              <a:rPr lang="ru-RU" altLang="ru-RU" sz="1400" dirty="0">
                <a:solidFill>
                  <a:srgbClr val="FFFF00"/>
                </a:solidFill>
              </a:rPr>
              <a:t>".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Это когда свойство существует, но содержит значение </a:t>
            </a:r>
            <a:r>
              <a:rPr lang="ru-RU" altLang="ru-RU" sz="1400" dirty="0" err="1">
                <a:solidFill>
                  <a:srgbClr val="FFFF00"/>
                </a:solidFill>
              </a:rPr>
              <a:t>undefined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obj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test: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undefined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obj.test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выведет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undefined,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значит свойство не существует?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"test"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obj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свойство существует!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81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Цикл </a:t>
            </a:r>
            <a:r>
              <a:rPr lang="en-US" altLang="ru-RU" sz="1600" b="1" dirty="0">
                <a:solidFill>
                  <a:srgbClr val="92D050"/>
                </a:solidFill>
              </a:rPr>
              <a:t>“</a:t>
            </a:r>
            <a:r>
              <a:rPr lang="en-US" altLang="ru-RU" sz="1600" b="1" dirty="0" err="1">
                <a:solidFill>
                  <a:srgbClr val="92D050"/>
                </a:solidFill>
              </a:rPr>
              <a:t>for..in</a:t>
            </a:r>
            <a:r>
              <a:rPr lang="en-US" altLang="ru-RU" sz="1600" b="1" dirty="0">
                <a:solidFill>
                  <a:srgbClr val="92D050"/>
                </a:solidFill>
              </a:rPr>
              <a:t>”</a:t>
            </a:r>
            <a:endParaRPr lang="ru-RU" altLang="ru-RU" sz="1600" b="1" dirty="0">
              <a:solidFill>
                <a:srgbClr val="92D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перебора всех свойств объекта используется цикл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..</a:t>
            </a:r>
            <a:r>
              <a:rPr lang="ru-RU" altLang="ru-RU" sz="1600" dirty="0" err="1">
                <a:solidFill>
                  <a:schemeClr val="tx1"/>
                </a:solidFill>
              </a:rPr>
              <a:t>in</a:t>
            </a:r>
            <a:r>
              <a:rPr lang="ru-RU" altLang="ru-RU" sz="1600" dirty="0">
                <a:solidFill>
                  <a:srgbClr val="E2E3E7"/>
                </a:solidFill>
              </a:rPr>
              <a:t>. Этот цикл отличается от изученного ранее цикла </a:t>
            </a:r>
            <a:r>
              <a:rPr lang="ru-RU" altLang="ru-RU" sz="1600" dirty="0" err="1">
                <a:solidFill>
                  <a:schemeClr val="tx1"/>
                </a:solidFill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</a:rPr>
              <a:t>(;;)</a:t>
            </a:r>
            <a:r>
              <a:rPr lang="ru-RU" altLang="ru-RU" sz="1600" dirty="0">
                <a:solidFill>
                  <a:srgbClr val="E2E3E7"/>
                </a:solidFill>
              </a:rPr>
              <a:t>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Синтаксис: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key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тело цикла выполняется для каждого свойства объекта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isAdmin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: true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/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ключи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key ); 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name, age, </a:t>
            </a:r>
            <a:r>
              <a:rPr lang="en-US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isAdmin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значения ключей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user[key]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John, 30, true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564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Упорядочение свойств объекта</a:t>
            </a:r>
            <a:endParaRPr lang="en-US" altLang="ru-RU" sz="1600" b="1" dirty="0">
              <a:solidFill>
                <a:srgbClr val="92D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в цикле перебирать все свойства объекта, получим ли мы их в том же порядке, в котором их добавляли?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Свойства упорядочены особым образом</a:t>
            </a:r>
            <a:r>
              <a:rPr lang="ru-RU" altLang="ru-RU" sz="1600" dirty="0">
                <a:solidFill>
                  <a:schemeClr val="tx1"/>
                </a:solidFill>
              </a:rPr>
              <a:t>: свойства с целочисленными ключами сортируются по возрастанию, остальные располагаются в порядке создания.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codes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"49":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Германия",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"41":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"Швейцария",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"44":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"Великобритания",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"1":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"США"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codes)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(code);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1, 41, 44, 49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847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Упорядочение свойств объекта</a:t>
            </a:r>
            <a:endParaRPr lang="en-US" altLang="ru-RU" sz="1600" b="1" dirty="0">
              <a:solidFill>
                <a:srgbClr val="92D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Если в цикле перебирать все свойства объекта, получим ли мы их в том же порядке, в котором их добавляли?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Свойства упорядочены особым образом</a:t>
            </a:r>
            <a:r>
              <a:rPr lang="ru-RU" altLang="ru-RU" sz="1600" dirty="0">
                <a:solidFill>
                  <a:schemeClr val="tx1"/>
                </a:solidFill>
              </a:rPr>
              <a:t>: свойства с целочисленными ключами сортируются по возрастанию, остальные располагаются в порядке создания.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codes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"49":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Германия",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"41":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"Швейцария",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"44":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"Великобритания",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"1":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"США"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codes)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(code);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1, 41, 44, 49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Телефонные коды идут в порядке возрастания, потому что они являются целыми числами: 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1, 41, 44, 49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.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38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Упорядочение свойств объекта</a:t>
            </a:r>
            <a:endParaRPr lang="en-US" altLang="ru-RU" sz="1600" b="1" dirty="0">
              <a:solidFill>
                <a:srgbClr val="92D050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Термин </a:t>
            </a:r>
            <a:r>
              <a:rPr lang="ru-RU" altLang="ru-RU" sz="1600" dirty="0">
                <a:solidFill>
                  <a:srgbClr val="FFFF00"/>
                </a:solidFill>
              </a:rPr>
              <a:t>«целочисленное свойство» </a:t>
            </a:r>
            <a:r>
              <a:rPr lang="ru-RU" altLang="ru-RU" sz="1600" dirty="0">
                <a:solidFill>
                  <a:schemeClr val="tx1"/>
                </a:solidFill>
              </a:rPr>
              <a:t>означает строку, которая может быть преобразована в целое число и обратно без изменений.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То есть, "49" – это целочисленное имя свойства, потому что если его преобразовать в целое число, а затем обратно в строку, то оно не изменится. А вот свойства "+49" или "1.2" таковыми не являются: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FFFF00"/>
                </a:solidFill>
              </a:rPr>
              <a:t>// </a:t>
            </a:r>
            <a:r>
              <a:rPr lang="en-US" altLang="ru-RU" sz="1600" dirty="0" err="1">
                <a:solidFill>
                  <a:srgbClr val="FFFF00"/>
                </a:solidFill>
              </a:rPr>
              <a:t>Math.trunc</a:t>
            </a:r>
            <a:r>
              <a:rPr lang="en-US" altLang="ru-RU" sz="1600" dirty="0">
                <a:solidFill>
                  <a:srgbClr val="FFFF00"/>
                </a:solidFill>
              </a:rPr>
              <a:t> - </a:t>
            </a:r>
            <a:r>
              <a:rPr lang="ru-RU" altLang="ru-RU" sz="1600" dirty="0">
                <a:solidFill>
                  <a:srgbClr val="FFFF00"/>
                </a:solidFill>
              </a:rPr>
              <a:t>встроенная функция, которая удаляет десятичную часть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</a:rPr>
              <a:t>( </a:t>
            </a:r>
            <a:r>
              <a:rPr lang="en-US" altLang="ru-RU" sz="1600" dirty="0">
                <a:solidFill>
                  <a:srgbClr val="00B0F0"/>
                </a:solidFill>
              </a:rPr>
              <a:t>String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 err="1">
                <a:solidFill>
                  <a:srgbClr val="00B0F0"/>
                </a:solidFill>
              </a:rPr>
              <a:t>Math.trunc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>
                <a:solidFill>
                  <a:srgbClr val="00B0F0"/>
                </a:solidFill>
              </a:rPr>
              <a:t>Number</a:t>
            </a:r>
            <a:r>
              <a:rPr lang="en-US" altLang="ru-RU" sz="1600" dirty="0">
                <a:solidFill>
                  <a:schemeClr val="tx1"/>
                </a:solidFill>
              </a:rPr>
              <a:t>("</a:t>
            </a:r>
            <a:r>
              <a:rPr lang="en-US" altLang="ru-RU" sz="1600" dirty="0">
                <a:solidFill>
                  <a:srgbClr val="FFFF00"/>
                </a:solidFill>
              </a:rPr>
              <a:t>49</a:t>
            </a:r>
            <a:r>
              <a:rPr lang="en-US" altLang="ru-RU" sz="1600" dirty="0">
                <a:solidFill>
                  <a:schemeClr val="tx1"/>
                </a:solidFill>
              </a:rPr>
              <a:t>"))) ); </a:t>
            </a:r>
            <a:r>
              <a:rPr lang="en-US" altLang="ru-RU" sz="1600" dirty="0">
                <a:solidFill>
                  <a:srgbClr val="FFFF00"/>
                </a:solidFill>
              </a:rPr>
              <a:t>// "49", </a:t>
            </a:r>
            <a:r>
              <a:rPr lang="ru-RU" altLang="ru-RU" sz="1600" dirty="0">
                <a:solidFill>
                  <a:srgbClr val="FFFF00"/>
                </a:solidFill>
              </a:rPr>
              <a:t>то же самое ⇒ свойство целочисленное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</a:rPr>
              <a:t>( </a:t>
            </a:r>
            <a:r>
              <a:rPr lang="en-US" altLang="ru-RU" sz="1600" dirty="0">
                <a:solidFill>
                  <a:srgbClr val="00B0F0"/>
                </a:solidFill>
              </a:rPr>
              <a:t>String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 err="1">
                <a:solidFill>
                  <a:srgbClr val="00B0F0"/>
                </a:solidFill>
              </a:rPr>
              <a:t>Math.trunc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>
                <a:solidFill>
                  <a:srgbClr val="00B0F0"/>
                </a:solidFill>
              </a:rPr>
              <a:t>Number</a:t>
            </a:r>
            <a:r>
              <a:rPr lang="en-US" altLang="ru-RU" sz="1600" dirty="0">
                <a:solidFill>
                  <a:schemeClr val="tx1"/>
                </a:solidFill>
              </a:rPr>
              <a:t>("</a:t>
            </a:r>
            <a:r>
              <a:rPr lang="en-US" altLang="ru-RU" sz="1600" dirty="0">
                <a:solidFill>
                  <a:srgbClr val="FFFF00"/>
                </a:solidFill>
              </a:rPr>
              <a:t>+49</a:t>
            </a:r>
            <a:r>
              <a:rPr lang="en-US" altLang="ru-RU" sz="1600" dirty="0">
                <a:solidFill>
                  <a:schemeClr val="tx1"/>
                </a:solidFill>
              </a:rPr>
              <a:t>"))) ); </a:t>
            </a:r>
            <a:r>
              <a:rPr lang="en-US" altLang="ru-RU" sz="1600" dirty="0">
                <a:solidFill>
                  <a:srgbClr val="FFFF00"/>
                </a:solidFill>
              </a:rPr>
              <a:t>// "49", </a:t>
            </a:r>
            <a:r>
              <a:rPr lang="ru-RU" altLang="ru-RU" sz="1600" dirty="0">
                <a:solidFill>
                  <a:srgbClr val="FFFF00"/>
                </a:solidFill>
              </a:rPr>
              <a:t>не то же самое, что "+49" ⇒ свойство не целочисленное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</a:rPr>
              <a:t>( </a:t>
            </a:r>
            <a:r>
              <a:rPr lang="en-US" altLang="ru-RU" sz="1600" dirty="0">
                <a:solidFill>
                  <a:srgbClr val="00B0F0"/>
                </a:solidFill>
              </a:rPr>
              <a:t>String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 err="1">
                <a:solidFill>
                  <a:srgbClr val="00B0F0"/>
                </a:solidFill>
              </a:rPr>
              <a:t>Math.trunc</a:t>
            </a:r>
            <a:r>
              <a:rPr lang="en-US" altLang="ru-RU" sz="1600" dirty="0">
                <a:solidFill>
                  <a:schemeClr val="tx1"/>
                </a:solidFill>
              </a:rPr>
              <a:t>(</a:t>
            </a:r>
            <a:r>
              <a:rPr lang="en-US" altLang="ru-RU" sz="1600" dirty="0">
                <a:solidFill>
                  <a:srgbClr val="00B0F0"/>
                </a:solidFill>
              </a:rPr>
              <a:t>Number</a:t>
            </a:r>
            <a:r>
              <a:rPr lang="en-US" altLang="ru-RU" sz="1600" dirty="0">
                <a:solidFill>
                  <a:schemeClr val="tx1"/>
                </a:solidFill>
              </a:rPr>
              <a:t>("</a:t>
            </a:r>
            <a:r>
              <a:rPr lang="en-US" altLang="ru-RU" sz="1600" dirty="0">
                <a:solidFill>
                  <a:srgbClr val="FFFF00"/>
                </a:solidFill>
              </a:rPr>
              <a:t>1.2</a:t>
            </a:r>
            <a:r>
              <a:rPr lang="en-US" altLang="ru-RU" sz="1600" dirty="0">
                <a:solidFill>
                  <a:schemeClr val="tx1"/>
                </a:solidFill>
              </a:rPr>
              <a:t>"))) ); </a:t>
            </a:r>
            <a:r>
              <a:rPr lang="en-US" altLang="ru-RU" sz="1600" dirty="0">
                <a:solidFill>
                  <a:srgbClr val="FFFF00"/>
                </a:solidFill>
              </a:rPr>
              <a:t>// "1", </a:t>
            </a:r>
            <a:r>
              <a:rPr lang="ru-RU" altLang="ru-RU" sz="1600" dirty="0">
                <a:solidFill>
                  <a:srgbClr val="FFFF00"/>
                </a:solidFill>
              </a:rPr>
              <a:t>не то же самое, что "1.2" ⇒ свойство не целочисленное</a:t>
            </a:r>
          </a:p>
        </p:txBody>
      </p:sp>
    </p:spTree>
    <p:extLst>
      <p:ext uri="{BB962C8B-B14F-4D97-AF65-F5344CB8AC3E}">
        <p14:creationId xmlns:p14="http://schemas.microsoft.com/office/powerpoint/2010/main" val="3847979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4174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Упорядочение свойств объекта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>
                <a:solidFill>
                  <a:schemeClr val="tx1"/>
                </a:solidFill>
              </a:rPr>
              <a:t>С другой стороны, если ключи не целочисленные, то они перебираются в порядке создания, например: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surname: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"Smith"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user.age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25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добавим ещё одно свойство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не целочисленные свойства перечислены в порядке создания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prop </a:t>
            </a: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prop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name, surname, age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7070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Объекты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455529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92D050"/>
                </a:solidFill>
              </a:rPr>
              <a:t>Итого: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/>
              <a:t>Объект — это набор свойств, и каждое свойство состоит из ключа (имени) и значения, ассоциированного с этим именем.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/>
              <a:t>Они хранят свойства (пары ключ-значение), где: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Ключи свойств должны быть строками или символами (обычно строками).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Значения могут быть любого типа.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/>
              <a:t>Чтобы получить доступ к свойству, мы можем использовать: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Запись через точку: </a:t>
            </a:r>
            <a:r>
              <a:rPr lang="ru-RU" sz="1400" dirty="0" err="1">
                <a:solidFill>
                  <a:srgbClr val="FFFF00"/>
                </a:solidFill>
              </a:rPr>
              <a:t>obj.property</a:t>
            </a:r>
            <a:r>
              <a:rPr lang="ru-RU" sz="1400" dirty="0"/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Квадратные скобки </a:t>
            </a:r>
            <a:r>
              <a:rPr lang="ru-RU" sz="1400" dirty="0" err="1">
                <a:solidFill>
                  <a:srgbClr val="FFFF00"/>
                </a:solidFill>
              </a:rPr>
              <a:t>obj</a:t>
            </a:r>
            <a:r>
              <a:rPr lang="ru-RU" sz="1400" dirty="0">
                <a:solidFill>
                  <a:srgbClr val="FFFF00"/>
                </a:solidFill>
              </a:rPr>
              <a:t>["</a:t>
            </a:r>
            <a:r>
              <a:rPr lang="ru-RU" sz="1400" dirty="0" err="1">
                <a:solidFill>
                  <a:srgbClr val="FFFF00"/>
                </a:solidFill>
              </a:rPr>
              <a:t>property</a:t>
            </a:r>
            <a:r>
              <a:rPr lang="ru-RU" sz="1400" dirty="0">
                <a:solidFill>
                  <a:srgbClr val="FFFF00"/>
                </a:solidFill>
              </a:rPr>
              <a:t>"]</a:t>
            </a:r>
            <a:r>
              <a:rPr lang="ru-RU" sz="1400" dirty="0"/>
              <a:t>. Квадратные скобки позволяют взять ключ из переменной, например, </a:t>
            </a:r>
            <a:r>
              <a:rPr lang="ru-RU" sz="1400" dirty="0" err="1">
                <a:solidFill>
                  <a:srgbClr val="FFFF00"/>
                </a:solidFill>
              </a:rPr>
              <a:t>obj</a:t>
            </a:r>
            <a:r>
              <a:rPr lang="ru-RU" sz="1400" dirty="0">
                <a:solidFill>
                  <a:srgbClr val="FFFF00"/>
                </a:solidFill>
              </a:rPr>
              <a:t>[</a:t>
            </a:r>
            <a:r>
              <a:rPr lang="ru-RU" sz="1400" dirty="0" err="1">
                <a:solidFill>
                  <a:srgbClr val="FFFF00"/>
                </a:solidFill>
              </a:rPr>
              <a:t>varWithKey</a:t>
            </a:r>
            <a:r>
              <a:rPr lang="ru-RU" sz="1400" dirty="0">
                <a:solidFill>
                  <a:srgbClr val="FFFF00"/>
                </a:solidFill>
              </a:rPr>
              <a:t>]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</a:rPr>
              <a:t>Дополнительные операторы: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Удаление свойства: </a:t>
            </a:r>
            <a:r>
              <a:rPr lang="ru-RU" sz="1400" dirty="0" err="1">
                <a:solidFill>
                  <a:schemeClr val="tx1"/>
                </a:solidFill>
              </a:rPr>
              <a:t>delete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obj.prop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Проверка существования свойства: "</a:t>
            </a:r>
            <a:r>
              <a:rPr lang="ru-RU" sz="1400" dirty="0" err="1">
                <a:solidFill>
                  <a:schemeClr val="tx1"/>
                </a:solidFill>
              </a:rPr>
              <a:t>key</a:t>
            </a:r>
            <a:r>
              <a:rPr lang="ru-RU" sz="1400" dirty="0">
                <a:solidFill>
                  <a:schemeClr val="tx1"/>
                </a:solidFill>
              </a:rPr>
              <a:t>" </a:t>
            </a:r>
            <a:r>
              <a:rPr lang="ru-RU" sz="1400" dirty="0" err="1">
                <a:solidFill>
                  <a:schemeClr val="tx1"/>
                </a:solidFill>
              </a:rPr>
              <a:t>in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obj</a:t>
            </a:r>
            <a:r>
              <a:rPr lang="ru-RU" sz="14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Перебор свойств объекта: цикл </a:t>
            </a:r>
            <a:r>
              <a:rPr lang="ru-RU" sz="1400" dirty="0" err="1">
                <a:solidFill>
                  <a:schemeClr val="tx1"/>
                </a:solidFill>
              </a:rPr>
              <a:t>for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for</a:t>
            </a:r>
            <a:r>
              <a:rPr lang="ru-RU" sz="1400" dirty="0">
                <a:solidFill>
                  <a:schemeClr val="tx1"/>
                </a:solidFill>
              </a:rPr>
              <a:t> (</a:t>
            </a:r>
            <a:r>
              <a:rPr lang="ru-RU" sz="1400" dirty="0" err="1">
                <a:solidFill>
                  <a:schemeClr val="tx1"/>
                </a:solidFill>
              </a:rPr>
              <a:t>let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key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in</a:t>
            </a:r>
            <a:r>
              <a:rPr lang="ru-RU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chemeClr val="tx1"/>
                </a:solidFill>
              </a:rPr>
              <a:t>obj</a:t>
            </a:r>
            <a:r>
              <a:rPr lang="ru-RU" sz="1400" dirty="0">
                <a:solidFill>
                  <a:schemeClr val="tx1"/>
                </a:solidFill>
              </a:rPr>
              <a:t>).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chemeClr val="tx1"/>
                </a:solidFill>
              </a:rPr>
              <a:t>В </a:t>
            </a:r>
            <a:r>
              <a:rPr lang="ru-RU" sz="1400" dirty="0" err="1">
                <a:solidFill>
                  <a:schemeClr val="tx1"/>
                </a:solidFill>
              </a:rPr>
              <a:t>JavaScript</a:t>
            </a:r>
            <a:r>
              <a:rPr lang="ru-RU" sz="1400" dirty="0">
                <a:solidFill>
                  <a:schemeClr val="tx1"/>
                </a:solidFill>
              </a:rPr>
              <a:t> и другие типы объектов такие как </a:t>
            </a:r>
            <a:r>
              <a:rPr lang="ru-RU" sz="1400" dirty="0">
                <a:solidFill>
                  <a:srgbClr val="FFFF00"/>
                </a:solidFill>
              </a:rPr>
              <a:t>Массив (</a:t>
            </a:r>
            <a:r>
              <a:rPr lang="en-US" sz="1400" dirty="0">
                <a:solidFill>
                  <a:srgbClr val="FFFF00"/>
                </a:solidFill>
              </a:rPr>
              <a:t>Array</a:t>
            </a:r>
            <a:r>
              <a:rPr lang="ru-RU" sz="1400" dirty="0">
                <a:solidFill>
                  <a:srgbClr val="FFFF00"/>
                </a:solidFill>
              </a:rPr>
              <a:t>)</a:t>
            </a:r>
            <a:r>
              <a:rPr lang="ru-RU" sz="1400" dirty="0">
                <a:solidFill>
                  <a:schemeClr val="tx1"/>
                </a:solidFill>
              </a:rPr>
              <a:t> для хранения упорядоченных коллекций данных,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 err="1">
                <a:solidFill>
                  <a:srgbClr val="FFFF00"/>
                </a:solidFill>
              </a:rPr>
              <a:t>Date</a:t>
            </a:r>
            <a:r>
              <a:rPr lang="ru-RU" sz="1400" dirty="0">
                <a:solidFill>
                  <a:schemeClr val="tx1"/>
                </a:solidFill>
              </a:rPr>
              <a:t> для хранения информации о дате и времени,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 err="1">
                <a:solidFill>
                  <a:srgbClr val="FFFF00"/>
                </a:solidFill>
              </a:rPr>
              <a:t>Error</a:t>
            </a:r>
            <a:r>
              <a:rPr lang="ru-RU" sz="1400" dirty="0">
                <a:solidFill>
                  <a:schemeClr val="tx1"/>
                </a:solidFill>
              </a:rPr>
              <a:t> для хранения информации об ошибке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solidFill>
                  <a:schemeClr val="tx1"/>
                </a:solidFill>
              </a:rPr>
              <a:t>и так далее.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088A4F-88A8-44A7-9782-F7BFE4D60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30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kern="100" dirty="0">
                <a:solidFill>
                  <a:srgbClr val="FFFF00"/>
                </a:solidFill>
              </a:rPr>
              <a:t>Заходим в папку со своим локальным репозиторием и создаем новую ветку!!!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kern="100" dirty="0">
                <a:solidFill>
                  <a:srgbClr val="FFFF00"/>
                </a:solidFill>
              </a:rPr>
              <a:t>После решения задачек отправить код на удаленный репозиторий.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kern="100" dirty="0">
                <a:solidFill>
                  <a:schemeClr val="tx1"/>
                </a:solidFill>
              </a:rPr>
              <a:t>1. </a:t>
            </a:r>
            <a:r>
              <a:rPr lang="ru-RU" altLang="ru-RU" sz="1400" dirty="0">
                <a:solidFill>
                  <a:schemeClr val="tx1"/>
                </a:solidFill>
              </a:rPr>
              <a:t>Напишите код, выполнив задание из каждого пункта отдельной строкой: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Создайте пустой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Добавьте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со значением </a:t>
            </a:r>
            <a:r>
              <a:rPr lang="ru-RU" altLang="ru-RU" sz="1400" dirty="0" err="1">
                <a:solidFill>
                  <a:schemeClr val="tx1"/>
                </a:solidFill>
              </a:rPr>
              <a:t>John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Добавьте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surname</a:t>
            </a:r>
            <a:r>
              <a:rPr lang="ru-RU" altLang="ru-RU" sz="1400" dirty="0">
                <a:solidFill>
                  <a:schemeClr val="tx1"/>
                </a:solidFill>
              </a:rPr>
              <a:t> со значением </a:t>
            </a:r>
            <a:r>
              <a:rPr lang="ru-RU" altLang="ru-RU" sz="1400" dirty="0" err="1">
                <a:solidFill>
                  <a:schemeClr val="tx1"/>
                </a:solidFill>
              </a:rPr>
              <a:t>Smith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Измените значение свойства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на </a:t>
            </a:r>
            <a:r>
              <a:rPr lang="ru-RU" altLang="ru-RU" sz="1400" dirty="0" err="1">
                <a:solidFill>
                  <a:schemeClr val="tx1"/>
                </a:solidFill>
              </a:rPr>
              <a:t>Pete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Удалите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из объекта.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Напишите функцию </a:t>
            </a:r>
            <a:r>
              <a:rPr lang="en-US" altLang="ru-RU" sz="1400" dirty="0" err="1">
                <a:solidFill>
                  <a:schemeClr val="tx1"/>
                </a:solidFill>
              </a:rPr>
              <a:t>isEmpty</a:t>
            </a:r>
            <a:r>
              <a:rPr lang="en-US" altLang="ru-RU" sz="1400" dirty="0">
                <a:solidFill>
                  <a:schemeClr val="tx1"/>
                </a:solidFill>
              </a:rPr>
              <a:t>(object), </a:t>
            </a:r>
            <a:r>
              <a:rPr lang="ru-RU" altLang="ru-RU" sz="1400" dirty="0">
                <a:solidFill>
                  <a:schemeClr val="tx1"/>
                </a:solidFill>
              </a:rPr>
              <a:t>которая возвращает </a:t>
            </a:r>
            <a:r>
              <a:rPr lang="en-US" altLang="ru-RU" sz="1400" dirty="0">
                <a:solidFill>
                  <a:schemeClr val="tx1"/>
                </a:solidFill>
              </a:rPr>
              <a:t>true, </a:t>
            </a:r>
            <a:r>
              <a:rPr lang="ru-RU" altLang="ru-RU" sz="1400" dirty="0">
                <a:solidFill>
                  <a:schemeClr val="tx1"/>
                </a:solidFill>
              </a:rPr>
              <a:t>если у объекта нет свойств, иначе </a:t>
            </a:r>
            <a:r>
              <a:rPr lang="en-US" altLang="ru-RU" sz="1400" dirty="0">
                <a:solidFill>
                  <a:schemeClr val="tx1"/>
                </a:solidFill>
              </a:rPr>
              <a:t>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3. </a:t>
            </a:r>
            <a:r>
              <a:rPr lang="ru-RU" altLang="ru-RU" sz="1400" dirty="0">
                <a:solidFill>
                  <a:schemeClr val="tx1"/>
                </a:solidFill>
              </a:rPr>
              <a:t>Есть объект, в котором хранятся зарплаты футбольной команды: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salaries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{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100,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Ann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160,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Pete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130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Напишите код для суммирования всех зарплат и сохраните результат в переменной </a:t>
            </a:r>
            <a:r>
              <a:rPr lang="ru-RU" altLang="ru-RU" sz="1400" dirty="0" err="1">
                <a:solidFill>
                  <a:schemeClr val="tx1"/>
                </a:solidFill>
              </a:rPr>
              <a:t>sum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  <a:r>
              <a:rPr lang="ru-RU" altLang="ru-RU" sz="1400" dirty="0">
                <a:solidFill>
                  <a:srgbClr val="FFFF00"/>
                </a:solidFill>
              </a:rPr>
              <a:t>Должно получиться 390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salaries</a:t>
            </a:r>
            <a:r>
              <a:rPr lang="ru-RU" altLang="ru-RU" sz="1400" dirty="0">
                <a:solidFill>
                  <a:schemeClr val="tx1"/>
                </a:solidFill>
              </a:rPr>
              <a:t> пуст, то результат должен быть 0.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29433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kern="100" dirty="0">
                <a:solidFill>
                  <a:schemeClr val="tx1"/>
                </a:solidFill>
              </a:rPr>
              <a:t>4. Создайте функцию </a:t>
            </a:r>
            <a:r>
              <a:rPr lang="en-US" sz="1600" kern="100" dirty="0" err="1">
                <a:solidFill>
                  <a:schemeClr val="tx1"/>
                </a:solidFill>
              </a:rPr>
              <a:t>multiplyNumeric</a:t>
            </a:r>
            <a:r>
              <a:rPr lang="en-US" sz="1600" kern="100" dirty="0">
                <a:solidFill>
                  <a:schemeClr val="tx1"/>
                </a:solidFill>
              </a:rPr>
              <a:t>(obj), </a:t>
            </a:r>
            <a:r>
              <a:rPr lang="ru-RU" sz="1600" kern="100" dirty="0">
                <a:solidFill>
                  <a:schemeClr val="tx1"/>
                </a:solidFill>
              </a:rPr>
              <a:t>которая умножает все числовые свойства объекта </a:t>
            </a:r>
            <a:r>
              <a:rPr lang="en-US" sz="1600" kern="100" dirty="0">
                <a:solidFill>
                  <a:schemeClr val="tx1"/>
                </a:solidFill>
              </a:rPr>
              <a:t>obj </a:t>
            </a:r>
            <a:r>
              <a:rPr lang="ru-RU" sz="1600" kern="100" dirty="0">
                <a:solidFill>
                  <a:schemeClr val="tx1"/>
                </a:solidFill>
              </a:rPr>
              <a:t>на 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Например: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// до вызова функции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 menu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width: 200,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height: 300,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title: </a:t>
            </a: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"My menu"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 err="1">
                <a:solidFill>
                  <a:srgbClr val="00B0F0"/>
                </a:solidFill>
                <a:latin typeface="Consolas" panose="020B0609020204030204" pitchFamily="49" charset="0"/>
              </a:rPr>
              <a:t>multiplyNumeric</a:t>
            </a:r>
            <a:r>
              <a:rPr lang="en-US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(menu);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после вызова функции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menu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width: 400,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height: 600,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title: "My menu"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100" dirty="0">
                <a:solidFill>
                  <a:srgbClr val="FFFF00"/>
                </a:solidFill>
                <a:latin typeface="Consolas" panose="020B0609020204030204" pitchFamily="49" charset="0"/>
              </a:rPr>
              <a:t>};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96667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600" kern="100" dirty="0">
                <a:solidFill>
                  <a:schemeClr val="tx1"/>
                </a:solidFill>
              </a:rPr>
              <a:t>1.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</a:rPr>
              <a:t> user = {};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user.name = </a:t>
            </a:r>
            <a:r>
              <a:rPr lang="en-US" altLang="ru-RU" sz="1400" dirty="0">
                <a:solidFill>
                  <a:srgbClr val="FFFF00"/>
                </a:solidFill>
              </a:rPr>
              <a:t>"John"</a:t>
            </a:r>
            <a:r>
              <a:rPr lang="en-US" altLang="ru-RU" sz="1400" dirty="0">
                <a:solidFill>
                  <a:schemeClr val="tx1"/>
                </a:solidFill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 err="1">
                <a:solidFill>
                  <a:schemeClr val="tx1"/>
                </a:solidFill>
              </a:rPr>
              <a:t>user.surname</a:t>
            </a:r>
            <a:r>
              <a:rPr lang="en-US" altLang="ru-RU" sz="1400" dirty="0">
                <a:solidFill>
                  <a:schemeClr val="tx1"/>
                </a:solidFill>
              </a:rPr>
              <a:t> = </a:t>
            </a:r>
            <a:r>
              <a:rPr lang="en-US" altLang="ru-RU" sz="1400" dirty="0">
                <a:solidFill>
                  <a:srgbClr val="FFFF00"/>
                </a:solidFill>
              </a:rPr>
              <a:t>"Smith"</a:t>
            </a:r>
            <a:r>
              <a:rPr lang="en-US" altLang="ru-RU" sz="1400" dirty="0">
                <a:solidFill>
                  <a:schemeClr val="tx1"/>
                </a:solidFill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user.name = </a:t>
            </a:r>
            <a:r>
              <a:rPr lang="en-US" altLang="ru-RU" sz="1400" dirty="0">
                <a:solidFill>
                  <a:srgbClr val="FFFF00"/>
                </a:solidFill>
              </a:rPr>
              <a:t>"Pete"</a:t>
            </a:r>
            <a:r>
              <a:rPr lang="en-US" altLang="ru-RU" sz="1400" dirty="0">
                <a:solidFill>
                  <a:schemeClr val="tx1"/>
                </a:solidFill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delete</a:t>
            </a:r>
            <a:r>
              <a:rPr lang="en-US" altLang="ru-RU" sz="1400" dirty="0">
                <a:solidFill>
                  <a:schemeClr val="tx1"/>
                </a:solidFill>
              </a:rPr>
              <a:t> user.name;</a:t>
            </a:r>
            <a:endParaRPr lang="ru-RU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2.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isEmpty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(obj)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obj)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если тело цикла начнет выполняться - значит в объекте есть свойства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false;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true;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6228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5616" y="2139702"/>
            <a:ext cx="6768752" cy="648072"/>
          </a:xfrm>
        </p:spPr>
        <p:txBody>
          <a:bodyPr anchor="t"/>
          <a:lstStyle/>
          <a:p>
            <a:pPr algn="ctr"/>
            <a:r>
              <a:rPr lang="ru-RU" sz="3200" b="1" dirty="0"/>
              <a:t>Копирование объектов и ссылки</a:t>
            </a:r>
            <a:br>
              <a:rPr lang="ru-RU" b="1" dirty="0"/>
            </a:b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89395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Одно из фундаментальных отличий объектов от примитивов заключается в том, что объекты хранятся и копируются </a:t>
            </a:r>
            <a:r>
              <a:rPr lang="ru-RU" altLang="ru-RU" sz="1500" dirty="0">
                <a:solidFill>
                  <a:srgbClr val="FFFF00"/>
                </a:solidFill>
              </a:rPr>
              <a:t>«по ссылке», </a:t>
            </a:r>
            <a:r>
              <a:rPr lang="ru-RU" altLang="ru-RU" sz="1500" dirty="0">
                <a:solidFill>
                  <a:schemeClr val="tx1"/>
                </a:solidFill>
              </a:rPr>
              <a:t>тогда как примитивные значения: строки, числа, логические значения и т.д. – всегда копируются </a:t>
            </a:r>
            <a:r>
              <a:rPr lang="ru-RU" altLang="ru-RU" sz="1500" dirty="0">
                <a:solidFill>
                  <a:srgbClr val="FFFF00"/>
                </a:solidFill>
              </a:rPr>
              <a:t>«как целое значение»</a:t>
            </a:r>
            <a:r>
              <a:rPr lang="ru-RU" altLang="ru-RU" sz="1500" dirty="0">
                <a:solidFill>
                  <a:schemeClr val="tx1"/>
                </a:solidFill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da-DK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message = </a:t>
            </a:r>
            <a:r>
              <a:rPr lang="da-DK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"Привет!"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da-DK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phrase = message;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В результате мы имеем две независимые переменные, каждая из которых хранит строку 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"Привет!"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.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Объекты ведут себя иначе.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Переменная, которой присвоен объект, хранит не сам объект, а его «адрес в памяти» – другими словами, «ссылку» на него.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Объект хранится где-то в памяти (справа от изображения), в то время как переменная 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 (слева) имеет лишь «ссылку» на него.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32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выполняется действия над объектом, к примеру, берём свойство user.name, движок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просматривает то, что находится по этому адресу, и выполняет операцию с самим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объектом.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ВАЖНО!!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</a:rPr>
              <a:t>При копировании переменной объекта копируется ссылка, но сам объект не дублируется.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копируется ссылка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есть две переменные, каждая из которых содержит ссылку на один и тот же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Можно использовать любую переменную для доступа к объекту и изменения его содержимого: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'John'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admin.name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'Pete'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изменено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admin"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alert(user.name);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'Pete',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изменения видны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user"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95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выполняется действия над объектом, к примеру, берём свойство user.name, движок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просматривает то, что находится по этому адресу, и выполняет операцию с самим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объектом.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ВАЖНО!!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</a:rPr>
              <a:t>При копировании переменной объекта копируется ссылка, но сам объект не дублируется.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копируется ссылка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есть две переменные, каждая из которых содержит ссылку на один и тот же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Можно использовать любую переменную для доступа к объекту и изменения его содержимого: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'John'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admin.name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'Pete'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изменено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admin"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alert(user.name);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'Pete',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изменения видны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user"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28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Сравнение по ссылке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>
                <a:solidFill>
                  <a:schemeClr val="tx1"/>
                </a:solidFill>
              </a:rPr>
              <a:t>Два объекта равны только в том случае, если это один и тот же объект.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Например, здесь </a:t>
            </a:r>
            <a:r>
              <a:rPr lang="ru-RU" altLang="ru-RU" sz="1600" dirty="0">
                <a:solidFill>
                  <a:srgbClr val="FFFF00"/>
                </a:solidFill>
              </a:rPr>
              <a:t>a</a:t>
            </a:r>
            <a:r>
              <a:rPr lang="ru-RU" altLang="ru-RU" sz="1600" dirty="0">
                <a:solidFill>
                  <a:srgbClr val="E2E3E7"/>
                </a:solidFill>
              </a:rPr>
              <a:t> и </a:t>
            </a:r>
            <a:r>
              <a:rPr lang="ru-RU" altLang="ru-RU" sz="1600" dirty="0">
                <a:solidFill>
                  <a:srgbClr val="FFFF00"/>
                </a:solidFill>
              </a:rPr>
              <a:t>b</a:t>
            </a:r>
            <a:r>
              <a:rPr lang="ru-RU" altLang="ru-RU" sz="1600" dirty="0">
                <a:solidFill>
                  <a:srgbClr val="E2E3E7"/>
                </a:solidFill>
              </a:rPr>
              <a:t> ссылаются на один и тот же объект, поэтому они равны:</a:t>
            </a:r>
            <a:endParaRPr lang="en-US" altLang="ru-RU" sz="1600" dirty="0">
              <a:solidFill>
                <a:srgbClr val="E2E3E7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= {};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b = a;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копирование по ссылке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 b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, обе переменные ссылаются на один и тот же объект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=== b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И здесь два независимых объекта не равны, даже если они выглядят одинаково (оба пусты):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= {};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b = {};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два независимых объекта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 b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сравнений типа </a:t>
            </a:r>
            <a:r>
              <a:rPr lang="ru-RU" altLang="ru-RU" sz="1600" dirty="0">
                <a:solidFill>
                  <a:schemeClr val="tx1"/>
                </a:solidFill>
              </a:rPr>
              <a:t>obj1 &gt; obj2</a:t>
            </a:r>
            <a:r>
              <a:rPr lang="ru-RU" altLang="ru-RU" sz="1600" dirty="0">
                <a:solidFill>
                  <a:srgbClr val="E2E3E7"/>
                </a:solidFill>
              </a:rPr>
              <a:t> или для сравнения с примитивом </a:t>
            </a:r>
            <a:r>
              <a:rPr lang="ru-RU" altLang="ru-RU" sz="1600" dirty="0" err="1">
                <a:solidFill>
                  <a:schemeClr val="tx1"/>
                </a:solidFill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</a:rPr>
              <a:t> == 5</a:t>
            </a:r>
            <a:r>
              <a:rPr lang="ru-RU" altLang="ru-RU" sz="1600" dirty="0">
                <a:solidFill>
                  <a:srgbClr val="E2E3E7"/>
                </a:solidFill>
              </a:rPr>
              <a:t> объекты преобразуются в примитивы.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46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Клонирование и объединение, </a:t>
            </a:r>
            <a:r>
              <a:rPr lang="ru-RU" altLang="ru-RU" sz="2800" b="1" dirty="0" err="1">
                <a:solidFill>
                  <a:srgbClr val="92D050"/>
                </a:solidFill>
              </a:rPr>
              <a:t>Object.assign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Копирование объектной переменной создаёт ещё одну ссылку на тот же объект. Но что, если нам нужно дублировать объект? Создать независимую копию, клон? Н</a:t>
            </a:r>
            <a:r>
              <a:rPr lang="ru-RU" sz="1500" dirty="0"/>
              <a:t>ужно создать новый объект и воспроизвести структуру существующего, перебрав его свойства и скопировав их на примитивном уровне.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clone = {};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новый пустой объект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давайте скопируем все свойства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user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 него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clone[key] = user[key];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теперь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clone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это полностью независимый объект с тем же содержимым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clone.name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"Pete"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изменим в нём данные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user.name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все ещё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в первоначальном объекте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98968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5574</TotalTime>
  <Words>1698</Words>
  <Application>Microsoft Office PowerPoint</Application>
  <PresentationFormat>Экран (16:9)</PresentationFormat>
  <Paragraphs>351</Paragraphs>
  <Slides>28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Arial</vt:lpstr>
      <vt:lpstr>BlinkMacSystemFont</vt:lpstr>
      <vt:lpstr>Calibri</vt:lpstr>
      <vt:lpstr>Consolas</vt:lpstr>
      <vt:lpstr>Trebuchet MS</vt:lpstr>
      <vt:lpstr>Wingdings</vt:lpstr>
      <vt:lpstr>Wingdings 3</vt:lpstr>
      <vt:lpstr>Аспект</vt:lpstr>
      <vt:lpstr>Объекты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 </vt:lpstr>
      <vt:lpstr>Объекты</vt:lpstr>
      <vt:lpstr>Наши любимые задачки </vt:lpstr>
      <vt:lpstr>Наши любимые задачки </vt:lpstr>
      <vt:lpstr>Наши любимые задачки </vt:lpstr>
      <vt:lpstr>Копирование объектов и ссылки </vt:lpstr>
      <vt:lpstr>Копирование объектов и ссылки </vt:lpstr>
      <vt:lpstr>Копирование объектов и ссылки </vt:lpstr>
      <vt:lpstr>Копирование объектов и ссылки </vt:lpstr>
      <vt:lpstr>Сравнение по ссылке</vt:lpstr>
      <vt:lpstr>Клонирование и объединение, Object.assign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254</cp:revision>
  <dcterms:created xsi:type="dcterms:W3CDTF">2021-11-26T04:54:28Z</dcterms:created>
  <dcterms:modified xsi:type="dcterms:W3CDTF">2024-10-29T11:53:21Z</dcterms:modified>
</cp:coreProperties>
</file>