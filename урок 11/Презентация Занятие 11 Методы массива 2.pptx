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17">
  <p:sldMasterIdLst>
    <p:sldMasterId id="2147483727" r:id="rId1"/>
  </p:sldMasterIdLst>
  <p:notesMasterIdLst>
    <p:notesMasterId r:id="rId42"/>
  </p:notesMasterIdLst>
  <p:sldIdLst>
    <p:sldId id="388" r:id="rId2"/>
    <p:sldId id="367" r:id="rId3"/>
    <p:sldId id="306" r:id="rId4"/>
    <p:sldId id="431" r:id="rId5"/>
    <p:sldId id="498" r:id="rId6"/>
    <p:sldId id="555" r:id="rId7"/>
    <p:sldId id="499" r:id="rId8"/>
    <p:sldId id="556" r:id="rId9"/>
    <p:sldId id="557" r:id="rId10"/>
    <p:sldId id="558" r:id="rId11"/>
    <p:sldId id="559" r:id="rId12"/>
    <p:sldId id="570" r:id="rId13"/>
    <p:sldId id="560" r:id="rId14"/>
    <p:sldId id="569" r:id="rId15"/>
    <p:sldId id="561" r:id="rId16"/>
    <p:sldId id="562" r:id="rId17"/>
    <p:sldId id="563" r:id="rId18"/>
    <p:sldId id="564" r:id="rId19"/>
    <p:sldId id="565" r:id="rId20"/>
    <p:sldId id="566" r:id="rId21"/>
    <p:sldId id="552" r:id="rId22"/>
    <p:sldId id="553" r:id="rId23"/>
    <p:sldId id="567" r:id="rId24"/>
    <p:sldId id="568" r:id="rId25"/>
    <p:sldId id="571" r:id="rId26"/>
    <p:sldId id="572" r:id="rId27"/>
    <p:sldId id="573" r:id="rId28"/>
    <p:sldId id="574" r:id="rId29"/>
    <p:sldId id="575" r:id="rId30"/>
    <p:sldId id="576" r:id="rId31"/>
    <p:sldId id="577" r:id="rId32"/>
    <p:sldId id="578" r:id="rId33"/>
    <p:sldId id="580" r:id="rId34"/>
    <p:sldId id="579" r:id="rId35"/>
    <p:sldId id="581" r:id="rId36"/>
    <p:sldId id="582" r:id="rId37"/>
    <p:sldId id="583" r:id="rId38"/>
    <p:sldId id="584" r:id="rId39"/>
    <p:sldId id="585" r:id="rId40"/>
    <p:sldId id="586" r:id="rId4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khail Matveichuk" initials="MM" lastIdx="1" clrIdx="0">
    <p:extLst>
      <p:ext uri="{19B8F6BF-5375-455C-9EA6-DF929625EA0E}">
        <p15:presenceInfo xmlns:p15="http://schemas.microsoft.com/office/powerpoint/2012/main" userId="a99a9a51dadd0b2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07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4269" autoAdjust="0"/>
  </p:normalViewPr>
  <p:slideViewPr>
    <p:cSldViewPr>
      <p:cViewPr varScale="1">
        <p:scale>
          <a:sx n="151" d="100"/>
          <a:sy n="151" d="100"/>
        </p:scale>
        <p:origin x="678" y="13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DF2A5-73EA-4FCB-B5AE-B8580AC4EEA4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5874F-DCBC-4EDB-9D62-895E1B66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06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926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190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380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854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108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878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524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937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236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317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835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103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31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51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07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392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20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802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1012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240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4295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889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570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512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01175-608E-4CF0-AFCE-88287FB87CEA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9971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87724" y="2247714"/>
            <a:ext cx="4968552" cy="648072"/>
          </a:xfrm>
        </p:spPr>
        <p:txBody>
          <a:bodyPr anchor="t"/>
          <a:lstStyle/>
          <a:p>
            <a:r>
              <a:rPr lang="ru-RU" b="1" dirty="0"/>
              <a:t>Методы массивов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517AB04-330B-455B-B5F8-13F8090D8F72}"/>
              </a:ext>
            </a:extLst>
          </p:cNvPr>
          <p:cNvSpPr txBox="1">
            <a:spLocks/>
          </p:cNvSpPr>
          <p:nvPr/>
        </p:nvSpPr>
        <p:spPr>
          <a:xfrm>
            <a:off x="323528" y="3939902"/>
            <a:ext cx="1835696" cy="7920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342900" rtl="0" eaLnBrk="1" latinLnBrk="0" hangingPunct="1">
              <a:spcBef>
                <a:spcPct val="0"/>
              </a:spcBef>
              <a:buNone/>
              <a:defRPr sz="405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ru-RU" sz="1400" dirty="0">
                <a:solidFill>
                  <a:schemeClr val="tx1"/>
                </a:solidFill>
              </a:rPr>
              <a:t>Матвейчук Михаил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Frontend Team Lead 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Codes Commanders </a:t>
            </a:r>
            <a:endParaRPr lang="ru-RU" sz="1400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1468D0-A03D-473D-82E5-22A9FF92E7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74" t="26096" r="6477" b="16733"/>
          <a:stretch/>
        </p:blipFill>
        <p:spPr>
          <a:xfrm>
            <a:off x="6588224" y="267494"/>
            <a:ext cx="2249811" cy="823592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dist="50800" sx="1000" sy="1000" algn="ctr" rotWithShape="0">
              <a:srgbClr val="000000"/>
            </a:outerShdw>
            <a:reflection endPos="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909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Массивы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92D050"/>
                </a:solidFill>
              </a:rPr>
              <a:t>Что изучили ранее</a:t>
            </a:r>
            <a:r>
              <a:rPr lang="en-US" altLang="ru-RU" sz="1600" dirty="0">
                <a:solidFill>
                  <a:srgbClr val="92D050"/>
                </a:solidFill>
              </a:rPr>
              <a:t>?</a:t>
            </a:r>
            <a:endParaRPr lang="ru-RU" altLang="ru-RU" sz="1600" dirty="0">
              <a:solidFill>
                <a:srgbClr val="92D050"/>
              </a:solidFill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Что такое массив, каким способом объявляется?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Как получить значения массива?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Как поменять элемент массива?</a:t>
            </a:r>
            <a:endParaRPr lang="en-US" altLang="ru-RU" sz="1600" dirty="0">
              <a:solidFill>
                <a:schemeClr val="tx1"/>
              </a:solidFill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Для чего используется метод </a:t>
            </a:r>
            <a:r>
              <a:rPr lang="en-US" altLang="ru-RU" sz="1600" dirty="0">
                <a:solidFill>
                  <a:schemeClr val="tx1"/>
                </a:solidFill>
              </a:rPr>
              <a:t>at?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Что такое многомерные массивы?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Как узнать длину массива?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Методы </a:t>
            </a:r>
            <a:r>
              <a:rPr lang="en-US" altLang="ru-RU" sz="1600" dirty="0">
                <a:solidFill>
                  <a:schemeClr val="tx1"/>
                </a:solidFill>
              </a:rPr>
              <a:t>push/pop/shift/unshift.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Что такое очередь и стек?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Способы перебора массивов?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endParaRPr lang="ru-RU" altLang="ru-R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192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CBA4E2-D840-44AD-A8C5-B07E96BD6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1989257"/>
            <a:ext cx="7560840" cy="798517"/>
          </a:xfrm>
        </p:spPr>
        <p:txBody>
          <a:bodyPr>
            <a:noAutofit/>
          </a:bodyPr>
          <a:lstStyle/>
          <a:p>
            <a:r>
              <a:rPr lang="ru-RU" sz="3600" dirty="0"/>
              <a:t>Домашнее задание </a:t>
            </a:r>
            <a:r>
              <a:rPr lang="ru-RU" sz="3600" dirty="0" err="1"/>
              <a:t>лайфкодинг</a:t>
            </a:r>
            <a:r>
              <a:rPr lang="ru-RU" sz="3600" dirty="0"/>
              <a:t> </a:t>
            </a:r>
            <a:r>
              <a:rPr lang="ru-RU" sz="3600" dirty="0">
                <a:sym typeface="Wingdings" panose="05000000000000000000" pitchFamily="2" charset="2"/>
              </a:rPr>
              <a:t>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988592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Домашнее задание </a:t>
            </a:r>
            <a:r>
              <a:rPr lang="ru-RU" sz="2800" dirty="0" err="1"/>
              <a:t>лайфкодинг</a:t>
            </a:r>
            <a:r>
              <a:rPr lang="ru-RU" sz="2800" dirty="0"/>
              <a:t> </a:t>
            </a:r>
            <a:r>
              <a:rPr lang="ru-RU" sz="2800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  <p:sp>
        <p:nvSpPr>
          <p:cNvPr id="8" name="Содержимое 2">
            <a:extLst>
              <a:ext uri="{FF2B5EF4-FFF2-40B4-BE49-F238E27FC236}">
                <a16:creationId xmlns:a16="http://schemas.microsoft.com/office/drawing/2014/main" id="{0B3D631C-95EC-4886-9278-2721014B9010}"/>
              </a:ext>
            </a:extLst>
          </p:cNvPr>
          <p:cNvSpPr txBox="1">
            <a:spLocks/>
          </p:cNvSpPr>
          <p:nvPr/>
        </p:nvSpPr>
        <p:spPr>
          <a:xfrm>
            <a:off x="785786" y="771550"/>
            <a:ext cx="738352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Напишите функцию, которая принимает массив строк и добавляет в него строку "</a:t>
            </a:r>
            <a:r>
              <a:rPr lang="ru-RU" altLang="ru-RU" sz="1600" dirty="0" err="1">
                <a:solidFill>
                  <a:schemeClr val="tx1"/>
                </a:solidFill>
              </a:rPr>
              <a:t>Hello</a:t>
            </a:r>
            <a:r>
              <a:rPr lang="ru-RU" altLang="ru-RU" sz="1600" dirty="0">
                <a:solidFill>
                  <a:schemeClr val="tx1"/>
                </a:solidFill>
              </a:rPr>
              <a:t>" с помощью метода </a:t>
            </a:r>
            <a:r>
              <a:rPr lang="ru-RU" altLang="ru-RU" sz="1600" dirty="0" err="1">
                <a:solidFill>
                  <a:schemeClr val="tx1"/>
                </a:solidFill>
              </a:rPr>
              <a:t>push</a:t>
            </a:r>
            <a:r>
              <a:rPr lang="en-US" altLang="ru-RU" sz="1600" dirty="0">
                <a:solidFill>
                  <a:schemeClr val="tx1"/>
                </a:solidFill>
              </a:rPr>
              <a:t>.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Напишите функцию, которая принимает массив чисел и возвращает сумму всех элементов массива с помощью цикла </a:t>
            </a:r>
            <a:r>
              <a:rPr lang="ru-RU" altLang="ru-RU" sz="1600" dirty="0" err="1">
                <a:solidFill>
                  <a:schemeClr val="tx1"/>
                </a:solidFill>
              </a:rPr>
              <a:t>for</a:t>
            </a:r>
            <a:r>
              <a:rPr lang="ru-RU" altLang="ru-RU" sz="1600" dirty="0">
                <a:solidFill>
                  <a:schemeClr val="tx1"/>
                </a:solidFill>
              </a:rPr>
              <a:t>...</a:t>
            </a:r>
            <a:r>
              <a:rPr lang="ru-RU" altLang="ru-RU" sz="1600" dirty="0" err="1">
                <a:solidFill>
                  <a:schemeClr val="tx1"/>
                </a:solidFill>
              </a:rPr>
              <a:t>of</a:t>
            </a:r>
            <a:endParaRPr lang="en-US" altLang="ru-RU" sz="1600" dirty="0">
              <a:solidFill>
                <a:schemeClr val="tx1"/>
              </a:solidFill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Напишите функцию </a:t>
            </a:r>
            <a:r>
              <a:rPr lang="ru-RU" altLang="ru-RU" sz="1600" dirty="0" err="1">
                <a:solidFill>
                  <a:schemeClr val="tx1"/>
                </a:solidFill>
              </a:rPr>
              <a:t>sumInput</a:t>
            </a:r>
            <a:r>
              <a:rPr lang="ru-RU" altLang="ru-RU" sz="1600" dirty="0">
                <a:solidFill>
                  <a:schemeClr val="tx1"/>
                </a:solidFill>
              </a:rPr>
              <a:t>(), которая:</a:t>
            </a:r>
            <a:endParaRPr lang="en-US" altLang="ru-RU" sz="1600" dirty="0">
              <a:solidFill>
                <a:schemeClr val="tx1"/>
              </a:solidFill>
            </a:endParaRPr>
          </a:p>
          <a:p>
            <a:pPr marL="300038" lvl="1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Просит пользователя ввести значения, используя </a:t>
            </a:r>
            <a:r>
              <a:rPr lang="ru-RU" altLang="ru-RU" sz="1600" dirty="0" err="1">
                <a:solidFill>
                  <a:schemeClr val="tx1"/>
                </a:solidFill>
              </a:rPr>
              <a:t>prompt</a:t>
            </a:r>
            <a:r>
              <a:rPr lang="ru-RU" altLang="ru-RU" sz="1600" dirty="0">
                <a:solidFill>
                  <a:schemeClr val="tx1"/>
                </a:solidFill>
              </a:rPr>
              <a:t> и сохраняет их в массив.</a:t>
            </a:r>
          </a:p>
          <a:p>
            <a:pPr marL="300038" lvl="1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Заканчивает запрашивать значения, когда пользователь введёт не числовое значение, пустую строку или нажмёт «Отмена».</a:t>
            </a:r>
          </a:p>
          <a:p>
            <a:pPr marL="300038" lvl="1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Подсчитывает и возвращает сумму элементов массива.</a:t>
            </a:r>
          </a:p>
          <a:p>
            <a:pPr marL="300038" lvl="1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P.S. Ноль 0 – считается числом, не останавливайте ввод значений при вводе «0»</a:t>
            </a:r>
          </a:p>
        </p:txBody>
      </p:sp>
    </p:spTree>
    <p:extLst>
      <p:ext uri="{BB962C8B-B14F-4D97-AF65-F5344CB8AC3E}">
        <p14:creationId xmlns:p14="http://schemas.microsoft.com/office/powerpoint/2010/main" val="2329433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483768" y="2211710"/>
            <a:ext cx="4752528" cy="648072"/>
          </a:xfrm>
        </p:spPr>
        <p:txBody>
          <a:bodyPr anchor="t"/>
          <a:lstStyle/>
          <a:p>
            <a:pPr algn="ctr"/>
            <a:r>
              <a:rPr lang="ru-RU" sz="4000" b="1" dirty="0"/>
              <a:t>Методы массивов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989395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Методы массивов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600" dirty="0"/>
              <a:t>Добавление/удаление элементов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600" dirty="0"/>
              <a:t>Методы, которые добавляют и удаляют элементы из начала или конца: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600" dirty="0" err="1">
                <a:latin typeface="Consolas" panose="020B0609020204030204" pitchFamily="49" charset="0"/>
              </a:rPr>
              <a:t>arr.</a:t>
            </a:r>
            <a:r>
              <a:rPr 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push</a:t>
            </a:r>
            <a:r>
              <a:rPr lang="ru-RU" sz="1600" dirty="0">
                <a:latin typeface="Consolas" panose="020B0609020204030204" pitchFamily="49" charset="0"/>
              </a:rPr>
              <a:t>(...</a:t>
            </a:r>
            <a:r>
              <a:rPr lang="ru-RU" sz="1600" dirty="0" err="1">
                <a:latin typeface="Consolas" panose="020B0609020204030204" pitchFamily="49" charset="0"/>
              </a:rPr>
              <a:t>items</a:t>
            </a:r>
            <a:r>
              <a:rPr lang="ru-RU" sz="1600" dirty="0">
                <a:latin typeface="Consolas" panose="020B0609020204030204" pitchFamily="49" charset="0"/>
              </a:rPr>
              <a:t>) – </a:t>
            </a:r>
            <a:r>
              <a:rPr 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добавляет элементы в конец,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600" dirty="0" err="1">
                <a:latin typeface="Consolas" panose="020B0609020204030204" pitchFamily="49" charset="0"/>
              </a:rPr>
              <a:t>arr.</a:t>
            </a:r>
            <a:r>
              <a:rPr 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pop</a:t>
            </a:r>
            <a:r>
              <a:rPr lang="ru-RU" sz="1600" dirty="0">
                <a:latin typeface="Consolas" panose="020B0609020204030204" pitchFamily="49" charset="0"/>
              </a:rPr>
              <a:t>() – </a:t>
            </a:r>
            <a:r>
              <a:rPr 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извлекает элемент из конца,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600" dirty="0" err="1">
                <a:latin typeface="Consolas" panose="020B0609020204030204" pitchFamily="49" charset="0"/>
              </a:rPr>
              <a:t>arr.</a:t>
            </a:r>
            <a:r>
              <a:rPr 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shift</a:t>
            </a:r>
            <a:r>
              <a:rPr lang="ru-RU" sz="1600" dirty="0">
                <a:latin typeface="Consolas" panose="020B0609020204030204" pitchFamily="49" charset="0"/>
              </a:rPr>
              <a:t>() – </a:t>
            </a:r>
            <a:r>
              <a:rPr 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извлекает элемент из начала,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600" dirty="0" err="1">
                <a:latin typeface="Consolas" panose="020B0609020204030204" pitchFamily="49" charset="0"/>
              </a:rPr>
              <a:t>arr.</a:t>
            </a:r>
            <a:r>
              <a:rPr 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unshift</a:t>
            </a:r>
            <a:r>
              <a:rPr lang="ru-RU" sz="1600" dirty="0">
                <a:latin typeface="Consolas" panose="020B0609020204030204" pitchFamily="49" charset="0"/>
              </a:rPr>
              <a:t>(...</a:t>
            </a:r>
            <a:r>
              <a:rPr lang="ru-RU" sz="1600" dirty="0" err="1">
                <a:latin typeface="Consolas" panose="020B0609020204030204" pitchFamily="49" charset="0"/>
              </a:rPr>
              <a:t>items</a:t>
            </a:r>
            <a:r>
              <a:rPr lang="ru-RU" sz="1600" dirty="0">
                <a:latin typeface="Consolas" panose="020B0609020204030204" pitchFamily="49" charset="0"/>
              </a:rPr>
              <a:t>) – </a:t>
            </a:r>
            <a:r>
              <a:rPr 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добавляет элементы в начало.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600" b="1" dirty="0">
                <a:solidFill>
                  <a:srgbClr val="FFFF00"/>
                </a:solidFill>
              </a:rPr>
              <a:t>splice</a:t>
            </a:r>
            <a:endParaRPr lang="ru-RU" sz="1600" b="1" dirty="0">
              <a:solidFill>
                <a:srgbClr val="FFFF00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600" dirty="0">
                <a:solidFill>
                  <a:schemeClr val="tx1"/>
                </a:solidFill>
              </a:rPr>
              <a:t>Для удаления элементов в массиве: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"I", "go", "home"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delete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]; 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удалить "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go"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] ); 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// undefined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теперь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"I",  , "home"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length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); /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/ 3</a:t>
            </a:r>
            <a:endParaRPr 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600" dirty="0"/>
              <a:t>Метод </a:t>
            </a:r>
            <a:r>
              <a:rPr lang="ru-RU" sz="1600" dirty="0" err="1">
                <a:solidFill>
                  <a:srgbClr val="FFFF00"/>
                </a:solidFill>
              </a:rPr>
              <a:t>arr.splice</a:t>
            </a:r>
            <a:r>
              <a:rPr lang="ru-RU" sz="1600" dirty="0">
                <a:solidFill>
                  <a:srgbClr val="FFFF00"/>
                </a:solidFill>
              </a:rPr>
              <a:t> </a:t>
            </a:r>
            <a:r>
              <a:rPr lang="ru-RU" sz="1600" dirty="0"/>
              <a:t>– это универсальный «швейцарский нож» для работы с массивами. Умеет всё: добавлять, удалять и заменять элементы.</a:t>
            </a:r>
            <a:endParaRPr lang="ru-RU" sz="1600" b="1" dirty="0">
              <a:solidFill>
                <a:srgbClr val="FFFF00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dirty="0"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150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Методы массивов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600" b="1" dirty="0">
                <a:solidFill>
                  <a:srgbClr val="FFFF00"/>
                </a:solidFill>
              </a:rPr>
              <a:t>Синтаксис: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splice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(start[,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deleteCount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, elem1, ...,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elemN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])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ts val="600"/>
              </a:spcBef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Он изменяет </a:t>
            </a:r>
            <a:r>
              <a:rPr lang="ru-RU" altLang="ru-RU" sz="1600" dirty="0" err="1">
                <a:solidFill>
                  <a:srgbClr val="FFFF00"/>
                </a:solidFill>
              </a:rPr>
              <a:t>arr</a:t>
            </a:r>
            <a:r>
              <a:rPr lang="ru-RU" altLang="ru-RU" sz="1600" dirty="0">
                <a:solidFill>
                  <a:srgbClr val="E2E3E7"/>
                </a:solidFill>
              </a:rPr>
              <a:t> начиная с индекса </a:t>
            </a:r>
            <a:r>
              <a:rPr lang="ru-RU" altLang="ru-RU" sz="1600" dirty="0" err="1">
                <a:solidFill>
                  <a:srgbClr val="FFFF00"/>
                </a:solidFill>
              </a:rPr>
              <a:t>start</a:t>
            </a:r>
            <a:r>
              <a:rPr lang="ru-RU" altLang="ru-RU" sz="1600" dirty="0">
                <a:solidFill>
                  <a:srgbClr val="E2E3E7"/>
                </a:solidFill>
              </a:rPr>
              <a:t>: удаляет </a:t>
            </a:r>
            <a:r>
              <a:rPr lang="ru-RU" altLang="ru-RU" sz="1600" dirty="0" err="1">
                <a:solidFill>
                  <a:srgbClr val="FFFF00"/>
                </a:solidFill>
              </a:rPr>
              <a:t>deleteCount</a:t>
            </a:r>
            <a:r>
              <a:rPr lang="ru-RU" altLang="ru-RU" sz="1600" dirty="0">
                <a:solidFill>
                  <a:srgbClr val="E2E3E7"/>
                </a:solidFill>
              </a:rPr>
              <a:t> элементов и затем вставляет </a:t>
            </a:r>
            <a:r>
              <a:rPr lang="ru-RU" altLang="ru-RU" sz="1600" dirty="0">
                <a:solidFill>
                  <a:srgbClr val="FFFF00"/>
                </a:solidFill>
              </a:rPr>
              <a:t>elem1</a:t>
            </a:r>
            <a:r>
              <a:rPr lang="ru-RU" altLang="ru-RU" sz="1600" dirty="0">
                <a:solidFill>
                  <a:schemeClr val="tx1"/>
                </a:solidFill>
              </a:rPr>
              <a:t>, </a:t>
            </a:r>
            <a:r>
              <a:rPr lang="ru-RU" altLang="ru-RU" sz="1600" dirty="0">
                <a:solidFill>
                  <a:srgbClr val="FFFF00"/>
                </a:solidFill>
              </a:rPr>
              <a:t>...,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  <a:r>
              <a:rPr lang="ru-RU" altLang="ru-RU" sz="1600" dirty="0" err="1">
                <a:solidFill>
                  <a:srgbClr val="FFFF00"/>
                </a:solidFill>
              </a:rPr>
              <a:t>elemN</a:t>
            </a:r>
            <a:r>
              <a:rPr lang="ru-RU" altLang="ru-RU" sz="1600" dirty="0">
                <a:solidFill>
                  <a:srgbClr val="E2E3E7"/>
                </a:solidFill>
              </a:rPr>
              <a:t> на их место. Возвращает массив из удалённых элементов.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</a:p>
          <a:p>
            <a:pPr mar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sz="1600" dirty="0"/>
              <a:t>Удаление: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["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Я", "изучаю", "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JavaScript"];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splice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начиная с индекса 1, удалить 1 элемент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);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 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осталось ["Я", "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JavaScript"]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600" dirty="0"/>
              <a:t>Удаление 3х элементов с заменой их двумя другими: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"Я", "изучаю", "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JavaScript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", "прямо", "сейчас"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удалить 3 первых элемента и заменить их другими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ru-RU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splice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0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 "Давай"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 "танцевать"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)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теперь ["Давай", "танцевать", "прямо", "сейчас"]</a:t>
            </a:r>
          </a:p>
        </p:txBody>
      </p:sp>
    </p:spTree>
    <p:extLst>
      <p:ext uri="{BB962C8B-B14F-4D97-AF65-F5344CB8AC3E}">
        <p14:creationId xmlns:p14="http://schemas.microsoft.com/office/powerpoint/2010/main" val="3381132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Методы массивов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Возвращение удаленных элементов: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Я", "изучаю", "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JavaScript", 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прямо", "сейчас"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удалить 2 первых элемента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removed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splice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0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removed 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Я", "изучаю" &lt;-- массив из удалённых элементов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Метод </a:t>
            </a:r>
            <a:r>
              <a:rPr lang="en-US" altLang="ru-RU" sz="1600" dirty="0">
                <a:solidFill>
                  <a:srgbClr val="FFFF00"/>
                </a:solidFill>
              </a:rPr>
              <a:t>splice</a:t>
            </a:r>
            <a:r>
              <a:rPr lang="en-US" altLang="ru-RU" sz="1600" dirty="0">
                <a:solidFill>
                  <a:schemeClr val="tx1"/>
                </a:solidFill>
              </a:rPr>
              <a:t> </a:t>
            </a:r>
            <a:r>
              <a:rPr lang="ru-RU" altLang="ru-RU" sz="1600" dirty="0">
                <a:solidFill>
                  <a:schemeClr val="tx1"/>
                </a:solidFill>
              </a:rPr>
              <a:t>также может вставлять элементы без удаления, для этого достаточно установить </a:t>
            </a:r>
            <a:r>
              <a:rPr lang="en-US" altLang="ru-RU" sz="1600" dirty="0" err="1">
                <a:solidFill>
                  <a:srgbClr val="FFFF00"/>
                </a:solidFill>
              </a:rPr>
              <a:t>deleteCount</a:t>
            </a:r>
            <a:r>
              <a:rPr lang="en-US" altLang="ru-RU" sz="1600" dirty="0">
                <a:solidFill>
                  <a:schemeClr val="tx1"/>
                </a:solidFill>
              </a:rPr>
              <a:t> </a:t>
            </a:r>
            <a:r>
              <a:rPr lang="ru-RU" altLang="ru-RU" sz="1600" dirty="0">
                <a:solidFill>
                  <a:schemeClr val="tx1"/>
                </a:solidFill>
              </a:rPr>
              <a:t>в 0: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Я", "изучаю", "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JavaScript"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с индекса 2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удалить 0 элементов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/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 вставить "сложный", "язык"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splice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(2, 0,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сложный", "язык"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Я", "изучаю", "сложный", "язык", "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JavaScript"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503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Методы массивов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Отрицательные индексы разрешены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В этом и в других методах массива допускается использование отрицательных индексов. Они определяют позицию с конца массива, как тут: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600" dirty="0">
                <a:solidFill>
                  <a:srgbClr val="E2E3E7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 err="1">
                <a:solidFill>
                  <a:srgbClr val="E2E3E7"/>
                </a:solidFill>
                <a:latin typeface="Consolas" panose="020B0609020204030204" pitchFamily="49" charset="0"/>
              </a:rPr>
              <a:t>arr</a:t>
            </a:r>
            <a:r>
              <a:rPr lang="ru-RU" altLang="ru-RU" sz="1600" dirty="0">
                <a:solidFill>
                  <a:srgbClr val="E2E3E7"/>
                </a:solidFill>
                <a:latin typeface="Consolas" panose="020B0609020204030204" pitchFamily="49" charset="0"/>
              </a:rPr>
              <a:t> = [1, 2, 5];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начиная с индекса -1 (перед последним элементом) // удалить 0 элементов, // затем вставить числа 3 и 4</a:t>
            </a:r>
            <a:r>
              <a:rPr lang="ru-RU" altLang="ru-RU" sz="1600" dirty="0">
                <a:solidFill>
                  <a:srgbClr val="E2E3E7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 err="1">
                <a:solidFill>
                  <a:srgbClr val="E2E3E7"/>
                </a:solidFill>
                <a:latin typeface="Consolas" panose="020B0609020204030204" pitchFamily="49" charset="0"/>
              </a:rPr>
              <a:t>arr.</a:t>
            </a:r>
            <a:r>
              <a:rPr lang="ru-RU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splice</a:t>
            </a:r>
            <a:r>
              <a:rPr lang="ru-RU" altLang="ru-RU" sz="1600" dirty="0">
                <a:solidFill>
                  <a:srgbClr val="E2E3E7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-1, 0, 3, 4</a:t>
            </a:r>
            <a:r>
              <a:rPr lang="ru-RU" altLang="ru-RU" sz="1600" dirty="0">
                <a:solidFill>
                  <a:srgbClr val="E2E3E7"/>
                </a:solidFill>
                <a:latin typeface="Consolas" panose="020B0609020204030204" pitchFamily="49" charset="0"/>
              </a:rPr>
              <a:t>); </a:t>
            </a:r>
            <a:endParaRPr lang="en-US" altLang="ru-RU" sz="1600" dirty="0">
              <a:solidFill>
                <a:srgbClr val="E2E3E7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600" dirty="0">
                <a:solidFill>
                  <a:srgbClr val="E2E3E7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600" dirty="0" err="1">
                <a:solidFill>
                  <a:srgbClr val="E2E3E7"/>
                </a:solidFill>
                <a:latin typeface="Consolas" panose="020B0609020204030204" pitchFamily="49" charset="0"/>
              </a:rPr>
              <a:t>arr</a:t>
            </a:r>
            <a:r>
              <a:rPr lang="ru-RU" altLang="ru-RU" sz="1600" dirty="0">
                <a:solidFill>
                  <a:srgbClr val="E2E3E7"/>
                </a:solidFill>
                <a:latin typeface="Consolas" panose="020B0609020204030204" pitchFamily="49" charset="0"/>
              </a:rPr>
              <a:t> );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1,2,3,4,5</a:t>
            </a:r>
            <a:endParaRPr lang="en-US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600" b="1" dirty="0">
                <a:solidFill>
                  <a:srgbClr val="FFFF00"/>
                </a:solidFill>
              </a:rPr>
              <a:t>slice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Метод </a:t>
            </a:r>
            <a:r>
              <a:rPr lang="ru-RU" altLang="ru-RU" sz="1600" dirty="0" err="1">
                <a:solidFill>
                  <a:srgbClr val="FFFF00"/>
                </a:solidFill>
              </a:rPr>
              <a:t>arr.slice</a:t>
            </a:r>
            <a:r>
              <a:rPr lang="ru-RU" altLang="ru-RU" sz="1600" dirty="0">
                <a:solidFill>
                  <a:srgbClr val="FFFF00"/>
                </a:solidFill>
              </a:rPr>
              <a:t> </a:t>
            </a:r>
            <a:r>
              <a:rPr lang="ru-RU" altLang="ru-RU" sz="1600" dirty="0">
                <a:solidFill>
                  <a:srgbClr val="E2E3E7"/>
                </a:solidFill>
              </a:rPr>
              <a:t>намного проще, чем похожий на него </a:t>
            </a:r>
            <a:r>
              <a:rPr lang="ru-RU" altLang="ru-RU" sz="1600" dirty="0" err="1">
                <a:solidFill>
                  <a:srgbClr val="FFFF00"/>
                </a:solidFill>
              </a:rPr>
              <a:t>arr.splice</a:t>
            </a:r>
            <a:r>
              <a:rPr lang="ru-RU" altLang="ru-RU" sz="1600" dirty="0">
                <a:solidFill>
                  <a:srgbClr val="E2E3E7"/>
                </a:solidFill>
              </a:rPr>
              <a:t>:</a:t>
            </a:r>
          </a:p>
          <a:p>
            <a:pPr mar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Синтаксис: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ru-RU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slice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start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], [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end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])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Он возвращает новый массив, в который копирует все элементы с индекса </a:t>
            </a:r>
            <a:r>
              <a:rPr lang="ru-RU" altLang="ru-RU" sz="1600" dirty="0" err="1">
                <a:solidFill>
                  <a:srgbClr val="FFFF00"/>
                </a:solidFill>
              </a:rPr>
              <a:t>start</a:t>
            </a:r>
            <a:r>
              <a:rPr lang="ru-RU" altLang="ru-RU" sz="1600" dirty="0">
                <a:solidFill>
                  <a:schemeClr val="tx1"/>
                </a:solidFill>
              </a:rPr>
              <a:t> до </a:t>
            </a:r>
            <a:r>
              <a:rPr lang="ru-RU" altLang="ru-RU" sz="1600" dirty="0" err="1">
                <a:solidFill>
                  <a:srgbClr val="FFFF00"/>
                </a:solidFill>
              </a:rPr>
              <a:t>end</a:t>
            </a:r>
            <a:r>
              <a:rPr lang="ru-RU" altLang="ru-RU" sz="1600" dirty="0">
                <a:solidFill>
                  <a:schemeClr val="tx1"/>
                </a:solidFill>
              </a:rPr>
              <a:t> (не включая </a:t>
            </a:r>
            <a:r>
              <a:rPr lang="ru-RU" altLang="ru-RU" sz="1600" dirty="0" err="1">
                <a:solidFill>
                  <a:srgbClr val="FFFF00"/>
                </a:solidFill>
              </a:rPr>
              <a:t>end</a:t>
            </a:r>
            <a:r>
              <a:rPr lang="ru-RU" altLang="ru-RU" sz="1600" dirty="0">
                <a:solidFill>
                  <a:schemeClr val="tx1"/>
                </a:solidFill>
              </a:rPr>
              <a:t>). </a:t>
            </a:r>
            <a:r>
              <a:rPr lang="ru-RU" altLang="ru-RU" sz="1600" dirty="0" err="1">
                <a:solidFill>
                  <a:srgbClr val="FFFF00"/>
                </a:solidFill>
              </a:rPr>
              <a:t>start</a:t>
            </a:r>
            <a:r>
              <a:rPr lang="ru-RU" altLang="ru-RU" sz="1600" dirty="0">
                <a:solidFill>
                  <a:schemeClr val="tx1"/>
                </a:solidFill>
              </a:rPr>
              <a:t> и </a:t>
            </a:r>
            <a:r>
              <a:rPr lang="ru-RU" altLang="ru-RU" sz="1600" dirty="0" err="1">
                <a:solidFill>
                  <a:srgbClr val="FFFF00"/>
                </a:solidFill>
              </a:rPr>
              <a:t>end</a:t>
            </a:r>
            <a:r>
              <a:rPr lang="ru-RU" altLang="ru-RU" sz="1600" dirty="0">
                <a:solidFill>
                  <a:schemeClr val="tx1"/>
                </a:solidFill>
              </a:rPr>
              <a:t> могут быть отрицательными, в этом случае отсчёт позиции будет вестись с конца массива.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600" b="1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545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Методы массивов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>
                <a:solidFill>
                  <a:srgbClr val="FFFF00"/>
                </a:solidFill>
              </a:rPr>
              <a:t>Например: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"t", "e", "s", "t"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slice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(1, 3) );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e,s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(копирует с 1 до 3)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slice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(-2) );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s,t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(копирует с -2 до конца)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>
                <a:solidFill>
                  <a:schemeClr val="tx1"/>
                </a:solidFill>
              </a:rPr>
              <a:t>Можно вызвать </a:t>
            </a:r>
            <a:r>
              <a:rPr lang="ru-RU" sz="1400" dirty="0" err="1">
                <a:solidFill>
                  <a:srgbClr val="FFFF00"/>
                </a:solidFill>
              </a:rPr>
              <a:t>slice</a:t>
            </a:r>
            <a:r>
              <a:rPr lang="ru-RU" sz="1400" dirty="0">
                <a:solidFill>
                  <a:schemeClr val="tx1"/>
                </a:solidFill>
              </a:rPr>
              <a:t> без аргументов: </a:t>
            </a:r>
            <a:r>
              <a:rPr lang="ru-RU" sz="1400" dirty="0" err="1">
                <a:solidFill>
                  <a:srgbClr val="FFFF00"/>
                </a:solidFill>
              </a:rPr>
              <a:t>arr.slice</a:t>
            </a:r>
            <a:r>
              <a:rPr lang="ru-RU" sz="1400" dirty="0">
                <a:solidFill>
                  <a:srgbClr val="FFFF00"/>
                </a:solidFill>
              </a:rPr>
              <a:t>()</a:t>
            </a:r>
            <a:r>
              <a:rPr lang="ru-RU" sz="1400" dirty="0">
                <a:solidFill>
                  <a:schemeClr val="tx1"/>
                </a:solidFill>
              </a:rPr>
              <a:t> создаёт копию </a:t>
            </a:r>
            <a:r>
              <a:rPr lang="ru-RU" sz="1400" dirty="0" err="1">
                <a:solidFill>
                  <a:srgbClr val="FFFF00"/>
                </a:solidFill>
              </a:rPr>
              <a:t>arr</a:t>
            </a:r>
            <a:r>
              <a:rPr lang="ru-RU" sz="1400" dirty="0">
                <a:solidFill>
                  <a:schemeClr val="tx1"/>
                </a:solidFill>
              </a:rPr>
              <a:t>. Это часто используют, чтобы создать копию массива для дальнейших преобразований, которые не должны менять исходный массив.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 err="1">
                <a:solidFill>
                  <a:srgbClr val="FFFF00"/>
                </a:solidFill>
              </a:rPr>
              <a:t>concat</a:t>
            </a:r>
            <a:endParaRPr lang="ru-RU" sz="1400" dirty="0">
              <a:solidFill>
                <a:srgbClr val="FFFF00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400" dirty="0">
                <a:solidFill>
                  <a:schemeClr val="tx1"/>
                </a:solidFill>
              </a:rPr>
              <a:t>Метод </a:t>
            </a:r>
            <a:r>
              <a:rPr lang="ru-RU" sz="1400" dirty="0" err="1">
                <a:solidFill>
                  <a:schemeClr val="tx1"/>
                </a:solidFill>
              </a:rPr>
              <a:t>arr.concat</a:t>
            </a:r>
            <a:r>
              <a:rPr lang="ru-RU" sz="1400" dirty="0">
                <a:solidFill>
                  <a:schemeClr val="tx1"/>
                </a:solidFill>
              </a:rPr>
              <a:t> создаёт новый массив, в который копирует данные из других массивов и дополнительные значения.</a:t>
            </a:r>
          </a:p>
          <a:p>
            <a:pPr marL="0" indent="0" defTabSz="91440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lang="ru-RU" sz="1400" dirty="0">
                <a:solidFill>
                  <a:srgbClr val="FFFF00"/>
                </a:solidFill>
              </a:rPr>
              <a:t>Синтаксис:</a:t>
            </a:r>
          </a:p>
          <a:p>
            <a:pPr mar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concat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(arg1, arg2...)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400" dirty="0">
                <a:solidFill>
                  <a:schemeClr val="tx1"/>
                </a:solidFill>
              </a:rPr>
              <a:t>Он принимает любое количество аргументов, которые могут быть как массивами, так и простыми значениями. В результате – новый массив, включающий в себя элементы из </a:t>
            </a:r>
            <a:r>
              <a:rPr lang="ru-RU" sz="1400" dirty="0" err="1">
                <a:solidFill>
                  <a:schemeClr val="tx1"/>
                </a:solidFill>
              </a:rPr>
              <a:t>arr</a:t>
            </a:r>
            <a:r>
              <a:rPr lang="ru-RU" sz="1400" dirty="0">
                <a:solidFill>
                  <a:schemeClr val="tx1"/>
                </a:solidFill>
              </a:rPr>
              <a:t>, затем arg1, arg2 и так далее. Если аргумент </a:t>
            </a:r>
            <a:r>
              <a:rPr lang="ru-RU" sz="1400" dirty="0" err="1">
                <a:solidFill>
                  <a:schemeClr val="tx1"/>
                </a:solidFill>
              </a:rPr>
              <a:t>argN</a:t>
            </a:r>
            <a:r>
              <a:rPr lang="ru-RU" sz="1400" dirty="0">
                <a:solidFill>
                  <a:schemeClr val="tx1"/>
                </a:solidFill>
              </a:rPr>
              <a:t> – массив, то копируются все его элементы. Иначе копируется сам аргумент.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605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Методы массивов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Например: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ru-RU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1, 2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создать массив из: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arr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и [3,4]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ru-RU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concat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ru-RU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3, 4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]) );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1,2,3,4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создать массив из: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arr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и [3,4] и [5,6]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ru-RU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concat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ru-RU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3, 4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], [</a:t>
            </a:r>
            <a:r>
              <a:rPr lang="ru-RU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5, 6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]) );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1,2,3,4,5,6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создать массив из: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arr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и [3,4], потом добавить значения 5 и 6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ru-RU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concat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([</a:t>
            </a:r>
            <a:r>
              <a:rPr lang="ru-RU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3, 4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ru-RU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5, 6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1,2,3,4,5,6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Обычно он копирует только элементы из массивов. Другие объекты, даже если они выглядят как массивы, добавляются как есть: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ru-RU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1, 2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arrayLike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0: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"что-то"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length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ru-RU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ru-RU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concat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arrayLike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1,2,[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object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Object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593531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87624" y="2211710"/>
            <a:ext cx="6048672" cy="648072"/>
          </a:xfrm>
        </p:spPr>
        <p:txBody>
          <a:bodyPr anchor="t"/>
          <a:lstStyle/>
          <a:p>
            <a:pPr algn="ctr"/>
            <a:r>
              <a:rPr lang="ru-RU" sz="4000" b="1" dirty="0"/>
              <a:t>Перебор массива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019396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Перебор массива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 err="1">
                <a:solidFill>
                  <a:srgbClr val="FFFF00"/>
                </a:solidFill>
              </a:rPr>
              <a:t>forEach</a:t>
            </a:r>
            <a:endParaRPr lang="ru-RU" altLang="ru-RU" sz="16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500" dirty="0"/>
              <a:t>Метод </a:t>
            </a:r>
            <a:r>
              <a:rPr lang="ru-RU" sz="1500" dirty="0" err="1">
                <a:solidFill>
                  <a:srgbClr val="FFFF00"/>
                </a:solidFill>
              </a:rPr>
              <a:t>arr.forEach</a:t>
            </a:r>
            <a:r>
              <a:rPr lang="ru-RU" sz="1500" dirty="0">
                <a:solidFill>
                  <a:srgbClr val="FFFF00"/>
                </a:solidFill>
              </a:rPr>
              <a:t> </a:t>
            </a:r>
            <a:r>
              <a:rPr lang="ru-RU" sz="1500" dirty="0"/>
              <a:t>позволяет запускать функцию для каждого элемента массива.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Синтаксис: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forEach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(function(item, index, array)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 // ...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делать что-то с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item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Например, этот код выведет на экран каждый элемент массива: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// Вызов </a:t>
            </a:r>
            <a:r>
              <a:rPr lang="en-US" altLang="ru-RU" sz="1500" dirty="0">
                <a:solidFill>
                  <a:schemeClr val="tx1"/>
                </a:solidFill>
              </a:rPr>
              <a:t>alert </a:t>
            </a:r>
            <a:r>
              <a:rPr lang="ru-RU" altLang="ru-RU" sz="1500" dirty="0">
                <a:solidFill>
                  <a:schemeClr val="tx1"/>
                </a:solidFill>
              </a:rPr>
              <a:t>для каждого элемента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Бильбо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", "Гэндальф", "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Назгул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].</a:t>
            </a:r>
            <a:r>
              <a:rPr lang="en-US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forEach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А этот вдобавок расскажет и о позиции элемента в целевом массиве: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Бильбо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", "Гэндальф", "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Назгул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].</a:t>
            </a:r>
            <a:r>
              <a:rPr lang="en-US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forEach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((item, index, array) =&gt;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(`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У ${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item} 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индекс ${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index} 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в ${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array}`);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Результат функции (если она что-то возвращает) отбрасывается и игнорируется.</a:t>
            </a:r>
          </a:p>
        </p:txBody>
      </p:sp>
    </p:spTree>
    <p:extLst>
      <p:ext uri="{BB962C8B-B14F-4D97-AF65-F5344CB8AC3E}">
        <p14:creationId xmlns:p14="http://schemas.microsoft.com/office/powerpoint/2010/main" val="634264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123728" y="2211710"/>
            <a:ext cx="4752528" cy="648072"/>
          </a:xfrm>
        </p:spPr>
        <p:txBody>
          <a:bodyPr anchor="t"/>
          <a:lstStyle/>
          <a:p>
            <a:pPr algn="ctr"/>
            <a:r>
              <a:rPr lang="ru-RU" sz="4000" b="1" dirty="0"/>
              <a:t>Поиск в массиве 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77984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Поиск в массиве 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50" dirty="0" err="1">
                <a:solidFill>
                  <a:srgbClr val="FFFF00"/>
                </a:solidFill>
              </a:rPr>
              <a:t>indexOf</a:t>
            </a:r>
            <a:r>
              <a:rPr lang="ru-RU" altLang="ru-RU" sz="1450" dirty="0">
                <a:solidFill>
                  <a:srgbClr val="FFFF00"/>
                </a:solidFill>
              </a:rPr>
              <a:t>/</a:t>
            </a:r>
            <a:r>
              <a:rPr lang="ru-RU" altLang="ru-RU" sz="1450" dirty="0" err="1">
                <a:solidFill>
                  <a:srgbClr val="FFFF00"/>
                </a:solidFill>
              </a:rPr>
              <a:t>lastIndexOf</a:t>
            </a:r>
            <a:r>
              <a:rPr lang="ru-RU" altLang="ru-RU" sz="1450" dirty="0">
                <a:solidFill>
                  <a:srgbClr val="FFFF00"/>
                </a:solidFill>
              </a:rPr>
              <a:t> и </a:t>
            </a:r>
            <a:r>
              <a:rPr lang="ru-RU" altLang="ru-RU" sz="1450" dirty="0" err="1">
                <a:solidFill>
                  <a:srgbClr val="FFFF00"/>
                </a:solidFill>
              </a:rPr>
              <a:t>includes</a:t>
            </a:r>
            <a:endParaRPr lang="ru-RU" altLang="ru-RU" sz="145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50" dirty="0">
                <a:solidFill>
                  <a:schemeClr val="tx1"/>
                </a:solidFill>
              </a:rPr>
              <a:t>У методов </a:t>
            </a:r>
            <a:r>
              <a:rPr lang="ru-RU" altLang="ru-RU" sz="1450" dirty="0" err="1">
                <a:solidFill>
                  <a:srgbClr val="FFFF00"/>
                </a:solidFill>
              </a:rPr>
              <a:t>arr.indexOf</a:t>
            </a:r>
            <a:r>
              <a:rPr lang="ru-RU" altLang="ru-RU" sz="1450" dirty="0">
                <a:solidFill>
                  <a:srgbClr val="FFFF00"/>
                </a:solidFill>
              </a:rPr>
              <a:t> </a:t>
            </a:r>
            <a:r>
              <a:rPr lang="ru-RU" altLang="ru-RU" sz="1450" dirty="0">
                <a:solidFill>
                  <a:schemeClr val="tx1"/>
                </a:solidFill>
              </a:rPr>
              <a:t>и </a:t>
            </a:r>
            <a:r>
              <a:rPr lang="ru-RU" altLang="ru-RU" sz="1450" dirty="0" err="1">
                <a:solidFill>
                  <a:srgbClr val="FFFF00"/>
                </a:solidFill>
              </a:rPr>
              <a:t>arr.includes</a:t>
            </a:r>
            <a:r>
              <a:rPr lang="ru-RU" altLang="ru-RU" sz="1450" dirty="0">
                <a:solidFill>
                  <a:srgbClr val="FFFF00"/>
                </a:solidFill>
              </a:rPr>
              <a:t> </a:t>
            </a:r>
            <a:r>
              <a:rPr lang="ru-RU" altLang="ru-RU" sz="1450" dirty="0">
                <a:solidFill>
                  <a:schemeClr val="tx1"/>
                </a:solidFill>
              </a:rPr>
              <a:t>одинаковый синтаксис и они делают по сути то же самое, что и их строковые аналоги, но работают с элементами вместо символов: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50" dirty="0" err="1">
                <a:solidFill>
                  <a:srgbClr val="FFFF00"/>
                </a:solidFill>
              </a:rPr>
              <a:t>arr.indexOf</a:t>
            </a:r>
            <a:r>
              <a:rPr lang="ru-RU" altLang="ru-RU" sz="1450" dirty="0">
                <a:solidFill>
                  <a:srgbClr val="FFFF00"/>
                </a:solidFill>
              </a:rPr>
              <a:t>(</a:t>
            </a:r>
            <a:r>
              <a:rPr lang="ru-RU" altLang="ru-RU" sz="1450" dirty="0" err="1">
                <a:solidFill>
                  <a:srgbClr val="FFFF00"/>
                </a:solidFill>
              </a:rPr>
              <a:t>item</a:t>
            </a:r>
            <a:r>
              <a:rPr lang="ru-RU" altLang="ru-RU" sz="1450" dirty="0">
                <a:solidFill>
                  <a:srgbClr val="FFFF00"/>
                </a:solidFill>
              </a:rPr>
              <a:t>,</a:t>
            </a:r>
            <a:r>
              <a:rPr lang="ru-RU" altLang="ru-RU" sz="1450" dirty="0">
                <a:solidFill>
                  <a:schemeClr val="tx1"/>
                </a:solidFill>
              </a:rPr>
              <a:t> </a:t>
            </a:r>
            <a:r>
              <a:rPr lang="ru-RU" altLang="ru-RU" sz="1450" dirty="0" err="1">
                <a:solidFill>
                  <a:srgbClr val="FFFF00"/>
                </a:solidFill>
              </a:rPr>
              <a:t>from</a:t>
            </a:r>
            <a:r>
              <a:rPr lang="ru-RU" altLang="ru-RU" sz="1450" dirty="0">
                <a:solidFill>
                  <a:srgbClr val="FFFF00"/>
                </a:solidFill>
              </a:rPr>
              <a:t>)</a:t>
            </a:r>
            <a:r>
              <a:rPr lang="ru-RU" altLang="ru-RU" sz="1450" dirty="0">
                <a:solidFill>
                  <a:schemeClr val="tx1"/>
                </a:solidFill>
              </a:rPr>
              <a:t> ищет </a:t>
            </a:r>
            <a:r>
              <a:rPr lang="ru-RU" altLang="ru-RU" sz="1450" dirty="0" err="1">
                <a:solidFill>
                  <a:srgbClr val="FFFF00"/>
                </a:solidFill>
              </a:rPr>
              <a:t>item</a:t>
            </a:r>
            <a:r>
              <a:rPr lang="ru-RU" altLang="ru-RU" sz="1450" dirty="0">
                <a:solidFill>
                  <a:schemeClr val="tx1"/>
                </a:solidFill>
              </a:rPr>
              <a:t> начиная с индекса </a:t>
            </a:r>
            <a:r>
              <a:rPr lang="ru-RU" altLang="ru-RU" sz="1450" dirty="0" err="1">
                <a:solidFill>
                  <a:srgbClr val="FFFF00"/>
                </a:solidFill>
              </a:rPr>
              <a:t>from</a:t>
            </a:r>
            <a:r>
              <a:rPr lang="ru-RU" altLang="ru-RU" sz="1450" dirty="0">
                <a:solidFill>
                  <a:schemeClr val="tx1"/>
                </a:solidFill>
              </a:rPr>
              <a:t> и возвращает номер индекса, на котором был найден искомый элемент, в противном случае -1.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50" dirty="0" err="1">
                <a:solidFill>
                  <a:srgbClr val="FFFF00"/>
                </a:solidFill>
              </a:rPr>
              <a:t>arr.includes</a:t>
            </a:r>
            <a:r>
              <a:rPr lang="ru-RU" altLang="ru-RU" sz="1450" dirty="0">
                <a:solidFill>
                  <a:srgbClr val="FFFF00"/>
                </a:solidFill>
              </a:rPr>
              <a:t>(</a:t>
            </a:r>
            <a:r>
              <a:rPr lang="ru-RU" altLang="ru-RU" sz="1450" dirty="0" err="1">
                <a:solidFill>
                  <a:srgbClr val="FFFF00"/>
                </a:solidFill>
              </a:rPr>
              <a:t>item</a:t>
            </a:r>
            <a:r>
              <a:rPr lang="ru-RU" altLang="ru-RU" sz="1450" dirty="0">
                <a:solidFill>
                  <a:srgbClr val="FFFF00"/>
                </a:solidFill>
              </a:rPr>
              <a:t>,</a:t>
            </a:r>
            <a:r>
              <a:rPr lang="ru-RU" altLang="ru-RU" sz="1450" dirty="0">
                <a:solidFill>
                  <a:schemeClr val="tx1"/>
                </a:solidFill>
              </a:rPr>
              <a:t> </a:t>
            </a:r>
            <a:r>
              <a:rPr lang="ru-RU" altLang="ru-RU" sz="1450" dirty="0" err="1">
                <a:solidFill>
                  <a:srgbClr val="FFFF00"/>
                </a:solidFill>
              </a:rPr>
              <a:t>from</a:t>
            </a:r>
            <a:r>
              <a:rPr lang="ru-RU" altLang="ru-RU" sz="1450" dirty="0">
                <a:solidFill>
                  <a:srgbClr val="FFFF00"/>
                </a:solidFill>
              </a:rPr>
              <a:t>)</a:t>
            </a:r>
            <a:r>
              <a:rPr lang="ru-RU" altLang="ru-RU" sz="1450" dirty="0">
                <a:solidFill>
                  <a:schemeClr val="tx1"/>
                </a:solidFill>
              </a:rPr>
              <a:t> ищет </a:t>
            </a:r>
            <a:r>
              <a:rPr lang="ru-RU" altLang="ru-RU" sz="1450" dirty="0" err="1">
                <a:solidFill>
                  <a:srgbClr val="FFFF00"/>
                </a:solidFill>
              </a:rPr>
              <a:t>item</a:t>
            </a:r>
            <a:r>
              <a:rPr lang="ru-RU" altLang="ru-RU" sz="1450" dirty="0">
                <a:solidFill>
                  <a:schemeClr val="tx1"/>
                </a:solidFill>
              </a:rPr>
              <a:t> начиная с индекса </a:t>
            </a:r>
            <a:r>
              <a:rPr lang="ru-RU" altLang="ru-RU" sz="1450" dirty="0" err="1">
                <a:solidFill>
                  <a:srgbClr val="FFFF00"/>
                </a:solidFill>
              </a:rPr>
              <a:t>from</a:t>
            </a:r>
            <a:r>
              <a:rPr lang="ru-RU" altLang="ru-RU" sz="1450" dirty="0">
                <a:solidFill>
                  <a:schemeClr val="tx1"/>
                </a:solidFill>
              </a:rPr>
              <a:t> и возвращает </a:t>
            </a:r>
            <a:r>
              <a:rPr lang="ru-RU" altLang="ru-RU" sz="1450" dirty="0" err="1">
                <a:solidFill>
                  <a:srgbClr val="FFFF00"/>
                </a:solidFill>
              </a:rPr>
              <a:t>true</a:t>
            </a:r>
            <a:r>
              <a:rPr lang="ru-RU" altLang="ru-RU" sz="1450" dirty="0">
                <a:solidFill>
                  <a:schemeClr val="tx1"/>
                </a:solidFill>
              </a:rPr>
              <a:t>, если поиск успешен.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50" dirty="0">
                <a:solidFill>
                  <a:schemeClr val="tx1"/>
                </a:solidFill>
              </a:rPr>
              <a:t>Обычно эти методы используются только с одним аргументом: искомым </a:t>
            </a:r>
            <a:r>
              <a:rPr lang="ru-RU" altLang="ru-RU" sz="1450" dirty="0" err="1">
                <a:solidFill>
                  <a:srgbClr val="FFFF00"/>
                </a:solidFill>
              </a:rPr>
              <a:t>item</a:t>
            </a:r>
            <a:r>
              <a:rPr lang="ru-RU" altLang="ru-RU" sz="1450" dirty="0">
                <a:solidFill>
                  <a:schemeClr val="tx1"/>
                </a:solidFill>
              </a:rPr>
              <a:t>. По умолчанию поиск ведется с начала.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50" dirty="0">
                <a:solidFill>
                  <a:srgbClr val="FFFF00"/>
                </a:solidFill>
              </a:rPr>
              <a:t>Например: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5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5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5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45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45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altLang="ru-RU" sz="145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450" dirty="0">
                <a:solidFill>
                  <a:srgbClr val="C907B2"/>
                </a:solidFill>
                <a:latin typeface="Consolas" panose="020B0609020204030204" pitchFamily="49" charset="0"/>
              </a:rPr>
              <a:t>0</a:t>
            </a:r>
            <a:r>
              <a:rPr lang="en-US" altLang="ru-RU" sz="1450" dirty="0">
                <a:solidFill>
                  <a:schemeClr val="tx1"/>
                </a:solidFill>
                <a:latin typeface="Consolas" panose="020B0609020204030204" pitchFamily="49" charset="0"/>
              </a:rPr>
              <a:t>, false];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5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5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5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450" dirty="0" err="1">
                <a:solidFill>
                  <a:srgbClr val="00B0F0"/>
                </a:solidFill>
                <a:latin typeface="Consolas" panose="020B0609020204030204" pitchFamily="49" charset="0"/>
              </a:rPr>
              <a:t>indexOf</a:t>
            </a:r>
            <a:r>
              <a:rPr lang="en-US" altLang="ru-RU" sz="1450" dirty="0">
                <a:solidFill>
                  <a:schemeClr val="tx1"/>
                </a:solidFill>
                <a:latin typeface="Consolas" panose="020B0609020204030204" pitchFamily="49" charset="0"/>
              </a:rPr>
              <a:t>(0) ); </a:t>
            </a:r>
            <a:r>
              <a:rPr lang="en-US" altLang="ru-RU" sz="1450" dirty="0">
                <a:solidFill>
                  <a:srgbClr val="FFFF00"/>
                </a:solidFill>
                <a:latin typeface="Consolas" panose="020B0609020204030204" pitchFamily="49" charset="0"/>
              </a:rPr>
              <a:t>// 1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5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5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5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450" dirty="0" err="1">
                <a:solidFill>
                  <a:srgbClr val="00B0F0"/>
                </a:solidFill>
                <a:latin typeface="Consolas" panose="020B0609020204030204" pitchFamily="49" charset="0"/>
              </a:rPr>
              <a:t>indexOf</a:t>
            </a:r>
            <a:r>
              <a:rPr lang="en-US" altLang="ru-RU" sz="1450" dirty="0">
                <a:solidFill>
                  <a:schemeClr val="tx1"/>
                </a:solidFill>
                <a:latin typeface="Consolas" panose="020B0609020204030204" pitchFamily="49" charset="0"/>
              </a:rPr>
              <a:t>(false) ); </a:t>
            </a:r>
            <a:r>
              <a:rPr lang="en-US" altLang="ru-RU" sz="1450" dirty="0">
                <a:solidFill>
                  <a:srgbClr val="FFFF00"/>
                </a:solidFill>
                <a:latin typeface="Consolas" panose="020B0609020204030204" pitchFamily="49" charset="0"/>
              </a:rPr>
              <a:t>// 2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5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5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5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450" dirty="0" err="1">
                <a:solidFill>
                  <a:srgbClr val="00B0F0"/>
                </a:solidFill>
                <a:latin typeface="Consolas" panose="020B0609020204030204" pitchFamily="49" charset="0"/>
              </a:rPr>
              <a:t>indexOf</a:t>
            </a:r>
            <a:r>
              <a:rPr lang="en-US" altLang="ru-RU" sz="1450" dirty="0">
                <a:solidFill>
                  <a:schemeClr val="tx1"/>
                </a:solidFill>
                <a:latin typeface="Consolas" panose="020B0609020204030204" pitchFamily="49" charset="0"/>
              </a:rPr>
              <a:t>(null) ); </a:t>
            </a:r>
            <a:r>
              <a:rPr lang="en-US" altLang="ru-RU" sz="1450" dirty="0">
                <a:solidFill>
                  <a:srgbClr val="FFFF00"/>
                </a:solidFill>
                <a:latin typeface="Consolas" panose="020B0609020204030204" pitchFamily="49" charset="0"/>
              </a:rPr>
              <a:t>// -1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5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5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5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450" dirty="0" err="1">
                <a:solidFill>
                  <a:srgbClr val="00B0F0"/>
                </a:solidFill>
                <a:latin typeface="Consolas" panose="020B0609020204030204" pitchFamily="49" charset="0"/>
              </a:rPr>
              <a:t>includes</a:t>
            </a:r>
            <a:r>
              <a:rPr lang="en-US" altLang="ru-RU" sz="1450" dirty="0">
                <a:solidFill>
                  <a:schemeClr val="tx1"/>
                </a:solidFill>
                <a:latin typeface="Consolas" panose="020B0609020204030204" pitchFamily="49" charset="0"/>
              </a:rPr>
              <a:t>(1) ); </a:t>
            </a:r>
            <a:r>
              <a:rPr lang="en-US" altLang="ru-RU" sz="1450" dirty="0">
                <a:solidFill>
                  <a:srgbClr val="FFFF00"/>
                </a:solidFill>
                <a:latin typeface="Consolas" panose="020B0609020204030204" pitchFamily="49" charset="0"/>
              </a:rPr>
              <a:t>// true</a:t>
            </a:r>
            <a:endParaRPr lang="ru-RU" altLang="ru-RU" sz="145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950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Поиск в массиве 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Пожалуйста, обратите внимание, что методы используют строгое сравнение ===. Таким образом, если мы ищем </a:t>
            </a:r>
            <a:r>
              <a:rPr lang="ru-RU" altLang="ru-RU" sz="1600" dirty="0" err="1">
                <a:solidFill>
                  <a:srgbClr val="FFFF00"/>
                </a:solidFill>
              </a:rPr>
              <a:t>false</a:t>
            </a:r>
            <a:r>
              <a:rPr lang="ru-RU" altLang="ru-RU" sz="1600" dirty="0">
                <a:solidFill>
                  <a:schemeClr val="tx1"/>
                </a:solidFill>
              </a:rPr>
              <a:t>, он находит именно </a:t>
            </a:r>
            <a:r>
              <a:rPr lang="ru-RU" altLang="ru-RU" sz="1600" dirty="0" err="1">
                <a:solidFill>
                  <a:srgbClr val="FFFF00"/>
                </a:solidFill>
              </a:rPr>
              <a:t>false</a:t>
            </a:r>
            <a:r>
              <a:rPr lang="ru-RU" altLang="ru-RU" sz="1600" dirty="0">
                <a:solidFill>
                  <a:schemeClr val="tx1"/>
                </a:solidFill>
              </a:rPr>
              <a:t>, а не ноль.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Если мы хотим проверить наличие элемента в массиве и нет необходимости знать его индекс, предпочтительно использовать </a:t>
            </a:r>
            <a:r>
              <a:rPr lang="ru-RU" altLang="ru-RU" sz="1600" dirty="0" err="1">
                <a:solidFill>
                  <a:srgbClr val="FFFF00"/>
                </a:solidFill>
              </a:rPr>
              <a:t>arr.includes</a:t>
            </a:r>
            <a:r>
              <a:rPr lang="ru-RU" altLang="ru-RU" sz="1600" dirty="0">
                <a:solidFill>
                  <a:srgbClr val="E2E3E7"/>
                </a:solidFill>
              </a:rPr>
              <a:t>.</a:t>
            </a:r>
            <a:endParaRPr lang="ru-RU" altLang="ru-RU" sz="16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Метод</a:t>
            </a:r>
            <a:r>
              <a:rPr lang="ru-RU" altLang="ru-RU" sz="1600" dirty="0">
                <a:solidFill>
                  <a:srgbClr val="E2E3E7"/>
                </a:solidFill>
              </a:rPr>
              <a:t> </a:t>
            </a:r>
            <a:r>
              <a:rPr lang="ru-RU" altLang="ru-RU" sz="1600" dirty="0" err="1">
                <a:solidFill>
                  <a:srgbClr val="FFFF00"/>
                </a:solidFill>
              </a:rPr>
              <a:t>arr.lastIndexOf</a:t>
            </a:r>
            <a:r>
              <a:rPr lang="ru-RU" altLang="ru-RU" sz="1600" dirty="0">
                <a:solidFill>
                  <a:srgbClr val="E2E3E7"/>
                </a:solidFill>
              </a:rPr>
              <a:t> </a:t>
            </a:r>
            <a:r>
              <a:rPr lang="ru-RU" altLang="ru-RU" sz="1600" dirty="0">
                <a:solidFill>
                  <a:schemeClr val="tx1"/>
                </a:solidFill>
              </a:rPr>
              <a:t>похож на </a:t>
            </a:r>
            <a:r>
              <a:rPr lang="ru-RU" altLang="ru-RU" sz="1600" dirty="0" err="1">
                <a:solidFill>
                  <a:srgbClr val="FFFF00"/>
                </a:solidFill>
              </a:rPr>
              <a:t>indexOf</a:t>
            </a:r>
            <a:r>
              <a:rPr lang="ru-RU" altLang="ru-RU" sz="1600" dirty="0">
                <a:solidFill>
                  <a:srgbClr val="E2E3E7"/>
                </a:solidFill>
              </a:rPr>
              <a:t>, </a:t>
            </a:r>
            <a:r>
              <a:rPr lang="ru-RU" altLang="ru-RU" sz="1600" dirty="0">
                <a:solidFill>
                  <a:schemeClr val="tx1"/>
                </a:solidFill>
              </a:rPr>
              <a:t>но ищет справа налево.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fruits = [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Яблоко', 'Апельсин', 'Яблоко'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fruits.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indexOf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Яблоко'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0 (первый 'Яблоко')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fruits.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lastIndexOf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Яблоко'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2 (последний 'Яблоко’)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Метод </a:t>
            </a:r>
            <a:r>
              <a:rPr lang="ru-RU" altLang="ru-RU" sz="1600" dirty="0" err="1">
                <a:solidFill>
                  <a:srgbClr val="FFFF00"/>
                </a:solidFill>
              </a:rPr>
              <a:t>includes</a:t>
            </a:r>
            <a:r>
              <a:rPr lang="ru-RU" altLang="ru-RU" sz="1600" dirty="0">
                <a:solidFill>
                  <a:schemeClr val="tx1"/>
                </a:solidFill>
              </a:rPr>
              <a:t> правильно обрабатывает </a:t>
            </a:r>
            <a:r>
              <a:rPr lang="ru-RU" altLang="ru-RU" sz="1600" dirty="0" err="1">
                <a:solidFill>
                  <a:srgbClr val="FFFF00"/>
                </a:solidFill>
              </a:rPr>
              <a:t>NaN</a:t>
            </a:r>
            <a:endParaRPr lang="ru-RU" altLang="ru-RU" sz="16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Незначительная, но заслуживающая внимания особенность </a:t>
            </a:r>
            <a:r>
              <a:rPr lang="ru-RU" altLang="ru-RU" sz="1600" dirty="0" err="1">
                <a:solidFill>
                  <a:srgbClr val="FFFF00"/>
                </a:solidFill>
              </a:rPr>
              <a:t>includes</a:t>
            </a:r>
            <a:r>
              <a:rPr lang="ru-RU" altLang="ru-RU" sz="1600" dirty="0">
                <a:solidFill>
                  <a:schemeClr val="tx1"/>
                </a:solidFill>
              </a:rPr>
              <a:t> – он правильно обрабатывает </a:t>
            </a:r>
            <a:r>
              <a:rPr lang="ru-RU" altLang="ru-RU" sz="1600" dirty="0" err="1">
                <a:solidFill>
                  <a:srgbClr val="FFFF00"/>
                </a:solidFill>
              </a:rPr>
              <a:t>NaN</a:t>
            </a:r>
            <a:r>
              <a:rPr lang="ru-RU" altLang="ru-RU" sz="1600" dirty="0">
                <a:solidFill>
                  <a:schemeClr val="tx1"/>
                </a:solidFill>
              </a:rPr>
              <a:t>, в отличие от </a:t>
            </a:r>
            <a:r>
              <a:rPr lang="ru-RU" altLang="ru-RU" sz="1600" dirty="0" err="1">
                <a:solidFill>
                  <a:srgbClr val="FFFF00"/>
                </a:solidFill>
              </a:rPr>
              <a:t>indexOf</a:t>
            </a:r>
            <a:r>
              <a:rPr lang="ru-RU" altLang="ru-RU" sz="1600" dirty="0">
                <a:solidFill>
                  <a:schemeClr val="tx1"/>
                </a:solidFill>
              </a:rPr>
              <a:t>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NaN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indexOf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NaN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-1 (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неверно, должен быть 0)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includes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NaN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 );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true (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верно)</a:t>
            </a:r>
          </a:p>
        </p:txBody>
      </p:sp>
    </p:spTree>
    <p:extLst>
      <p:ext uri="{BB962C8B-B14F-4D97-AF65-F5344CB8AC3E}">
        <p14:creationId xmlns:p14="http://schemas.microsoft.com/office/powerpoint/2010/main" val="3272257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Поиск в массиве 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FFFF00"/>
                </a:solidFill>
              </a:rPr>
              <a:t>find </a:t>
            </a:r>
            <a:r>
              <a:rPr lang="ru-RU" altLang="ru-RU" sz="1600" dirty="0">
                <a:solidFill>
                  <a:srgbClr val="FFFF00"/>
                </a:solidFill>
              </a:rPr>
              <a:t>и </a:t>
            </a:r>
            <a:r>
              <a:rPr lang="en-US" altLang="ru-RU" sz="1600" dirty="0" err="1">
                <a:solidFill>
                  <a:srgbClr val="FFFF00"/>
                </a:solidFill>
              </a:rPr>
              <a:t>findIndex</a:t>
            </a:r>
            <a:r>
              <a:rPr lang="en-US" altLang="ru-RU" sz="1600" dirty="0">
                <a:solidFill>
                  <a:srgbClr val="FFFF00"/>
                </a:solidFill>
              </a:rPr>
              <a:t>/</a:t>
            </a:r>
            <a:r>
              <a:rPr lang="en-US" altLang="ru-RU" sz="1600" dirty="0" err="1">
                <a:solidFill>
                  <a:srgbClr val="FFFF00"/>
                </a:solidFill>
              </a:rPr>
              <a:t>findLastIndex</a:t>
            </a:r>
            <a:endParaRPr lang="ru-RU" altLang="ru-RU" sz="16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Поиск по условию: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Синтаксис: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result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find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(item, index, array)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  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если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true -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возвращается текущий элемент и перебор прерывается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  // если все итерации оказались ложными, возвращается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undefined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});</a:t>
            </a:r>
            <a:endParaRPr lang="ru-RU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Функция вызывается по очереди для каждого элемента массива: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 err="1">
                <a:solidFill>
                  <a:srgbClr val="FFFF00"/>
                </a:solidFill>
              </a:rPr>
              <a:t>item</a:t>
            </a:r>
            <a:r>
              <a:rPr lang="ru-RU" altLang="ru-RU" sz="1600" dirty="0">
                <a:solidFill>
                  <a:schemeClr val="tx1"/>
                </a:solidFill>
              </a:rPr>
              <a:t> – очередной элемент.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 err="1">
                <a:solidFill>
                  <a:srgbClr val="FFFF00"/>
                </a:solidFill>
              </a:rPr>
              <a:t>index</a:t>
            </a:r>
            <a:r>
              <a:rPr lang="ru-RU" altLang="ru-RU" sz="1600" dirty="0">
                <a:solidFill>
                  <a:schemeClr val="tx1"/>
                </a:solidFill>
              </a:rPr>
              <a:t> – его индекс.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rgbClr val="FFFF00"/>
                </a:solidFill>
              </a:rPr>
              <a:t>array</a:t>
            </a:r>
            <a:r>
              <a:rPr lang="ru-RU" altLang="ru-RU" sz="1600" dirty="0">
                <a:solidFill>
                  <a:schemeClr val="tx1"/>
                </a:solidFill>
              </a:rPr>
              <a:t> – сам массив.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Если функция возвращает </a:t>
            </a:r>
            <a:r>
              <a:rPr lang="ru-RU" altLang="ru-RU" sz="1600" dirty="0" err="1">
                <a:solidFill>
                  <a:srgbClr val="FFFF00"/>
                </a:solidFill>
              </a:rPr>
              <a:t>true</a:t>
            </a:r>
            <a:r>
              <a:rPr lang="ru-RU" altLang="ru-RU" sz="1600" dirty="0">
                <a:solidFill>
                  <a:schemeClr val="tx1"/>
                </a:solidFill>
              </a:rPr>
              <a:t>, поиск прерывается и возвращается </a:t>
            </a:r>
            <a:r>
              <a:rPr lang="ru-RU" altLang="ru-RU" sz="1600" dirty="0" err="1">
                <a:solidFill>
                  <a:srgbClr val="FFFF00"/>
                </a:solidFill>
              </a:rPr>
              <a:t>item</a:t>
            </a:r>
            <a:r>
              <a:rPr lang="ru-RU" altLang="ru-RU" sz="1600" dirty="0">
                <a:solidFill>
                  <a:schemeClr val="tx1"/>
                </a:solidFill>
              </a:rPr>
              <a:t>. Если ничего не найдено, возвращается </a:t>
            </a:r>
            <a:r>
              <a:rPr lang="ru-RU" altLang="ru-RU" sz="1600" dirty="0" err="1">
                <a:solidFill>
                  <a:srgbClr val="FFFF00"/>
                </a:solidFill>
              </a:rPr>
              <a:t>undefined</a:t>
            </a:r>
            <a:r>
              <a:rPr lang="ru-RU" altLang="ru-RU" sz="16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5927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Поиск в массиве 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Например, у нас есть массив пользователей, каждый из которых имеет поля </a:t>
            </a:r>
            <a:r>
              <a:rPr lang="en-US" altLang="ru-RU" sz="1600" dirty="0">
                <a:solidFill>
                  <a:schemeClr val="tx1"/>
                </a:solidFill>
              </a:rPr>
              <a:t>id </a:t>
            </a:r>
            <a:r>
              <a:rPr lang="ru-RU" altLang="ru-RU" sz="1600" dirty="0">
                <a:solidFill>
                  <a:schemeClr val="tx1"/>
                </a:solidFill>
              </a:rPr>
              <a:t>и </a:t>
            </a:r>
            <a:r>
              <a:rPr lang="en-US" altLang="ru-RU" sz="1600" dirty="0">
                <a:solidFill>
                  <a:schemeClr val="tx1"/>
                </a:solidFill>
              </a:rPr>
              <a:t>name. </a:t>
            </a:r>
            <a:r>
              <a:rPr lang="ru-RU" altLang="ru-RU" sz="1600" dirty="0">
                <a:solidFill>
                  <a:schemeClr val="tx1"/>
                </a:solidFill>
              </a:rPr>
              <a:t>Найдем пользователя с </a:t>
            </a:r>
            <a:r>
              <a:rPr lang="en-US" altLang="ru-RU" sz="1600" dirty="0">
                <a:solidFill>
                  <a:schemeClr val="tx1"/>
                </a:solidFill>
              </a:rPr>
              <a:t>id == 1: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users = [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{id: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 name: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Вася"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},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{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id: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 name: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Петя"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},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{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id: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 name: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Маша"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endParaRPr lang="ru-RU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user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users.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find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(item =&gt; item.id ==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(user.name);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Вася</a:t>
            </a:r>
            <a:endParaRPr lang="en-US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В реальной жизни массивы объектов – обычное дело, поэтому метод </a:t>
            </a:r>
            <a:r>
              <a:rPr lang="ru-RU" altLang="ru-RU" sz="1600" dirty="0" err="1">
                <a:solidFill>
                  <a:srgbClr val="FFFF00"/>
                </a:solidFill>
              </a:rPr>
              <a:t>find</a:t>
            </a:r>
            <a:r>
              <a:rPr lang="ru-RU" altLang="ru-RU" sz="1600" dirty="0">
                <a:solidFill>
                  <a:schemeClr val="tx1"/>
                </a:solidFill>
              </a:rPr>
              <a:t> крайне полезен</a:t>
            </a:r>
            <a:r>
              <a:rPr lang="en-US" altLang="ru-RU" sz="1600" dirty="0">
                <a:solidFill>
                  <a:schemeClr val="tx1"/>
                </a:solidFill>
              </a:rPr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Обратите внимание, что в данном примере мы передаём </a:t>
            </a:r>
            <a:r>
              <a:rPr lang="ru-RU" altLang="ru-RU" sz="1600" dirty="0" err="1">
                <a:solidFill>
                  <a:srgbClr val="FFFF00"/>
                </a:solidFill>
              </a:rPr>
              <a:t>find</a:t>
            </a:r>
            <a:r>
              <a:rPr lang="ru-RU" altLang="ru-RU" sz="1600" dirty="0">
                <a:solidFill>
                  <a:srgbClr val="E2E3E7"/>
                </a:solidFill>
              </a:rPr>
              <a:t> функцию </a:t>
            </a:r>
            <a:r>
              <a:rPr lang="ru-RU" altLang="ru-RU" sz="1600" dirty="0" err="1">
                <a:solidFill>
                  <a:srgbClr val="FFFF00"/>
                </a:solidFill>
              </a:rPr>
              <a:t>item</a:t>
            </a:r>
            <a:r>
              <a:rPr lang="ru-RU" altLang="ru-RU" sz="1600" dirty="0">
                <a:solidFill>
                  <a:srgbClr val="FFFF00"/>
                </a:solidFill>
              </a:rPr>
              <a:t> =&gt;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  <a:r>
              <a:rPr lang="ru-RU" altLang="ru-RU" sz="1600" dirty="0">
                <a:solidFill>
                  <a:srgbClr val="FFFF00"/>
                </a:solidFill>
              </a:rPr>
              <a:t>item.id == 1</a:t>
            </a:r>
            <a:r>
              <a:rPr lang="ru-RU" altLang="ru-RU" sz="1600" dirty="0">
                <a:solidFill>
                  <a:srgbClr val="E2E3E7"/>
                </a:solidFill>
              </a:rPr>
              <a:t> с одним аргументом. Это типично, другие аргументы этой функции используются редко.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04114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Поиск в массиве 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У метода </a:t>
            </a:r>
            <a:r>
              <a:rPr lang="ru-RU" altLang="ru-RU" sz="1500" dirty="0" err="1">
                <a:solidFill>
                  <a:srgbClr val="FFFF00"/>
                </a:solidFill>
              </a:rPr>
              <a:t>arr.findIndex</a:t>
            </a:r>
            <a:r>
              <a:rPr lang="ru-RU" altLang="ru-RU" sz="1500" dirty="0">
                <a:solidFill>
                  <a:schemeClr val="tx1"/>
                </a:solidFill>
              </a:rPr>
              <a:t> такой же синтаксис, но он возвращает индекс, на котором был найден элемент, а не сам элемент. Значение -1 возвращается, если ничего не найдено.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Метод </a:t>
            </a:r>
            <a:r>
              <a:rPr lang="ru-RU" altLang="ru-RU" sz="1500" dirty="0" err="1">
                <a:solidFill>
                  <a:srgbClr val="FFFF00"/>
                </a:solidFill>
              </a:rPr>
              <a:t>arr.findLastIndex</a:t>
            </a:r>
            <a:r>
              <a:rPr lang="ru-RU" altLang="ru-RU" sz="1500" dirty="0">
                <a:solidFill>
                  <a:schemeClr val="tx1"/>
                </a:solidFill>
              </a:rPr>
              <a:t> похож на </a:t>
            </a:r>
            <a:r>
              <a:rPr lang="ru-RU" altLang="ru-RU" sz="1500" dirty="0" err="1">
                <a:solidFill>
                  <a:srgbClr val="FFFF00"/>
                </a:solidFill>
              </a:rPr>
              <a:t>findIndex</a:t>
            </a:r>
            <a:r>
              <a:rPr lang="ru-RU" altLang="ru-RU" sz="1500" dirty="0">
                <a:solidFill>
                  <a:schemeClr val="tx1"/>
                </a:solidFill>
              </a:rPr>
              <a:t>, но ищет справа налево, наподобие </a:t>
            </a:r>
            <a:r>
              <a:rPr lang="ru-RU" altLang="ru-RU" sz="1500" dirty="0" err="1">
                <a:solidFill>
                  <a:srgbClr val="FFFF00"/>
                </a:solidFill>
              </a:rPr>
              <a:t>lastIndexOf</a:t>
            </a:r>
            <a:r>
              <a:rPr lang="ru-RU" altLang="ru-RU" sz="1500" dirty="0">
                <a:solidFill>
                  <a:schemeClr val="tx1"/>
                </a:solidFill>
              </a:rPr>
              <a:t>.</a:t>
            </a:r>
            <a:endParaRPr lang="en-US" altLang="ru-RU" sz="15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Например: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users = [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{ id: 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 name: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Вася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 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},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{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id: 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 name: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Петя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 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},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{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id: 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 name: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Маша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 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},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{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id: 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4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 name: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Вася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 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// Найти индекс первого Васи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</a:rPr>
              <a:t>(</a:t>
            </a:r>
            <a:r>
              <a:rPr lang="en-US" altLang="ru-RU" sz="1500" dirty="0" err="1">
                <a:solidFill>
                  <a:schemeClr val="tx1"/>
                </a:solidFill>
              </a:rPr>
              <a:t>users.</a:t>
            </a:r>
            <a:r>
              <a:rPr lang="en-US" altLang="ru-RU" sz="1500" dirty="0" err="1">
                <a:solidFill>
                  <a:srgbClr val="00B0F0"/>
                </a:solidFill>
              </a:rPr>
              <a:t>findIndex</a:t>
            </a:r>
            <a:r>
              <a:rPr lang="en-US" altLang="ru-RU" sz="1500" dirty="0">
                <a:solidFill>
                  <a:schemeClr val="tx1"/>
                </a:solidFill>
              </a:rPr>
              <a:t>(user =&gt; user.name ==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>
                <a:solidFill>
                  <a:srgbClr val="FFFF00"/>
                </a:solidFill>
              </a:rPr>
              <a:t>Вася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>
                <a:solidFill>
                  <a:schemeClr val="tx1"/>
                </a:solidFill>
              </a:rPr>
              <a:t>)); /</a:t>
            </a:r>
            <a:r>
              <a:rPr lang="ru-RU" altLang="ru-RU" sz="1500" dirty="0">
                <a:solidFill>
                  <a:srgbClr val="FFFF00"/>
                </a:solidFill>
              </a:rPr>
              <a:t>/ 0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// Найти индекс последнего Васи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</a:rPr>
              <a:t>(</a:t>
            </a:r>
            <a:r>
              <a:rPr lang="en-US" altLang="ru-RU" sz="1500" dirty="0" err="1">
                <a:solidFill>
                  <a:schemeClr val="tx1"/>
                </a:solidFill>
              </a:rPr>
              <a:t>users.</a:t>
            </a:r>
            <a:r>
              <a:rPr lang="en-US" altLang="ru-RU" sz="1500" dirty="0" err="1">
                <a:solidFill>
                  <a:srgbClr val="00B0F0"/>
                </a:solidFill>
              </a:rPr>
              <a:t>findLastIndex</a:t>
            </a:r>
            <a:r>
              <a:rPr lang="en-US" altLang="ru-RU" sz="1500" dirty="0">
                <a:solidFill>
                  <a:schemeClr val="tx1"/>
                </a:solidFill>
              </a:rPr>
              <a:t>(user =&gt; user.name ==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>
                <a:solidFill>
                  <a:srgbClr val="FFFF00"/>
                </a:solidFill>
              </a:rPr>
              <a:t>Вася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>
                <a:solidFill>
                  <a:schemeClr val="tx1"/>
                </a:solidFill>
              </a:rPr>
              <a:t>)); </a:t>
            </a:r>
            <a:r>
              <a:rPr lang="ru-RU" altLang="ru-RU" sz="1500" dirty="0">
                <a:solidFill>
                  <a:srgbClr val="FFFF00"/>
                </a:solidFill>
              </a:rPr>
              <a:t>// 3</a:t>
            </a:r>
            <a:endParaRPr lang="en-US" altLang="ru-RU" sz="15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886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Поиск в массиве 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</a:rPr>
              <a:t>filter</a:t>
            </a:r>
            <a:br>
              <a:rPr lang="en-US" altLang="ru-RU" sz="1400" dirty="0">
                <a:solidFill>
                  <a:srgbClr val="FFFF00"/>
                </a:solidFill>
              </a:rPr>
            </a:br>
            <a:r>
              <a:rPr lang="ru-RU" altLang="ru-RU" sz="1400" dirty="0">
                <a:solidFill>
                  <a:schemeClr val="tx1"/>
                </a:solidFill>
              </a:rPr>
              <a:t>Метод </a:t>
            </a:r>
            <a:r>
              <a:rPr lang="ru-RU" altLang="ru-RU" sz="1400" dirty="0" err="1">
                <a:solidFill>
                  <a:srgbClr val="FFFF00"/>
                </a:solidFill>
              </a:rPr>
              <a:t>find</a:t>
            </a:r>
            <a:r>
              <a:rPr lang="ru-RU" altLang="ru-RU" sz="1400" dirty="0">
                <a:solidFill>
                  <a:schemeClr val="tx1"/>
                </a:solidFill>
              </a:rPr>
              <a:t> ищет один (первый) элемент, который заставит функцию вернуть </a:t>
            </a:r>
            <a:r>
              <a:rPr lang="ru-RU" altLang="ru-RU" sz="1400" dirty="0" err="1">
                <a:solidFill>
                  <a:srgbClr val="FFFF00"/>
                </a:solidFill>
              </a:rPr>
              <a:t>true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Если найденных элементов может быть много, можно использовать </a:t>
            </a:r>
            <a:r>
              <a:rPr lang="ru-RU" altLang="ru-RU" sz="1400" dirty="0" err="1">
                <a:solidFill>
                  <a:srgbClr val="FFFF00"/>
                </a:solidFill>
              </a:rPr>
              <a:t>arr.filter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fn</a:t>
            </a:r>
            <a:r>
              <a:rPr lang="ru-RU" altLang="ru-RU" sz="1400" dirty="0">
                <a:solidFill>
                  <a:srgbClr val="FFFF00"/>
                </a:solidFill>
              </a:rPr>
              <a:t>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Синтаксис схож с </a:t>
            </a:r>
            <a:r>
              <a:rPr lang="ru-RU" altLang="ru-RU" sz="1400" dirty="0" err="1">
                <a:solidFill>
                  <a:srgbClr val="FFFF00"/>
                </a:solidFill>
              </a:rPr>
              <a:t>find</a:t>
            </a:r>
            <a:r>
              <a:rPr lang="ru-RU" altLang="ru-RU" sz="1400" dirty="0">
                <a:solidFill>
                  <a:schemeClr val="tx1"/>
                </a:solidFill>
              </a:rPr>
              <a:t>, но </a:t>
            </a:r>
            <a:r>
              <a:rPr lang="ru-RU" altLang="ru-RU" sz="1400" dirty="0" err="1">
                <a:solidFill>
                  <a:srgbClr val="FFFF00"/>
                </a:solidFill>
              </a:rPr>
              <a:t>filter</a:t>
            </a:r>
            <a:r>
              <a:rPr lang="ru-RU" altLang="ru-RU" sz="1400" dirty="0">
                <a:solidFill>
                  <a:schemeClr val="tx1"/>
                </a:solidFill>
              </a:rPr>
              <a:t> возвращает массив из всех подходящих элементов: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results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filter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item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index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array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 // если `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true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` -- элемент добавляется к 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results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и перебор продолжается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 // возвращается пустой массив в случае, если ничего не найдено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});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Например: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users = [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{ id: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Вася"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},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{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id: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Петя"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},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{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id: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Маша"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возвращает массив, состоящий из двух первых пользователей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someUsers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users.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filter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(item =&gt; item.id &lt;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someUsers.length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 // 2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073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1. Изменить массив, удалив из него первый элемент и добавив в конец новый элемент.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2. Создать новый массив, который содержит все элементы исходного массива, кроме первого и последнего.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3. </a:t>
            </a:r>
            <a:r>
              <a:rPr lang="ru-RU" sz="1600" dirty="0"/>
              <a:t>Объединить два массива в один.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4. </a:t>
            </a:r>
            <a:r>
              <a:rPr lang="ru-RU" sz="1600" dirty="0"/>
              <a:t>Вывести на консоль все элементы массива используя метод </a:t>
            </a:r>
            <a:r>
              <a:rPr lang="en-US" sz="1600" dirty="0" err="1"/>
              <a:t>forEach</a:t>
            </a:r>
            <a:r>
              <a:rPr lang="ru-RU" sz="1600" dirty="0"/>
              <a:t>.</a:t>
            </a:r>
            <a:endParaRPr lang="en-US" sz="16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5. </a:t>
            </a:r>
            <a:r>
              <a:rPr lang="ru-RU" sz="1600" dirty="0">
                <a:solidFill>
                  <a:schemeClr val="tx1"/>
                </a:solidFill>
              </a:rPr>
              <a:t>Найти индекс первого и последнего вхождения элемента 3 в массиве.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6. </a:t>
            </a:r>
            <a:r>
              <a:rPr lang="ru-RU" sz="1600" dirty="0">
                <a:solidFill>
                  <a:schemeClr val="tx1"/>
                </a:solidFill>
              </a:rPr>
              <a:t>Проверить, содержит ли массив элемент 3.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7. </a:t>
            </a:r>
            <a:r>
              <a:rPr lang="ru-RU" sz="1600" dirty="0">
                <a:solidFill>
                  <a:schemeClr val="tx1"/>
                </a:solidFill>
              </a:rPr>
              <a:t>Найти первый элемент массива, который больше 3.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8. </a:t>
            </a:r>
            <a:r>
              <a:rPr lang="ru-RU" sz="1600" dirty="0">
                <a:solidFill>
                  <a:schemeClr val="tx1"/>
                </a:solidFill>
              </a:rPr>
              <a:t>Найти индекс первого и последнего элемента массива, который больше 3.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9. </a:t>
            </a:r>
            <a:r>
              <a:rPr lang="ru-RU" sz="1600" dirty="0">
                <a:solidFill>
                  <a:schemeClr val="tx1"/>
                </a:solidFill>
              </a:rPr>
              <a:t>Создать новый массив, который содержит все элементы исходного массива, которые больше 3.</a:t>
            </a:r>
          </a:p>
          <a:p>
            <a:pPr marL="342900" indent="-342900">
              <a:spcBef>
                <a:spcPts val="0"/>
              </a:spcBef>
              <a:buAutoNum type="arabicPeriod"/>
            </a:pPr>
            <a:endParaRPr lang="en-US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698867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1.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Удаление первого элемента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splice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0, 1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Добавление нового элемента в конец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splice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length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0, 6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[2, 3, 4, 5, 6]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2.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newArr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slice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-1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newArr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[2, 3, 4]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3.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arr1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arr2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4, 5, 6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newArr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arr1.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concat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(arr2);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newArr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[1, 2, 3, 4, 5, 6]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798365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4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forEach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(x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=&gt;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(x));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5.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1, 2, 3, 4, 3, 5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indexOf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lastIndexOf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6.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includes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7.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result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find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(x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=&gt;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x &gt;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(result);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4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627267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8.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findIndex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(x =&gt; x &gt;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findLastIndex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(x =&gt; x &gt;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9.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newArr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filter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(x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=&gt;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x &gt;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newArr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[4, 5]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193728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59632" y="2211710"/>
            <a:ext cx="6552728" cy="648072"/>
          </a:xfrm>
        </p:spPr>
        <p:txBody>
          <a:bodyPr anchor="t"/>
          <a:lstStyle/>
          <a:p>
            <a:pPr algn="ctr"/>
            <a:r>
              <a:rPr lang="ru-RU" sz="3600" b="1" dirty="0"/>
              <a:t>Преобразование массива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4086753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Преобразование массива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b="1" dirty="0">
                <a:solidFill>
                  <a:srgbClr val="FFFF00"/>
                </a:solidFill>
              </a:rPr>
              <a:t>map</a:t>
            </a:r>
            <a:endParaRPr lang="ru-RU" altLang="ru-RU" sz="1600" b="1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Он вызывает функцию для каждого элемента массива и возвращает массив результатов выполнения этой функции.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Синтаксис: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result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map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(item, index, array)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возвращается новое значение вместо элемента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lengths =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["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Бильбо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", "Гэндальф", "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Назгул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map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(item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=&gt;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item.length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(lengths);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6,8,6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957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Преобразование массива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b="1" dirty="0">
                <a:solidFill>
                  <a:srgbClr val="FFFF00"/>
                </a:solidFill>
              </a:rPr>
              <a:t>sort(</a:t>
            </a:r>
            <a:r>
              <a:rPr lang="en-US" altLang="ru-RU" sz="1400" b="1" dirty="0" err="1">
                <a:solidFill>
                  <a:srgbClr val="FFFF00"/>
                </a:solidFill>
              </a:rPr>
              <a:t>fn</a:t>
            </a:r>
            <a:r>
              <a:rPr lang="en-US" altLang="ru-RU" sz="1400" b="1" dirty="0">
                <a:solidFill>
                  <a:srgbClr val="FFFF00"/>
                </a:solidFill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/>
              <a:t>Вызов </a:t>
            </a:r>
            <a:r>
              <a:rPr lang="ru-RU" sz="1400" dirty="0" err="1">
                <a:solidFill>
                  <a:srgbClr val="FFFF00"/>
                </a:solidFill>
              </a:rPr>
              <a:t>arr.sort</a:t>
            </a:r>
            <a:r>
              <a:rPr lang="ru-RU" sz="1400" dirty="0">
                <a:solidFill>
                  <a:srgbClr val="FFFF00"/>
                </a:solidFill>
              </a:rPr>
              <a:t>()</a:t>
            </a:r>
            <a:r>
              <a:rPr lang="ru-RU" sz="1400" dirty="0"/>
              <a:t> сортирует массив </a:t>
            </a:r>
            <a:r>
              <a:rPr lang="ru-RU" sz="1400" i="1" dirty="0"/>
              <a:t>на месте</a:t>
            </a:r>
            <a:r>
              <a:rPr lang="ru-RU" sz="1400" dirty="0"/>
              <a:t>, меняя в нём порядок элементов.</a:t>
            </a:r>
            <a:endParaRPr lang="en-US" sz="1400" dirty="0"/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Он также возвращает отсортированный массив, но обычно возвращаемое значение игнорируется, так как изменяется сам </a:t>
            </a:r>
            <a:r>
              <a:rPr lang="ru-RU" altLang="ru-RU" sz="1400" dirty="0" err="1">
                <a:solidFill>
                  <a:schemeClr val="tx1"/>
                </a:solidFill>
              </a:rPr>
              <a:t>arr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ts val="60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[ </a:t>
            </a:r>
            <a:r>
              <a:rPr lang="ru-RU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1, 2, 15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sort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); 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1, 15, 2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(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странно!!!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)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b="1" dirty="0">
                <a:solidFill>
                  <a:srgbClr val="FFFF00"/>
                </a:solidFill>
              </a:rPr>
              <a:t>По умолчанию элементы сортируются как строки.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0F656B34-7D85-4B67-9C74-1788DF993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429081"/>
              </p:ext>
            </p:extLst>
          </p:nvPr>
        </p:nvGraphicFramePr>
        <p:xfrm>
          <a:off x="835209" y="2787774"/>
          <a:ext cx="7488832" cy="1889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44416">
                  <a:extLst>
                    <a:ext uri="{9D8B030D-6E8A-4147-A177-3AD203B41FA5}">
                      <a16:colId xmlns:a16="http://schemas.microsoft.com/office/drawing/2014/main" val="2047598661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78701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lv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function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compareNumeric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(a, b) {</a:t>
                      </a:r>
                    </a:p>
                    <a:p>
                      <a:pPr marL="0" lv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sz="14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(a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b)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C907B2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lv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sz="14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(a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==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b)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C907B2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lv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sz="14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(a &lt; b)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C907B2"/>
                          </a:solidFill>
                          <a:latin typeface="Consolas" panose="020B0609020204030204" pitchFamily="49" charset="0"/>
                        </a:rPr>
                        <a:t>-1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lvl="0" indent="0" defTabSz="9144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None/>
                      </a:pPr>
                      <a:r>
                        <a:rPr lang="en-US" sz="1400" dirty="0"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lv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let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= [ </a:t>
                      </a:r>
                      <a:r>
                        <a:rPr lang="en-US" sz="1400" dirty="0">
                          <a:solidFill>
                            <a:srgbClr val="C907B2"/>
                          </a:solidFill>
                          <a:latin typeface="Consolas" panose="020B0609020204030204" pitchFamily="49" charset="0"/>
                        </a:rPr>
                        <a:t>1, 2, 15 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];</a:t>
                      </a:r>
                    </a:p>
                    <a:p>
                      <a:pPr marL="0" lv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arr.</a:t>
                      </a:r>
                      <a:r>
                        <a:rPr lang="en-US" sz="1400" dirty="0" err="1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sort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compareNumeric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lv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sz="1400" dirty="0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alert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);  </a:t>
                      </a:r>
                      <a:r>
                        <a:rPr lang="en-US" sz="14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// 1, 2, 15</a:t>
                      </a:r>
                      <a:endParaRPr lang="ru-RU" sz="14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let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= [ </a:t>
                      </a:r>
                      <a:r>
                        <a:rPr lang="en-US" sz="1400" dirty="0">
                          <a:solidFill>
                            <a:srgbClr val="C907B2"/>
                          </a:solidFill>
                          <a:latin typeface="Consolas" panose="020B0609020204030204" pitchFamily="49" charset="0"/>
                        </a:rPr>
                        <a:t>1, 2, 15 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];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arr.</a:t>
                      </a:r>
                      <a:r>
                        <a:rPr lang="en-US" sz="1400" dirty="0" err="1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sort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function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(a, b) { 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a - b; </a:t>
                      </a:r>
                      <a:endParaRPr lang="ru-RU" sz="1400" dirty="0">
                        <a:latin typeface="Consolas" panose="020B0609020204030204" pitchFamily="49" charset="0"/>
                      </a:endParaRP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>
                          <a:latin typeface="Consolas" panose="020B0609020204030204" pitchFamily="49" charset="0"/>
                        </a:rPr>
                        <a:t>});</a:t>
                      </a:r>
                    </a:p>
                    <a:p>
                      <a:r>
                        <a:rPr lang="en-US" sz="1400" dirty="0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alert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);  </a:t>
                      </a:r>
                      <a:r>
                        <a:rPr lang="en-US" sz="14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// 1, 2, 15</a:t>
                      </a:r>
                      <a:endParaRPr lang="ru-RU" sz="14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4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ru-RU" sz="14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 другой вариант</a:t>
                      </a:r>
                    </a:p>
                    <a:p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arr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sz="1400" dirty="0" err="1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sort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(a, b)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=&gt;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a 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-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b 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);</a:t>
                      </a:r>
                      <a:endParaRPr lang="ru-RU" sz="14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303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5869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Преобразование массива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500" b="1" dirty="0">
                <a:solidFill>
                  <a:srgbClr val="FFFF00"/>
                </a:solidFill>
              </a:rPr>
              <a:t>reverse</a:t>
            </a:r>
            <a:endParaRPr lang="ru-RU" sz="1500" b="1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Метод </a:t>
            </a:r>
            <a:r>
              <a:rPr lang="ru-RU" altLang="ru-RU" sz="1500" dirty="0" err="1">
                <a:solidFill>
                  <a:srgbClr val="FFFF00"/>
                </a:solidFill>
              </a:rPr>
              <a:t>arr.reverse</a:t>
            </a:r>
            <a:r>
              <a:rPr lang="ru-RU" altLang="ru-RU" sz="1500" dirty="0">
                <a:solidFill>
                  <a:srgbClr val="FFFF00"/>
                </a:solidFill>
              </a:rPr>
              <a:t> </a:t>
            </a:r>
            <a:r>
              <a:rPr lang="ru-RU" altLang="ru-RU" sz="1500" dirty="0">
                <a:solidFill>
                  <a:schemeClr val="tx1"/>
                </a:solidFill>
              </a:rPr>
              <a:t>меняет порядок элементов в </a:t>
            </a:r>
            <a:r>
              <a:rPr lang="ru-RU" altLang="ru-RU" sz="1500" dirty="0" err="1">
                <a:solidFill>
                  <a:srgbClr val="FFFF00"/>
                </a:solidFill>
              </a:rPr>
              <a:t>arr</a:t>
            </a:r>
            <a:r>
              <a:rPr lang="ru-RU" altLang="ru-RU" sz="1500" dirty="0">
                <a:solidFill>
                  <a:schemeClr val="tx1"/>
                </a:solidFill>
              </a:rPr>
              <a:t> на обратный.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500" dirty="0">
                <a:solidFill>
                  <a:schemeClr val="tx1"/>
                </a:solidFill>
              </a:rPr>
              <a:t>Например: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reverse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5,4,3,2,1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500" dirty="0">
                <a:solidFill>
                  <a:schemeClr val="tx1"/>
                </a:solidFill>
              </a:rPr>
              <a:t>Он также возвращает массив </a:t>
            </a:r>
            <a:r>
              <a:rPr lang="ru-RU" sz="1500" dirty="0" err="1">
                <a:solidFill>
                  <a:srgbClr val="FFFF00"/>
                </a:solidFill>
              </a:rPr>
              <a:t>arr</a:t>
            </a:r>
            <a:r>
              <a:rPr lang="ru-RU" sz="1500" dirty="0">
                <a:solidFill>
                  <a:schemeClr val="tx1"/>
                </a:solidFill>
              </a:rPr>
              <a:t> с изменённым порядком элементов.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en-US" sz="1500" b="1" dirty="0">
                <a:solidFill>
                  <a:srgbClr val="FFFF00"/>
                </a:solidFill>
              </a:rPr>
              <a:t>split </a:t>
            </a:r>
            <a:r>
              <a:rPr lang="ru-RU" sz="1500" b="1" dirty="0">
                <a:solidFill>
                  <a:srgbClr val="FFFF00"/>
                </a:solidFill>
              </a:rPr>
              <a:t>и </a:t>
            </a:r>
            <a:r>
              <a:rPr lang="en-US" sz="1500" b="1" dirty="0">
                <a:solidFill>
                  <a:srgbClr val="FFFF00"/>
                </a:solidFill>
              </a:rPr>
              <a:t>join</a:t>
            </a:r>
            <a:endParaRPr lang="ru-RU" sz="1500" b="1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sz="1500" dirty="0">
                <a:solidFill>
                  <a:schemeClr val="tx1"/>
                </a:solidFill>
              </a:rPr>
              <a:t>Метод </a:t>
            </a:r>
            <a:r>
              <a:rPr lang="ru-RU" sz="1500" dirty="0" err="1">
                <a:solidFill>
                  <a:srgbClr val="FFFF00"/>
                </a:solidFill>
              </a:rPr>
              <a:t>str.split</a:t>
            </a:r>
            <a:r>
              <a:rPr lang="ru-RU" sz="1500" dirty="0">
                <a:solidFill>
                  <a:srgbClr val="FFFF00"/>
                </a:solidFill>
              </a:rPr>
              <a:t>(</a:t>
            </a:r>
            <a:r>
              <a:rPr lang="ru-RU" sz="1500" dirty="0" err="1">
                <a:solidFill>
                  <a:srgbClr val="FFFF00"/>
                </a:solidFill>
              </a:rPr>
              <a:t>delim</a:t>
            </a:r>
            <a:r>
              <a:rPr lang="ru-RU" sz="1500" dirty="0">
                <a:solidFill>
                  <a:srgbClr val="FFFF00"/>
                </a:solidFill>
              </a:rPr>
              <a:t>) </a:t>
            </a:r>
            <a:r>
              <a:rPr lang="ru-RU" sz="1500" dirty="0">
                <a:solidFill>
                  <a:schemeClr val="tx1"/>
                </a:solidFill>
              </a:rPr>
              <a:t>разбивает строку на массив по заданному разделителю </a:t>
            </a:r>
            <a:r>
              <a:rPr lang="ru-RU" sz="1500" dirty="0" err="1">
                <a:solidFill>
                  <a:srgbClr val="FFFF00"/>
                </a:solidFill>
              </a:rPr>
              <a:t>delim</a:t>
            </a:r>
            <a:r>
              <a:rPr lang="ru-RU" sz="15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names = 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Вася, Петя, Маша'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names.split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',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name 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 alert( 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`</a:t>
            </a:r>
            <a:r>
              <a:rPr 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Сообщение получат: ${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name}.` 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endParaRPr 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Сообщение получат: Вася (и другие имена)</a:t>
            </a:r>
          </a:p>
          <a:p>
            <a:pPr marL="0" lv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 </a:t>
            </a:r>
          </a:p>
          <a:p>
            <a:pPr marL="0" lv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endParaRPr lang="ru-RU" sz="1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6972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Преобразование массива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У метода </a:t>
            </a:r>
            <a:r>
              <a:rPr lang="ru-RU" altLang="ru-RU" sz="1500" dirty="0" err="1">
                <a:solidFill>
                  <a:srgbClr val="FFFF00"/>
                </a:solidFill>
              </a:rPr>
              <a:t>split</a:t>
            </a:r>
            <a:r>
              <a:rPr lang="ru-RU" altLang="ru-RU" sz="1500" dirty="0">
                <a:solidFill>
                  <a:schemeClr val="tx1"/>
                </a:solidFill>
              </a:rPr>
              <a:t> есть необязательный второй числовой аргумент – ограничение на количество элементов в массиве.  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Вася, Петя, Маша, Саша'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split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', '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Вася, Петя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E2E3E7"/>
                </a:solidFill>
              </a:rPr>
              <a:t>Разбивка по буквам</a:t>
            </a:r>
            <a:endParaRPr lang="ru-RU" altLang="ru-RU" sz="15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E2E3E7"/>
                </a:solidFill>
              </a:rPr>
              <a:t>Вызов </a:t>
            </a:r>
            <a:r>
              <a:rPr lang="ru-RU" altLang="ru-RU" sz="1500" dirty="0" err="1">
                <a:solidFill>
                  <a:srgbClr val="FFFF00"/>
                </a:solidFill>
              </a:rPr>
              <a:t>split</a:t>
            </a:r>
            <a:r>
              <a:rPr lang="ru-RU" altLang="ru-RU" sz="1500" dirty="0">
                <a:solidFill>
                  <a:srgbClr val="FFFF00"/>
                </a:solidFill>
              </a:rPr>
              <a:t>(s) </a:t>
            </a:r>
            <a:r>
              <a:rPr lang="ru-RU" altLang="ru-RU" sz="1500" dirty="0">
                <a:solidFill>
                  <a:srgbClr val="E2E3E7"/>
                </a:solidFill>
              </a:rPr>
              <a:t>с пустым аргументом </a:t>
            </a:r>
            <a:r>
              <a:rPr lang="ru-RU" altLang="ru-RU" sz="1500" dirty="0">
                <a:solidFill>
                  <a:srgbClr val="FFFF00"/>
                </a:solidFill>
              </a:rPr>
              <a:t>s</a:t>
            </a:r>
            <a:r>
              <a:rPr lang="ru-RU" altLang="ru-RU" sz="1500" dirty="0">
                <a:solidFill>
                  <a:srgbClr val="E2E3E7"/>
                </a:solidFill>
              </a:rPr>
              <a:t> разбил бы строку на массив букв: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str =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тест"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str.</a:t>
            </a:r>
            <a:r>
              <a:rPr lang="en-US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split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''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 );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//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т,е,с,т</a:t>
            </a: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Вызов </a:t>
            </a:r>
            <a:r>
              <a:rPr lang="ru-RU" altLang="ru-RU" sz="1500" dirty="0" err="1">
                <a:solidFill>
                  <a:srgbClr val="FFFF00"/>
                </a:solidFill>
              </a:rPr>
              <a:t>arr.join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glue</a:t>
            </a:r>
            <a:r>
              <a:rPr lang="ru-RU" altLang="ru-RU" sz="1500" dirty="0">
                <a:solidFill>
                  <a:srgbClr val="FFFF00"/>
                </a:solidFill>
              </a:rPr>
              <a:t>) </a:t>
            </a:r>
            <a:r>
              <a:rPr lang="ru-RU" altLang="ru-RU" sz="1500" dirty="0">
                <a:solidFill>
                  <a:schemeClr val="tx1"/>
                </a:solidFill>
              </a:rPr>
              <a:t>делает в точности противоположное </a:t>
            </a:r>
            <a:r>
              <a:rPr lang="ru-RU" altLang="ru-RU" sz="1500" dirty="0" err="1">
                <a:solidFill>
                  <a:srgbClr val="FFFF00"/>
                </a:solidFill>
              </a:rPr>
              <a:t>split</a:t>
            </a:r>
            <a:r>
              <a:rPr lang="ru-RU" altLang="ru-RU" sz="1500" dirty="0">
                <a:solidFill>
                  <a:schemeClr val="tx1"/>
                </a:solidFill>
              </a:rPr>
              <a:t>. Он создаёт строку из элементов </a:t>
            </a:r>
            <a:r>
              <a:rPr lang="ru-RU" altLang="ru-RU" sz="1500" dirty="0" err="1">
                <a:solidFill>
                  <a:srgbClr val="FFFF00"/>
                </a:solidFill>
              </a:rPr>
              <a:t>arr</a:t>
            </a:r>
            <a:r>
              <a:rPr lang="ru-RU" altLang="ru-RU" sz="1500" dirty="0">
                <a:solidFill>
                  <a:schemeClr val="tx1"/>
                </a:solidFill>
              </a:rPr>
              <a:t>, вставляя </a:t>
            </a:r>
            <a:r>
              <a:rPr lang="ru-RU" altLang="ru-RU" sz="1500" dirty="0" err="1">
                <a:solidFill>
                  <a:srgbClr val="FFFF00"/>
                </a:solidFill>
              </a:rPr>
              <a:t>glue</a:t>
            </a:r>
            <a:r>
              <a:rPr lang="ru-RU" altLang="ru-RU" sz="1500" dirty="0">
                <a:solidFill>
                  <a:schemeClr val="tx1"/>
                </a:solidFill>
              </a:rPr>
              <a:t> между ними. </a:t>
            </a:r>
          </a:p>
          <a:p>
            <a:pPr mar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Например: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Вася', 'Петя', 'Маша'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str =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join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';'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объединить массив в строку через 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str ); /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Вася;Петя;Маша</a:t>
            </a: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1114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Преобразование массива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b="1" dirty="0">
                <a:solidFill>
                  <a:srgbClr val="FFFF00"/>
                </a:solidFill>
              </a:rPr>
              <a:t>reduce/</a:t>
            </a:r>
            <a:r>
              <a:rPr lang="en-US" altLang="ru-RU" sz="1500" b="1" dirty="0" err="1">
                <a:solidFill>
                  <a:srgbClr val="FFFF00"/>
                </a:solidFill>
              </a:rPr>
              <a:t>reduceRight</a:t>
            </a:r>
            <a:endParaRPr lang="ru-RU" altLang="ru-RU" sz="1500" b="1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500" dirty="0">
                <a:solidFill>
                  <a:schemeClr val="tx1"/>
                </a:solidFill>
              </a:rPr>
              <a:t>Методы </a:t>
            </a:r>
            <a:r>
              <a:rPr lang="ru-RU" sz="1500" dirty="0" err="1">
                <a:solidFill>
                  <a:srgbClr val="FFFF00"/>
                </a:solidFill>
              </a:rPr>
              <a:t>arr.reduce</a:t>
            </a:r>
            <a:r>
              <a:rPr lang="ru-RU" sz="1500" dirty="0">
                <a:solidFill>
                  <a:srgbClr val="FFFF00"/>
                </a:solidFill>
              </a:rPr>
              <a:t> </a:t>
            </a:r>
            <a:r>
              <a:rPr lang="ru-RU" sz="1500" dirty="0">
                <a:solidFill>
                  <a:schemeClr val="tx1"/>
                </a:solidFill>
              </a:rPr>
              <a:t>и </a:t>
            </a:r>
            <a:r>
              <a:rPr lang="ru-RU" sz="1500" dirty="0" err="1">
                <a:solidFill>
                  <a:srgbClr val="FFFF00"/>
                </a:solidFill>
              </a:rPr>
              <a:t>arr.reduceRight</a:t>
            </a:r>
            <a:r>
              <a:rPr lang="ru-RU" sz="1500" dirty="0">
                <a:solidFill>
                  <a:srgbClr val="FFFF00"/>
                </a:solidFill>
              </a:rPr>
              <a:t> </a:t>
            </a:r>
            <a:r>
              <a:rPr lang="ru-RU" sz="1500" dirty="0">
                <a:solidFill>
                  <a:schemeClr val="tx1"/>
                </a:solidFill>
              </a:rPr>
              <a:t>используются для вычисления единого значения на основе всего массива.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Синтаксис: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value =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reduce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(accumulator, item, index, array)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 // ...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}, [initial]);</a:t>
            </a:r>
            <a:endParaRPr lang="ru-RU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Функция применяется по очереди ко всем элементам массива и «переносит» свой результат на следующий вызов.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FFFF00"/>
                </a:solidFill>
              </a:rPr>
              <a:t>accumulator</a:t>
            </a:r>
            <a:r>
              <a:rPr lang="ru-RU" altLang="ru-RU" sz="1500" dirty="0">
                <a:solidFill>
                  <a:schemeClr val="tx1"/>
                </a:solidFill>
              </a:rPr>
              <a:t> – результат предыдущего вызова этой функции, равен </a:t>
            </a:r>
            <a:r>
              <a:rPr lang="ru-RU" altLang="ru-RU" sz="1500" dirty="0" err="1">
                <a:solidFill>
                  <a:srgbClr val="FFFF00"/>
                </a:solidFill>
              </a:rPr>
              <a:t>initial</a:t>
            </a:r>
            <a:r>
              <a:rPr lang="ru-RU" altLang="ru-RU" sz="1500" dirty="0">
                <a:solidFill>
                  <a:schemeClr val="tx1"/>
                </a:solidFill>
              </a:rPr>
              <a:t> при первом вызове (если передан </a:t>
            </a:r>
            <a:r>
              <a:rPr lang="ru-RU" altLang="ru-RU" sz="1500" dirty="0" err="1">
                <a:solidFill>
                  <a:srgbClr val="FFFF00"/>
                </a:solidFill>
              </a:rPr>
              <a:t>initial</a:t>
            </a:r>
            <a:r>
              <a:rPr lang="ru-RU" altLang="ru-RU" sz="1500" dirty="0">
                <a:solidFill>
                  <a:schemeClr val="tx1"/>
                </a:solidFill>
              </a:rPr>
              <a:t>),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FFFF00"/>
                </a:solidFill>
              </a:rPr>
              <a:t>item</a:t>
            </a:r>
            <a:r>
              <a:rPr lang="ru-RU" altLang="ru-RU" sz="1500" dirty="0">
                <a:solidFill>
                  <a:schemeClr val="tx1"/>
                </a:solidFill>
              </a:rPr>
              <a:t> – очередной элемент массива,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FFFF00"/>
                </a:solidFill>
              </a:rPr>
              <a:t>index</a:t>
            </a:r>
            <a:r>
              <a:rPr lang="ru-RU" altLang="ru-RU" sz="1500" dirty="0">
                <a:solidFill>
                  <a:schemeClr val="tx1"/>
                </a:solidFill>
              </a:rPr>
              <a:t> – его позиция,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FFFF00"/>
                </a:solidFill>
              </a:rPr>
              <a:t>array</a:t>
            </a:r>
            <a:r>
              <a:rPr lang="ru-RU" altLang="ru-RU" sz="1500" dirty="0">
                <a:solidFill>
                  <a:schemeClr val="tx1"/>
                </a:solidFill>
              </a:rPr>
              <a:t> – сам массив.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По окончанию прохода возвращает </a:t>
            </a:r>
            <a:r>
              <a:rPr lang="en-US" altLang="ru-RU" sz="1500" dirty="0">
                <a:solidFill>
                  <a:schemeClr val="tx1"/>
                </a:solidFill>
              </a:rPr>
              <a:t>accumulator.</a:t>
            </a:r>
            <a:endParaRPr lang="ru-RU" altLang="ru-RU" sz="15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7490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Преобразование массива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b="1" dirty="0">
                <a:solidFill>
                  <a:srgbClr val="FFFF00"/>
                </a:solidFill>
              </a:rPr>
              <a:t>Пример: 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result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reduce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((sum, current) =&gt; sum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current,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0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(result);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15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При первом запуске </a:t>
            </a:r>
            <a:r>
              <a:rPr lang="ru-RU" altLang="ru-RU" sz="1600" dirty="0" err="1">
                <a:solidFill>
                  <a:srgbClr val="FFFF00"/>
                </a:solidFill>
              </a:rPr>
              <a:t>sum</a:t>
            </a:r>
            <a:r>
              <a:rPr lang="ru-RU" altLang="ru-RU" sz="1600" dirty="0">
                <a:solidFill>
                  <a:schemeClr val="tx1"/>
                </a:solidFill>
              </a:rPr>
              <a:t> равен </a:t>
            </a:r>
            <a:r>
              <a:rPr lang="ru-RU" altLang="ru-RU" sz="1600" dirty="0" err="1">
                <a:solidFill>
                  <a:srgbClr val="FFFF00"/>
                </a:solidFill>
              </a:rPr>
              <a:t>initial</a:t>
            </a:r>
            <a:r>
              <a:rPr lang="ru-RU" altLang="ru-RU" sz="1600" dirty="0">
                <a:solidFill>
                  <a:schemeClr val="tx1"/>
                </a:solidFill>
              </a:rPr>
              <a:t> (последний аргумент </a:t>
            </a:r>
            <a:r>
              <a:rPr lang="ru-RU" altLang="ru-RU" sz="1600" dirty="0" err="1">
                <a:solidFill>
                  <a:srgbClr val="FFFF00"/>
                </a:solidFill>
              </a:rPr>
              <a:t>reduce</a:t>
            </a:r>
            <a:r>
              <a:rPr lang="ru-RU" altLang="ru-RU" sz="1600" dirty="0">
                <a:solidFill>
                  <a:schemeClr val="tx1"/>
                </a:solidFill>
              </a:rPr>
              <a:t>), то есть 0, а </a:t>
            </a:r>
            <a:r>
              <a:rPr lang="ru-RU" altLang="ru-RU" sz="1600" dirty="0" err="1">
                <a:solidFill>
                  <a:srgbClr val="FFFF00"/>
                </a:solidFill>
              </a:rPr>
              <a:t>current</a:t>
            </a:r>
            <a:r>
              <a:rPr lang="ru-RU" altLang="ru-RU" sz="1600" dirty="0">
                <a:solidFill>
                  <a:schemeClr val="tx1"/>
                </a:solidFill>
              </a:rPr>
              <a:t> – первый элемент массива, равный 1. Таким образом, результат функции равен 1. 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При втором запуске </a:t>
            </a:r>
            <a:r>
              <a:rPr lang="ru-RU" altLang="ru-RU" sz="1600" dirty="0" err="1">
                <a:solidFill>
                  <a:srgbClr val="FFFF00"/>
                </a:solidFill>
              </a:rPr>
              <a:t>sum</a:t>
            </a:r>
            <a:r>
              <a:rPr lang="ru-RU" altLang="ru-RU" sz="1600" dirty="0">
                <a:solidFill>
                  <a:schemeClr val="tx1"/>
                </a:solidFill>
              </a:rPr>
              <a:t> = 1, к нему добавляется второй элемент массива (2) и возвращаем.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При третьем запуске </a:t>
            </a:r>
            <a:r>
              <a:rPr lang="ru-RU" altLang="ru-RU" sz="1600" dirty="0" err="1">
                <a:solidFill>
                  <a:srgbClr val="FFFF00"/>
                </a:solidFill>
              </a:rPr>
              <a:t>sum</a:t>
            </a:r>
            <a:r>
              <a:rPr lang="ru-RU" altLang="ru-RU" sz="1600" dirty="0">
                <a:solidFill>
                  <a:schemeClr val="tx1"/>
                </a:solidFill>
              </a:rPr>
              <a:t> = 3, к которому </a:t>
            </a:r>
            <a:r>
              <a:rPr lang="ru-RU" altLang="ru-RU" sz="1600" dirty="0" err="1">
                <a:solidFill>
                  <a:schemeClr val="tx1"/>
                </a:solidFill>
              </a:rPr>
              <a:t>добавлятся</a:t>
            </a:r>
            <a:r>
              <a:rPr lang="ru-RU" altLang="ru-RU" sz="1600" dirty="0">
                <a:solidFill>
                  <a:schemeClr val="tx1"/>
                </a:solidFill>
              </a:rPr>
              <a:t> следующий элемент, и так далее…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При отсутствии </a:t>
            </a:r>
            <a:r>
              <a:rPr lang="ru-RU" altLang="ru-RU" sz="1600" dirty="0" err="1">
                <a:solidFill>
                  <a:srgbClr val="FFFF00"/>
                </a:solidFill>
              </a:rPr>
              <a:t>initial</a:t>
            </a:r>
            <a:r>
              <a:rPr lang="ru-RU" altLang="ru-RU" sz="1600" dirty="0">
                <a:solidFill>
                  <a:srgbClr val="E2E3E7"/>
                </a:solidFill>
              </a:rPr>
              <a:t> в качестве первого значения берётся первый элемент массива, а перебор стартует со второго.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0657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Преобразование массива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Можно опустить начальное значение: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ru-RU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убрано начальное значение (нет 0 в конце)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result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ru-RU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reduce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((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sum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ru-RU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=&gt;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sum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+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result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15</a:t>
            </a:r>
            <a:endParaRPr lang="ru-RU" altLang="ru-RU" sz="15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Но такое использование требует крайней осторожности. Если массив пуст, то вызов </a:t>
            </a:r>
            <a:r>
              <a:rPr lang="ru-RU" altLang="ru-RU" sz="1500" dirty="0" err="1">
                <a:solidFill>
                  <a:schemeClr val="tx1"/>
                </a:solidFill>
              </a:rPr>
              <a:t>reduce</a:t>
            </a:r>
            <a:r>
              <a:rPr lang="ru-RU" altLang="ru-RU" sz="1500" dirty="0">
                <a:solidFill>
                  <a:schemeClr val="tx1"/>
                </a:solidFill>
              </a:rPr>
              <a:t> без начального значения выдаст ошибку.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Пример: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[];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Error: Reduce of empty array with no initial value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если бы существовало начальное значение,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reduce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вернул бы его для пустого массива.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reduce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((sum, current) 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=&gt;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sum 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current);</a:t>
            </a:r>
            <a:endParaRPr lang="ru-RU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Поэтому рекомендуется всегда указывать начальное значение.</a:t>
            </a:r>
          </a:p>
          <a:p>
            <a:pPr mar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Метод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arr.reduceRight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работает аналогично, но проходит по массиву справа налево.</a:t>
            </a:r>
          </a:p>
        </p:txBody>
      </p:sp>
    </p:spTree>
    <p:extLst>
      <p:ext uri="{BB962C8B-B14F-4D97-AF65-F5344CB8AC3E}">
        <p14:creationId xmlns:p14="http://schemas.microsoft.com/office/powerpoint/2010/main" val="27148962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627784" y="2139702"/>
            <a:ext cx="3384376" cy="648072"/>
          </a:xfrm>
        </p:spPr>
        <p:txBody>
          <a:bodyPr anchor="t"/>
          <a:lstStyle/>
          <a:p>
            <a:r>
              <a:rPr lang="en-US" b="1" dirty="0" err="1"/>
              <a:t>Array.isArray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97347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/>
          </a:bodyPr>
          <a:lstStyle/>
          <a:p>
            <a:r>
              <a:rPr lang="en-US" b="1" dirty="0" err="1"/>
              <a:t>Array.isArray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Массивы не образуют отдельный тип данных. Они основаны на объектах.</a:t>
            </a:r>
            <a:endParaRPr lang="ru-RU" altLang="ru-RU" sz="16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Поэтому </a:t>
            </a:r>
            <a:r>
              <a:rPr lang="ru-RU" altLang="ru-RU" sz="1600" dirty="0" err="1">
                <a:solidFill>
                  <a:srgbClr val="FFFF00"/>
                </a:solidFill>
              </a:rPr>
              <a:t>typeof</a:t>
            </a:r>
            <a:r>
              <a:rPr lang="ru-RU" altLang="ru-RU" sz="1600" dirty="0">
                <a:solidFill>
                  <a:srgbClr val="E2E3E7"/>
                </a:solidFill>
              </a:rPr>
              <a:t> не может отличить простой объект от массива: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typeof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{});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object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typeof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[]);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тоже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object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 err="1">
                <a:solidFill>
                  <a:srgbClr val="FFFF00"/>
                </a:solidFill>
              </a:rPr>
              <a:t>Array.isArray</a:t>
            </a:r>
            <a:r>
              <a:rPr lang="en-US" altLang="ru-RU" sz="1600" dirty="0">
                <a:solidFill>
                  <a:srgbClr val="FFFF00"/>
                </a:solidFill>
              </a:rPr>
              <a:t>(value)</a:t>
            </a:r>
            <a:r>
              <a:rPr lang="ru-RU" altLang="ru-RU" sz="1600" dirty="0">
                <a:solidFill>
                  <a:srgbClr val="FFFF00"/>
                </a:solidFill>
              </a:rPr>
              <a:t> </a:t>
            </a:r>
            <a:r>
              <a:rPr lang="ru-RU" altLang="ru-RU" sz="1600" dirty="0">
                <a:solidFill>
                  <a:schemeClr val="tx1"/>
                </a:solidFill>
              </a:rPr>
              <a:t>возвращает </a:t>
            </a:r>
            <a:r>
              <a:rPr lang="en-US" altLang="ru-RU" sz="1600" dirty="0">
                <a:solidFill>
                  <a:srgbClr val="FFFF00"/>
                </a:solidFill>
              </a:rPr>
              <a:t>true</a:t>
            </a:r>
            <a:r>
              <a:rPr lang="en-US" altLang="ru-RU" sz="1600" dirty="0">
                <a:solidFill>
                  <a:schemeClr val="tx1"/>
                </a:solidFill>
              </a:rPr>
              <a:t>, </a:t>
            </a:r>
            <a:r>
              <a:rPr lang="ru-RU" altLang="ru-RU" sz="1600" dirty="0">
                <a:solidFill>
                  <a:schemeClr val="tx1"/>
                </a:solidFill>
              </a:rPr>
              <a:t>если </a:t>
            </a:r>
            <a:r>
              <a:rPr lang="en-US" altLang="ru-RU" sz="1600" dirty="0">
                <a:solidFill>
                  <a:schemeClr val="tx1"/>
                </a:solidFill>
              </a:rPr>
              <a:t>value </a:t>
            </a:r>
            <a:r>
              <a:rPr lang="ru-RU" altLang="ru-RU" sz="1600" dirty="0">
                <a:solidFill>
                  <a:schemeClr val="tx1"/>
                </a:solidFill>
              </a:rPr>
              <a:t>массив, и </a:t>
            </a:r>
            <a:r>
              <a:rPr lang="en-US" altLang="ru-RU" sz="1600" dirty="0">
                <a:solidFill>
                  <a:srgbClr val="FFFF00"/>
                </a:solidFill>
              </a:rPr>
              <a:t>false</a:t>
            </a:r>
            <a:r>
              <a:rPr lang="en-US" altLang="ru-RU" sz="1600" dirty="0">
                <a:solidFill>
                  <a:schemeClr val="tx1"/>
                </a:solidFill>
              </a:rPr>
              <a:t>, </a:t>
            </a:r>
            <a:r>
              <a:rPr lang="ru-RU" altLang="ru-RU" sz="1600" dirty="0">
                <a:solidFill>
                  <a:schemeClr val="tx1"/>
                </a:solidFill>
              </a:rPr>
              <a:t>если нет.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Array.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isArray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({}));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false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Array.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isArray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([]));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true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8073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Итого: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Для добавления/удаления элементов: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FFFF00"/>
                </a:solidFill>
              </a:rPr>
              <a:t>push</a:t>
            </a:r>
            <a:r>
              <a:rPr lang="ru-RU" altLang="ru-RU" sz="1600" dirty="0">
                <a:solidFill>
                  <a:srgbClr val="FFFF00"/>
                </a:solidFill>
              </a:rPr>
              <a:t>(...</a:t>
            </a:r>
            <a:r>
              <a:rPr lang="ru-RU" altLang="ru-RU" sz="1600" dirty="0" err="1">
                <a:solidFill>
                  <a:srgbClr val="FFFF00"/>
                </a:solidFill>
              </a:rPr>
              <a:t>items</a:t>
            </a:r>
            <a:r>
              <a:rPr lang="ru-RU" altLang="ru-RU" sz="1600" dirty="0">
                <a:solidFill>
                  <a:srgbClr val="FFFF00"/>
                </a:solidFill>
              </a:rPr>
              <a:t>) </a:t>
            </a:r>
            <a:r>
              <a:rPr lang="ru-RU" altLang="ru-RU" sz="1600" dirty="0">
                <a:solidFill>
                  <a:srgbClr val="E2E3E7"/>
                </a:solidFill>
              </a:rPr>
              <a:t>– добавляет элементы в конец,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FFFF00"/>
                </a:solidFill>
              </a:rPr>
              <a:t>pop</a:t>
            </a:r>
            <a:r>
              <a:rPr lang="ru-RU" altLang="ru-RU" sz="1600" dirty="0">
                <a:solidFill>
                  <a:srgbClr val="FFFF00"/>
                </a:solidFill>
              </a:rPr>
              <a:t>() </a:t>
            </a:r>
            <a:r>
              <a:rPr lang="ru-RU" altLang="ru-RU" sz="1600" dirty="0">
                <a:solidFill>
                  <a:srgbClr val="E2E3E7"/>
                </a:solidFill>
              </a:rPr>
              <a:t>– извлекает элемент с конца,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FFFF00"/>
                </a:solidFill>
              </a:rPr>
              <a:t>shift</a:t>
            </a:r>
            <a:r>
              <a:rPr lang="ru-RU" altLang="ru-RU" sz="1600" dirty="0">
                <a:solidFill>
                  <a:srgbClr val="FFFF00"/>
                </a:solidFill>
              </a:rPr>
              <a:t>() </a:t>
            </a:r>
            <a:r>
              <a:rPr lang="ru-RU" altLang="ru-RU" sz="1600" dirty="0">
                <a:solidFill>
                  <a:srgbClr val="E2E3E7"/>
                </a:solidFill>
              </a:rPr>
              <a:t>– извлекает элемент с начала,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FFFF00"/>
                </a:solidFill>
              </a:rPr>
              <a:t>unshift</a:t>
            </a:r>
            <a:r>
              <a:rPr lang="ru-RU" altLang="ru-RU" sz="1600" dirty="0">
                <a:solidFill>
                  <a:srgbClr val="FFFF00"/>
                </a:solidFill>
              </a:rPr>
              <a:t>(...</a:t>
            </a:r>
            <a:r>
              <a:rPr lang="ru-RU" altLang="ru-RU" sz="1600" dirty="0" err="1">
                <a:solidFill>
                  <a:srgbClr val="FFFF00"/>
                </a:solidFill>
              </a:rPr>
              <a:t>items</a:t>
            </a:r>
            <a:r>
              <a:rPr lang="ru-RU" altLang="ru-RU" sz="1600" dirty="0">
                <a:solidFill>
                  <a:srgbClr val="FFFF00"/>
                </a:solidFill>
              </a:rPr>
              <a:t>) </a:t>
            </a:r>
            <a:r>
              <a:rPr lang="ru-RU" altLang="ru-RU" sz="1600" dirty="0">
                <a:solidFill>
                  <a:srgbClr val="E2E3E7"/>
                </a:solidFill>
              </a:rPr>
              <a:t>– добавляет элементы в начало.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FFFF00"/>
                </a:solidFill>
              </a:rPr>
              <a:t>splice</a:t>
            </a:r>
            <a:r>
              <a:rPr lang="ru-RU" altLang="ru-RU" sz="1600" dirty="0">
                <a:solidFill>
                  <a:srgbClr val="FFFF00"/>
                </a:solidFill>
              </a:rPr>
              <a:t>(</a:t>
            </a:r>
            <a:r>
              <a:rPr lang="ru-RU" altLang="ru-RU" sz="1600" dirty="0" err="1">
                <a:solidFill>
                  <a:srgbClr val="FFFF00"/>
                </a:solidFill>
              </a:rPr>
              <a:t>pos</a:t>
            </a:r>
            <a:r>
              <a:rPr lang="ru-RU" altLang="ru-RU" sz="1600" dirty="0">
                <a:solidFill>
                  <a:srgbClr val="FFFF00"/>
                </a:solidFill>
              </a:rPr>
              <a:t>, </a:t>
            </a:r>
            <a:r>
              <a:rPr lang="ru-RU" altLang="ru-RU" sz="1600" dirty="0" err="1">
                <a:solidFill>
                  <a:srgbClr val="FFFF00"/>
                </a:solidFill>
              </a:rPr>
              <a:t>deleteCount</a:t>
            </a:r>
            <a:r>
              <a:rPr lang="ru-RU" altLang="ru-RU" sz="1600" dirty="0">
                <a:solidFill>
                  <a:srgbClr val="FFFF00"/>
                </a:solidFill>
              </a:rPr>
              <a:t>, ...</a:t>
            </a:r>
            <a:r>
              <a:rPr lang="ru-RU" altLang="ru-RU" sz="1600" dirty="0" err="1">
                <a:solidFill>
                  <a:srgbClr val="FFFF00"/>
                </a:solidFill>
              </a:rPr>
              <a:t>items</a:t>
            </a:r>
            <a:r>
              <a:rPr lang="ru-RU" altLang="ru-RU" sz="1600" dirty="0">
                <a:solidFill>
                  <a:srgbClr val="FFFF00"/>
                </a:solidFill>
              </a:rPr>
              <a:t>) </a:t>
            </a:r>
            <a:r>
              <a:rPr lang="ru-RU" altLang="ru-RU" sz="1600" dirty="0">
                <a:solidFill>
                  <a:srgbClr val="E2E3E7"/>
                </a:solidFill>
              </a:rPr>
              <a:t>– начиная с индекса </a:t>
            </a:r>
            <a:r>
              <a:rPr lang="ru-RU" altLang="ru-RU" sz="1600" dirty="0" err="1">
                <a:solidFill>
                  <a:srgbClr val="E2E3E7"/>
                </a:solidFill>
              </a:rPr>
              <a:t>pos</a:t>
            </a:r>
            <a:r>
              <a:rPr lang="ru-RU" altLang="ru-RU" sz="1600" dirty="0">
                <a:solidFill>
                  <a:srgbClr val="E2E3E7"/>
                </a:solidFill>
              </a:rPr>
              <a:t> удаляет </a:t>
            </a:r>
            <a:r>
              <a:rPr lang="ru-RU" altLang="ru-RU" sz="1600" dirty="0" err="1">
                <a:solidFill>
                  <a:srgbClr val="E2E3E7"/>
                </a:solidFill>
              </a:rPr>
              <a:t>deleteCount</a:t>
            </a:r>
            <a:r>
              <a:rPr lang="ru-RU" altLang="ru-RU" sz="1600" dirty="0">
                <a:solidFill>
                  <a:srgbClr val="E2E3E7"/>
                </a:solidFill>
              </a:rPr>
              <a:t> элементов и вставляет </a:t>
            </a:r>
            <a:r>
              <a:rPr lang="ru-RU" altLang="ru-RU" sz="1600" dirty="0" err="1">
                <a:solidFill>
                  <a:srgbClr val="E2E3E7"/>
                </a:solidFill>
              </a:rPr>
              <a:t>items</a:t>
            </a:r>
            <a:r>
              <a:rPr lang="ru-RU" altLang="ru-RU" sz="1600" dirty="0">
                <a:solidFill>
                  <a:srgbClr val="E2E3E7"/>
                </a:solidFill>
              </a:rPr>
              <a:t>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FFFF00"/>
                </a:solidFill>
              </a:rPr>
              <a:t>slice</a:t>
            </a:r>
            <a:r>
              <a:rPr lang="ru-RU" altLang="ru-RU" sz="1600" dirty="0">
                <a:solidFill>
                  <a:srgbClr val="FFFF00"/>
                </a:solidFill>
              </a:rPr>
              <a:t>(</a:t>
            </a:r>
            <a:r>
              <a:rPr lang="ru-RU" altLang="ru-RU" sz="1600" dirty="0" err="1">
                <a:solidFill>
                  <a:srgbClr val="FFFF00"/>
                </a:solidFill>
              </a:rPr>
              <a:t>start</a:t>
            </a:r>
            <a:r>
              <a:rPr lang="ru-RU" altLang="ru-RU" sz="1600" dirty="0">
                <a:solidFill>
                  <a:srgbClr val="FFFF00"/>
                </a:solidFill>
              </a:rPr>
              <a:t>, </a:t>
            </a:r>
            <a:r>
              <a:rPr lang="ru-RU" altLang="ru-RU" sz="1600" dirty="0" err="1">
                <a:solidFill>
                  <a:srgbClr val="FFFF00"/>
                </a:solidFill>
              </a:rPr>
              <a:t>end</a:t>
            </a:r>
            <a:r>
              <a:rPr lang="ru-RU" altLang="ru-RU" sz="1600" dirty="0">
                <a:solidFill>
                  <a:srgbClr val="FFFF00"/>
                </a:solidFill>
              </a:rPr>
              <a:t>) </a:t>
            </a:r>
            <a:r>
              <a:rPr lang="ru-RU" altLang="ru-RU" sz="1600" dirty="0">
                <a:solidFill>
                  <a:srgbClr val="E2E3E7"/>
                </a:solidFill>
              </a:rPr>
              <a:t>– создаёт новый массив, копируя в него элементы с индекса </a:t>
            </a:r>
            <a:r>
              <a:rPr lang="ru-RU" altLang="ru-RU" sz="1600" dirty="0" err="1">
                <a:solidFill>
                  <a:srgbClr val="E2E3E7"/>
                </a:solidFill>
              </a:rPr>
              <a:t>start</a:t>
            </a:r>
            <a:r>
              <a:rPr lang="ru-RU" altLang="ru-RU" sz="1600" dirty="0">
                <a:solidFill>
                  <a:srgbClr val="E2E3E7"/>
                </a:solidFill>
              </a:rPr>
              <a:t> до </a:t>
            </a:r>
            <a:r>
              <a:rPr lang="ru-RU" altLang="ru-RU" sz="1600" dirty="0" err="1">
                <a:solidFill>
                  <a:srgbClr val="E2E3E7"/>
                </a:solidFill>
              </a:rPr>
              <a:t>end</a:t>
            </a:r>
            <a:r>
              <a:rPr lang="ru-RU" altLang="ru-RU" sz="1600" dirty="0">
                <a:solidFill>
                  <a:srgbClr val="E2E3E7"/>
                </a:solidFill>
              </a:rPr>
              <a:t> (не включая </a:t>
            </a:r>
            <a:r>
              <a:rPr lang="ru-RU" altLang="ru-RU" sz="1600" dirty="0" err="1">
                <a:solidFill>
                  <a:srgbClr val="E2E3E7"/>
                </a:solidFill>
              </a:rPr>
              <a:t>end</a:t>
            </a:r>
            <a:r>
              <a:rPr lang="ru-RU" altLang="ru-RU" sz="1600" dirty="0">
                <a:solidFill>
                  <a:srgbClr val="E2E3E7"/>
                </a:solidFill>
              </a:rPr>
              <a:t>).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FFFF00"/>
                </a:solidFill>
              </a:rPr>
              <a:t>concat</a:t>
            </a:r>
            <a:r>
              <a:rPr lang="ru-RU" altLang="ru-RU" sz="1600" dirty="0">
                <a:solidFill>
                  <a:srgbClr val="FFFF00"/>
                </a:solidFill>
              </a:rPr>
              <a:t>(...</a:t>
            </a:r>
            <a:r>
              <a:rPr lang="ru-RU" altLang="ru-RU" sz="1600" dirty="0" err="1">
                <a:solidFill>
                  <a:srgbClr val="FFFF00"/>
                </a:solidFill>
              </a:rPr>
              <a:t>items</a:t>
            </a:r>
            <a:r>
              <a:rPr lang="ru-RU" altLang="ru-RU" sz="1600" dirty="0">
                <a:solidFill>
                  <a:srgbClr val="FFFF00"/>
                </a:solidFill>
              </a:rPr>
              <a:t>) </a:t>
            </a:r>
            <a:r>
              <a:rPr lang="ru-RU" altLang="ru-RU" sz="1600" dirty="0">
                <a:solidFill>
                  <a:srgbClr val="E2E3E7"/>
                </a:solidFill>
              </a:rPr>
              <a:t>– возвращает новый массив: копирует все члены текущего массива и добавляет к нему </a:t>
            </a:r>
            <a:r>
              <a:rPr lang="ru-RU" altLang="ru-RU" sz="1600" dirty="0" err="1">
                <a:solidFill>
                  <a:srgbClr val="E2E3E7"/>
                </a:solidFill>
              </a:rPr>
              <a:t>items</a:t>
            </a:r>
            <a:r>
              <a:rPr lang="ru-RU" altLang="ru-RU" sz="1600" dirty="0">
                <a:solidFill>
                  <a:srgbClr val="E2E3E7"/>
                </a:solidFill>
              </a:rPr>
              <a:t>. Если какой-то из </a:t>
            </a:r>
            <a:r>
              <a:rPr lang="ru-RU" altLang="ru-RU" sz="1600" dirty="0" err="1">
                <a:solidFill>
                  <a:srgbClr val="E2E3E7"/>
                </a:solidFill>
              </a:rPr>
              <a:t>items</a:t>
            </a:r>
            <a:r>
              <a:rPr lang="ru-RU" altLang="ru-RU" sz="1600" dirty="0">
                <a:solidFill>
                  <a:srgbClr val="E2E3E7"/>
                </a:solidFill>
              </a:rPr>
              <a:t> является массивом, тогда берутся его элементы.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dirty="0">
              <a:solidFill>
                <a:srgbClr val="E2E3E7"/>
              </a:solidFill>
              <a:latin typeface="BlinkMacSystemFont"/>
            </a:endParaRPr>
          </a:p>
        </p:txBody>
      </p:sp>
    </p:spTree>
    <p:extLst>
      <p:ext uri="{BB962C8B-B14F-4D97-AF65-F5344CB8AC3E}">
        <p14:creationId xmlns:p14="http://schemas.microsoft.com/office/powerpoint/2010/main" val="27356815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Итого: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Для поиска среди элементов: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FFFF00"/>
                </a:solidFill>
              </a:rPr>
              <a:t>indexOf</a:t>
            </a:r>
            <a:r>
              <a:rPr lang="ru-RU" altLang="ru-RU" sz="1600" dirty="0">
                <a:solidFill>
                  <a:srgbClr val="FFFF00"/>
                </a:solidFill>
              </a:rPr>
              <a:t>/</a:t>
            </a:r>
            <a:r>
              <a:rPr lang="ru-RU" altLang="ru-RU" sz="1600" dirty="0" err="1">
                <a:solidFill>
                  <a:srgbClr val="FFFF00"/>
                </a:solidFill>
              </a:rPr>
              <a:t>lastIndexOf</a:t>
            </a:r>
            <a:r>
              <a:rPr lang="ru-RU" altLang="ru-RU" sz="1600" dirty="0">
                <a:solidFill>
                  <a:srgbClr val="FFFF00"/>
                </a:solidFill>
              </a:rPr>
              <a:t>(</a:t>
            </a:r>
            <a:r>
              <a:rPr lang="ru-RU" altLang="ru-RU" sz="1600" dirty="0" err="1">
                <a:solidFill>
                  <a:srgbClr val="FFFF00"/>
                </a:solidFill>
              </a:rPr>
              <a:t>item</a:t>
            </a:r>
            <a:r>
              <a:rPr lang="ru-RU" altLang="ru-RU" sz="1600" dirty="0">
                <a:solidFill>
                  <a:srgbClr val="FFFF00"/>
                </a:solidFill>
              </a:rPr>
              <a:t>, </a:t>
            </a:r>
            <a:r>
              <a:rPr lang="ru-RU" altLang="ru-RU" sz="1600" dirty="0" err="1">
                <a:solidFill>
                  <a:srgbClr val="FFFF00"/>
                </a:solidFill>
              </a:rPr>
              <a:t>pos</a:t>
            </a:r>
            <a:r>
              <a:rPr lang="ru-RU" altLang="ru-RU" sz="1600" dirty="0">
                <a:solidFill>
                  <a:srgbClr val="FFFF00"/>
                </a:solidFill>
              </a:rPr>
              <a:t>) </a:t>
            </a:r>
            <a:r>
              <a:rPr lang="ru-RU" altLang="ru-RU" sz="1600" dirty="0">
                <a:solidFill>
                  <a:srgbClr val="E2E3E7"/>
                </a:solidFill>
              </a:rPr>
              <a:t>– ищет </a:t>
            </a:r>
            <a:r>
              <a:rPr lang="ru-RU" altLang="ru-RU" sz="1600" dirty="0" err="1">
                <a:solidFill>
                  <a:srgbClr val="E2E3E7"/>
                </a:solidFill>
              </a:rPr>
              <a:t>item</a:t>
            </a:r>
            <a:r>
              <a:rPr lang="ru-RU" altLang="ru-RU" sz="1600" dirty="0">
                <a:solidFill>
                  <a:srgbClr val="E2E3E7"/>
                </a:solidFill>
              </a:rPr>
              <a:t>, начиная с позиции </a:t>
            </a:r>
            <a:r>
              <a:rPr lang="ru-RU" altLang="ru-RU" sz="1600" dirty="0" err="1">
                <a:solidFill>
                  <a:srgbClr val="E2E3E7"/>
                </a:solidFill>
              </a:rPr>
              <a:t>pos</a:t>
            </a:r>
            <a:r>
              <a:rPr lang="ru-RU" altLang="ru-RU" sz="1600" dirty="0">
                <a:solidFill>
                  <a:srgbClr val="E2E3E7"/>
                </a:solidFill>
              </a:rPr>
              <a:t>, и возвращает его индекс или -1, если ничего не найдено.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FFFF00"/>
                </a:solidFill>
              </a:rPr>
              <a:t>includes</a:t>
            </a:r>
            <a:r>
              <a:rPr lang="ru-RU" altLang="ru-RU" sz="1600" dirty="0">
                <a:solidFill>
                  <a:srgbClr val="FFFF00"/>
                </a:solidFill>
              </a:rPr>
              <a:t>(</a:t>
            </a:r>
            <a:r>
              <a:rPr lang="ru-RU" altLang="ru-RU" sz="1600" dirty="0" err="1">
                <a:solidFill>
                  <a:srgbClr val="FFFF00"/>
                </a:solidFill>
              </a:rPr>
              <a:t>value</a:t>
            </a:r>
            <a:r>
              <a:rPr lang="ru-RU" altLang="ru-RU" sz="1600" dirty="0">
                <a:solidFill>
                  <a:srgbClr val="FFFF00"/>
                </a:solidFill>
              </a:rPr>
              <a:t>) </a:t>
            </a:r>
            <a:r>
              <a:rPr lang="ru-RU" altLang="ru-RU" sz="1600" dirty="0">
                <a:solidFill>
                  <a:srgbClr val="E2E3E7"/>
                </a:solidFill>
              </a:rPr>
              <a:t>– возвращает </a:t>
            </a:r>
            <a:r>
              <a:rPr lang="ru-RU" altLang="ru-RU" sz="1600" dirty="0" err="1">
                <a:solidFill>
                  <a:srgbClr val="E2E3E7"/>
                </a:solidFill>
              </a:rPr>
              <a:t>true</a:t>
            </a:r>
            <a:r>
              <a:rPr lang="ru-RU" altLang="ru-RU" sz="1600" dirty="0">
                <a:solidFill>
                  <a:srgbClr val="E2E3E7"/>
                </a:solidFill>
              </a:rPr>
              <a:t>, если в массиве имеется элемент </a:t>
            </a:r>
            <a:r>
              <a:rPr lang="ru-RU" altLang="ru-RU" sz="1600" dirty="0" err="1">
                <a:solidFill>
                  <a:srgbClr val="E2E3E7"/>
                </a:solidFill>
              </a:rPr>
              <a:t>value</a:t>
            </a:r>
            <a:r>
              <a:rPr lang="ru-RU" altLang="ru-RU" sz="1600" dirty="0">
                <a:solidFill>
                  <a:srgbClr val="E2E3E7"/>
                </a:solidFill>
              </a:rPr>
              <a:t>, в противном случае </a:t>
            </a:r>
            <a:r>
              <a:rPr lang="ru-RU" altLang="ru-RU" sz="1600" dirty="0" err="1">
                <a:solidFill>
                  <a:srgbClr val="E2E3E7"/>
                </a:solidFill>
              </a:rPr>
              <a:t>false</a:t>
            </a:r>
            <a:r>
              <a:rPr lang="ru-RU" altLang="ru-RU" sz="1600" dirty="0">
                <a:solidFill>
                  <a:srgbClr val="E2E3E7"/>
                </a:solidFill>
              </a:rPr>
              <a:t>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FFFF00"/>
                </a:solidFill>
              </a:rPr>
              <a:t>find</a:t>
            </a:r>
            <a:r>
              <a:rPr lang="ru-RU" altLang="ru-RU" sz="1600" dirty="0">
                <a:solidFill>
                  <a:srgbClr val="FFFF00"/>
                </a:solidFill>
              </a:rPr>
              <a:t>/</a:t>
            </a:r>
            <a:r>
              <a:rPr lang="ru-RU" altLang="ru-RU" sz="1600" dirty="0" err="1">
                <a:solidFill>
                  <a:srgbClr val="FFFF00"/>
                </a:solidFill>
              </a:rPr>
              <a:t>filter</a:t>
            </a:r>
            <a:r>
              <a:rPr lang="ru-RU" altLang="ru-RU" sz="1600" dirty="0">
                <a:solidFill>
                  <a:srgbClr val="FFFF00"/>
                </a:solidFill>
              </a:rPr>
              <a:t>(</a:t>
            </a:r>
            <a:r>
              <a:rPr lang="ru-RU" altLang="ru-RU" sz="1600" dirty="0" err="1">
                <a:solidFill>
                  <a:srgbClr val="FFFF00"/>
                </a:solidFill>
              </a:rPr>
              <a:t>func</a:t>
            </a:r>
            <a:r>
              <a:rPr lang="ru-RU" altLang="ru-RU" sz="1600" dirty="0">
                <a:solidFill>
                  <a:srgbClr val="FFFF00"/>
                </a:solidFill>
              </a:rPr>
              <a:t>) </a:t>
            </a:r>
            <a:r>
              <a:rPr lang="ru-RU" altLang="ru-RU" sz="1600" dirty="0">
                <a:solidFill>
                  <a:srgbClr val="E2E3E7"/>
                </a:solidFill>
              </a:rPr>
              <a:t>– фильтрует элементы через функцию и отдаёт первое/все значения, при прохождении которых через функцию возвращается </a:t>
            </a:r>
            <a:r>
              <a:rPr lang="ru-RU" altLang="ru-RU" sz="1600" dirty="0" err="1">
                <a:solidFill>
                  <a:srgbClr val="E2E3E7"/>
                </a:solidFill>
              </a:rPr>
              <a:t>true</a:t>
            </a:r>
            <a:r>
              <a:rPr lang="ru-RU" altLang="ru-RU" sz="1600" dirty="0">
                <a:solidFill>
                  <a:srgbClr val="E2E3E7"/>
                </a:solidFill>
              </a:rPr>
              <a:t>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FFFF00"/>
                </a:solidFill>
              </a:rPr>
              <a:t>findIndex</a:t>
            </a:r>
            <a:r>
              <a:rPr lang="ru-RU" altLang="ru-RU" sz="1600" dirty="0">
                <a:solidFill>
                  <a:srgbClr val="E2E3E7"/>
                </a:solidFill>
              </a:rPr>
              <a:t> похож на </a:t>
            </a:r>
            <a:r>
              <a:rPr lang="ru-RU" altLang="ru-RU" sz="1600" dirty="0" err="1">
                <a:solidFill>
                  <a:srgbClr val="FFFF00"/>
                </a:solidFill>
              </a:rPr>
              <a:t>find</a:t>
            </a:r>
            <a:r>
              <a:rPr lang="ru-RU" altLang="ru-RU" sz="1600" dirty="0">
                <a:solidFill>
                  <a:srgbClr val="E2E3E7"/>
                </a:solidFill>
              </a:rPr>
              <a:t>, но возвращает индекс вместо значения.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Для перебора элементов: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FFFF00"/>
                </a:solidFill>
              </a:rPr>
              <a:t>forEach</a:t>
            </a:r>
            <a:r>
              <a:rPr lang="ru-RU" altLang="ru-RU" sz="1600" dirty="0">
                <a:solidFill>
                  <a:srgbClr val="FFFF00"/>
                </a:solidFill>
              </a:rPr>
              <a:t>(</a:t>
            </a:r>
            <a:r>
              <a:rPr lang="ru-RU" altLang="ru-RU" sz="1600" dirty="0" err="1">
                <a:solidFill>
                  <a:srgbClr val="FFFF00"/>
                </a:solidFill>
              </a:rPr>
              <a:t>func</a:t>
            </a:r>
            <a:r>
              <a:rPr lang="ru-RU" altLang="ru-RU" sz="1600" dirty="0">
                <a:solidFill>
                  <a:srgbClr val="FFFF00"/>
                </a:solidFill>
              </a:rPr>
              <a:t>) </a:t>
            </a:r>
            <a:r>
              <a:rPr lang="ru-RU" altLang="ru-RU" sz="1600" dirty="0">
                <a:solidFill>
                  <a:srgbClr val="E2E3E7"/>
                </a:solidFill>
              </a:rPr>
              <a:t>– вызывает </a:t>
            </a:r>
            <a:r>
              <a:rPr lang="ru-RU" altLang="ru-RU" sz="1600" dirty="0" err="1">
                <a:solidFill>
                  <a:srgbClr val="E2E3E7"/>
                </a:solidFill>
              </a:rPr>
              <a:t>func</a:t>
            </a:r>
            <a:r>
              <a:rPr lang="ru-RU" altLang="ru-RU" sz="1600" dirty="0">
                <a:solidFill>
                  <a:srgbClr val="E2E3E7"/>
                </a:solidFill>
              </a:rPr>
              <a:t> для каждого элемента. Ничего не возвращает.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Дополнительно: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FFFF00"/>
                </a:solidFill>
              </a:rPr>
              <a:t>Array.isArray</a:t>
            </a:r>
            <a:r>
              <a:rPr lang="ru-RU" altLang="ru-RU" sz="1600" dirty="0">
                <a:solidFill>
                  <a:srgbClr val="FFFF00"/>
                </a:solidFill>
              </a:rPr>
              <a:t>(</a:t>
            </a:r>
            <a:r>
              <a:rPr lang="ru-RU" altLang="ru-RU" sz="1600" dirty="0" err="1">
                <a:solidFill>
                  <a:srgbClr val="FFFF00"/>
                </a:solidFill>
              </a:rPr>
              <a:t>arr</a:t>
            </a:r>
            <a:r>
              <a:rPr lang="ru-RU" altLang="ru-RU" sz="1600" dirty="0">
                <a:solidFill>
                  <a:srgbClr val="FFFF00"/>
                </a:solidFill>
              </a:rPr>
              <a:t>) </a:t>
            </a:r>
            <a:r>
              <a:rPr lang="ru-RU" altLang="ru-RU" sz="1600" dirty="0">
                <a:solidFill>
                  <a:srgbClr val="E2E3E7"/>
                </a:solidFill>
              </a:rPr>
              <a:t>проверяет, является ли </a:t>
            </a:r>
            <a:r>
              <a:rPr lang="ru-RU" altLang="ru-RU" sz="1600" dirty="0" err="1">
                <a:solidFill>
                  <a:srgbClr val="E2E3E7"/>
                </a:solidFill>
              </a:rPr>
              <a:t>arr</a:t>
            </a:r>
            <a:r>
              <a:rPr lang="ru-RU" altLang="ru-RU" sz="1600" dirty="0">
                <a:solidFill>
                  <a:srgbClr val="E2E3E7"/>
                </a:solidFill>
              </a:rPr>
              <a:t> массивом</a:t>
            </a:r>
          </a:p>
          <a:p>
            <a:pPr marL="15716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750" dirty="0">
              <a:solidFill>
                <a:srgbClr val="E2E3E7"/>
              </a:solidFill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ru-RU" altLang="ru-RU" sz="1600" dirty="0">
              <a:solidFill>
                <a:srgbClr val="E2E3E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5323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Итого: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Для преобразования массива: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FFFF00"/>
                </a:solidFill>
              </a:rPr>
              <a:t>map</a:t>
            </a:r>
            <a:r>
              <a:rPr lang="ru-RU" altLang="ru-RU" sz="1600" dirty="0">
                <a:solidFill>
                  <a:srgbClr val="FFFF00"/>
                </a:solidFill>
              </a:rPr>
              <a:t>(</a:t>
            </a:r>
            <a:r>
              <a:rPr lang="ru-RU" altLang="ru-RU" sz="1600" dirty="0" err="1">
                <a:solidFill>
                  <a:srgbClr val="FFFF00"/>
                </a:solidFill>
              </a:rPr>
              <a:t>func</a:t>
            </a:r>
            <a:r>
              <a:rPr lang="ru-RU" altLang="ru-RU" sz="1600" dirty="0">
                <a:solidFill>
                  <a:srgbClr val="FFFF00"/>
                </a:solidFill>
              </a:rPr>
              <a:t>) </a:t>
            </a:r>
            <a:r>
              <a:rPr lang="ru-RU" altLang="ru-RU" sz="1600" dirty="0">
                <a:solidFill>
                  <a:srgbClr val="E2E3E7"/>
                </a:solidFill>
              </a:rPr>
              <a:t>– создаёт новый массив из результатов вызова </a:t>
            </a:r>
            <a:r>
              <a:rPr lang="ru-RU" altLang="ru-RU" sz="1600" dirty="0" err="1">
                <a:solidFill>
                  <a:srgbClr val="E2E3E7"/>
                </a:solidFill>
              </a:rPr>
              <a:t>func</a:t>
            </a:r>
            <a:r>
              <a:rPr lang="ru-RU" altLang="ru-RU" sz="1600" dirty="0">
                <a:solidFill>
                  <a:srgbClr val="E2E3E7"/>
                </a:solidFill>
              </a:rPr>
              <a:t> для каждого элемента.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FFFF00"/>
                </a:solidFill>
              </a:rPr>
              <a:t>sort</a:t>
            </a:r>
            <a:r>
              <a:rPr lang="ru-RU" altLang="ru-RU" sz="1600" dirty="0">
                <a:solidFill>
                  <a:srgbClr val="FFFF00"/>
                </a:solidFill>
              </a:rPr>
              <a:t>(</a:t>
            </a:r>
            <a:r>
              <a:rPr lang="ru-RU" altLang="ru-RU" sz="1600" dirty="0" err="1">
                <a:solidFill>
                  <a:srgbClr val="FFFF00"/>
                </a:solidFill>
              </a:rPr>
              <a:t>func</a:t>
            </a:r>
            <a:r>
              <a:rPr lang="ru-RU" altLang="ru-RU" sz="1600" dirty="0">
                <a:solidFill>
                  <a:srgbClr val="FFFF00"/>
                </a:solidFill>
              </a:rPr>
              <a:t>) </a:t>
            </a:r>
            <a:r>
              <a:rPr lang="ru-RU" altLang="ru-RU" sz="1600" dirty="0">
                <a:solidFill>
                  <a:srgbClr val="E2E3E7"/>
                </a:solidFill>
              </a:rPr>
              <a:t>– сортирует массив «на месте», а потом возвращает его.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FFFF00"/>
                </a:solidFill>
              </a:rPr>
              <a:t>reverse</a:t>
            </a:r>
            <a:r>
              <a:rPr lang="ru-RU" altLang="ru-RU" sz="1600" dirty="0">
                <a:solidFill>
                  <a:srgbClr val="FFFF00"/>
                </a:solidFill>
              </a:rPr>
              <a:t>() </a:t>
            </a:r>
            <a:r>
              <a:rPr lang="ru-RU" altLang="ru-RU" sz="1600" dirty="0">
                <a:solidFill>
                  <a:srgbClr val="E2E3E7"/>
                </a:solidFill>
              </a:rPr>
              <a:t>– «на месте» меняет порядок следования элементов на противоположный и возвращает изменённый массив.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FFFF00"/>
                </a:solidFill>
              </a:rPr>
              <a:t>split</a:t>
            </a:r>
            <a:r>
              <a:rPr lang="ru-RU" altLang="ru-RU" sz="1600" dirty="0">
                <a:solidFill>
                  <a:srgbClr val="FFFF00"/>
                </a:solidFill>
              </a:rPr>
              <a:t>/</a:t>
            </a:r>
            <a:r>
              <a:rPr lang="ru-RU" altLang="ru-RU" sz="1600" dirty="0" err="1">
                <a:solidFill>
                  <a:srgbClr val="FFFF00"/>
                </a:solidFill>
              </a:rPr>
              <a:t>join</a:t>
            </a:r>
            <a:r>
              <a:rPr lang="ru-RU" altLang="ru-RU" sz="1600" dirty="0">
                <a:solidFill>
                  <a:srgbClr val="FFFF00"/>
                </a:solidFill>
              </a:rPr>
              <a:t> </a:t>
            </a:r>
            <a:r>
              <a:rPr lang="ru-RU" altLang="ru-RU" sz="1600" dirty="0">
                <a:solidFill>
                  <a:srgbClr val="E2E3E7"/>
                </a:solidFill>
              </a:rPr>
              <a:t>– преобразует строку в массив и обратно.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FFFF00"/>
                </a:solidFill>
              </a:rPr>
              <a:t>reduce</a:t>
            </a:r>
            <a:r>
              <a:rPr lang="ru-RU" altLang="ru-RU" sz="1600" dirty="0">
                <a:solidFill>
                  <a:srgbClr val="FFFF00"/>
                </a:solidFill>
              </a:rPr>
              <a:t>/</a:t>
            </a:r>
            <a:r>
              <a:rPr lang="ru-RU" altLang="ru-RU" sz="1600" dirty="0" err="1">
                <a:solidFill>
                  <a:srgbClr val="FFFF00"/>
                </a:solidFill>
              </a:rPr>
              <a:t>reduceRight</a:t>
            </a:r>
            <a:r>
              <a:rPr lang="ru-RU" altLang="ru-RU" sz="1600" dirty="0">
                <a:solidFill>
                  <a:srgbClr val="FFFF00"/>
                </a:solidFill>
              </a:rPr>
              <a:t>(</a:t>
            </a:r>
            <a:r>
              <a:rPr lang="ru-RU" altLang="ru-RU" sz="1600" dirty="0" err="1">
                <a:solidFill>
                  <a:srgbClr val="FFFF00"/>
                </a:solidFill>
              </a:rPr>
              <a:t>func</a:t>
            </a:r>
            <a:r>
              <a:rPr lang="ru-RU" altLang="ru-RU" sz="1600" dirty="0">
                <a:solidFill>
                  <a:srgbClr val="FFFF00"/>
                </a:solidFill>
              </a:rPr>
              <a:t>, </a:t>
            </a:r>
            <a:r>
              <a:rPr lang="ru-RU" altLang="ru-RU" sz="1600" dirty="0" err="1">
                <a:solidFill>
                  <a:srgbClr val="FFFF00"/>
                </a:solidFill>
              </a:rPr>
              <a:t>initial</a:t>
            </a:r>
            <a:r>
              <a:rPr lang="ru-RU" altLang="ru-RU" sz="1600" dirty="0">
                <a:solidFill>
                  <a:srgbClr val="FFFF00"/>
                </a:solidFill>
              </a:rPr>
              <a:t>) </a:t>
            </a:r>
            <a:r>
              <a:rPr lang="ru-RU" altLang="ru-RU" sz="1600" dirty="0">
                <a:solidFill>
                  <a:srgbClr val="E2E3E7"/>
                </a:solidFill>
              </a:rPr>
              <a:t>– вычисляет одно значение на основе всего массива, вызывая </a:t>
            </a:r>
            <a:r>
              <a:rPr lang="ru-RU" altLang="ru-RU" sz="1600" dirty="0" err="1">
                <a:solidFill>
                  <a:srgbClr val="E2E3E7"/>
                </a:solidFill>
              </a:rPr>
              <a:t>func</a:t>
            </a:r>
            <a:r>
              <a:rPr lang="ru-RU" altLang="ru-RU" sz="1600" dirty="0">
                <a:solidFill>
                  <a:srgbClr val="E2E3E7"/>
                </a:solidFill>
              </a:rPr>
              <a:t> для каждого элемента и передавая промежуточный результат между вызовами.</a:t>
            </a:r>
          </a:p>
        </p:txBody>
      </p:sp>
    </p:spTree>
    <p:extLst>
      <p:ext uri="{BB962C8B-B14F-4D97-AF65-F5344CB8AC3E}">
        <p14:creationId xmlns:p14="http://schemas.microsoft.com/office/powerpoint/2010/main" val="42597712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1. Увеличьте все числа в массиве [1, 2, 3, 4, 5] в 2 раза с помощью метода </a:t>
            </a:r>
            <a:r>
              <a:rPr lang="en-US" sz="1600" dirty="0">
                <a:solidFill>
                  <a:schemeClr val="tx1"/>
                </a:solidFill>
              </a:rPr>
              <a:t>map</a:t>
            </a:r>
            <a:r>
              <a:rPr lang="ru-RU" sz="1600" dirty="0">
                <a:solidFill>
                  <a:schemeClr val="tx1"/>
                </a:solidFill>
              </a:rPr>
              <a:t>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2. Отсортируйте массив чисел [3, 1, 4, 1, 5, 9, 2, 6] по возрастанию.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3. </a:t>
            </a:r>
            <a:r>
              <a:rPr lang="ru-RU" altLang="ru-RU" sz="1600" dirty="0">
                <a:solidFill>
                  <a:schemeClr val="tx1"/>
                </a:solidFill>
              </a:rPr>
              <a:t>Переверните массив строк ['</a:t>
            </a:r>
            <a:r>
              <a:rPr lang="ru-RU" altLang="ru-RU" sz="1600" dirty="0" err="1">
                <a:solidFill>
                  <a:schemeClr val="tx1"/>
                </a:solidFill>
              </a:rPr>
              <a:t>hello</a:t>
            </a:r>
            <a:r>
              <a:rPr lang="ru-RU" altLang="ru-RU" sz="1600" dirty="0">
                <a:solidFill>
                  <a:schemeClr val="tx1"/>
                </a:solidFill>
              </a:rPr>
              <a:t>', '</a:t>
            </a:r>
            <a:r>
              <a:rPr lang="ru-RU" altLang="ru-RU" sz="1600" dirty="0" err="1">
                <a:solidFill>
                  <a:schemeClr val="tx1"/>
                </a:solidFill>
              </a:rPr>
              <a:t>world</a:t>
            </a:r>
            <a:r>
              <a:rPr lang="ru-RU" altLang="ru-RU" sz="1600" dirty="0">
                <a:solidFill>
                  <a:schemeClr val="tx1"/>
                </a:solidFill>
              </a:rPr>
              <a:t>’].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4. </a:t>
            </a:r>
            <a:r>
              <a:rPr lang="ru-RU" altLang="ru-RU" sz="1600" dirty="0">
                <a:solidFill>
                  <a:schemeClr val="tx1"/>
                </a:solidFill>
              </a:rPr>
              <a:t>Разделите строку '</a:t>
            </a:r>
            <a:r>
              <a:rPr lang="ru-RU" altLang="ru-RU" sz="1600" dirty="0" err="1">
                <a:solidFill>
                  <a:schemeClr val="tx1"/>
                </a:solidFill>
              </a:rPr>
              <a:t>apple,banana,cherry</a:t>
            </a:r>
            <a:r>
              <a:rPr lang="ru-RU" altLang="ru-RU" sz="1600" dirty="0">
                <a:solidFill>
                  <a:schemeClr val="tx1"/>
                </a:solidFill>
              </a:rPr>
              <a:t>' на массив фруктов по запятой.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5. </a:t>
            </a:r>
            <a:r>
              <a:rPr lang="ru-RU" altLang="ru-RU" sz="1600" dirty="0">
                <a:solidFill>
                  <a:schemeClr val="tx1"/>
                </a:solidFill>
              </a:rPr>
              <a:t>Объедините массив слов ['</a:t>
            </a:r>
            <a:r>
              <a:rPr lang="ru-RU" altLang="ru-RU" sz="1600" dirty="0" err="1">
                <a:solidFill>
                  <a:schemeClr val="tx1"/>
                </a:solidFill>
              </a:rPr>
              <a:t>hello</a:t>
            </a:r>
            <a:r>
              <a:rPr lang="ru-RU" altLang="ru-RU" sz="1600" dirty="0">
                <a:solidFill>
                  <a:schemeClr val="tx1"/>
                </a:solidFill>
              </a:rPr>
              <a:t>', '</a:t>
            </a:r>
            <a:r>
              <a:rPr lang="ru-RU" altLang="ru-RU" sz="1600" dirty="0" err="1">
                <a:solidFill>
                  <a:schemeClr val="tx1"/>
                </a:solidFill>
              </a:rPr>
              <a:t>world</a:t>
            </a:r>
            <a:r>
              <a:rPr lang="ru-RU" altLang="ru-RU" sz="1600" dirty="0">
                <a:solidFill>
                  <a:schemeClr val="tx1"/>
                </a:solidFill>
              </a:rPr>
              <a:t>'] в строку через пробел.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6. </a:t>
            </a:r>
            <a:r>
              <a:rPr lang="ru-RU" altLang="ru-RU" sz="1600" dirty="0">
                <a:solidFill>
                  <a:schemeClr val="tx1"/>
                </a:solidFill>
              </a:rPr>
              <a:t>Найдите произведение всех чисел в массиве [1, 2, 3, 4, 5].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5636578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1. 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const</a:t>
            </a:r>
            <a:r>
              <a:rPr lang="en-US" sz="1600" dirty="0">
                <a:solidFill>
                  <a:schemeClr val="tx1"/>
                </a:solidFill>
              </a:rPr>
              <a:t> numbers = [</a:t>
            </a:r>
            <a:r>
              <a:rPr lang="en-US" sz="1600" dirty="0">
                <a:solidFill>
                  <a:srgbClr val="C907B2"/>
                </a:solidFill>
              </a:rPr>
              <a:t>1, 2, 3, 4, 5</a:t>
            </a:r>
            <a:r>
              <a:rPr lang="en-US" sz="1600" dirty="0">
                <a:solidFill>
                  <a:schemeClr val="tx1"/>
                </a:solidFill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const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doubledNumbers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numbers.</a:t>
            </a:r>
            <a:r>
              <a:rPr lang="en-US" sz="1600" dirty="0" err="1">
                <a:solidFill>
                  <a:srgbClr val="00B0F0"/>
                </a:solidFill>
              </a:rPr>
              <a:t>map</a:t>
            </a:r>
            <a:r>
              <a:rPr lang="en-US" sz="1600" dirty="0">
                <a:solidFill>
                  <a:schemeClr val="tx1"/>
                </a:solidFill>
              </a:rPr>
              <a:t>(num 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=&gt;</a:t>
            </a:r>
            <a:r>
              <a:rPr lang="en-US" sz="1600" dirty="0">
                <a:solidFill>
                  <a:schemeClr val="tx1"/>
                </a:solidFill>
              </a:rPr>
              <a:t> num 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*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rgbClr val="C907B2"/>
                </a:solidFill>
              </a:rPr>
              <a:t>2</a:t>
            </a:r>
            <a:r>
              <a:rPr lang="en-US" sz="1600" dirty="0">
                <a:solidFill>
                  <a:schemeClr val="tx1"/>
                </a:solidFill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console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r>
              <a:rPr lang="en-US" sz="1600" dirty="0">
                <a:solidFill>
                  <a:srgbClr val="00B0F0"/>
                </a:solidFill>
              </a:rPr>
              <a:t>log</a:t>
            </a: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doubledNumbers</a:t>
            </a:r>
            <a:r>
              <a:rPr lang="en-US" sz="1600" dirty="0">
                <a:solidFill>
                  <a:schemeClr val="tx1"/>
                </a:solidFill>
              </a:rPr>
              <a:t>); </a:t>
            </a:r>
            <a:r>
              <a:rPr lang="en-US" sz="1600" dirty="0">
                <a:solidFill>
                  <a:srgbClr val="FFFF00"/>
                </a:solidFill>
              </a:rPr>
              <a:t>// [2, 4, 6, 8, 10]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2.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numbers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3, 1, 4, 1, 5, 9, 2, 6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numbers.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sort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((a, b)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=&gt;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a - b);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(numbers);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[1, 1, 2, 3, 4, 5, 6, 9]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3.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strings = [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'hello', 'world'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strings.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reverse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(strings);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['world', 'hello’]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4.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fruits =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en-US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apple,banana,cherry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fruitArray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fruits.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split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','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fruitArray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['apple', 'banana', 'cherry']</a:t>
            </a:r>
          </a:p>
          <a:p>
            <a:pPr marL="0" indent="0">
              <a:spcBef>
                <a:spcPts val="0"/>
              </a:spcBef>
              <a:buNone/>
            </a:pP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7684449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5.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words = [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'hello', 'world'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sentence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words.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join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(' '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(sentence);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'hello world’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6.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numbers = [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1, 2, 3, 4, 5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sum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numbers.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reduce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((acc, current)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=&gt; 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acc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current,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0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(sum);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15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754037051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7607</TotalTime>
  <Words>4337</Words>
  <Application>Microsoft Office PowerPoint</Application>
  <PresentationFormat>Экран (16:9)</PresentationFormat>
  <Paragraphs>422</Paragraphs>
  <Slides>40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7" baseType="lpstr">
      <vt:lpstr>Arial</vt:lpstr>
      <vt:lpstr>BlinkMacSystemFont</vt:lpstr>
      <vt:lpstr>Calibri</vt:lpstr>
      <vt:lpstr>Consolas</vt:lpstr>
      <vt:lpstr>Trebuchet MS</vt:lpstr>
      <vt:lpstr>Wingdings 3</vt:lpstr>
      <vt:lpstr>Аспект</vt:lpstr>
      <vt:lpstr>Методы массивов</vt:lpstr>
      <vt:lpstr>Массивы </vt:lpstr>
      <vt:lpstr>Домашнее задание лайфкодинг </vt:lpstr>
      <vt:lpstr>Домашнее задание лайфкодинг </vt:lpstr>
      <vt:lpstr>Методы массивов</vt:lpstr>
      <vt:lpstr>Методы массивов</vt:lpstr>
      <vt:lpstr>Методы массивов</vt:lpstr>
      <vt:lpstr>Методы массивов</vt:lpstr>
      <vt:lpstr>Методы массивов</vt:lpstr>
      <vt:lpstr>Методы массивов</vt:lpstr>
      <vt:lpstr>Методы массивов</vt:lpstr>
      <vt:lpstr>Перебор массива</vt:lpstr>
      <vt:lpstr>Перебор массива</vt:lpstr>
      <vt:lpstr>Поиск в массиве </vt:lpstr>
      <vt:lpstr>Поиск в массиве </vt:lpstr>
      <vt:lpstr>Поиск в массиве </vt:lpstr>
      <vt:lpstr>Поиск в массиве </vt:lpstr>
      <vt:lpstr>Поиск в массиве </vt:lpstr>
      <vt:lpstr>Поиск в массиве </vt:lpstr>
      <vt:lpstr>Поиск в массиве </vt:lpstr>
      <vt:lpstr>Наши любимые задачки </vt:lpstr>
      <vt:lpstr>Наши любимые задачки </vt:lpstr>
      <vt:lpstr>Наши любимые задачки </vt:lpstr>
      <vt:lpstr>Наши любимые задачки </vt:lpstr>
      <vt:lpstr>Преобразование массива</vt:lpstr>
      <vt:lpstr>Преобразование массива</vt:lpstr>
      <vt:lpstr>Преобразование массива</vt:lpstr>
      <vt:lpstr>Преобразование массива</vt:lpstr>
      <vt:lpstr>Преобразование массива</vt:lpstr>
      <vt:lpstr>Преобразование массива</vt:lpstr>
      <vt:lpstr>Преобразование массива</vt:lpstr>
      <vt:lpstr>Преобразование массива</vt:lpstr>
      <vt:lpstr>Array.isArray</vt:lpstr>
      <vt:lpstr>Array.isArray</vt:lpstr>
      <vt:lpstr>Итого:</vt:lpstr>
      <vt:lpstr>Итого:</vt:lpstr>
      <vt:lpstr>Итого:</vt:lpstr>
      <vt:lpstr>Наши любимые задачки </vt:lpstr>
      <vt:lpstr>Наши любимые задачки </vt:lpstr>
      <vt:lpstr>Наши любимые задачки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JavaScript</dc:title>
  <dc:creator>БушмелеваЕА</dc:creator>
  <cp:lastModifiedBy>Mikhail Matveichuk</cp:lastModifiedBy>
  <cp:revision>336</cp:revision>
  <dcterms:created xsi:type="dcterms:W3CDTF">2021-11-26T04:54:28Z</dcterms:created>
  <dcterms:modified xsi:type="dcterms:W3CDTF">2024-11-22T07:19:38Z</dcterms:modified>
</cp:coreProperties>
</file>