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9">
  <p:sldMasterIdLst>
    <p:sldMasterId id="2147483727" r:id="rId1"/>
  </p:sldMasterIdLst>
  <p:notesMasterIdLst>
    <p:notesMasterId r:id="rId30"/>
  </p:notesMasterIdLst>
  <p:sldIdLst>
    <p:sldId id="388" r:id="rId2"/>
    <p:sldId id="367" r:id="rId3"/>
    <p:sldId id="684" r:id="rId4"/>
    <p:sldId id="685" r:id="rId5"/>
    <p:sldId id="695" r:id="rId6"/>
    <p:sldId id="698" r:id="rId7"/>
    <p:sldId id="699" r:id="rId8"/>
    <p:sldId id="700" r:id="rId9"/>
    <p:sldId id="701" r:id="rId10"/>
    <p:sldId id="702" r:id="rId11"/>
    <p:sldId id="703" r:id="rId12"/>
    <p:sldId id="704" r:id="rId13"/>
    <p:sldId id="705" r:id="rId14"/>
    <p:sldId id="706" r:id="rId15"/>
    <p:sldId id="707" r:id="rId16"/>
    <p:sldId id="708" r:id="rId17"/>
    <p:sldId id="672" r:id="rId18"/>
    <p:sldId id="573" r:id="rId19"/>
    <p:sldId id="688" r:id="rId20"/>
    <p:sldId id="686" r:id="rId21"/>
    <p:sldId id="687" r:id="rId22"/>
    <p:sldId id="689" r:id="rId23"/>
    <p:sldId id="690" r:id="rId24"/>
    <p:sldId id="691" r:id="rId25"/>
    <p:sldId id="692" r:id="rId26"/>
    <p:sldId id="693" r:id="rId27"/>
    <p:sldId id="696" r:id="rId28"/>
    <p:sldId id="694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hail Matveichuk" initials="MM" lastIdx="2" clrIdx="0">
    <p:extLst>
      <p:ext uri="{19B8F6BF-5375-455C-9EA6-DF929625EA0E}">
        <p15:presenceInfo xmlns:p15="http://schemas.microsoft.com/office/powerpoint/2012/main" userId="a99a9a51dadd0b2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7B2"/>
    <a:srgbClr val="FF0066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269" autoAdjust="0"/>
  </p:normalViewPr>
  <p:slideViewPr>
    <p:cSldViewPr>
      <p:cViewPr varScale="1">
        <p:scale>
          <a:sx n="151" d="100"/>
          <a:sy n="151" d="100"/>
        </p:scale>
        <p:origin x="678" y="1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DF2A5-73EA-4FCB-B5AE-B8580AC4EEA4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5874F-DCBC-4EDB-9D62-895E1B66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06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12/22/2024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3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31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835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10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31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51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07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39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20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80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1012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240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4295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889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570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51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01175-608E-4CF0-AFCE-88287FB87CEA}" type="datetimeFigureOut">
              <a:rPr lang="ru-RU" smtClean="0"/>
              <a:t>22.12.2024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997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1995686"/>
            <a:ext cx="7056784" cy="936104"/>
          </a:xfrm>
        </p:spPr>
        <p:txBody>
          <a:bodyPr anchor="t"/>
          <a:lstStyle/>
          <a:p>
            <a:pPr algn="ctr" fontAlgn="t"/>
            <a:r>
              <a:rPr lang="ru-RU" sz="2800" dirty="0"/>
              <a:t>Создание элементов. Добавление стилей. Работа с  CSS-классами.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b="1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517AB04-330B-455B-B5F8-13F8090D8F72}"/>
              </a:ext>
            </a:extLst>
          </p:cNvPr>
          <p:cNvSpPr txBox="1">
            <a:spLocks/>
          </p:cNvSpPr>
          <p:nvPr/>
        </p:nvSpPr>
        <p:spPr>
          <a:xfrm>
            <a:off x="323528" y="3939902"/>
            <a:ext cx="1835696" cy="7920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342900" rtl="0" eaLnBrk="1" latinLnBrk="0" hangingPunct="1">
              <a:spcBef>
                <a:spcPct val="0"/>
              </a:spcBef>
              <a:buNone/>
              <a:defRPr sz="405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ru-RU" sz="1400" dirty="0">
                <a:solidFill>
                  <a:schemeClr val="tx1"/>
                </a:solidFill>
              </a:rPr>
              <a:t>Матвейчук Михаил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Frontend Team Lead 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Codes Commanders </a:t>
            </a:r>
            <a:endParaRPr lang="ru-RU" sz="1400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1468D0-A03D-473D-82E5-22A9FF92E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74" t="26096" r="6477" b="16733"/>
          <a:stretch/>
        </p:blipFill>
        <p:spPr>
          <a:xfrm>
            <a:off x="6588224" y="267494"/>
            <a:ext cx="2249811" cy="82359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dist="50800" sx="1000" sy="1000" algn="ctr" rotWithShape="0">
              <a:srgbClr val="000000"/>
            </a:outerShdw>
            <a:reflection endPos="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909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Массивы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Что такое браузерное окружение</a:t>
            </a:r>
            <a:r>
              <a:rPr lang="ru-RU" altLang="ru-RU" sz="1800" dirty="0">
                <a:solidFill>
                  <a:schemeClr val="tx1"/>
                </a:solidFill>
              </a:rPr>
              <a:t>?</a:t>
            </a:r>
            <a:endParaRPr lang="en-US" altLang="ru-RU" sz="18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Объектная модель браузера</a:t>
            </a:r>
            <a:r>
              <a:rPr lang="ru-RU" sz="1800" dirty="0">
                <a:solidFill>
                  <a:schemeClr val="tx1"/>
                </a:solidFill>
              </a:rPr>
              <a:t>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Объектная модель документа?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Какие вы знаете 4 основных типов узлов</a:t>
            </a:r>
            <a:r>
              <a:rPr lang="ru-RU" altLang="ru-RU" sz="1800" dirty="0">
                <a:solidFill>
                  <a:schemeClr val="tx1"/>
                </a:solidFill>
              </a:rPr>
              <a:t>?</a:t>
            </a:r>
            <a:endParaRPr lang="ru-RU" sz="18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Какие текстовые узлы вы знаете?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Какие виды навигации по </a:t>
            </a:r>
            <a:r>
              <a:rPr lang="en-US" sz="1800" dirty="0">
                <a:solidFill>
                  <a:schemeClr val="tx1"/>
                </a:solidFill>
              </a:rPr>
              <a:t>DOM-</a:t>
            </a:r>
            <a:r>
              <a:rPr lang="ru-RU" sz="1800" dirty="0">
                <a:solidFill>
                  <a:schemeClr val="tx1"/>
                </a:solidFill>
              </a:rPr>
              <a:t>элементам вы знаете</a:t>
            </a:r>
            <a:r>
              <a:rPr lang="ru-RU" altLang="ru-RU" sz="1800" dirty="0">
                <a:solidFill>
                  <a:schemeClr val="tx1"/>
                </a:solidFill>
              </a:rPr>
              <a:t>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Кто такие родительский узел, дочерние, потомки и соседние узлы и способы их получения?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Как получить родительский элемент, дочерние и соседние элементы, элементы-потомки?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Поиск элементов по </a:t>
            </a:r>
            <a:r>
              <a:rPr lang="en-US" altLang="ru-RU" sz="1800" dirty="0" err="1">
                <a:solidFill>
                  <a:schemeClr val="tx1"/>
                </a:solidFill>
              </a:rPr>
              <a:t>getElementBy</a:t>
            </a:r>
            <a:r>
              <a:rPr lang="en-US" altLang="ru-RU" sz="1800" dirty="0">
                <a:solidFill>
                  <a:schemeClr val="tx1"/>
                </a:solidFill>
              </a:rPr>
              <a:t>* </a:t>
            </a:r>
            <a:r>
              <a:rPr lang="ru-RU" altLang="ru-RU" sz="1800" dirty="0">
                <a:solidFill>
                  <a:schemeClr val="tx1"/>
                </a:solidFill>
              </a:rPr>
              <a:t>и по</a:t>
            </a:r>
            <a:r>
              <a:rPr lang="en-US" altLang="ru-RU" sz="1800" dirty="0">
                <a:solidFill>
                  <a:schemeClr val="tx1"/>
                </a:solidFill>
              </a:rPr>
              <a:t> </a:t>
            </a:r>
            <a:r>
              <a:rPr lang="en-US" altLang="ru-RU" sz="1800" dirty="0" err="1">
                <a:solidFill>
                  <a:schemeClr val="tx1"/>
                </a:solidFill>
              </a:rPr>
              <a:t>querySelector</a:t>
            </a:r>
            <a:r>
              <a:rPr lang="en-US" altLang="ru-RU" sz="1800" dirty="0">
                <a:solidFill>
                  <a:schemeClr val="tx1"/>
                </a:solidFill>
              </a:rPr>
              <a:t>*</a:t>
            </a:r>
            <a:r>
              <a:rPr lang="ru-RU" altLang="ru-RU" sz="1800" dirty="0">
                <a:solidFill>
                  <a:schemeClr val="tx1"/>
                </a:solidFill>
              </a:rPr>
              <a:t>, методы </a:t>
            </a:r>
            <a:r>
              <a:rPr lang="en-US" altLang="ru-RU" sz="1800" dirty="0">
                <a:solidFill>
                  <a:schemeClr val="tx1"/>
                </a:solidFill>
              </a:rPr>
              <a:t>matches </a:t>
            </a:r>
            <a:r>
              <a:rPr lang="ru-RU" altLang="ru-RU" sz="1800" dirty="0">
                <a:solidFill>
                  <a:schemeClr val="tx1"/>
                </a:solidFill>
              </a:rPr>
              <a:t>и </a:t>
            </a:r>
            <a:r>
              <a:rPr lang="en-US" altLang="ru-RU" sz="1800" dirty="0">
                <a:solidFill>
                  <a:schemeClr val="tx1"/>
                </a:solidFill>
              </a:rPr>
              <a:t>closest</a:t>
            </a:r>
            <a:r>
              <a:rPr lang="ru-RU" altLang="ru-RU" sz="1800" dirty="0">
                <a:solidFill>
                  <a:schemeClr val="tx1"/>
                </a:solidFill>
              </a:rPr>
              <a:t>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endParaRPr lang="ru-RU" altLang="ru-RU" sz="18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endParaRPr lang="ru-RU" altLang="ru-RU" sz="18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endParaRPr lang="ru-RU" altLang="ru-RU" sz="18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endParaRPr lang="ru-RU" altLang="ru-RU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19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186804"/>
            <a:ext cx="7056784" cy="744986"/>
          </a:xfrm>
        </p:spPr>
        <p:txBody>
          <a:bodyPr anchor="t"/>
          <a:lstStyle/>
          <a:p>
            <a:pPr algn="ctr" fontAlgn="t"/>
            <a:r>
              <a:rPr lang="ru-RU" dirty="0" err="1"/>
              <a:t>Лайфкодинг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094423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 err="1"/>
              <a:t>Лайфкодинг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ru-RU" sz="1600" dirty="0"/>
              <a:t>Найти все кнопки на странице и изменить их текст на "Нажми меня".</a:t>
            </a:r>
            <a:endParaRPr lang="en-US" sz="1600" dirty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ru-RU" sz="1600" dirty="0"/>
              <a:t>Найти первый элемент с классом "</a:t>
            </a:r>
            <a:r>
              <a:rPr lang="ru-RU" sz="1600" dirty="0" err="1"/>
              <a:t>container</a:t>
            </a:r>
            <a:r>
              <a:rPr lang="ru-RU" sz="1600" dirty="0"/>
              <a:t>" и добавить ему класс "</a:t>
            </a:r>
            <a:r>
              <a:rPr lang="ru-RU" sz="1600" dirty="0" err="1"/>
              <a:t>active</a:t>
            </a:r>
            <a:r>
              <a:rPr lang="ru-RU" sz="1600" dirty="0"/>
              <a:t>".</a:t>
            </a:r>
            <a:endParaRPr lang="en-US" sz="1600" dirty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3"/>
            </a:pPr>
            <a:r>
              <a:rPr lang="ru-RU" sz="1600" dirty="0"/>
              <a:t>Найти всех потомков элемента с идентификатором "</a:t>
            </a:r>
            <a:r>
              <a:rPr lang="ru-RU" sz="1600" dirty="0" err="1"/>
              <a:t>parent</a:t>
            </a:r>
            <a:r>
              <a:rPr lang="ru-RU" sz="1600" dirty="0"/>
              <a:t>" и вывести их количество в консоль.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3"/>
            </a:pPr>
            <a:r>
              <a:rPr lang="ru-RU" sz="1500" dirty="0"/>
              <a:t>Найти всех соседних элементов с классом "</a:t>
            </a:r>
            <a:r>
              <a:rPr lang="ru-RU" sz="1500" dirty="0" err="1"/>
              <a:t>sibling</a:t>
            </a:r>
            <a:r>
              <a:rPr lang="ru-RU" sz="1500" dirty="0"/>
              <a:t>" для элемента с идентификатором "</a:t>
            </a:r>
            <a:r>
              <a:rPr lang="ru-RU" sz="1500" dirty="0" err="1"/>
              <a:t>target</a:t>
            </a:r>
            <a:r>
              <a:rPr lang="ru-RU" sz="1500" dirty="0"/>
              <a:t>" и вывести их в консоль.</a:t>
            </a:r>
            <a:endParaRPr lang="en-US" sz="15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442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03648" y="2031690"/>
            <a:ext cx="6624736" cy="1080120"/>
          </a:xfrm>
        </p:spPr>
        <p:txBody>
          <a:bodyPr anchor="t"/>
          <a:lstStyle/>
          <a:p>
            <a:pPr algn="ctr" fontAlgn="t"/>
            <a:r>
              <a:rPr lang="ru-RU" sz="3200" dirty="0"/>
              <a:t>Создание, вставка элементов, удаление узлов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1571019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Создание, вставка элементов, удаление узлов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FFFF00"/>
                </a:solidFill>
              </a:rPr>
              <a:t>Создание элементов</a:t>
            </a:r>
            <a:endParaRPr lang="ru-RU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chemeClr val="tx1"/>
                </a:solidFill>
              </a:rPr>
              <a:t>DOM-узел можно создать двумя методами: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document.createElement</a:t>
            </a:r>
            <a:r>
              <a:rPr lang="ru-RU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(</a:t>
            </a:r>
            <a:r>
              <a:rPr lang="ru-RU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tag</a:t>
            </a:r>
            <a:r>
              <a:rPr lang="ru-RU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solidFill>
                  <a:schemeClr val="tx1"/>
                </a:solidFill>
              </a:rPr>
              <a:t>Создаёт новый элемент с заданным тегом: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createElement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)</a:t>
            </a:r>
            <a:endParaRPr lang="ru-RU" altLang="ru-RU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document.createTextNode</a:t>
            </a:r>
            <a:r>
              <a:rPr lang="ru-RU" altLang="ru-RU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text</a:t>
            </a:r>
            <a:r>
              <a:rPr lang="ru-RU" altLang="ru-RU" sz="1400" b="1" dirty="0">
                <a:solidFill>
                  <a:srgbClr val="FFFF00"/>
                </a:solidFill>
                <a:latin typeface="Consolas" panose="020B0609020204030204" pitchFamily="49" charset="0"/>
              </a:rPr>
              <a:t>)</a:t>
            </a:r>
          </a:p>
          <a:p>
            <a:pPr marL="457200" lvl="1" indent="-45720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Создаёт новый текстовый узел с заданным текстом: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textNode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createTextNode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'А вот и я'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FFFF00"/>
                </a:solidFill>
              </a:rPr>
              <a:t>Методы вставки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chemeClr val="tx1"/>
                </a:solidFill>
              </a:rPr>
              <a:t>Чтобы элемент появился, нужно вставить его где-нибудь в </a:t>
            </a:r>
            <a:r>
              <a:rPr lang="ru-RU" sz="1400" dirty="0" err="1">
                <a:solidFill>
                  <a:schemeClr val="tx1"/>
                </a:solidFill>
              </a:rPr>
              <a:t>document</a:t>
            </a:r>
            <a:r>
              <a:rPr lang="ru-RU" sz="1400" dirty="0">
                <a:solidFill>
                  <a:schemeClr val="tx1"/>
                </a:solidFill>
              </a:rPr>
              <a:t>. Например, в </a:t>
            </a:r>
            <a:r>
              <a:rPr lang="ru-RU" sz="1400" dirty="0" err="1">
                <a:solidFill>
                  <a:srgbClr val="FFFF00"/>
                </a:solidFill>
              </a:rPr>
              <a:t>document.body</a:t>
            </a:r>
            <a:r>
              <a:rPr lang="ru-RU" sz="1400" dirty="0">
                <a:solidFill>
                  <a:schemeClr val="tx1"/>
                </a:solidFill>
              </a:rPr>
              <a:t>. Для этого есть метод </a:t>
            </a:r>
            <a:r>
              <a:rPr lang="ru-RU" sz="1400" dirty="0" err="1">
                <a:solidFill>
                  <a:schemeClr val="tx1"/>
                </a:solidFill>
              </a:rPr>
              <a:t>append</a:t>
            </a:r>
            <a:r>
              <a:rPr lang="ru-RU" sz="1400" dirty="0">
                <a:solidFill>
                  <a:schemeClr val="tx1"/>
                </a:solidFill>
              </a:rPr>
              <a:t>: </a:t>
            </a:r>
            <a:r>
              <a:rPr lang="ru-RU" sz="1400" dirty="0" err="1">
                <a:solidFill>
                  <a:srgbClr val="FFFF00"/>
                </a:solidFill>
              </a:rPr>
              <a:t>document.body.append</a:t>
            </a:r>
            <a:r>
              <a:rPr lang="ru-RU" sz="1400" dirty="0">
                <a:solidFill>
                  <a:srgbClr val="FFFF00"/>
                </a:solidFill>
              </a:rPr>
              <a:t>(</a:t>
            </a:r>
            <a:r>
              <a:rPr lang="ru-RU" sz="1400" dirty="0" err="1">
                <a:solidFill>
                  <a:srgbClr val="FFFF00"/>
                </a:solidFill>
              </a:rPr>
              <a:t>div</a:t>
            </a:r>
            <a:r>
              <a:rPr lang="ru-RU" sz="1400" dirty="0">
                <a:solidFill>
                  <a:srgbClr val="FFFF00"/>
                </a:solidFill>
              </a:rPr>
              <a:t>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div =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.createElement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'div'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div.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className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"alert"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div.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"&lt;strong&gt;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Всем привет!&lt;/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strong&gt;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Вы прочитали важное сообщение."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.body.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append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(div);</a:t>
            </a:r>
          </a:p>
        </p:txBody>
      </p:sp>
    </p:spTree>
    <p:extLst>
      <p:ext uri="{BB962C8B-B14F-4D97-AF65-F5344CB8AC3E}">
        <p14:creationId xmlns:p14="http://schemas.microsoft.com/office/powerpoint/2010/main" val="912457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Создание, вставка элементов, удаление узлов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FFFF00"/>
                </a:solidFill>
              </a:rPr>
              <a:t>Методы для различных вариантов вставки: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err="1">
                <a:solidFill>
                  <a:srgbClr val="FFFF00"/>
                </a:solidFill>
              </a:rPr>
              <a:t>node.append</a:t>
            </a:r>
            <a:r>
              <a:rPr lang="en-US" sz="1400" dirty="0">
                <a:solidFill>
                  <a:srgbClr val="FFFF00"/>
                </a:solidFill>
              </a:rPr>
              <a:t>(...nodes or strings) </a:t>
            </a:r>
            <a:r>
              <a:rPr lang="en-US" sz="1400" dirty="0">
                <a:solidFill>
                  <a:schemeClr val="tx1"/>
                </a:solidFill>
              </a:rPr>
              <a:t>– </a:t>
            </a:r>
            <a:r>
              <a:rPr lang="ru-RU" sz="1400" dirty="0">
                <a:solidFill>
                  <a:schemeClr val="tx1"/>
                </a:solidFill>
              </a:rPr>
              <a:t>добавляет узлы или строки в конец </a:t>
            </a:r>
            <a:r>
              <a:rPr lang="en-US" sz="1400" dirty="0">
                <a:solidFill>
                  <a:schemeClr val="tx1"/>
                </a:solidFill>
              </a:rPr>
              <a:t>node,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err="1">
                <a:solidFill>
                  <a:srgbClr val="FFFF00"/>
                </a:solidFill>
              </a:rPr>
              <a:t>node.prepend</a:t>
            </a:r>
            <a:r>
              <a:rPr lang="en-US" sz="1400" dirty="0">
                <a:solidFill>
                  <a:srgbClr val="FFFF00"/>
                </a:solidFill>
              </a:rPr>
              <a:t>(...nodes or strings) </a:t>
            </a:r>
            <a:r>
              <a:rPr lang="en-US" sz="1400" dirty="0">
                <a:solidFill>
                  <a:schemeClr val="tx1"/>
                </a:solidFill>
              </a:rPr>
              <a:t>– </a:t>
            </a:r>
            <a:r>
              <a:rPr lang="ru-RU" sz="1400" dirty="0">
                <a:solidFill>
                  <a:schemeClr val="tx1"/>
                </a:solidFill>
              </a:rPr>
              <a:t>вставляет узлы или строки в начало </a:t>
            </a:r>
            <a:r>
              <a:rPr lang="en-US" sz="1400" dirty="0">
                <a:solidFill>
                  <a:schemeClr val="tx1"/>
                </a:solidFill>
              </a:rPr>
              <a:t>node,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err="1">
                <a:solidFill>
                  <a:srgbClr val="FFFF00"/>
                </a:solidFill>
              </a:rPr>
              <a:t>node.before</a:t>
            </a:r>
            <a:r>
              <a:rPr lang="en-US" sz="1400" dirty="0">
                <a:solidFill>
                  <a:srgbClr val="FFFF00"/>
                </a:solidFill>
              </a:rPr>
              <a:t>(...nodes or strings) </a:t>
            </a:r>
            <a:r>
              <a:rPr lang="en-US" sz="1400" dirty="0">
                <a:solidFill>
                  <a:schemeClr val="tx1"/>
                </a:solidFill>
              </a:rPr>
              <a:t>– </a:t>
            </a:r>
            <a:r>
              <a:rPr lang="ru-RU" sz="1400" dirty="0">
                <a:solidFill>
                  <a:schemeClr val="tx1"/>
                </a:solidFill>
              </a:rPr>
              <a:t>вставляет узлы или строки до </a:t>
            </a:r>
            <a:r>
              <a:rPr lang="en-US" sz="1400" dirty="0">
                <a:solidFill>
                  <a:schemeClr val="tx1"/>
                </a:solidFill>
              </a:rPr>
              <a:t>node,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err="1">
                <a:solidFill>
                  <a:srgbClr val="FFFF00"/>
                </a:solidFill>
              </a:rPr>
              <a:t>node.after</a:t>
            </a:r>
            <a:r>
              <a:rPr lang="en-US" sz="1400" dirty="0">
                <a:solidFill>
                  <a:srgbClr val="FFFF00"/>
                </a:solidFill>
              </a:rPr>
              <a:t>(...nodes or strings) </a:t>
            </a:r>
            <a:r>
              <a:rPr lang="en-US" sz="1400" dirty="0">
                <a:solidFill>
                  <a:schemeClr val="tx1"/>
                </a:solidFill>
              </a:rPr>
              <a:t>– </a:t>
            </a:r>
            <a:r>
              <a:rPr lang="ru-RU" sz="1400" dirty="0">
                <a:solidFill>
                  <a:schemeClr val="tx1"/>
                </a:solidFill>
              </a:rPr>
              <a:t>вставляет узлы или строки после </a:t>
            </a:r>
            <a:r>
              <a:rPr lang="en-US" sz="1400" dirty="0">
                <a:solidFill>
                  <a:schemeClr val="tx1"/>
                </a:solidFill>
              </a:rPr>
              <a:t>node,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err="1">
                <a:solidFill>
                  <a:srgbClr val="FFFF00"/>
                </a:solidFill>
              </a:rPr>
              <a:t>node.replaceWith</a:t>
            </a:r>
            <a:r>
              <a:rPr lang="en-US" sz="1400" dirty="0">
                <a:solidFill>
                  <a:srgbClr val="FFFF00"/>
                </a:solidFill>
              </a:rPr>
              <a:t>(...nodes or strings) </a:t>
            </a:r>
            <a:r>
              <a:rPr lang="en-US" sz="1400" dirty="0">
                <a:solidFill>
                  <a:schemeClr val="tx1"/>
                </a:solidFill>
              </a:rPr>
              <a:t>– </a:t>
            </a:r>
            <a:r>
              <a:rPr lang="ru-RU" sz="1400" dirty="0">
                <a:solidFill>
                  <a:schemeClr val="tx1"/>
                </a:solidFill>
              </a:rPr>
              <a:t>заменяет </a:t>
            </a:r>
            <a:r>
              <a:rPr lang="en-US" sz="1400" dirty="0">
                <a:solidFill>
                  <a:schemeClr val="tx1"/>
                </a:solidFill>
              </a:rPr>
              <a:t>node </a:t>
            </a:r>
            <a:r>
              <a:rPr lang="ru-RU" sz="1400" dirty="0">
                <a:solidFill>
                  <a:schemeClr val="tx1"/>
                </a:solidFill>
              </a:rPr>
              <a:t>заданными узлами или строками.</a:t>
            </a:r>
          </a:p>
          <a:p>
            <a:pPr marL="0" indent="0">
              <a:spcBef>
                <a:spcPts val="0"/>
              </a:spcBef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17AF7B7-E3A2-4150-9061-AB49885D8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7000"/>
                    </a14:imgEffect>
                    <a14:imgEffect>
                      <a14:brightnessContrast contrast="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139702"/>
            <a:ext cx="5239704" cy="256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33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Создание, вставка элементов, удаление узлов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FFFF00"/>
                </a:solidFill>
              </a:rPr>
              <a:t>Результат: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before</a:t>
            </a:r>
            <a:endParaRPr lang="ru-RU" dirty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prepend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0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1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2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append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after</a:t>
            </a:r>
            <a:endParaRPr lang="ru-RU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it-IT" sz="1400" dirty="0">
                <a:solidFill>
                  <a:srgbClr val="FFFF00"/>
                </a:solidFill>
              </a:rPr>
              <a:t>Итоговый список будет таким:</a:t>
            </a:r>
          </a:p>
          <a:p>
            <a:pPr marL="0" indent="0">
              <a:spcBef>
                <a:spcPts val="0"/>
              </a:spcBef>
              <a:buNone/>
            </a:pPr>
            <a:r>
              <a:rPr lang="it-IT" sz="1400" dirty="0">
                <a:solidFill>
                  <a:srgbClr val="FFFF00"/>
                </a:solidFill>
                <a:latin typeface="Consolas" panose="020B0609020204030204" pitchFamily="49" charset="0"/>
              </a:rPr>
              <a:t>before</a:t>
            </a:r>
          </a:p>
          <a:p>
            <a:pPr marL="0" indent="0">
              <a:spcBef>
                <a:spcPts val="0"/>
              </a:spcBef>
              <a:buNone/>
            </a:pP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it-IT" sz="1400" dirty="0">
                <a:solidFill>
                  <a:srgbClr val="92D050"/>
                </a:solidFill>
                <a:latin typeface="Consolas" panose="020B0609020204030204" pitchFamily="49" charset="0"/>
              </a:rPr>
              <a:t>ol</a:t>
            </a: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 id="ol"&gt;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  &lt;</a:t>
            </a:r>
            <a:r>
              <a:rPr lang="it-IT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r>
              <a:rPr lang="it-IT" sz="1400" dirty="0">
                <a:solidFill>
                  <a:srgbClr val="FFFF00"/>
                </a:solidFill>
                <a:latin typeface="Consolas" panose="020B0609020204030204" pitchFamily="49" charset="0"/>
              </a:rPr>
              <a:t>prepend</a:t>
            </a: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it-IT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  &lt;</a:t>
            </a:r>
            <a:r>
              <a:rPr lang="it-IT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&gt;0&lt;/</a:t>
            </a:r>
            <a:r>
              <a:rPr lang="it-IT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  &lt;</a:t>
            </a:r>
            <a:r>
              <a:rPr lang="it-IT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&gt;1&lt;/</a:t>
            </a:r>
            <a:r>
              <a:rPr lang="it-IT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  &lt;</a:t>
            </a:r>
            <a:r>
              <a:rPr lang="it-IT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&gt;2&lt;/</a:t>
            </a:r>
            <a:r>
              <a:rPr lang="it-IT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  &lt;</a:t>
            </a:r>
            <a:r>
              <a:rPr lang="it-IT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r>
              <a:rPr lang="it-IT" sz="1400" dirty="0">
                <a:solidFill>
                  <a:srgbClr val="FFFF00"/>
                </a:solidFill>
                <a:latin typeface="Consolas" panose="020B0609020204030204" pitchFamily="49" charset="0"/>
              </a:rPr>
              <a:t>append</a:t>
            </a: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it-IT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it-IT" sz="1400" dirty="0">
                <a:solidFill>
                  <a:srgbClr val="92D050"/>
                </a:solidFill>
                <a:latin typeface="Consolas" panose="020B0609020204030204" pitchFamily="49" charset="0"/>
              </a:rPr>
              <a:t>ol</a:t>
            </a:r>
            <a:r>
              <a:rPr lang="it-IT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it-IT" sz="1400" dirty="0">
                <a:solidFill>
                  <a:srgbClr val="FFFF00"/>
                </a:solidFill>
                <a:latin typeface="Consolas" panose="020B0609020204030204" pitchFamily="49" charset="0"/>
              </a:rPr>
              <a:t>after</a:t>
            </a:r>
            <a:endParaRPr lang="en-US" sz="14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8533EF-F3FF-4F3C-97AB-23B35C7C9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"/>
                    </a14:imgEffect>
                    <a14:imgEffect>
                      <a14:brightnessContrast contrast="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1635645"/>
            <a:ext cx="4115170" cy="231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01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Создание, вставка элементов, удаление узлов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>
                    <a:lumMod val="95000"/>
                  </a:schemeClr>
                </a:solidFill>
              </a:rPr>
              <a:t>Эти методы могут вставлять несколько узлов и текстовых фрагментов за один вызов.</a:t>
            </a:r>
            <a:endParaRPr lang="en-US" sz="1600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id="div"&gt;&lt;/</a:t>
            </a:r>
            <a:r>
              <a:rPr lang="en-US" sz="1600" dirty="0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div.before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('&lt;p&gt;</a:t>
            </a:r>
            <a:r>
              <a:rPr 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Привет&lt;/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p&gt;',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document.createElement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('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'));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tx1"/>
                </a:solidFill>
              </a:rPr>
              <a:t>Весь текст вставляется как текст.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Поэтому финальный HTML будет: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&amp;</a:t>
            </a:r>
            <a:r>
              <a:rPr lang="ru-RU" sz="1600" dirty="0" err="1">
                <a:solidFill>
                  <a:srgbClr val="FFFF00"/>
                </a:solidFill>
              </a:rPr>
              <a:t>lt;p</a:t>
            </a:r>
            <a:r>
              <a:rPr 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&amp;</a:t>
            </a:r>
            <a:r>
              <a:rPr lang="ru-RU" sz="1600" dirty="0" err="1">
                <a:solidFill>
                  <a:srgbClr val="FFFF00"/>
                </a:solidFill>
              </a:rPr>
              <a:t>gt;Привет</a:t>
            </a:r>
            <a:r>
              <a:rPr 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&amp;</a:t>
            </a:r>
            <a:r>
              <a:rPr lang="ru-RU" sz="1600" dirty="0" err="1">
                <a:solidFill>
                  <a:srgbClr val="FFFF00"/>
                </a:solidFill>
              </a:rPr>
              <a:t>lt</a:t>
            </a:r>
            <a:r>
              <a:rPr lang="ru-RU" sz="1600" dirty="0">
                <a:solidFill>
                  <a:srgbClr val="FFFF00"/>
                </a:solidFill>
              </a:rPr>
              <a:t>;/</a:t>
            </a:r>
            <a:r>
              <a:rPr lang="ru-RU" sz="1600" dirty="0" err="1">
                <a:solidFill>
                  <a:srgbClr val="FFFF00"/>
                </a:solidFill>
              </a:rPr>
              <a:t>p</a:t>
            </a:r>
            <a:r>
              <a:rPr 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&amp;</a:t>
            </a:r>
            <a:r>
              <a:rPr lang="ru-RU" sz="1600" dirty="0" err="1">
                <a:solidFill>
                  <a:srgbClr val="FFFF00"/>
                </a:solidFill>
              </a:rPr>
              <a:t>gt</a:t>
            </a:r>
            <a:r>
              <a:rPr lang="ru-RU" sz="1600" dirty="0">
                <a:solidFill>
                  <a:srgbClr val="FFFF00"/>
                </a:solidFill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tx1"/>
                </a:solidFill>
              </a:rPr>
              <a:t>&lt;</a:t>
            </a:r>
            <a:r>
              <a:rPr lang="ru-RU" sz="1600" dirty="0" err="1">
                <a:solidFill>
                  <a:srgbClr val="92D050"/>
                </a:solidFill>
              </a:rPr>
              <a:t>hr</a:t>
            </a:r>
            <a:r>
              <a:rPr lang="ru-RU" sz="1600" dirty="0">
                <a:solidFill>
                  <a:schemeClr val="tx1"/>
                </a:solidFill>
              </a:rPr>
              <a:t>&gt;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&lt;</a:t>
            </a:r>
            <a:r>
              <a:rPr lang="ru-RU" sz="1600" dirty="0" err="1">
                <a:solidFill>
                  <a:srgbClr val="92D050"/>
                </a:solidFill>
              </a:rPr>
              <a:t>div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id</a:t>
            </a:r>
            <a:r>
              <a:rPr lang="ru-RU" sz="1600" dirty="0">
                <a:solidFill>
                  <a:schemeClr val="tx1"/>
                </a:solidFill>
              </a:rPr>
              <a:t>="</a:t>
            </a:r>
            <a:r>
              <a:rPr lang="ru-RU" sz="1600" dirty="0" err="1">
                <a:solidFill>
                  <a:schemeClr val="tx1"/>
                </a:solidFill>
              </a:rPr>
              <a:t>div</a:t>
            </a:r>
            <a:r>
              <a:rPr lang="ru-RU" sz="1600" dirty="0">
                <a:solidFill>
                  <a:schemeClr val="tx1"/>
                </a:solidFill>
              </a:rPr>
              <a:t>"&gt;&lt;/</a:t>
            </a:r>
            <a:r>
              <a:rPr lang="ru-RU" sz="1600" dirty="0" err="1">
                <a:solidFill>
                  <a:srgbClr val="92D050"/>
                </a:solidFill>
              </a:rPr>
              <a:t>div</a:t>
            </a:r>
            <a:r>
              <a:rPr lang="ru-RU" sz="1600" dirty="0">
                <a:solidFill>
                  <a:schemeClr val="tx1"/>
                </a:solidFill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tx1"/>
                </a:solidFill>
              </a:rPr>
              <a:t>Другими словами, строки вставляются безопасным способом, как делает это </a:t>
            </a:r>
            <a:r>
              <a:rPr lang="ru-RU" sz="1600" dirty="0" err="1">
                <a:solidFill>
                  <a:srgbClr val="FFFF00"/>
                </a:solidFill>
              </a:rPr>
              <a:t>elem.textContent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Поэтому эти методы могут использоваться только для вставки DOM-узлов или текстовых фрагментов.</a:t>
            </a:r>
          </a:p>
        </p:txBody>
      </p:sp>
    </p:spTree>
    <p:extLst>
      <p:ext uri="{BB962C8B-B14F-4D97-AF65-F5344CB8AC3E}">
        <p14:creationId xmlns:p14="http://schemas.microsoft.com/office/powerpoint/2010/main" val="79410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Создание, вставка элементов, удаление узлов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FFFF00"/>
                </a:solidFill>
              </a:rPr>
              <a:t>i</a:t>
            </a:r>
            <a:r>
              <a:rPr lang="ru-RU" altLang="ru-RU" sz="1600" dirty="0" err="1" bmk="">
                <a:solidFill>
                  <a:srgbClr val="FFFF00"/>
                </a:solidFill>
              </a:rPr>
              <a:t>nsertAdjacentHTML</a:t>
            </a:r>
            <a:r>
              <a:rPr lang="ru-RU" altLang="ru-RU" sz="1600" dirty="0" bmk="">
                <a:solidFill>
                  <a:srgbClr val="FFFF00"/>
                </a:solidFill>
              </a:rPr>
              <a:t>/</a:t>
            </a:r>
            <a:r>
              <a:rPr lang="ru-RU" altLang="ru-RU" sz="1600" dirty="0" err="1" bmk="">
                <a:solidFill>
                  <a:srgbClr val="FFFF00"/>
                </a:solidFill>
              </a:rPr>
              <a:t>Text</a:t>
            </a:r>
            <a:r>
              <a:rPr lang="ru-RU" altLang="ru-RU" sz="1600" dirty="0" bmk="">
                <a:solidFill>
                  <a:srgbClr val="FFFF00"/>
                </a:solidFill>
              </a:rPr>
              <a:t>/</a:t>
            </a:r>
            <a:r>
              <a:rPr lang="ru-RU" altLang="ru-RU" sz="1600" dirty="0" err="1" bmk="">
                <a:solidFill>
                  <a:srgbClr val="FFFF00"/>
                </a:solidFill>
              </a:rPr>
              <a:t>Element</a:t>
            </a:r>
            <a:endParaRPr lang="ru-RU" altLang="ru-RU" sz="16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С корректной вставкой строковых </a:t>
            </a:r>
            <a:r>
              <a:rPr lang="ru-RU" altLang="ru-RU" sz="1600" dirty="0" err="1">
                <a:solidFill>
                  <a:schemeClr val="tx1"/>
                </a:solidFill>
              </a:rPr>
              <a:t>нод</a:t>
            </a:r>
            <a:r>
              <a:rPr lang="ru-RU" altLang="ru-RU" sz="1600" dirty="0">
                <a:solidFill>
                  <a:schemeClr val="tx1"/>
                </a:solidFill>
              </a:rPr>
              <a:t> может помочь другой, довольно универсальный</a:t>
            </a:r>
            <a:r>
              <a:rPr lang="en-US" altLang="ru-RU" sz="1600" dirty="0">
                <a:solidFill>
                  <a:schemeClr val="tx1"/>
                </a:solidFill>
              </a:rPr>
              <a:t> </a:t>
            </a:r>
            <a:r>
              <a:rPr lang="ru-RU" altLang="ru-RU" sz="1600" dirty="0">
                <a:solidFill>
                  <a:schemeClr val="tx1"/>
                </a:solidFill>
              </a:rPr>
              <a:t>метод: </a:t>
            </a:r>
            <a:endParaRPr lang="en-US" altLang="ru-RU" sz="16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FFFF00"/>
                </a:solidFill>
              </a:rPr>
              <a:t>elem.insertAdjacentHTML</a:t>
            </a:r>
            <a:r>
              <a:rPr lang="ru-RU" altLang="ru-RU" sz="1600" dirty="0">
                <a:solidFill>
                  <a:srgbClr val="FFFF00"/>
                </a:solidFill>
              </a:rPr>
              <a:t>(</a:t>
            </a:r>
            <a:r>
              <a:rPr lang="ru-RU" altLang="ru-RU" sz="1600" dirty="0" err="1">
                <a:solidFill>
                  <a:srgbClr val="FFFF00"/>
                </a:solidFill>
              </a:rPr>
              <a:t>where</a:t>
            </a:r>
            <a:r>
              <a:rPr lang="ru-RU" altLang="ru-RU" sz="1600" dirty="0">
                <a:solidFill>
                  <a:srgbClr val="FFFF00"/>
                </a:solidFill>
              </a:rPr>
              <a:t>, </a:t>
            </a:r>
            <a:r>
              <a:rPr lang="ru-RU" altLang="ru-RU" sz="1600" dirty="0" err="1">
                <a:solidFill>
                  <a:srgbClr val="FFFF00"/>
                </a:solidFill>
              </a:rPr>
              <a:t>html</a:t>
            </a:r>
            <a:r>
              <a:rPr lang="ru-RU" altLang="ru-RU" sz="1600" dirty="0">
                <a:solidFill>
                  <a:srgbClr val="FFFF00"/>
                </a:solidFill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Первый параметр – это специальное слово, указывающее, куда по отношению к </a:t>
            </a:r>
            <a:r>
              <a:rPr lang="ru-RU" altLang="ru-RU" sz="1600" dirty="0" err="1">
                <a:solidFill>
                  <a:schemeClr val="tx1"/>
                </a:solidFill>
              </a:rPr>
              <a:t>elem</a:t>
            </a:r>
            <a:r>
              <a:rPr lang="ru-RU" altLang="ru-RU" sz="1600" dirty="0">
                <a:solidFill>
                  <a:schemeClr val="tx1"/>
                </a:solidFill>
              </a:rPr>
              <a:t> производить вставку. Значение должно быть одним из следующих: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"</a:t>
            </a:r>
            <a:r>
              <a:rPr lang="ru-RU" altLang="ru-RU" sz="1600" dirty="0" err="1">
                <a:solidFill>
                  <a:srgbClr val="FFFF00"/>
                </a:solidFill>
              </a:rPr>
              <a:t>beforebegin</a:t>
            </a:r>
            <a:r>
              <a:rPr lang="ru-RU" altLang="ru-RU" sz="1600" dirty="0">
                <a:solidFill>
                  <a:srgbClr val="FFFF00"/>
                </a:solidFill>
              </a:rPr>
              <a:t>" </a:t>
            </a:r>
            <a:r>
              <a:rPr lang="ru-RU" altLang="ru-RU" sz="1600" dirty="0">
                <a:solidFill>
                  <a:schemeClr val="tx1"/>
                </a:solidFill>
              </a:rPr>
              <a:t>– вставить </a:t>
            </a:r>
            <a:r>
              <a:rPr lang="ru-RU" altLang="ru-RU" sz="1600" dirty="0" err="1">
                <a:solidFill>
                  <a:schemeClr val="tx1"/>
                </a:solidFill>
              </a:rPr>
              <a:t>html</a:t>
            </a:r>
            <a:r>
              <a:rPr lang="ru-RU" altLang="ru-RU" sz="1600" dirty="0">
                <a:solidFill>
                  <a:schemeClr val="tx1"/>
                </a:solidFill>
              </a:rPr>
              <a:t> непосредственно перед </a:t>
            </a:r>
            <a:r>
              <a:rPr lang="ru-RU" altLang="ru-RU" sz="1600" dirty="0" err="1">
                <a:solidFill>
                  <a:schemeClr val="tx1"/>
                </a:solidFill>
              </a:rPr>
              <a:t>elem</a:t>
            </a:r>
            <a:r>
              <a:rPr lang="ru-RU" altLang="ru-RU" sz="1600" dirty="0">
                <a:solidFill>
                  <a:schemeClr val="tx1"/>
                </a:solidFill>
              </a:rPr>
              <a:t>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"</a:t>
            </a:r>
            <a:r>
              <a:rPr lang="ru-RU" altLang="ru-RU" sz="1600" dirty="0" err="1">
                <a:solidFill>
                  <a:srgbClr val="FFFF00"/>
                </a:solidFill>
              </a:rPr>
              <a:t>afterbegin</a:t>
            </a:r>
            <a:r>
              <a:rPr lang="ru-RU" altLang="ru-RU" sz="1600" dirty="0">
                <a:solidFill>
                  <a:srgbClr val="FFFF00"/>
                </a:solidFill>
              </a:rPr>
              <a:t>" </a:t>
            </a:r>
            <a:r>
              <a:rPr lang="ru-RU" altLang="ru-RU" sz="1600" dirty="0">
                <a:solidFill>
                  <a:schemeClr val="tx1"/>
                </a:solidFill>
              </a:rPr>
              <a:t>– вставить </a:t>
            </a:r>
            <a:r>
              <a:rPr lang="ru-RU" altLang="ru-RU" sz="1600" dirty="0" err="1">
                <a:solidFill>
                  <a:schemeClr val="tx1"/>
                </a:solidFill>
              </a:rPr>
              <a:t>html</a:t>
            </a:r>
            <a:r>
              <a:rPr lang="ru-RU" altLang="ru-RU" sz="1600" dirty="0">
                <a:solidFill>
                  <a:schemeClr val="tx1"/>
                </a:solidFill>
              </a:rPr>
              <a:t> в начало </a:t>
            </a:r>
            <a:r>
              <a:rPr lang="ru-RU" altLang="ru-RU" sz="1600" dirty="0" err="1">
                <a:solidFill>
                  <a:schemeClr val="tx1"/>
                </a:solidFill>
              </a:rPr>
              <a:t>elem</a:t>
            </a:r>
            <a:r>
              <a:rPr lang="ru-RU" altLang="ru-RU" sz="1600" dirty="0">
                <a:solidFill>
                  <a:schemeClr val="tx1"/>
                </a:solidFill>
              </a:rPr>
              <a:t>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"</a:t>
            </a:r>
            <a:r>
              <a:rPr lang="ru-RU" altLang="ru-RU" sz="1600" dirty="0" err="1">
                <a:solidFill>
                  <a:srgbClr val="FFFF00"/>
                </a:solidFill>
              </a:rPr>
              <a:t>beforeend</a:t>
            </a:r>
            <a:r>
              <a:rPr lang="ru-RU" altLang="ru-RU" sz="1600" dirty="0">
                <a:solidFill>
                  <a:srgbClr val="FFFF00"/>
                </a:solidFill>
              </a:rPr>
              <a:t>" </a:t>
            </a:r>
            <a:r>
              <a:rPr lang="ru-RU" altLang="ru-RU" sz="1600" dirty="0">
                <a:solidFill>
                  <a:schemeClr val="tx1"/>
                </a:solidFill>
              </a:rPr>
              <a:t>– вставить </a:t>
            </a:r>
            <a:r>
              <a:rPr lang="ru-RU" altLang="ru-RU" sz="1600" dirty="0" err="1">
                <a:solidFill>
                  <a:schemeClr val="tx1"/>
                </a:solidFill>
              </a:rPr>
              <a:t>html</a:t>
            </a:r>
            <a:r>
              <a:rPr lang="ru-RU" altLang="ru-RU" sz="1600" dirty="0">
                <a:solidFill>
                  <a:schemeClr val="tx1"/>
                </a:solidFill>
              </a:rPr>
              <a:t> в конец </a:t>
            </a:r>
            <a:r>
              <a:rPr lang="ru-RU" altLang="ru-RU" sz="1600" dirty="0" err="1">
                <a:solidFill>
                  <a:schemeClr val="tx1"/>
                </a:solidFill>
              </a:rPr>
              <a:t>elem</a:t>
            </a:r>
            <a:r>
              <a:rPr lang="ru-RU" altLang="ru-RU" sz="1600" dirty="0">
                <a:solidFill>
                  <a:schemeClr val="tx1"/>
                </a:solidFill>
              </a:rPr>
              <a:t>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"</a:t>
            </a:r>
            <a:r>
              <a:rPr lang="ru-RU" altLang="ru-RU" sz="1600" dirty="0" err="1">
                <a:solidFill>
                  <a:srgbClr val="FFFF00"/>
                </a:solidFill>
              </a:rPr>
              <a:t>afterend</a:t>
            </a:r>
            <a:r>
              <a:rPr lang="ru-RU" altLang="ru-RU" sz="1600" dirty="0">
                <a:solidFill>
                  <a:srgbClr val="FFFF00"/>
                </a:solidFill>
              </a:rPr>
              <a:t>" </a:t>
            </a:r>
            <a:r>
              <a:rPr lang="ru-RU" altLang="ru-RU" sz="1600" dirty="0">
                <a:solidFill>
                  <a:schemeClr val="tx1"/>
                </a:solidFill>
              </a:rPr>
              <a:t>– вставить </a:t>
            </a:r>
            <a:r>
              <a:rPr lang="ru-RU" altLang="ru-RU" sz="1600" dirty="0" err="1">
                <a:solidFill>
                  <a:schemeClr val="tx1"/>
                </a:solidFill>
              </a:rPr>
              <a:t>html</a:t>
            </a:r>
            <a:r>
              <a:rPr lang="ru-RU" altLang="ru-RU" sz="1600" dirty="0">
                <a:solidFill>
                  <a:schemeClr val="tx1"/>
                </a:solidFill>
              </a:rPr>
              <a:t> непосредственно после </a:t>
            </a:r>
            <a:r>
              <a:rPr lang="ru-RU" altLang="ru-RU" sz="1600" dirty="0" err="1">
                <a:solidFill>
                  <a:schemeClr val="tx1"/>
                </a:solidFill>
              </a:rPr>
              <a:t>elem</a:t>
            </a:r>
            <a:r>
              <a:rPr lang="ru-RU" altLang="ru-RU" sz="16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Второй параметр – это HTML-строка, которая будет вставлена именно «как HTML».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7D25F3-6A03-4F03-81CA-3AE8DE495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688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Создание, вставка элементов, удаление узлов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Например: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id="div"&gt;&lt;/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div.insertAdjacentHTML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('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beforebegin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', '&lt;p&gt;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Привет&lt;/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p&gt;');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div.insertAdjacentHTML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('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afterend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', '&lt;p&gt;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Пока&lt;/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p&gt;');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Приведёт к: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p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Привет&lt;/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p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id="div"&gt;&lt;/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p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Пока&lt;/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p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Так можно добавлять произвольный 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</a:rPr>
              <a:t>HTML </a:t>
            </a:r>
            <a:r>
              <a:rPr lang="ru-RU" altLang="ru-RU" sz="1400" dirty="0">
                <a:solidFill>
                  <a:schemeClr val="tx1"/>
                </a:solidFill>
              </a:rPr>
              <a:t>на страницу.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У метода есть два брата: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rgbClr val="FFFF00"/>
                </a:solidFill>
              </a:rPr>
              <a:t>elem.insertAdjacentText</a:t>
            </a:r>
            <a:r>
              <a:rPr lang="en-US" altLang="ru-RU" sz="1400" dirty="0">
                <a:solidFill>
                  <a:srgbClr val="FFFF00"/>
                </a:solidFill>
              </a:rPr>
              <a:t>(where, text) </a:t>
            </a:r>
            <a:r>
              <a:rPr lang="en-US" altLang="ru-RU" sz="1400" dirty="0">
                <a:solidFill>
                  <a:schemeClr val="tx1"/>
                </a:solidFill>
              </a:rPr>
              <a:t>– </a:t>
            </a: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такой же синтаксис, но строка </a:t>
            </a:r>
            <a:r>
              <a:rPr lang="en-US" altLang="ru-RU" sz="1400" dirty="0">
                <a:solidFill>
                  <a:schemeClr val="tx1"/>
                </a:solidFill>
              </a:rPr>
              <a:t>text </a:t>
            </a:r>
            <a:r>
              <a:rPr lang="ru-RU" altLang="ru-RU" sz="1400" dirty="0">
                <a:solidFill>
                  <a:schemeClr val="tx1"/>
                </a:solidFill>
              </a:rPr>
              <a:t>вставляется «как текст», вместо </a:t>
            </a:r>
            <a:r>
              <a:rPr lang="en-US" altLang="ru-RU" sz="1400" dirty="0">
                <a:solidFill>
                  <a:schemeClr val="tx1"/>
                </a:solidFill>
              </a:rPr>
              <a:t>HTML,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 err="1">
                <a:solidFill>
                  <a:srgbClr val="FFFF00"/>
                </a:solidFill>
              </a:rPr>
              <a:t>elem.insertAdjacentElement</a:t>
            </a:r>
            <a:r>
              <a:rPr lang="en-US" altLang="ru-RU" sz="1400" dirty="0">
                <a:solidFill>
                  <a:srgbClr val="FFFF00"/>
                </a:solidFill>
              </a:rPr>
              <a:t>(where, </a:t>
            </a:r>
            <a:r>
              <a:rPr lang="en-US" altLang="ru-RU" sz="1400" dirty="0" err="1">
                <a:solidFill>
                  <a:srgbClr val="FFFF00"/>
                </a:solidFill>
              </a:rPr>
              <a:t>elem</a:t>
            </a:r>
            <a:r>
              <a:rPr lang="en-US" altLang="ru-RU" sz="1400" dirty="0">
                <a:solidFill>
                  <a:srgbClr val="FFFF00"/>
                </a:solidFill>
              </a:rPr>
              <a:t>) </a:t>
            </a:r>
            <a:r>
              <a:rPr lang="en-US" altLang="ru-RU" sz="1400" dirty="0">
                <a:solidFill>
                  <a:schemeClr val="tx1"/>
                </a:solidFill>
              </a:rPr>
              <a:t>– </a:t>
            </a:r>
            <a:r>
              <a:rPr lang="ru-RU" altLang="ru-RU" sz="1400" dirty="0">
                <a:solidFill>
                  <a:schemeClr val="tx1"/>
                </a:solidFill>
              </a:rPr>
              <a:t>такой же синтаксис, но вставляет элемент </a:t>
            </a:r>
            <a:r>
              <a:rPr lang="en-US" altLang="ru-RU" sz="1400" dirty="0">
                <a:solidFill>
                  <a:schemeClr val="tx1"/>
                </a:solidFill>
              </a:rPr>
              <a:t>elem.</a:t>
            </a:r>
            <a:endParaRPr lang="ru-RU" altLang="ru-RU" sz="1400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7D25F3-6A03-4F03-81CA-3AE8DE495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3985F9-AC5D-4D70-AC58-4036BC854D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6000"/>
                    </a14:imgEffect>
                    <a14:imgEffect>
                      <a14:brightnessContrast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445"/>
          <a:stretch/>
        </p:blipFill>
        <p:spPr>
          <a:xfrm>
            <a:off x="4668416" y="1995686"/>
            <a:ext cx="3716341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05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Создание, вставка элементов, удаление узлов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Для удаления узла есть методы </a:t>
            </a:r>
            <a:r>
              <a:rPr lang="ru-RU" altLang="ru-RU" sz="1400" dirty="0" err="1">
                <a:solidFill>
                  <a:srgbClr val="FFFF00"/>
                </a:solidFill>
              </a:rPr>
              <a:t>node.remove</a:t>
            </a:r>
            <a:r>
              <a:rPr lang="ru-RU" altLang="ru-RU" sz="1400" dirty="0">
                <a:solidFill>
                  <a:srgbClr val="FFFF00"/>
                </a:solidFill>
              </a:rPr>
              <a:t>()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Например: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endParaRPr lang="ru-RU" sz="14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/>
              <a:t>Если нужно переместить элемент в другое место – нет необходимости удалять его со старого. </a:t>
            </a:r>
            <a:r>
              <a:rPr lang="ru-RU" sz="1400" b="1" dirty="0">
                <a:solidFill>
                  <a:srgbClr val="FFFF00"/>
                </a:solidFill>
              </a:rPr>
              <a:t>Все методы вставки автоматически удаляют узлы со старых мест</a:t>
            </a:r>
            <a:r>
              <a:rPr lang="ru-RU" sz="1400" dirty="0">
                <a:solidFill>
                  <a:srgbClr val="FFFF00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7D25F3-6A03-4F03-81CA-3AE8DE495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1BE86E-AB35-4603-AD78-3EDD5FB1E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5000"/>
                    </a14:imgEffect>
                    <a14:imgEffect>
                      <a14:brightnessContrast contrast="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131590"/>
            <a:ext cx="6153864" cy="300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53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Создание, вставка элементов, удаление узлов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Клонирование узлов: </a:t>
            </a:r>
            <a:r>
              <a:rPr lang="en-US" altLang="ru-RU" sz="1400" dirty="0" err="1">
                <a:solidFill>
                  <a:srgbClr val="FFFF00"/>
                </a:solidFill>
              </a:rPr>
              <a:t>cloneNode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Вызов </a:t>
            </a:r>
            <a:r>
              <a:rPr lang="ru-RU" altLang="ru-RU" sz="1400" dirty="0" err="1">
                <a:solidFill>
                  <a:srgbClr val="FFFF00"/>
                </a:solidFill>
              </a:rPr>
              <a:t>elem.cloneNode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true</a:t>
            </a:r>
            <a:r>
              <a:rPr lang="ru-RU" altLang="ru-RU" sz="1400" dirty="0">
                <a:solidFill>
                  <a:srgbClr val="FFFF00"/>
                </a:solidFill>
              </a:rPr>
              <a:t>) </a:t>
            </a:r>
            <a:r>
              <a:rPr lang="ru-RU" altLang="ru-RU" sz="1400" dirty="0">
                <a:solidFill>
                  <a:schemeClr val="tx1"/>
                </a:solidFill>
              </a:rPr>
              <a:t>создаёт «глубокий» клон элемента – со всеми атрибутами и дочерними элементами. Если мы вызовем </a:t>
            </a:r>
            <a:r>
              <a:rPr lang="ru-RU" altLang="ru-RU" sz="1400" dirty="0" err="1">
                <a:solidFill>
                  <a:srgbClr val="FFFF00"/>
                </a:solidFill>
              </a:rPr>
              <a:t>elem.cloneNode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false</a:t>
            </a:r>
            <a:r>
              <a:rPr lang="ru-RU" altLang="ru-RU" sz="1400" dirty="0">
                <a:solidFill>
                  <a:srgbClr val="FFFF00"/>
                </a:solidFill>
              </a:rPr>
              <a:t>)</a:t>
            </a:r>
            <a:r>
              <a:rPr lang="ru-RU" altLang="ru-RU" sz="1400" dirty="0">
                <a:solidFill>
                  <a:schemeClr val="tx1"/>
                </a:solidFill>
              </a:rPr>
              <a:t>,</a:t>
            </a:r>
            <a:r>
              <a:rPr lang="ru-RU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тогда клон будет без дочерних элементов.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FFFF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7D25F3-6A03-4F03-81CA-3AE8DE495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57835F-93EB-4973-BD60-DADFA351F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779662"/>
            <a:ext cx="5482966" cy="292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37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Создание, вставка элементов, удаление узлов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Итого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Методы для создания узлов: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ru-RU" sz="1600" dirty="0" err="1">
                <a:solidFill>
                  <a:srgbClr val="FFFF00"/>
                </a:solidFill>
              </a:rPr>
              <a:t>document.createElement</a:t>
            </a:r>
            <a:r>
              <a:rPr lang="en-US" altLang="ru-RU" sz="1600" dirty="0">
                <a:solidFill>
                  <a:srgbClr val="FFFF00"/>
                </a:solidFill>
              </a:rPr>
              <a:t>(tag) </a:t>
            </a:r>
            <a:r>
              <a:rPr lang="en-US" altLang="ru-RU" sz="1600" dirty="0">
                <a:solidFill>
                  <a:schemeClr val="tx1"/>
                </a:solidFill>
              </a:rPr>
              <a:t>– </a:t>
            </a:r>
            <a:r>
              <a:rPr lang="ru-RU" altLang="ru-RU" sz="1600" dirty="0">
                <a:solidFill>
                  <a:schemeClr val="tx1"/>
                </a:solidFill>
              </a:rPr>
              <a:t>создаёт элемент с заданным тегом,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ru-RU" sz="1600" dirty="0" err="1">
                <a:solidFill>
                  <a:srgbClr val="FFFF00"/>
                </a:solidFill>
              </a:rPr>
              <a:t>document.createTextNode</a:t>
            </a:r>
            <a:r>
              <a:rPr lang="en-US" altLang="ru-RU" sz="1600" dirty="0">
                <a:solidFill>
                  <a:srgbClr val="FFFF00"/>
                </a:solidFill>
              </a:rPr>
              <a:t>(value) </a:t>
            </a:r>
            <a:r>
              <a:rPr lang="en-US" altLang="ru-RU" sz="1600" dirty="0">
                <a:solidFill>
                  <a:schemeClr val="tx1"/>
                </a:solidFill>
              </a:rPr>
              <a:t>– </a:t>
            </a:r>
            <a:r>
              <a:rPr lang="ru-RU" altLang="ru-RU" sz="1600" dirty="0">
                <a:solidFill>
                  <a:schemeClr val="tx1"/>
                </a:solidFill>
              </a:rPr>
              <a:t>создаёт текстовый узел (редко используется),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ru-RU" sz="1600" dirty="0" err="1">
                <a:solidFill>
                  <a:srgbClr val="FFFF00"/>
                </a:solidFill>
              </a:rPr>
              <a:t>elem.cloneNode</a:t>
            </a:r>
            <a:r>
              <a:rPr lang="en-US" altLang="ru-RU" sz="1600" dirty="0">
                <a:solidFill>
                  <a:srgbClr val="FFFF00"/>
                </a:solidFill>
              </a:rPr>
              <a:t>(deep) </a:t>
            </a:r>
            <a:r>
              <a:rPr lang="en-US" altLang="ru-RU" sz="1600" dirty="0">
                <a:solidFill>
                  <a:schemeClr val="tx1"/>
                </a:solidFill>
              </a:rPr>
              <a:t>– </a:t>
            </a:r>
            <a:r>
              <a:rPr lang="ru-RU" altLang="ru-RU" sz="1600" dirty="0">
                <a:solidFill>
                  <a:schemeClr val="tx1"/>
                </a:solidFill>
              </a:rPr>
              <a:t>клонирует элемент, если </a:t>
            </a:r>
            <a:r>
              <a:rPr lang="en-US" altLang="ru-RU" sz="1600" dirty="0">
                <a:solidFill>
                  <a:schemeClr val="tx1"/>
                </a:solidFill>
              </a:rPr>
              <a:t>deep==true, </a:t>
            </a:r>
            <a:r>
              <a:rPr lang="ru-RU" altLang="ru-RU" sz="1600" dirty="0">
                <a:solidFill>
                  <a:schemeClr val="tx1"/>
                </a:solidFill>
              </a:rPr>
              <a:t>то со всеми дочерними элементами.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Вставка и удаление: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ru-RU" sz="1600" dirty="0" err="1">
                <a:solidFill>
                  <a:srgbClr val="FFFF00"/>
                </a:solidFill>
              </a:rPr>
              <a:t>node.append</a:t>
            </a:r>
            <a:r>
              <a:rPr lang="en-US" altLang="ru-RU" sz="1600" dirty="0">
                <a:solidFill>
                  <a:srgbClr val="FFFF00"/>
                </a:solidFill>
              </a:rPr>
              <a:t>(...nodes or strings) </a:t>
            </a:r>
            <a:r>
              <a:rPr lang="en-US" altLang="ru-RU" sz="1600" dirty="0">
                <a:solidFill>
                  <a:schemeClr val="tx1"/>
                </a:solidFill>
              </a:rPr>
              <a:t>– </a:t>
            </a:r>
            <a:r>
              <a:rPr lang="ru-RU" altLang="ru-RU" sz="1600" dirty="0">
                <a:solidFill>
                  <a:schemeClr val="tx1"/>
                </a:solidFill>
              </a:rPr>
              <a:t>вставляет в </a:t>
            </a:r>
            <a:r>
              <a:rPr lang="en-US" altLang="ru-RU" sz="1600" dirty="0">
                <a:solidFill>
                  <a:schemeClr val="tx1"/>
                </a:solidFill>
              </a:rPr>
              <a:t>node </a:t>
            </a:r>
            <a:r>
              <a:rPr lang="ru-RU" altLang="ru-RU" sz="1600" dirty="0">
                <a:solidFill>
                  <a:schemeClr val="tx1"/>
                </a:solidFill>
              </a:rPr>
              <a:t>в конец,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ru-RU" sz="1600" dirty="0" err="1">
                <a:solidFill>
                  <a:srgbClr val="FFFF00"/>
                </a:solidFill>
              </a:rPr>
              <a:t>node.prepend</a:t>
            </a:r>
            <a:r>
              <a:rPr lang="en-US" altLang="ru-RU" sz="1600" dirty="0">
                <a:solidFill>
                  <a:srgbClr val="FFFF00"/>
                </a:solidFill>
              </a:rPr>
              <a:t>(...nodes or strings) </a:t>
            </a:r>
            <a:r>
              <a:rPr lang="en-US" altLang="ru-RU" sz="1600" dirty="0">
                <a:solidFill>
                  <a:schemeClr val="tx1"/>
                </a:solidFill>
              </a:rPr>
              <a:t>– </a:t>
            </a:r>
            <a:r>
              <a:rPr lang="ru-RU" altLang="ru-RU" sz="1600" dirty="0">
                <a:solidFill>
                  <a:schemeClr val="tx1"/>
                </a:solidFill>
              </a:rPr>
              <a:t>вставляет в </a:t>
            </a:r>
            <a:r>
              <a:rPr lang="en-US" altLang="ru-RU" sz="1600" dirty="0">
                <a:solidFill>
                  <a:schemeClr val="tx1"/>
                </a:solidFill>
              </a:rPr>
              <a:t>node </a:t>
            </a:r>
            <a:r>
              <a:rPr lang="ru-RU" altLang="ru-RU" sz="1600" dirty="0">
                <a:solidFill>
                  <a:schemeClr val="tx1"/>
                </a:solidFill>
              </a:rPr>
              <a:t>в начало,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ru-RU" sz="1600" dirty="0" err="1">
                <a:solidFill>
                  <a:srgbClr val="FFFF00"/>
                </a:solidFill>
              </a:rPr>
              <a:t>node.before</a:t>
            </a:r>
            <a:r>
              <a:rPr lang="en-US" altLang="ru-RU" sz="1600" dirty="0">
                <a:solidFill>
                  <a:srgbClr val="FFFF00"/>
                </a:solidFill>
              </a:rPr>
              <a:t>(...nodes or strings) </a:t>
            </a:r>
            <a:r>
              <a:rPr lang="en-US" altLang="ru-RU" sz="1600" dirty="0">
                <a:solidFill>
                  <a:schemeClr val="tx1"/>
                </a:solidFill>
              </a:rPr>
              <a:t>– </a:t>
            </a:r>
            <a:r>
              <a:rPr lang="ru-RU" altLang="ru-RU" sz="1600" dirty="0">
                <a:solidFill>
                  <a:schemeClr val="tx1"/>
                </a:solidFill>
              </a:rPr>
              <a:t>вставляет прямо перед </a:t>
            </a:r>
            <a:r>
              <a:rPr lang="en-US" altLang="ru-RU" sz="1600" dirty="0">
                <a:solidFill>
                  <a:schemeClr val="tx1"/>
                </a:solidFill>
              </a:rPr>
              <a:t>node,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ru-RU" sz="1600" dirty="0" err="1">
                <a:solidFill>
                  <a:srgbClr val="FFFF00"/>
                </a:solidFill>
              </a:rPr>
              <a:t>node.after</a:t>
            </a:r>
            <a:r>
              <a:rPr lang="en-US" altLang="ru-RU" sz="1600" dirty="0">
                <a:solidFill>
                  <a:srgbClr val="FFFF00"/>
                </a:solidFill>
              </a:rPr>
              <a:t>(...nodes or strings) </a:t>
            </a:r>
            <a:r>
              <a:rPr lang="en-US" altLang="ru-RU" sz="1600" dirty="0">
                <a:solidFill>
                  <a:schemeClr val="tx1"/>
                </a:solidFill>
              </a:rPr>
              <a:t>– </a:t>
            </a:r>
            <a:r>
              <a:rPr lang="ru-RU" altLang="ru-RU" sz="1600" dirty="0">
                <a:solidFill>
                  <a:schemeClr val="tx1"/>
                </a:solidFill>
              </a:rPr>
              <a:t>вставляет сразу после </a:t>
            </a:r>
            <a:r>
              <a:rPr lang="en-US" altLang="ru-RU" sz="1600" dirty="0">
                <a:solidFill>
                  <a:schemeClr val="tx1"/>
                </a:solidFill>
              </a:rPr>
              <a:t>node,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ru-RU" sz="1600" dirty="0" err="1">
                <a:solidFill>
                  <a:srgbClr val="FFFF00"/>
                </a:solidFill>
              </a:rPr>
              <a:t>node.replaceWith</a:t>
            </a:r>
            <a:r>
              <a:rPr lang="en-US" altLang="ru-RU" sz="1600" dirty="0">
                <a:solidFill>
                  <a:srgbClr val="FFFF00"/>
                </a:solidFill>
              </a:rPr>
              <a:t>(...nodes or strings) </a:t>
            </a:r>
            <a:r>
              <a:rPr lang="en-US" altLang="ru-RU" sz="1600" dirty="0">
                <a:solidFill>
                  <a:schemeClr val="tx1"/>
                </a:solidFill>
              </a:rPr>
              <a:t>– </a:t>
            </a:r>
            <a:r>
              <a:rPr lang="ru-RU" altLang="ru-RU" sz="1600" dirty="0">
                <a:solidFill>
                  <a:schemeClr val="tx1"/>
                </a:solidFill>
              </a:rPr>
              <a:t>заменяет </a:t>
            </a:r>
            <a:r>
              <a:rPr lang="en-US" altLang="ru-RU" sz="1600" dirty="0">
                <a:solidFill>
                  <a:schemeClr val="tx1"/>
                </a:solidFill>
              </a:rPr>
              <a:t>node.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ru-RU" sz="1600" dirty="0" err="1">
                <a:solidFill>
                  <a:srgbClr val="FFFF00"/>
                </a:solidFill>
              </a:rPr>
              <a:t>node.remove</a:t>
            </a:r>
            <a:r>
              <a:rPr lang="en-US" altLang="ru-RU" sz="1600" dirty="0">
                <a:solidFill>
                  <a:srgbClr val="FFFF00"/>
                </a:solidFill>
              </a:rPr>
              <a:t>()</a:t>
            </a:r>
            <a:r>
              <a:rPr lang="en-US" altLang="ru-RU" sz="1600" dirty="0">
                <a:solidFill>
                  <a:schemeClr val="tx1"/>
                </a:solidFill>
              </a:rPr>
              <a:t> – </a:t>
            </a:r>
            <a:r>
              <a:rPr lang="ru-RU" altLang="ru-RU" sz="1600" dirty="0">
                <a:solidFill>
                  <a:schemeClr val="tx1"/>
                </a:solidFill>
              </a:rPr>
              <a:t>удаляет </a:t>
            </a:r>
            <a:r>
              <a:rPr lang="en-US" altLang="ru-RU" sz="1600" dirty="0">
                <a:solidFill>
                  <a:schemeClr val="tx1"/>
                </a:solidFill>
              </a:rPr>
              <a:t>node.</a:t>
            </a:r>
            <a:endParaRPr lang="ru-RU" altLang="ru-RU" sz="1600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7D25F3-6A03-4F03-81CA-3AE8DE495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501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Создание, вставка элементов, удаление узлов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Если нужно вставить фрагмент </a:t>
            </a:r>
            <a:r>
              <a:rPr lang="en-US" altLang="ru-RU" sz="1600" dirty="0">
                <a:solidFill>
                  <a:schemeClr val="tx1"/>
                </a:solidFill>
              </a:rPr>
              <a:t>HTML, </a:t>
            </a:r>
            <a:r>
              <a:rPr lang="ru-RU" altLang="ru-RU" sz="1600" dirty="0">
                <a:solidFill>
                  <a:schemeClr val="tx1"/>
                </a:solidFill>
              </a:rPr>
              <a:t>то </a:t>
            </a:r>
            <a:r>
              <a:rPr lang="en-US" altLang="ru-RU" sz="1600" dirty="0" err="1">
                <a:solidFill>
                  <a:srgbClr val="FFFF00"/>
                </a:solidFill>
              </a:rPr>
              <a:t>elem.insertAdjacentHTML</a:t>
            </a:r>
            <a:r>
              <a:rPr lang="en-US" altLang="ru-RU" sz="1600" dirty="0">
                <a:solidFill>
                  <a:srgbClr val="FFFF00"/>
                </a:solidFill>
              </a:rPr>
              <a:t>(where, html) </a:t>
            </a:r>
            <a:r>
              <a:rPr lang="ru-RU" altLang="ru-RU" sz="1600" dirty="0">
                <a:solidFill>
                  <a:schemeClr val="tx1"/>
                </a:solidFill>
              </a:rPr>
              <a:t>вставляет в зависимости от </a:t>
            </a:r>
            <a:r>
              <a:rPr lang="en-US" altLang="ru-RU" sz="1600" dirty="0">
                <a:solidFill>
                  <a:schemeClr val="tx1"/>
                </a:solidFill>
              </a:rPr>
              <a:t>where: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ru-RU" sz="1600" dirty="0">
                <a:solidFill>
                  <a:srgbClr val="FFFF00"/>
                </a:solidFill>
              </a:rPr>
              <a:t>"</a:t>
            </a:r>
            <a:r>
              <a:rPr lang="en-US" altLang="ru-RU" sz="1600" dirty="0" err="1">
                <a:solidFill>
                  <a:srgbClr val="FFFF00"/>
                </a:solidFill>
              </a:rPr>
              <a:t>beforebegin</a:t>
            </a:r>
            <a:r>
              <a:rPr lang="en-US" altLang="ru-RU" sz="1600" dirty="0">
                <a:solidFill>
                  <a:srgbClr val="FFFF00"/>
                </a:solidFill>
              </a:rPr>
              <a:t>" </a:t>
            </a:r>
            <a:r>
              <a:rPr lang="en-US" altLang="ru-RU" sz="1600" dirty="0">
                <a:solidFill>
                  <a:schemeClr val="tx1"/>
                </a:solidFill>
              </a:rPr>
              <a:t>– </a:t>
            </a:r>
            <a:r>
              <a:rPr lang="ru-RU" altLang="ru-RU" sz="1600" dirty="0">
                <a:solidFill>
                  <a:schemeClr val="tx1"/>
                </a:solidFill>
              </a:rPr>
              <a:t>вставляет </a:t>
            </a:r>
            <a:r>
              <a:rPr lang="en-US" altLang="ru-RU" sz="1600" dirty="0">
                <a:solidFill>
                  <a:schemeClr val="tx1"/>
                </a:solidFill>
              </a:rPr>
              <a:t>html </a:t>
            </a:r>
            <a:r>
              <a:rPr lang="ru-RU" altLang="ru-RU" sz="1600" dirty="0">
                <a:solidFill>
                  <a:schemeClr val="tx1"/>
                </a:solidFill>
              </a:rPr>
              <a:t>прямо перед </a:t>
            </a:r>
            <a:r>
              <a:rPr lang="en-US" altLang="ru-RU" sz="1600" dirty="0" err="1">
                <a:solidFill>
                  <a:schemeClr val="tx1"/>
                </a:solidFill>
              </a:rPr>
              <a:t>elem</a:t>
            </a:r>
            <a:r>
              <a:rPr lang="en-US" altLang="ru-RU" sz="1600" dirty="0">
                <a:solidFill>
                  <a:schemeClr val="tx1"/>
                </a:solidFill>
              </a:rPr>
              <a:t>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ru-RU" sz="1600" dirty="0">
                <a:solidFill>
                  <a:srgbClr val="FFFF00"/>
                </a:solidFill>
              </a:rPr>
              <a:t>"</a:t>
            </a:r>
            <a:r>
              <a:rPr lang="en-US" altLang="ru-RU" sz="1600" dirty="0" err="1">
                <a:solidFill>
                  <a:srgbClr val="FFFF00"/>
                </a:solidFill>
              </a:rPr>
              <a:t>afterbegin</a:t>
            </a:r>
            <a:r>
              <a:rPr lang="en-US" altLang="ru-RU" sz="1600" dirty="0">
                <a:solidFill>
                  <a:srgbClr val="FFFF00"/>
                </a:solidFill>
              </a:rPr>
              <a:t>" </a:t>
            </a:r>
            <a:r>
              <a:rPr lang="en-US" altLang="ru-RU" sz="1600" dirty="0">
                <a:solidFill>
                  <a:schemeClr val="tx1"/>
                </a:solidFill>
              </a:rPr>
              <a:t>– </a:t>
            </a:r>
            <a:r>
              <a:rPr lang="ru-RU" altLang="ru-RU" sz="1600" dirty="0">
                <a:solidFill>
                  <a:schemeClr val="tx1"/>
                </a:solidFill>
              </a:rPr>
              <a:t>вставляет </a:t>
            </a:r>
            <a:r>
              <a:rPr lang="en-US" altLang="ru-RU" sz="1600" dirty="0">
                <a:solidFill>
                  <a:schemeClr val="tx1"/>
                </a:solidFill>
              </a:rPr>
              <a:t>html </a:t>
            </a:r>
            <a:r>
              <a:rPr lang="ru-RU" altLang="ru-RU" sz="1600" dirty="0">
                <a:solidFill>
                  <a:schemeClr val="tx1"/>
                </a:solidFill>
              </a:rPr>
              <a:t>в </a:t>
            </a:r>
            <a:r>
              <a:rPr lang="en-US" altLang="ru-RU" sz="1600" dirty="0" err="1">
                <a:solidFill>
                  <a:schemeClr val="tx1"/>
                </a:solidFill>
              </a:rPr>
              <a:t>elem</a:t>
            </a:r>
            <a:r>
              <a:rPr lang="en-US" altLang="ru-RU" sz="1600" dirty="0">
                <a:solidFill>
                  <a:schemeClr val="tx1"/>
                </a:solidFill>
              </a:rPr>
              <a:t> </a:t>
            </a:r>
            <a:r>
              <a:rPr lang="ru-RU" altLang="ru-RU" sz="1600" dirty="0">
                <a:solidFill>
                  <a:schemeClr val="tx1"/>
                </a:solidFill>
              </a:rPr>
              <a:t>в начало,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rgbClr val="FFFF00"/>
                </a:solidFill>
              </a:rPr>
              <a:t>"</a:t>
            </a:r>
            <a:r>
              <a:rPr lang="en-US" altLang="ru-RU" sz="1600" dirty="0" err="1">
                <a:solidFill>
                  <a:srgbClr val="FFFF00"/>
                </a:solidFill>
              </a:rPr>
              <a:t>beforeend</a:t>
            </a:r>
            <a:r>
              <a:rPr lang="en-US" altLang="ru-RU" sz="1600" dirty="0">
                <a:solidFill>
                  <a:srgbClr val="FFFF00"/>
                </a:solidFill>
              </a:rPr>
              <a:t>" </a:t>
            </a:r>
            <a:r>
              <a:rPr lang="en-US" altLang="ru-RU" sz="1600" dirty="0">
                <a:solidFill>
                  <a:schemeClr val="tx1"/>
                </a:solidFill>
              </a:rPr>
              <a:t>– </a:t>
            </a:r>
            <a:r>
              <a:rPr lang="ru-RU" altLang="ru-RU" sz="1600" dirty="0">
                <a:solidFill>
                  <a:schemeClr val="tx1"/>
                </a:solidFill>
              </a:rPr>
              <a:t>вставляет </a:t>
            </a:r>
            <a:r>
              <a:rPr lang="en-US" altLang="ru-RU" sz="1600" dirty="0">
                <a:solidFill>
                  <a:schemeClr val="tx1"/>
                </a:solidFill>
              </a:rPr>
              <a:t>html </a:t>
            </a:r>
            <a:r>
              <a:rPr lang="ru-RU" altLang="ru-RU" sz="1600" dirty="0">
                <a:solidFill>
                  <a:schemeClr val="tx1"/>
                </a:solidFill>
              </a:rPr>
              <a:t>в </a:t>
            </a:r>
            <a:r>
              <a:rPr lang="en-US" altLang="ru-RU" sz="1600" dirty="0" err="1">
                <a:solidFill>
                  <a:schemeClr val="tx1"/>
                </a:solidFill>
              </a:rPr>
              <a:t>elem</a:t>
            </a:r>
            <a:r>
              <a:rPr lang="en-US" altLang="ru-RU" sz="1600" dirty="0">
                <a:solidFill>
                  <a:schemeClr val="tx1"/>
                </a:solidFill>
              </a:rPr>
              <a:t> </a:t>
            </a:r>
            <a:r>
              <a:rPr lang="ru-RU" altLang="ru-RU" sz="1600" dirty="0">
                <a:solidFill>
                  <a:schemeClr val="tx1"/>
                </a:solidFill>
              </a:rPr>
              <a:t>в конец,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rgbClr val="FFFF00"/>
                </a:solidFill>
              </a:rPr>
              <a:t>"</a:t>
            </a:r>
            <a:r>
              <a:rPr lang="en-US" altLang="ru-RU" sz="1600" dirty="0" err="1">
                <a:solidFill>
                  <a:srgbClr val="FFFF00"/>
                </a:solidFill>
              </a:rPr>
              <a:t>afterend</a:t>
            </a:r>
            <a:r>
              <a:rPr lang="en-US" altLang="ru-RU" sz="1600" dirty="0">
                <a:solidFill>
                  <a:srgbClr val="FFFF00"/>
                </a:solidFill>
              </a:rPr>
              <a:t>" </a:t>
            </a:r>
            <a:r>
              <a:rPr lang="en-US" altLang="ru-RU" sz="1600" dirty="0">
                <a:solidFill>
                  <a:schemeClr val="tx1"/>
                </a:solidFill>
              </a:rPr>
              <a:t>– </a:t>
            </a:r>
            <a:r>
              <a:rPr lang="ru-RU" altLang="ru-RU" sz="1600" dirty="0">
                <a:solidFill>
                  <a:schemeClr val="tx1"/>
                </a:solidFill>
              </a:rPr>
              <a:t>вставляет </a:t>
            </a:r>
            <a:r>
              <a:rPr lang="en-US" altLang="ru-RU" sz="1600" dirty="0">
                <a:solidFill>
                  <a:schemeClr val="tx1"/>
                </a:solidFill>
              </a:rPr>
              <a:t>html </a:t>
            </a:r>
            <a:r>
              <a:rPr lang="ru-RU" altLang="ru-RU" sz="1600" dirty="0">
                <a:solidFill>
                  <a:schemeClr val="tx1"/>
                </a:solidFill>
              </a:rPr>
              <a:t>сразу после </a:t>
            </a:r>
            <a:r>
              <a:rPr lang="en-US" altLang="ru-RU" sz="1600" dirty="0">
                <a:solidFill>
                  <a:schemeClr val="tx1"/>
                </a:solidFill>
              </a:rPr>
              <a:t>elem.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Также существуют похожие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методы </a:t>
            </a:r>
            <a:r>
              <a:rPr lang="en-US" altLang="ru-RU" sz="1600" dirty="0" err="1">
                <a:solidFill>
                  <a:srgbClr val="FFFF00"/>
                </a:solidFill>
              </a:rPr>
              <a:t>elem.insertAdjacentText</a:t>
            </a:r>
            <a:r>
              <a:rPr lang="en-US" altLang="ru-RU" sz="1600" dirty="0">
                <a:solidFill>
                  <a:srgbClr val="FFFF00"/>
                </a:solidFill>
              </a:rPr>
              <a:t> </a:t>
            </a:r>
            <a:r>
              <a:rPr lang="ru-RU" altLang="ru-RU" sz="1600" dirty="0">
                <a:solidFill>
                  <a:schemeClr val="tx1"/>
                </a:solidFill>
              </a:rPr>
              <a:t>и </a:t>
            </a:r>
            <a:r>
              <a:rPr lang="en-US" altLang="ru-RU" sz="1600" dirty="0" err="1">
                <a:solidFill>
                  <a:srgbClr val="FFFF00"/>
                </a:solidFill>
              </a:rPr>
              <a:t>elem.insertAdjacentElement</a:t>
            </a:r>
            <a:r>
              <a:rPr lang="en-US" altLang="ru-RU" sz="1600" dirty="0">
                <a:solidFill>
                  <a:schemeClr val="tx1"/>
                </a:solidFill>
              </a:rPr>
              <a:t>, </a:t>
            </a:r>
            <a:r>
              <a:rPr lang="ru-RU" altLang="ru-RU" sz="1600" dirty="0">
                <a:solidFill>
                  <a:schemeClr val="tx1"/>
                </a:solidFill>
              </a:rPr>
              <a:t>они вставляют текстовые строки и элементы, но они редко используются.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7D25F3-6A03-4F03-81CA-3AE8DE495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147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1. Создайте функцию </a:t>
            </a:r>
            <a:r>
              <a:rPr lang="en-US" sz="1400" dirty="0"/>
              <a:t>clear(</a:t>
            </a:r>
            <a:r>
              <a:rPr lang="en-US" sz="1400" dirty="0" err="1"/>
              <a:t>elem</a:t>
            </a:r>
            <a:r>
              <a:rPr lang="en-US" sz="1400" dirty="0"/>
              <a:t>), </a:t>
            </a:r>
            <a:r>
              <a:rPr lang="ru-RU" sz="1400" dirty="0"/>
              <a:t>которая удаляет всё содержимое из </a:t>
            </a:r>
            <a:r>
              <a:rPr lang="en-US" sz="1400" dirty="0"/>
              <a:t>elem.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ol</a:t>
            </a:r>
            <a:r>
              <a:rPr lang="en-US" sz="1400" dirty="0">
                <a:latin typeface="Consolas" panose="020B0609020204030204" pitchFamily="49" charset="0"/>
              </a:rPr>
              <a:t> id="</a:t>
            </a:r>
            <a:r>
              <a:rPr lang="en-US" sz="1400" dirty="0" err="1">
                <a:latin typeface="Consolas" panose="020B0609020204030204" pitchFamily="49" charset="0"/>
              </a:rPr>
              <a:t>elem</a:t>
            </a:r>
            <a:r>
              <a:rPr lang="en-US" sz="1400" dirty="0">
                <a:latin typeface="Consolas" panose="020B0609020204030204" pitchFamily="49" charset="0"/>
              </a:rPr>
              <a:t>"&gt;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>
                <a:latin typeface="Consolas" panose="020B0609020204030204" pitchFamily="49" charset="0"/>
              </a:rPr>
              <a:t>  &lt;</a:t>
            </a:r>
            <a:r>
              <a:rPr lang="en-US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en-US" sz="1400" dirty="0">
                <a:latin typeface="Consolas" panose="020B0609020204030204" pitchFamily="49" charset="0"/>
              </a:rPr>
              <a:t>&gt;</a:t>
            </a:r>
            <a:r>
              <a:rPr lang="ru-RU" sz="1400" dirty="0">
                <a:latin typeface="Consolas" panose="020B0609020204030204" pitchFamily="49" charset="0"/>
              </a:rPr>
              <a:t>Привет&lt;/</a:t>
            </a:r>
            <a:r>
              <a:rPr lang="en-US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en-US" sz="1400" dirty="0"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>
                <a:latin typeface="Consolas" panose="020B0609020204030204" pitchFamily="49" charset="0"/>
              </a:rPr>
              <a:t>  &lt;</a:t>
            </a:r>
            <a:r>
              <a:rPr lang="en-US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en-US" sz="1400" dirty="0">
                <a:latin typeface="Consolas" panose="020B0609020204030204" pitchFamily="49" charset="0"/>
              </a:rPr>
              <a:t>&gt;</a:t>
            </a:r>
            <a:r>
              <a:rPr lang="ru-RU" sz="1400" dirty="0">
                <a:latin typeface="Consolas" panose="020B0609020204030204" pitchFamily="49" charset="0"/>
              </a:rPr>
              <a:t>Мир&lt;/</a:t>
            </a:r>
            <a:r>
              <a:rPr lang="en-US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en-US" sz="1400" dirty="0"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>
                <a:latin typeface="Consolas" panose="020B0609020204030204" pitchFamily="49" charset="0"/>
              </a:rPr>
              <a:t>&lt;/</a:t>
            </a:r>
            <a:r>
              <a:rPr lang="en-US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ol</a:t>
            </a:r>
            <a:r>
              <a:rPr lang="en-US" sz="1400" dirty="0"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en-US" sz="1400" dirty="0"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>
                <a:latin typeface="Consolas" panose="020B0609020204030204" pitchFamily="49" charset="0"/>
              </a:rPr>
              <a:t>  let </a:t>
            </a:r>
            <a:r>
              <a:rPr lang="en-US" sz="1400" dirty="0" err="1">
                <a:latin typeface="Consolas" panose="020B0609020204030204" pitchFamily="49" charset="0"/>
              </a:rPr>
              <a:t>findElem</a:t>
            </a:r>
            <a:r>
              <a:rPr lang="en-US" sz="1400" dirty="0">
                <a:latin typeface="Consolas" panose="020B0609020204030204" pitchFamily="49" charset="0"/>
              </a:rPr>
              <a:t> = …	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latin typeface="Consolas" panose="020B0609020204030204" pitchFamily="49" charset="0"/>
              </a:rPr>
              <a:t> clear(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findElem</a:t>
            </a:r>
            <a:r>
              <a:rPr lang="en-US" sz="1400" dirty="0">
                <a:latin typeface="Consolas" panose="020B0609020204030204" pitchFamily="49" charset="0"/>
              </a:rPr>
              <a:t>) {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/*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ваш код */ </a:t>
            </a:r>
            <a:r>
              <a:rPr lang="ru-RU" sz="1400" dirty="0">
                <a:latin typeface="Consolas" panose="020B0609020204030204" pitchFamily="49" charset="0"/>
              </a:rPr>
              <a:t>}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clear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findElem</a:t>
            </a:r>
            <a:r>
              <a:rPr lang="en-US" sz="1400" dirty="0">
                <a:latin typeface="Consolas" panose="020B0609020204030204" pitchFamily="49" charset="0"/>
              </a:rPr>
              <a:t>);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очищает список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latin typeface="Consolas" panose="020B0609020204030204" pitchFamily="49" charset="0"/>
              </a:rPr>
              <a:t>&lt;/</a:t>
            </a:r>
            <a:r>
              <a:rPr lang="en-US" sz="1400" dirty="0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en-US" sz="1400" dirty="0">
                <a:latin typeface="Consolas" panose="020B0609020204030204" pitchFamily="49" charset="0"/>
              </a:rPr>
              <a:t>&gt;</a:t>
            </a:r>
            <a:endParaRPr lang="ru-RU" sz="1400" dirty="0"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2. </a:t>
            </a:r>
            <a:r>
              <a:rPr lang="it-IT" altLang="ru-RU" sz="1400" dirty="0">
                <a:solidFill>
                  <a:schemeClr val="tx1"/>
                </a:solidFill>
              </a:rPr>
              <a:t>Напишите код для вставки </a:t>
            </a:r>
            <a:r>
              <a:rPr lang="it-IT" altLang="ru-RU" sz="1400" dirty="0">
                <a:solidFill>
                  <a:srgbClr val="FFFF00"/>
                </a:solidFill>
              </a:rPr>
              <a:t>&lt;li&gt;2&lt;/li&gt;&lt;li&gt;3&lt;/li&gt; </a:t>
            </a:r>
            <a:r>
              <a:rPr lang="it-IT" altLang="ru-RU" sz="1400" dirty="0">
                <a:solidFill>
                  <a:schemeClr val="tx1"/>
                </a:solidFill>
              </a:rPr>
              <a:t>между этими двумя &lt;li&gt;: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it-IT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it-IT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ul</a:t>
            </a:r>
            <a:r>
              <a:rPr lang="it-IT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id="ul"&gt;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it-IT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&lt;</a:t>
            </a:r>
            <a:r>
              <a:rPr lang="it-IT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it-IT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id="one"&gt;1&lt;/</a:t>
            </a:r>
            <a:r>
              <a:rPr lang="it-IT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it-IT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it-IT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&lt;</a:t>
            </a:r>
            <a:r>
              <a:rPr lang="it-IT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it-IT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id="two"&gt;4&lt;/</a:t>
            </a:r>
            <a:r>
              <a:rPr lang="it-IT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li</a:t>
            </a:r>
            <a:r>
              <a:rPr lang="it-IT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it-IT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it-IT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ul</a:t>
            </a:r>
            <a:r>
              <a:rPr lang="it-IT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DBD5405-28F1-445E-B160-7B7A687F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Наши любимые задачки </a:t>
            </a:r>
            <a:r>
              <a:rPr lang="ru-RU" sz="2400" dirty="0">
                <a:sym typeface="Wingdings" panose="05000000000000000000" pitchFamily="2" charset="2"/>
              </a:rPr>
              <a:t>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03203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43608" y="2139702"/>
            <a:ext cx="7056784" cy="1008112"/>
          </a:xfrm>
        </p:spPr>
        <p:txBody>
          <a:bodyPr anchor="t"/>
          <a:lstStyle/>
          <a:p>
            <a:pPr algn="ctr" fontAlgn="t"/>
            <a:r>
              <a:rPr lang="ru-RU" sz="3200" dirty="0"/>
              <a:t>Добавление стилей. Работа с  CSS-классами.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1331187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Добавление стилей. Работа с  CSS-классами.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FFFF00"/>
                </a:solidFill>
              </a:rPr>
              <a:t>CSS (</a:t>
            </a:r>
            <a:r>
              <a:rPr lang="ru-RU" sz="1600" dirty="0" err="1">
                <a:solidFill>
                  <a:srgbClr val="FFFF00"/>
                </a:solidFill>
              </a:rPr>
              <a:t>Cascading</a:t>
            </a:r>
            <a:r>
              <a:rPr lang="ru-RU" sz="1600" dirty="0">
                <a:solidFill>
                  <a:srgbClr val="FFFF00"/>
                </a:solidFill>
              </a:rPr>
              <a:t> </a:t>
            </a:r>
            <a:r>
              <a:rPr lang="ru-RU" sz="1600" dirty="0" err="1">
                <a:solidFill>
                  <a:srgbClr val="FFFF00"/>
                </a:solidFill>
              </a:rPr>
              <a:t>Style</a:t>
            </a:r>
            <a:r>
              <a:rPr lang="ru-RU" sz="1600" dirty="0">
                <a:solidFill>
                  <a:srgbClr val="FFFF00"/>
                </a:solidFill>
              </a:rPr>
              <a:t> </a:t>
            </a:r>
            <a:r>
              <a:rPr lang="ru-RU" sz="1600" dirty="0" err="1">
                <a:solidFill>
                  <a:srgbClr val="FFFF00"/>
                </a:solidFill>
              </a:rPr>
              <a:t>Sheets</a:t>
            </a:r>
            <a:r>
              <a:rPr lang="ru-RU" sz="1600" dirty="0">
                <a:solidFill>
                  <a:srgbClr val="FFFF00"/>
                </a:solidFill>
              </a:rPr>
              <a:t>) </a:t>
            </a:r>
            <a:r>
              <a:rPr lang="ru-RU" sz="1600" dirty="0"/>
              <a:t>- это язык, который определяет, как веб-страницы будут выглядеть. Он помогает создавать красивые и удобные внешние виды. Стили можно добавлять к HTML-элементам тремя способами:</a:t>
            </a:r>
            <a:endParaRPr lang="ru-RU" sz="1600" b="1" dirty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Внутренний стиль (</a:t>
            </a:r>
            <a:r>
              <a:rPr lang="ru-RU" sz="1600" dirty="0" err="1"/>
              <a:t>inline</a:t>
            </a:r>
            <a:r>
              <a:rPr lang="ru-RU" sz="1600" dirty="0"/>
              <a:t>): Стили указываются внутри HTML-тега с помощью атрибута </a:t>
            </a:r>
            <a:r>
              <a:rPr lang="ru-RU" sz="1600" dirty="0" err="1"/>
              <a:t>style</a:t>
            </a:r>
            <a:r>
              <a:rPr lang="ru-RU" sz="1600" dirty="0"/>
              <a:t>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Внешний стиль (</a:t>
            </a:r>
            <a:r>
              <a:rPr lang="ru-RU" sz="1600" dirty="0" err="1"/>
              <a:t>external</a:t>
            </a:r>
            <a:r>
              <a:rPr lang="ru-RU" sz="1600" dirty="0"/>
              <a:t>): Стили определяются в отдельном CSS-файле и подключаются к HTML-документу с помощью тега &lt;</a:t>
            </a:r>
            <a:r>
              <a:rPr lang="ru-RU" sz="1600" dirty="0" err="1"/>
              <a:t>link</a:t>
            </a:r>
            <a:r>
              <a:rPr lang="ru-RU" sz="1600" dirty="0"/>
              <a:t>&gt;.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Встроенный стиль (</a:t>
            </a:r>
            <a:r>
              <a:rPr lang="ru-RU" sz="1600" dirty="0" err="1"/>
              <a:t>internal</a:t>
            </a:r>
            <a:r>
              <a:rPr lang="ru-RU" sz="1600" dirty="0"/>
              <a:t>): Стили указываются внутри &lt;</a:t>
            </a:r>
            <a:r>
              <a:rPr lang="ru-RU" sz="1600" dirty="0" err="1"/>
              <a:t>style</a:t>
            </a:r>
            <a:r>
              <a:rPr lang="ru-RU" sz="1600" dirty="0"/>
              <a:t>&gt;-тега в HTML-документе.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CSS-классы позволяют группировать HTML-элементы и применять к ним одинаковые стили. Классы определяются с помощью ключевого слова</a:t>
            </a:r>
            <a:r>
              <a:rPr lang="ru-RU" sz="1600" dirty="0">
                <a:solidFill>
                  <a:srgbClr val="FFFF00"/>
                </a:solidFill>
              </a:rPr>
              <a:t> . и названия класса.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rgbClr val="D7BA7D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600" dirty="0" err="1">
                <a:solidFill>
                  <a:srgbClr val="D7BA7D"/>
                </a:solidFill>
                <a:latin typeface="Consolas" panose="020B0609020204030204" pitchFamily="49" charset="0"/>
              </a:rPr>
              <a:t>active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	</a:t>
            </a:r>
            <a:r>
              <a:rPr lang="ru-RU" altLang="ru-RU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background-color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: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yellow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}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10346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15569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sz="1400" dirty="0" err="1">
                <a:solidFill>
                  <a:schemeClr val="tx1"/>
                </a:solidFill>
              </a:rPr>
              <a:t>JavaScript</a:t>
            </a:r>
            <a:r>
              <a:rPr lang="ru-RU" sz="1400" dirty="0">
                <a:solidFill>
                  <a:schemeClr val="tx1"/>
                </a:solidFill>
              </a:rPr>
              <a:t> может менять и </a:t>
            </a:r>
            <a:r>
              <a:rPr lang="ru-RU" sz="1400" dirty="0">
                <a:solidFill>
                  <a:srgbClr val="FFFF00"/>
                </a:solidFill>
              </a:rPr>
              <a:t>классы</a:t>
            </a:r>
            <a:r>
              <a:rPr lang="ru-RU" sz="1400" dirty="0">
                <a:solidFill>
                  <a:schemeClr val="tx1"/>
                </a:solidFill>
              </a:rPr>
              <a:t>, и свойство </a:t>
            </a:r>
            <a:r>
              <a:rPr lang="ru-RU" sz="1400" dirty="0" err="1">
                <a:solidFill>
                  <a:srgbClr val="FFFF00"/>
                </a:solidFill>
              </a:rPr>
              <a:t>style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FFFF00"/>
                </a:solidFill>
              </a:rPr>
              <a:t>Классы</a:t>
            </a:r>
            <a:r>
              <a:rPr lang="ru-RU" sz="1400" dirty="0">
                <a:solidFill>
                  <a:schemeClr val="tx1"/>
                </a:solidFill>
              </a:rPr>
              <a:t> – всегда предпочтительный вариант по сравнению со </a:t>
            </a:r>
            <a:r>
              <a:rPr lang="ru-RU" sz="1400" dirty="0" err="1">
                <a:solidFill>
                  <a:schemeClr val="tx1"/>
                </a:solidFill>
              </a:rPr>
              <a:t>style</a:t>
            </a:r>
            <a:r>
              <a:rPr lang="ru-RU" sz="1400" dirty="0">
                <a:solidFill>
                  <a:schemeClr val="tx1"/>
                </a:solidFill>
              </a:rPr>
              <a:t>. Не надо манипулировать свойством </a:t>
            </a:r>
            <a:r>
              <a:rPr lang="ru-RU" sz="1400" dirty="0" err="1">
                <a:solidFill>
                  <a:schemeClr val="tx1"/>
                </a:solidFill>
              </a:rPr>
              <a:t>style</a:t>
            </a:r>
            <a:r>
              <a:rPr lang="ru-RU" sz="1400" dirty="0">
                <a:solidFill>
                  <a:schemeClr val="tx1"/>
                </a:solidFill>
              </a:rPr>
              <a:t> только в том случае, если классы «не могут справиться».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Например, динамического изменения стилей: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top =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/*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сложные расчёты */;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left =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/*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сложные расчёты */;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elem.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style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.left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= left;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например, '123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px',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значение вычисляется во время работы скрипта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elem.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style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.top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= top;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например, '456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px'</a:t>
            </a:r>
            <a:endParaRPr 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Также можно установить сразу несколько стилей для элемента, используя свойство </a:t>
            </a:r>
            <a:r>
              <a:rPr lang="ru-RU" altLang="ru-RU" sz="1400" dirty="0" err="1">
                <a:solidFill>
                  <a:schemeClr val="tx1"/>
                </a:solidFill>
              </a:rPr>
              <a:t>cssText</a:t>
            </a:r>
            <a:r>
              <a:rPr lang="ru-RU" altLang="ru-RU" sz="1400" dirty="0">
                <a:solidFill>
                  <a:schemeClr val="tx1"/>
                </a:solidFill>
              </a:rPr>
              <a:t>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top =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/*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сложные расчёты */;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left =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/*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сложные расчёты */;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solidFill>
                  <a:srgbClr val="FFFF00"/>
                </a:solidFill>
              </a:rPr>
              <a:t>// полная перезапись стилей </a:t>
            </a:r>
            <a:r>
              <a:rPr lang="ru-RU" sz="1400" dirty="0" err="1">
                <a:solidFill>
                  <a:srgbClr val="FFFF00"/>
                </a:solidFill>
              </a:rPr>
              <a:t>elem</a:t>
            </a:r>
            <a:r>
              <a:rPr lang="ru-RU" sz="1400" dirty="0">
                <a:solidFill>
                  <a:srgbClr val="FFFF00"/>
                </a:solidFill>
              </a:rPr>
              <a:t>, используем =</a:t>
            </a:r>
            <a:endParaRPr 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elem.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style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.cssText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`</a:t>
            </a:r>
            <a:r>
              <a:rPr lang="en-US" altLang="ru-RU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top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: ${top}; </a:t>
            </a:r>
            <a:r>
              <a:rPr lang="en-US" altLang="ru-RU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left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: ${left};`; 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solidFill>
                  <a:srgbClr val="FFFF00"/>
                </a:solidFill>
              </a:rPr>
              <a:t>// добавление новых стилей к существующим стилям </a:t>
            </a:r>
            <a:r>
              <a:rPr lang="ru-RU" sz="1400" dirty="0" err="1">
                <a:solidFill>
                  <a:srgbClr val="FFFF00"/>
                </a:solidFill>
              </a:rPr>
              <a:t>elem</a:t>
            </a:r>
            <a:r>
              <a:rPr lang="ru-RU" sz="1400" dirty="0">
                <a:solidFill>
                  <a:srgbClr val="FFFF00"/>
                </a:solidFill>
              </a:rPr>
              <a:t>, используем +=</a:t>
            </a:r>
            <a:endParaRPr lang="en-US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elem.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style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.cssText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+= `</a:t>
            </a:r>
            <a:r>
              <a:rPr lang="en-US" altLang="ru-RU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top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: ${top}; </a:t>
            </a:r>
            <a:r>
              <a:rPr lang="en-US" altLang="ru-RU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left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: ${left};`; </a:t>
            </a:r>
          </a:p>
          <a:p>
            <a:pPr marL="0" indent="0">
              <a:spcBef>
                <a:spcPts val="0"/>
              </a:spcBef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ru-RU" sz="1400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E33AD798-7F81-4E67-8D29-6812DF16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Добавление стилей. Работа с  CSS-классами.</a:t>
            </a:r>
          </a:p>
        </p:txBody>
      </p:sp>
    </p:spTree>
    <p:extLst>
      <p:ext uri="{BB962C8B-B14F-4D97-AF65-F5344CB8AC3E}">
        <p14:creationId xmlns:p14="http://schemas.microsoft.com/office/powerpoint/2010/main" val="3293009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15569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400" dirty="0" err="1">
                <a:solidFill>
                  <a:srgbClr val="FFFF00"/>
                </a:solidFill>
              </a:rPr>
              <a:t>className</a:t>
            </a:r>
            <a:r>
              <a:rPr lang="en-US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rgbClr val="FFFF00"/>
                </a:solidFill>
              </a:rPr>
              <a:t>и </a:t>
            </a:r>
            <a:r>
              <a:rPr lang="en-US" altLang="ru-RU" sz="1400" dirty="0" err="1">
                <a:solidFill>
                  <a:srgbClr val="FFFF00"/>
                </a:solidFill>
              </a:rPr>
              <a:t>classList</a:t>
            </a:r>
            <a:endParaRPr lang="ru-RU" altLang="ru-RU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chemeClr val="tx1"/>
                </a:solidFill>
              </a:rPr>
              <a:t>Изменение класса является одним из наиболее часто используемых действий в скриптах. Для классов было введено свойство "</a:t>
            </a:r>
            <a:r>
              <a:rPr lang="ru-RU" sz="1400" dirty="0" err="1">
                <a:solidFill>
                  <a:schemeClr val="tx1"/>
                </a:solidFill>
              </a:rPr>
              <a:t>className</a:t>
            </a:r>
            <a:r>
              <a:rPr lang="ru-RU" sz="1400" dirty="0">
                <a:solidFill>
                  <a:schemeClr val="tx1"/>
                </a:solidFill>
              </a:rPr>
              <a:t>".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/>
              <a:t>Например: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/>
              <a:t>&lt;</a:t>
            </a:r>
            <a:r>
              <a:rPr lang="en-US" sz="1400" dirty="0">
                <a:solidFill>
                  <a:srgbClr val="92D050"/>
                </a:solidFill>
              </a:rPr>
              <a:t>body</a:t>
            </a:r>
            <a:r>
              <a:rPr lang="en-US" sz="1400" dirty="0"/>
              <a:t> class="main page"&gt;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&lt;</a:t>
            </a:r>
            <a:r>
              <a:rPr lang="en-US" sz="1400" dirty="0">
                <a:solidFill>
                  <a:srgbClr val="92D050"/>
                </a:solidFill>
              </a:rPr>
              <a:t>script</a:t>
            </a:r>
            <a:r>
              <a:rPr lang="en-US" sz="14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  </a:t>
            </a:r>
            <a:r>
              <a:rPr lang="en-US" sz="1400" dirty="0">
                <a:solidFill>
                  <a:srgbClr val="00B0F0"/>
                </a:solidFill>
              </a:rPr>
              <a:t>alert</a:t>
            </a:r>
            <a:r>
              <a:rPr lang="en-US" sz="1400" dirty="0"/>
              <a:t>(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document</a:t>
            </a:r>
            <a:r>
              <a:rPr lang="en-US" sz="1400" dirty="0" err="1"/>
              <a:t>.body.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className</a:t>
            </a:r>
            <a:r>
              <a:rPr lang="en-US" sz="1400" dirty="0"/>
              <a:t>); </a:t>
            </a:r>
            <a:r>
              <a:rPr lang="en-US" sz="1400" dirty="0">
                <a:solidFill>
                  <a:srgbClr val="FFFF00"/>
                </a:solidFill>
              </a:rPr>
              <a:t>// main page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&lt;/</a:t>
            </a:r>
            <a:r>
              <a:rPr lang="en-US" sz="1400" dirty="0">
                <a:solidFill>
                  <a:srgbClr val="92D050"/>
                </a:solidFill>
              </a:rPr>
              <a:t>script</a:t>
            </a:r>
            <a:r>
              <a:rPr lang="en-US" sz="14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&lt;/</a:t>
            </a:r>
            <a:r>
              <a:rPr lang="en-US" sz="1400" dirty="0">
                <a:solidFill>
                  <a:srgbClr val="92D050"/>
                </a:solidFill>
              </a:rPr>
              <a:t>body</a:t>
            </a:r>
            <a:r>
              <a:rPr lang="en-US" sz="1400" dirty="0"/>
              <a:t>&gt;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/>
              <a:t>Если мы присваиваем что-то </a:t>
            </a:r>
            <a:r>
              <a:rPr lang="ru-RU" sz="1400" dirty="0" err="1">
                <a:solidFill>
                  <a:srgbClr val="FFFF00"/>
                </a:solidFill>
              </a:rPr>
              <a:t>elem.className</a:t>
            </a:r>
            <a:r>
              <a:rPr lang="ru-RU" sz="1400" dirty="0"/>
              <a:t>, то это заменяет всю строку с классами.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/>
              <a:t>Если необходимо добавить/удалить один класс есть другое свойство: </a:t>
            </a:r>
            <a:r>
              <a:rPr lang="ru-RU" sz="1400" dirty="0" err="1">
                <a:solidFill>
                  <a:srgbClr val="FFFF00"/>
                </a:solidFill>
              </a:rPr>
              <a:t>elem.classList</a:t>
            </a:r>
            <a:r>
              <a:rPr lang="ru-RU" sz="14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/>
              <a:t>&lt;</a:t>
            </a:r>
            <a:r>
              <a:rPr lang="en-US" sz="1400" dirty="0">
                <a:solidFill>
                  <a:srgbClr val="92D050"/>
                </a:solidFill>
              </a:rPr>
              <a:t>body</a:t>
            </a:r>
            <a:r>
              <a:rPr lang="en-US" sz="1400" dirty="0"/>
              <a:t> class="main page"&gt;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&lt;</a:t>
            </a:r>
            <a:r>
              <a:rPr lang="en-US" sz="1400" dirty="0">
                <a:solidFill>
                  <a:srgbClr val="92D050"/>
                </a:solidFill>
              </a:rPr>
              <a:t>script</a:t>
            </a:r>
            <a:r>
              <a:rPr lang="en-US" sz="14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 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document</a:t>
            </a:r>
            <a:r>
              <a:rPr lang="en-US" sz="1400" dirty="0" err="1"/>
              <a:t>.body.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classList</a:t>
            </a:r>
            <a:r>
              <a:rPr lang="en-US" sz="1400" dirty="0" err="1"/>
              <a:t>.add</a:t>
            </a:r>
            <a:r>
              <a:rPr lang="en-US" sz="1400" dirty="0"/>
              <a:t>(</a:t>
            </a:r>
            <a:r>
              <a:rPr lang="en-US" sz="1400" dirty="0">
                <a:solidFill>
                  <a:srgbClr val="FFFF00"/>
                </a:solidFill>
              </a:rPr>
              <a:t>'article'</a:t>
            </a:r>
            <a:r>
              <a:rPr lang="en-US" sz="1400" dirty="0"/>
              <a:t>); </a:t>
            </a:r>
            <a:r>
              <a:rPr lang="en-US" sz="1400" dirty="0">
                <a:solidFill>
                  <a:srgbClr val="FFFF00"/>
                </a:solidFill>
              </a:rPr>
              <a:t>// </a:t>
            </a:r>
            <a:r>
              <a:rPr lang="ru-RU" sz="1400" dirty="0">
                <a:solidFill>
                  <a:srgbClr val="FFFF00"/>
                </a:solidFill>
              </a:rPr>
              <a:t>добавление класса</a:t>
            </a:r>
            <a:endParaRPr lang="en-US" sz="1400" dirty="0">
              <a:solidFill>
                <a:srgbClr val="FFFF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  </a:t>
            </a:r>
            <a:r>
              <a:rPr lang="en-US" sz="1400" dirty="0">
                <a:solidFill>
                  <a:srgbClr val="00B0F0"/>
                </a:solidFill>
              </a:rPr>
              <a:t>alert</a:t>
            </a:r>
            <a:r>
              <a:rPr lang="en-US" sz="1400" dirty="0"/>
              <a:t>(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document</a:t>
            </a:r>
            <a:r>
              <a:rPr lang="en-US" sz="1400" dirty="0" err="1"/>
              <a:t>.body.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className</a:t>
            </a:r>
            <a:r>
              <a:rPr lang="en-US" sz="1400" dirty="0"/>
              <a:t>); </a:t>
            </a:r>
            <a:r>
              <a:rPr lang="en-US" sz="1400" dirty="0">
                <a:solidFill>
                  <a:srgbClr val="FFFF00"/>
                </a:solidFill>
              </a:rPr>
              <a:t>// main page article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&lt;/</a:t>
            </a:r>
            <a:r>
              <a:rPr lang="en-US" sz="1400" dirty="0">
                <a:solidFill>
                  <a:srgbClr val="92D050"/>
                </a:solidFill>
              </a:rPr>
              <a:t>script</a:t>
            </a:r>
            <a:r>
              <a:rPr lang="en-US" sz="14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&lt;/</a:t>
            </a:r>
            <a:r>
              <a:rPr lang="en-US" sz="1400" dirty="0">
                <a:solidFill>
                  <a:srgbClr val="92D050"/>
                </a:solidFill>
              </a:rPr>
              <a:t>body</a:t>
            </a:r>
            <a:r>
              <a:rPr lang="en-US" sz="1400" dirty="0"/>
              <a:t>&gt;</a:t>
            </a:r>
            <a:endParaRPr lang="ru-RU" sz="1400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184E8A50-E4FB-4028-AAB4-749B0141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Добавление стилей. Работа с  CSS-классами.</a:t>
            </a:r>
          </a:p>
        </p:txBody>
      </p:sp>
    </p:spTree>
    <p:extLst>
      <p:ext uri="{BB962C8B-B14F-4D97-AF65-F5344CB8AC3E}">
        <p14:creationId xmlns:p14="http://schemas.microsoft.com/office/powerpoint/2010/main" val="1648365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JavaScript </a:t>
            </a:r>
            <a:r>
              <a:rPr lang="ru-RU" sz="1600" dirty="0">
                <a:solidFill>
                  <a:schemeClr val="tx1"/>
                </a:solidFill>
              </a:rPr>
              <a:t>позволяет добавлять и удалять </a:t>
            </a:r>
            <a:r>
              <a:rPr lang="en-US" sz="1600" dirty="0">
                <a:solidFill>
                  <a:schemeClr val="tx1"/>
                </a:solidFill>
              </a:rPr>
              <a:t>CSS-</a:t>
            </a:r>
            <a:r>
              <a:rPr lang="ru-RU" sz="1600" dirty="0">
                <a:solidFill>
                  <a:schemeClr val="tx1"/>
                </a:solidFill>
              </a:rPr>
              <a:t>классы </a:t>
            </a:r>
            <a:r>
              <a:rPr lang="en-US" sz="1600" dirty="0">
                <a:solidFill>
                  <a:schemeClr val="tx1"/>
                </a:solidFill>
              </a:rPr>
              <a:t>HTML-</a:t>
            </a:r>
            <a:r>
              <a:rPr lang="ru-RU" sz="1600" dirty="0">
                <a:solidFill>
                  <a:schemeClr val="tx1"/>
                </a:solidFill>
              </a:rPr>
              <a:t>элементов. Мы можем использовать свойство </a:t>
            </a:r>
            <a:r>
              <a:rPr lang="en-US" sz="1600" dirty="0" err="1">
                <a:solidFill>
                  <a:schemeClr val="tx1"/>
                </a:solidFill>
              </a:rPr>
              <a:t>classList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для этого. Свойство </a:t>
            </a:r>
            <a:r>
              <a:rPr lang="en-US" sz="1600" dirty="0" err="1">
                <a:solidFill>
                  <a:schemeClr val="tx1"/>
                </a:solidFill>
              </a:rPr>
              <a:t>classList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предоставляет следующие методы:</a:t>
            </a:r>
            <a:endParaRPr lang="ru-RU" sz="1600" b="1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00"/>
                </a:solidFill>
              </a:rPr>
              <a:t>add(</a:t>
            </a:r>
            <a:r>
              <a:rPr lang="en-US" sz="1600" dirty="0" err="1">
                <a:solidFill>
                  <a:srgbClr val="FFFF00"/>
                </a:solidFill>
              </a:rPr>
              <a:t>className</a:t>
            </a:r>
            <a:r>
              <a:rPr lang="en-US" sz="1600" dirty="0">
                <a:solidFill>
                  <a:srgbClr val="FFFF00"/>
                </a:solidFill>
              </a:rPr>
              <a:t>): </a:t>
            </a:r>
            <a:r>
              <a:rPr lang="ru-RU" sz="1600" dirty="0">
                <a:solidFill>
                  <a:schemeClr val="tx1"/>
                </a:solidFill>
              </a:rPr>
              <a:t>Добавляет указанный </a:t>
            </a:r>
            <a:r>
              <a:rPr lang="en-US" sz="1600" dirty="0">
                <a:solidFill>
                  <a:schemeClr val="tx1"/>
                </a:solidFill>
              </a:rPr>
              <a:t>CSS-</a:t>
            </a:r>
            <a:r>
              <a:rPr lang="ru-RU" sz="1600" dirty="0">
                <a:solidFill>
                  <a:schemeClr val="tx1"/>
                </a:solidFill>
              </a:rPr>
              <a:t>класс к </a:t>
            </a:r>
            <a:r>
              <a:rPr lang="en-US" sz="1600" dirty="0">
                <a:solidFill>
                  <a:schemeClr val="tx1"/>
                </a:solidFill>
              </a:rPr>
              <a:t>HTML-</a:t>
            </a:r>
            <a:r>
              <a:rPr lang="ru-RU" sz="1600" dirty="0">
                <a:solidFill>
                  <a:schemeClr val="tx1"/>
                </a:solidFill>
              </a:rPr>
              <a:t>элементу.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00"/>
                </a:solidFill>
              </a:rPr>
              <a:t>remove(</a:t>
            </a:r>
            <a:r>
              <a:rPr lang="en-US" sz="1600" dirty="0" err="1">
                <a:solidFill>
                  <a:srgbClr val="FFFF00"/>
                </a:solidFill>
              </a:rPr>
              <a:t>className</a:t>
            </a:r>
            <a:r>
              <a:rPr lang="en-US" sz="1600" dirty="0">
                <a:solidFill>
                  <a:srgbClr val="FFFF00"/>
                </a:solidFill>
              </a:rPr>
              <a:t>): </a:t>
            </a:r>
            <a:r>
              <a:rPr lang="ru-RU" sz="1600" dirty="0">
                <a:solidFill>
                  <a:schemeClr val="tx1"/>
                </a:solidFill>
              </a:rPr>
              <a:t>Удаляет указанный </a:t>
            </a:r>
            <a:r>
              <a:rPr lang="en-US" sz="1600" dirty="0">
                <a:solidFill>
                  <a:schemeClr val="tx1"/>
                </a:solidFill>
              </a:rPr>
              <a:t>CSS-</a:t>
            </a:r>
            <a:r>
              <a:rPr lang="ru-RU" sz="1600" dirty="0">
                <a:solidFill>
                  <a:schemeClr val="tx1"/>
                </a:solidFill>
              </a:rPr>
              <a:t>класс из </a:t>
            </a:r>
            <a:r>
              <a:rPr lang="en-US" sz="1600" dirty="0">
                <a:solidFill>
                  <a:schemeClr val="tx1"/>
                </a:solidFill>
              </a:rPr>
              <a:t>HTML-</a:t>
            </a:r>
            <a:r>
              <a:rPr lang="ru-RU" sz="1600" dirty="0">
                <a:solidFill>
                  <a:schemeClr val="tx1"/>
                </a:solidFill>
              </a:rPr>
              <a:t>элемента.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00"/>
                </a:solidFill>
              </a:rPr>
              <a:t>toggle(</a:t>
            </a:r>
            <a:r>
              <a:rPr lang="en-US" sz="1600" dirty="0" err="1">
                <a:solidFill>
                  <a:srgbClr val="FFFF00"/>
                </a:solidFill>
              </a:rPr>
              <a:t>className</a:t>
            </a:r>
            <a:r>
              <a:rPr lang="en-US" sz="1600" dirty="0">
                <a:solidFill>
                  <a:srgbClr val="FFFF00"/>
                </a:solidFill>
              </a:rPr>
              <a:t>): </a:t>
            </a:r>
            <a:r>
              <a:rPr lang="ru-RU" sz="1600" dirty="0">
                <a:solidFill>
                  <a:schemeClr val="tx1"/>
                </a:solidFill>
              </a:rPr>
              <a:t>Переключает указанный </a:t>
            </a:r>
            <a:r>
              <a:rPr lang="en-US" sz="1600" dirty="0">
                <a:solidFill>
                  <a:schemeClr val="tx1"/>
                </a:solidFill>
              </a:rPr>
              <a:t>CSS-</a:t>
            </a:r>
            <a:r>
              <a:rPr lang="ru-RU" sz="1600" dirty="0">
                <a:solidFill>
                  <a:schemeClr val="tx1"/>
                </a:solidFill>
              </a:rPr>
              <a:t>класс между добавлением и удалением.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00"/>
                </a:solidFill>
              </a:rPr>
              <a:t>contains(</a:t>
            </a:r>
            <a:r>
              <a:rPr lang="en-US" sz="1600" dirty="0" err="1">
                <a:solidFill>
                  <a:srgbClr val="FFFF00"/>
                </a:solidFill>
              </a:rPr>
              <a:t>className</a:t>
            </a:r>
            <a:r>
              <a:rPr lang="en-US" sz="1600" dirty="0">
                <a:solidFill>
                  <a:srgbClr val="FFFF00"/>
                </a:solidFill>
              </a:rPr>
              <a:t>): </a:t>
            </a:r>
            <a:r>
              <a:rPr lang="ru-RU" sz="1600" dirty="0">
                <a:solidFill>
                  <a:schemeClr val="tx1"/>
                </a:solidFill>
              </a:rPr>
              <a:t>Возвращает </a:t>
            </a:r>
            <a:r>
              <a:rPr lang="en-US" sz="1600" dirty="0">
                <a:solidFill>
                  <a:schemeClr val="tx1"/>
                </a:solidFill>
              </a:rPr>
              <a:t>true, </a:t>
            </a:r>
            <a:r>
              <a:rPr lang="ru-RU" sz="1600" dirty="0">
                <a:solidFill>
                  <a:schemeClr val="tx1"/>
                </a:solidFill>
              </a:rPr>
              <a:t>если </a:t>
            </a:r>
            <a:r>
              <a:rPr lang="en-US" sz="1600" dirty="0">
                <a:solidFill>
                  <a:schemeClr val="tx1"/>
                </a:solidFill>
              </a:rPr>
              <a:t>HTML-</a:t>
            </a:r>
            <a:r>
              <a:rPr lang="ru-RU" sz="1600" dirty="0">
                <a:solidFill>
                  <a:schemeClr val="tx1"/>
                </a:solidFill>
              </a:rPr>
              <a:t>элемент содержит указанный </a:t>
            </a:r>
            <a:r>
              <a:rPr lang="en-US" sz="1600" dirty="0">
                <a:solidFill>
                  <a:schemeClr val="tx1"/>
                </a:solidFill>
              </a:rPr>
              <a:t>CSS-</a:t>
            </a:r>
            <a:r>
              <a:rPr lang="ru-RU" sz="1600" dirty="0">
                <a:solidFill>
                  <a:schemeClr val="tx1"/>
                </a:solidFill>
              </a:rPr>
              <a:t>класс, иначе </a:t>
            </a:r>
            <a:r>
              <a:rPr lang="en-US" sz="1600" dirty="0">
                <a:solidFill>
                  <a:schemeClr val="tx1"/>
                </a:solidFill>
              </a:rPr>
              <a:t>false.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containerDiv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rgbClr val="4EC9B0"/>
                </a:solidFill>
                <a:latin typeface="Consolas" panose="020B0609020204030204" pitchFamily="49" charset="0"/>
              </a:rPr>
              <a:t>document</a:t>
            </a:r>
            <a:r>
              <a:rPr lang="ru-RU" altLang="ru-RU" sz="16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querySelector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600" dirty="0">
                <a:solidFill>
                  <a:srgbClr val="D69D85"/>
                </a:solidFill>
                <a:latin typeface="Consolas" panose="020B0609020204030204" pitchFamily="49" charset="0"/>
              </a:rPr>
              <a:t>'.</a:t>
            </a:r>
            <a:r>
              <a:rPr lang="ru-RU" altLang="ru-RU" sz="1600" dirty="0" err="1">
                <a:solidFill>
                  <a:srgbClr val="D69D85"/>
                </a:solidFill>
                <a:latin typeface="Consolas" panose="020B0609020204030204" pitchFamily="49" charset="0"/>
              </a:rPr>
              <a:t>container</a:t>
            </a:r>
            <a:r>
              <a:rPr lang="ru-RU" altLang="ru-RU" sz="1600" dirty="0">
                <a:solidFill>
                  <a:srgbClr val="D69D85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);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containerDiv.classList.add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600" dirty="0">
                <a:solidFill>
                  <a:srgbClr val="D69D85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600" dirty="0" err="1">
                <a:solidFill>
                  <a:srgbClr val="D69D85"/>
                </a:solidFill>
                <a:latin typeface="Consolas" panose="020B0609020204030204" pitchFamily="49" charset="0"/>
              </a:rPr>
              <a:t>active</a:t>
            </a:r>
            <a:r>
              <a:rPr lang="ru-RU" altLang="ru-RU" sz="1600" dirty="0">
                <a:solidFill>
                  <a:srgbClr val="D69D85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</a:rPr>
              <a:t>);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ru-RU" sz="1400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A250DCF-34B6-4BC6-8263-BA0C485FE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Добавление стилей. Работа с  CSS-классами.</a:t>
            </a:r>
          </a:p>
        </p:txBody>
      </p:sp>
    </p:spTree>
    <p:extLst>
      <p:ext uri="{BB962C8B-B14F-4D97-AF65-F5344CB8AC3E}">
        <p14:creationId xmlns:p14="http://schemas.microsoft.com/office/powerpoint/2010/main" val="3954200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ru-RU" sz="1600" dirty="0">
                <a:solidFill>
                  <a:schemeClr val="tx1"/>
                </a:solidFill>
              </a:rPr>
              <a:t>Кроме того, </a:t>
            </a:r>
            <a:r>
              <a:rPr lang="en-US" sz="1600" dirty="0" err="1">
                <a:solidFill>
                  <a:srgbClr val="FFFF00"/>
                </a:solidFill>
              </a:rPr>
              <a:t>classList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является перебираемым, поэтому можно перечислить все классы при помощи </a:t>
            </a:r>
            <a:r>
              <a:rPr lang="en-US" sz="1600" dirty="0" err="1">
                <a:solidFill>
                  <a:srgbClr val="FFFF00"/>
                </a:solidFill>
              </a:rPr>
              <a:t>for..of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92D050"/>
                </a:solidFill>
                <a:latin typeface="Consolas" panose="020B0609020204030204" pitchFamily="49" charset="0"/>
              </a:rPr>
              <a:t>body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class="main page"&gt;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&lt;</a:t>
            </a:r>
            <a:r>
              <a:rPr lang="en-US" sz="1600" dirty="0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name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.body.</a:t>
            </a:r>
            <a:r>
              <a:rPr lang="en-US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classList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(name); 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// main, </a:t>
            </a:r>
            <a:r>
              <a:rPr 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затем 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page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&lt;/</a:t>
            </a:r>
            <a:r>
              <a:rPr lang="en-US" sz="1600" dirty="0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92D050"/>
                </a:solidFill>
                <a:latin typeface="Consolas" panose="020B0609020204030204" pitchFamily="49" charset="0"/>
              </a:rPr>
              <a:t>body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ru-RU" sz="1400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FF6E499-6816-4EDC-B97B-68C4229DA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Добавление стилей. Работа с  CSS-классами.</a:t>
            </a:r>
          </a:p>
        </p:txBody>
      </p:sp>
    </p:spTree>
    <p:extLst>
      <p:ext uri="{BB962C8B-B14F-4D97-AF65-F5344CB8AC3E}">
        <p14:creationId xmlns:p14="http://schemas.microsoft.com/office/powerpoint/2010/main" val="3363571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rgbClr val="FFFF00"/>
                </a:solidFill>
              </a:rPr>
              <a:t>Свойство </a:t>
            </a:r>
            <a:r>
              <a:rPr lang="en-US" sz="1600" dirty="0">
                <a:solidFill>
                  <a:srgbClr val="FFFF00"/>
                </a:solidFill>
              </a:rPr>
              <a:t>style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Свойство </a:t>
            </a:r>
            <a:r>
              <a:rPr lang="en-US" sz="1600" dirty="0" err="1">
                <a:solidFill>
                  <a:srgbClr val="FFFF00"/>
                </a:solidFill>
              </a:rPr>
              <a:t>elem.style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– </a:t>
            </a:r>
            <a:r>
              <a:rPr lang="ru-RU" sz="1600" dirty="0">
                <a:solidFill>
                  <a:schemeClr val="tx1"/>
                </a:solidFill>
              </a:rPr>
              <a:t>это объект, который соответствует тому, что написано в атрибуте "</a:t>
            </a:r>
            <a:r>
              <a:rPr lang="en-US" sz="1600" dirty="0">
                <a:solidFill>
                  <a:srgbClr val="FFFF00"/>
                </a:solidFill>
              </a:rPr>
              <a:t>style</a:t>
            </a:r>
            <a:r>
              <a:rPr lang="en-US" sz="1600" dirty="0">
                <a:solidFill>
                  <a:schemeClr val="tx1"/>
                </a:solidFill>
              </a:rPr>
              <a:t>".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tx1"/>
                </a:solidFill>
              </a:rPr>
              <a:t>Свойства из одного слова записываются так же, с маленькой буквы: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background  =&gt; </a:t>
            </a:r>
            <a:r>
              <a:rPr lang="en-US" sz="1600" dirty="0" err="1">
                <a:solidFill>
                  <a:srgbClr val="FFFF00"/>
                </a:solidFill>
              </a:rPr>
              <a:t>elem.style.background</a:t>
            </a:r>
            <a:endParaRPr lang="en-US" sz="1600" dirty="0">
              <a:solidFill>
                <a:srgbClr val="FFFF00"/>
              </a:solidFill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top =&gt; </a:t>
            </a:r>
            <a:r>
              <a:rPr lang="en-US" sz="1600" dirty="0" err="1">
                <a:solidFill>
                  <a:srgbClr val="FFFF00"/>
                </a:solidFill>
              </a:rPr>
              <a:t>elem.style.top</a:t>
            </a:r>
            <a:endParaRPr lang="en-US" sz="1600" dirty="0">
              <a:solidFill>
                <a:srgbClr val="FFFF00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opacity =&gt; </a:t>
            </a:r>
            <a:r>
              <a:rPr lang="en-US" sz="1600" dirty="0" err="1">
                <a:solidFill>
                  <a:srgbClr val="FFFF00"/>
                </a:solidFill>
              </a:rPr>
              <a:t>elem.style.opacity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Для свойств из нескольких слов используется </a:t>
            </a:r>
            <a:r>
              <a:rPr lang="en-US" sz="1600" dirty="0">
                <a:solidFill>
                  <a:schemeClr val="tx1"/>
                </a:solidFill>
              </a:rPr>
              <a:t>camelCase: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background-color  =&gt; </a:t>
            </a:r>
            <a:r>
              <a:rPr lang="en-US" sz="1600" dirty="0" err="1">
                <a:solidFill>
                  <a:srgbClr val="FFFF00"/>
                </a:solidFill>
              </a:rPr>
              <a:t>elem.style.backgroundColor</a:t>
            </a:r>
            <a:endParaRPr lang="en-US" sz="1600" dirty="0">
              <a:solidFill>
                <a:srgbClr val="FFFF00"/>
              </a:solidFill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z-index =&gt; </a:t>
            </a:r>
            <a:r>
              <a:rPr lang="en-US" sz="1600" dirty="0" err="1">
                <a:solidFill>
                  <a:srgbClr val="FFFF00"/>
                </a:solidFill>
              </a:rPr>
              <a:t>elem.style.zIndex</a:t>
            </a:r>
            <a:endParaRPr lang="en-US" sz="1600" dirty="0">
              <a:solidFill>
                <a:srgbClr val="FFFF00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border-left-width =&gt; </a:t>
            </a:r>
            <a:r>
              <a:rPr lang="en-US" sz="1600" dirty="0" err="1">
                <a:solidFill>
                  <a:srgbClr val="FFFF00"/>
                </a:solidFill>
              </a:rPr>
              <a:t>elem.style.borderLeftWidth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Например: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.body.</a:t>
            </a:r>
            <a:r>
              <a:rPr lang="en-US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style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.backgroundColor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prompt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'background color?'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'green'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endParaRPr 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ru-RU" sz="1400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FFA62473-6595-40B3-886E-227B6E543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Добавление стилей. Работа с  CSS-классами.</a:t>
            </a:r>
          </a:p>
        </p:txBody>
      </p:sp>
    </p:spTree>
    <p:extLst>
      <p:ext uri="{BB962C8B-B14F-4D97-AF65-F5344CB8AC3E}">
        <p14:creationId xmlns:p14="http://schemas.microsoft.com/office/powerpoint/2010/main" val="3986395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Сброс стилей</a:t>
            </a:r>
            <a:endParaRPr lang="en-US" altLang="ru-RU" sz="1600" dirty="0">
              <a:solidFill>
                <a:srgbClr val="FFFF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Иногда нужно добавить свойство стиля, а потом, позже, убрать его.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Например, чтобы скрыть элемент, можно задать </a:t>
            </a:r>
            <a:r>
              <a:rPr lang="ru-RU" altLang="ru-RU" sz="1600" dirty="0" err="1">
                <a:solidFill>
                  <a:srgbClr val="FFFF00"/>
                </a:solidFill>
              </a:rPr>
              <a:t>elem.style.display</a:t>
            </a:r>
            <a:r>
              <a:rPr lang="ru-RU" altLang="ru-RU" sz="1600" dirty="0">
                <a:solidFill>
                  <a:srgbClr val="FFFF00"/>
                </a:solidFill>
              </a:rPr>
              <a:t> = "</a:t>
            </a:r>
            <a:r>
              <a:rPr lang="ru-RU" altLang="ru-RU" sz="1600" dirty="0" err="1">
                <a:solidFill>
                  <a:srgbClr val="FFFF00"/>
                </a:solidFill>
              </a:rPr>
              <a:t>none</a:t>
            </a:r>
            <a:r>
              <a:rPr lang="ru-RU" altLang="ru-RU" sz="1600" dirty="0">
                <a:solidFill>
                  <a:srgbClr val="FFFF00"/>
                </a:solidFill>
              </a:rPr>
              <a:t>".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Затем можно удалить свойство </a:t>
            </a:r>
            <a:r>
              <a:rPr lang="ru-RU" altLang="ru-RU" sz="1600" dirty="0" err="1">
                <a:solidFill>
                  <a:schemeClr val="tx1"/>
                </a:solidFill>
              </a:rPr>
              <a:t>style.display</a:t>
            </a:r>
            <a:r>
              <a:rPr lang="ru-RU" altLang="ru-RU" sz="1600" dirty="0">
                <a:solidFill>
                  <a:schemeClr val="tx1"/>
                </a:solidFill>
              </a:rPr>
              <a:t>, чтобы вернуться к первоначальному состоянию.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Вместо </a:t>
            </a:r>
            <a:r>
              <a:rPr lang="ru-RU" altLang="ru-RU" sz="1600" dirty="0" err="1">
                <a:solidFill>
                  <a:schemeClr val="tx1"/>
                </a:solidFill>
              </a:rPr>
              <a:t>delete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</a:rPr>
              <a:t>elem.style.display</a:t>
            </a:r>
            <a:r>
              <a:rPr lang="ru-RU" altLang="ru-RU" sz="1600" dirty="0">
                <a:solidFill>
                  <a:schemeClr val="tx1"/>
                </a:solidFill>
              </a:rPr>
              <a:t> должны присвоить ему пустую строку: </a:t>
            </a:r>
            <a:r>
              <a:rPr lang="ru-RU" altLang="ru-RU" sz="1600" dirty="0" err="1">
                <a:solidFill>
                  <a:schemeClr val="tx1"/>
                </a:solidFill>
              </a:rPr>
              <a:t>elem.style.display</a:t>
            </a:r>
            <a:r>
              <a:rPr lang="ru-RU" altLang="ru-RU" sz="1600" dirty="0">
                <a:solidFill>
                  <a:schemeClr val="tx1"/>
                </a:solidFill>
              </a:rPr>
              <a:t> = "".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Например: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sz="1600" dirty="0" err="1">
                <a:latin typeface="Consolas" panose="020B0609020204030204" pitchFamily="49" charset="0"/>
              </a:rPr>
              <a:t>.body.</a:t>
            </a:r>
            <a:r>
              <a:rPr lang="en-US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style</a:t>
            </a:r>
            <a:r>
              <a:rPr lang="en-US" sz="1600" dirty="0" err="1">
                <a:latin typeface="Consolas" panose="020B0609020204030204" pitchFamily="49" charset="0"/>
              </a:rPr>
              <a:t>.display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"none"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 // </a:t>
            </a:r>
            <a:r>
              <a:rPr 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скрыть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 err="1">
                <a:latin typeface="Consolas" panose="020B0609020204030204" pitchFamily="49" charset="0"/>
              </a:rPr>
              <a:t>setTimeout</a:t>
            </a:r>
            <a:r>
              <a:rPr lang="en-US" sz="1600" dirty="0">
                <a:latin typeface="Consolas" panose="020B0609020204030204" pitchFamily="49" charset="0"/>
              </a:rPr>
              <a:t>(() =&gt; </a:t>
            </a:r>
            <a:r>
              <a:rPr lang="en-US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sz="1600" dirty="0" err="1">
                <a:latin typeface="Consolas" panose="020B0609020204030204" pitchFamily="49" charset="0"/>
              </a:rPr>
              <a:t>.body.</a:t>
            </a:r>
            <a:r>
              <a:rPr lang="en-US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style</a:t>
            </a:r>
            <a:r>
              <a:rPr lang="en-US" sz="1600" dirty="0" err="1">
                <a:latin typeface="Consolas" panose="020B0609020204030204" pitchFamily="49" charset="0"/>
              </a:rPr>
              <a:t>.display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""</a:t>
            </a:r>
            <a:r>
              <a:rPr lang="en-US" sz="1600" dirty="0">
                <a:latin typeface="Consolas" panose="020B0609020204030204" pitchFamily="49" charset="0"/>
              </a:rPr>
              <a:t>, 1000); 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возврат к нормальному состоянию</a:t>
            </a:r>
            <a:endParaRPr lang="en-US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Если установить в </a:t>
            </a:r>
            <a:r>
              <a:rPr lang="ru-RU" altLang="ru-RU" sz="1600" dirty="0" err="1">
                <a:solidFill>
                  <a:schemeClr val="tx1"/>
                </a:solidFill>
              </a:rPr>
              <a:t>style.display</a:t>
            </a:r>
            <a:r>
              <a:rPr lang="ru-RU" altLang="ru-RU" sz="1600" dirty="0">
                <a:solidFill>
                  <a:schemeClr val="tx1"/>
                </a:solidFill>
              </a:rPr>
              <a:t> пустую строку, то браузер применит CSS-классы и встроенные стили, как если бы такого свойства </a:t>
            </a:r>
            <a:r>
              <a:rPr lang="ru-RU" altLang="ru-RU" sz="1600" dirty="0" err="1">
                <a:solidFill>
                  <a:schemeClr val="tx1"/>
                </a:solidFill>
              </a:rPr>
              <a:t>style.display</a:t>
            </a:r>
            <a:r>
              <a:rPr lang="ru-RU" altLang="ru-RU" sz="1600" dirty="0">
                <a:solidFill>
                  <a:schemeClr val="tx1"/>
                </a:solidFill>
              </a:rPr>
              <a:t> вообще не было. </a:t>
            </a:r>
          </a:p>
          <a:p>
            <a:pPr marL="0" indent="0">
              <a:spcBef>
                <a:spcPts val="0"/>
              </a:spcBef>
              <a:buNone/>
            </a:pPr>
            <a:endParaRPr lang="ru-RU" sz="1400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D7CF258-6239-4D1D-9233-177B79FB1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Добавление стилей. Работа с  CSS-классами.</a:t>
            </a:r>
          </a:p>
        </p:txBody>
      </p:sp>
    </p:spTree>
    <p:extLst>
      <p:ext uri="{BB962C8B-B14F-4D97-AF65-F5344CB8AC3E}">
        <p14:creationId xmlns:p14="http://schemas.microsoft.com/office/powerpoint/2010/main" val="3431183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rgbClr val="FFFF00"/>
                </a:solidFill>
              </a:rPr>
              <a:t>Вычисленные стили: </a:t>
            </a:r>
            <a:r>
              <a:rPr lang="en-US" sz="1600" dirty="0" err="1">
                <a:solidFill>
                  <a:srgbClr val="FFFF00"/>
                </a:solidFill>
              </a:rPr>
              <a:t>getComputedStyle</a:t>
            </a:r>
            <a:endParaRPr lang="ru-RU" sz="1600" dirty="0">
              <a:solidFill>
                <a:srgbClr val="FFFF00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Как прочитать значение стиля?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И</a:t>
            </a:r>
            <a:r>
              <a:rPr lang="ru-RU" altLang="ru-RU" sz="1600" dirty="0">
                <a:solidFill>
                  <a:schemeClr val="tx1"/>
                </a:solidFill>
              </a:rPr>
              <a:t>спользуя </a:t>
            </a:r>
            <a:r>
              <a:rPr lang="ru-RU" altLang="ru-RU" sz="1600" dirty="0" err="1">
                <a:solidFill>
                  <a:srgbClr val="FFFF00"/>
                </a:solidFill>
              </a:rPr>
              <a:t>elem.style</a:t>
            </a:r>
            <a:r>
              <a:rPr lang="ru-RU" altLang="ru-RU" sz="1600" dirty="0">
                <a:solidFill>
                  <a:schemeClr val="tx1"/>
                </a:solidFill>
              </a:rPr>
              <a:t>, мы не можем прочитать ничего, что приходит из классов CSS.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&lt;</a:t>
            </a:r>
            <a:r>
              <a:rPr lang="en-US" sz="1600" dirty="0">
                <a:solidFill>
                  <a:srgbClr val="92D050"/>
                </a:solidFill>
              </a:rPr>
              <a:t>head</a:t>
            </a:r>
            <a:r>
              <a:rPr lang="en-US" sz="1600" dirty="0">
                <a:solidFill>
                  <a:schemeClr val="tx1"/>
                </a:solidFill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  &lt;</a:t>
            </a:r>
            <a:r>
              <a:rPr lang="en-US" sz="1600" dirty="0">
                <a:solidFill>
                  <a:srgbClr val="92D050"/>
                </a:solidFill>
              </a:rPr>
              <a:t>style</a:t>
            </a:r>
            <a:r>
              <a:rPr lang="en-US" sz="1600" dirty="0">
                <a:solidFill>
                  <a:schemeClr val="tx1"/>
                </a:solidFill>
              </a:rPr>
              <a:t>&gt; body { color: red; margin: 5px } &lt;/</a:t>
            </a:r>
            <a:r>
              <a:rPr lang="en-US" sz="1600" dirty="0">
                <a:solidFill>
                  <a:srgbClr val="92D050"/>
                </a:solidFill>
              </a:rPr>
              <a:t>style</a:t>
            </a:r>
            <a:r>
              <a:rPr lang="en-US" sz="1600" dirty="0">
                <a:solidFill>
                  <a:schemeClr val="tx1"/>
                </a:solidFill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&lt;/</a:t>
            </a:r>
            <a:r>
              <a:rPr lang="en-US" sz="1600" dirty="0">
                <a:solidFill>
                  <a:srgbClr val="92D050"/>
                </a:solidFill>
              </a:rPr>
              <a:t>head</a:t>
            </a:r>
            <a:r>
              <a:rPr lang="en-US" sz="1600" dirty="0">
                <a:solidFill>
                  <a:schemeClr val="tx1"/>
                </a:solidFill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&lt;</a:t>
            </a:r>
            <a:r>
              <a:rPr lang="en-US" sz="1600" dirty="0">
                <a:solidFill>
                  <a:srgbClr val="92D050"/>
                </a:solidFill>
              </a:rPr>
              <a:t>body</a:t>
            </a:r>
            <a:r>
              <a:rPr lang="en-US" sz="1600" dirty="0">
                <a:solidFill>
                  <a:schemeClr val="tx1"/>
                </a:solidFill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FFFF00"/>
                </a:solidFill>
              </a:rPr>
              <a:t>  </a:t>
            </a:r>
            <a:r>
              <a:rPr lang="ru-RU" sz="1600" dirty="0">
                <a:solidFill>
                  <a:srgbClr val="FFFF00"/>
                </a:solidFill>
              </a:rPr>
              <a:t>Красный текст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tx1"/>
                </a:solidFill>
              </a:rPr>
              <a:t>  &lt;</a:t>
            </a:r>
            <a:r>
              <a:rPr lang="en-US" sz="1600" dirty="0">
                <a:solidFill>
                  <a:srgbClr val="92D050"/>
                </a:solidFill>
              </a:rPr>
              <a:t>script</a:t>
            </a:r>
            <a:r>
              <a:rPr lang="en-US" sz="1600" dirty="0">
                <a:solidFill>
                  <a:schemeClr val="tx1"/>
                </a:solidFill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    </a:t>
            </a:r>
            <a:r>
              <a:rPr lang="en-US" sz="1600" dirty="0">
                <a:solidFill>
                  <a:srgbClr val="00B0F0"/>
                </a:solidFill>
              </a:rPr>
              <a:t>alert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document</a:t>
            </a:r>
            <a:r>
              <a:rPr lang="en-US" sz="1600" dirty="0" err="1">
                <a:solidFill>
                  <a:schemeClr val="tx1"/>
                </a:solidFill>
              </a:rPr>
              <a:t>.body.</a:t>
            </a:r>
            <a:r>
              <a:rPr lang="en-US" sz="16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style</a:t>
            </a:r>
            <a:r>
              <a:rPr lang="en-US" sz="1600" dirty="0" err="1">
                <a:solidFill>
                  <a:schemeClr val="tx1"/>
                </a:solidFill>
              </a:rPr>
              <a:t>.color</a:t>
            </a:r>
            <a:r>
              <a:rPr lang="en-US" sz="1600" dirty="0">
                <a:solidFill>
                  <a:schemeClr val="tx1"/>
                </a:solidFill>
              </a:rPr>
              <a:t>); </a:t>
            </a:r>
            <a:r>
              <a:rPr lang="en-US" sz="1600" dirty="0">
                <a:solidFill>
                  <a:srgbClr val="FFFF00"/>
                </a:solidFill>
              </a:rPr>
              <a:t>// </a:t>
            </a:r>
            <a:r>
              <a:rPr lang="ru-RU" sz="1600" dirty="0">
                <a:solidFill>
                  <a:srgbClr val="FFFF00"/>
                </a:solidFill>
              </a:rPr>
              <a:t>пусто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tx1"/>
                </a:solidFill>
              </a:rPr>
              <a:t>    </a:t>
            </a:r>
            <a:r>
              <a:rPr lang="en-US" sz="1600" dirty="0">
                <a:solidFill>
                  <a:srgbClr val="00B0F0"/>
                </a:solidFill>
              </a:rPr>
              <a:t>alert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document</a:t>
            </a:r>
            <a:r>
              <a:rPr lang="en-US" sz="1600" dirty="0" err="1">
                <a:solidFill>
                  <a:schemeClr val="tx1"/>
                </a:solidFill>
              </a:rPr>
              <a:t>.body.</a:t>
            </a:r>
            <a:r>
              <a:rPr lang="en-US" sz="16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style</a:t>
            </a:r>
            <a:r>
              <a:rPr lang="en-US" sz="1600" dirty="0" err="1">
                <a:solidFill>
                  <a:schemeClr val="tx1"/>
                </a:solidFill>
              </a:rPr>
              <a:t>.marginTop</a:t>
            </a:r>
            <a:r>
              <a:rPr lang="en-US" sz="1600" dirty="0">
                <a:solidFill>
                  <a:schemeClr val="tx1"/>
                </a:solidFill>
              </a:rPr>
              <a:t>); </a:t>
            </a:r>
            <a:r>
              <a:rPr lang="en-US" sz="1600" dirty="0">
                <a:solidFill>
                  <a:srgbClr val="FFFF00"/>
                </a:solidFill>
              </a:rPr>
              <a:t>// </a:t>
            </a:r>
            <a:r>
              <a:rPr lang="ru-RU" sz="1600" dirty="0">
                <a:solidFill>
                  <a:srgbClr val="FFFF00"/>
                </a:solidFill>
              </a:rPr>
              <a:t>пусто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tx1"/>
                </a:solidFill>
              </a:rPr>
              <a:t>  &lt;/</a:t>
            </a:r>
            <a:r>
              <a:rPr lang="en-US" sz="1600" dirty="0">
                <a:solidFill>
                  <a:srgbClr val="92D050"/>
                </a:solidFill>
              </a:rPr>
              <a:t>script</a:t>
            </a:r>
            <a:r>
              <a:rPr lang="en-US" sz="1600" dirty="0">
                <a:solidFill>
                  <a:schemeClr val="tx1"/>
                </a:solidFill>
              </a:rPr>
              <a:t>&gt;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&lt;/</a:t>
            </a:r>
            <a:r>
              <a:rPr lang="en-US" sz="1600" dirty="0">
                <a:solidFill>
                  <a:srgbClr val="92D050"/>
                </a:solidFill>
              </a:rPr>
              <a:t>body</a:t>
            </a:r>
            <a:r>
              <a:rPr lang="en-US" sz="1600" dirty="0">
                <a:solidFill>
                  <a:schemeClr val="tx1"/>
                </a:solidFill>
              </a:rPr>
              <a:t>&gt;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Но что, если нужно, увеличить отступ на 20px? Для начала нужно его текущее значение получить.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65FCC50-4FE8-4F53-A453-3FF58F67D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Добавление стилей. Работа с  CSS-классами.</a:t>
            </a:r>
          </a:p>
        </p:txBody>
      </p:sp>
    </p:spTree>
    <p:extLst>
      <p:ext uri="{BB962C8B-B14F-4D97-AF65-F5344CB8AC3E}">
        <p14:creationId xmlns:p14="http://schemas.microsoft.com/office/powerpoint/2010/main" val="32054024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chemeClr val="tx1"/>
                </a:solidFill>
              </a:rPr>
              <a:t>Для получения значения стиля есть метод: </a:t>
            </a:r>
            <a:r>
              <a:rPr lang="ru-RU" sz="1400" dirty="0" err="1">
                <a:solidFill>
                  <a:srgbClr val="FFFF00"/>
                </a:solidFill>
              </a:rPr>
              <a:t>getComputedStyle</a:t>
            </a:r>
            <a:endParaRPr lang="ru-RU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chemeClr val="tx1"/>
                </a:solidFill>
              </a:rPr>
              <a:t>Синтаксис: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getComputedStyle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(element, [pseudo])</a:t>
            </a:r>
            <a:endParaRPr lang="ru-RU" altLang="ru-RU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b="1" dirty="0" err="1">
                <a:solidFill>
                  <a:srgbClr val="FFFF00"/>
                </a:solidFill>
              </a:rPr>
              <a:t>element</a:t>
            </a:r>
            <a:endParaRPr lang="ru-RU" altLang="ru-RU" sz="1400" b="1" dirty="0">
              <a:solidFill>
                <a:srgbClr val="FFFF00"/>
              </a:solidFill>
            </a:endParaRPr>
          </a:p>
          <a:p>
            <a:pPr marL="457200" lvl="1" indent="-4572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Элемент, значения для которого нужно получить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b="1" dirty="0" err="1">
                <a:solidFill>
                  <a:srgbClr val="FFFF00"/>
                </a:solidFill>
              </a:rPr>
              <a:t>pseudo</a:t>
            </a:r>
            <a:endParaRPr lang="ru-RU" altLang="ru-RU" sz="1400" b="1" dirty="0">
              <a:solidFill>
                <a:srgbClr val="FFFF00"/>
              </a:solidFill>
            </a:endParaRPr>
          </a:p>
          <a:p>
            <a:pPr marL="157162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Указывается, если нужен стиль </a:t>
            </a:r>
            <a:r>
              <a:rPr lang="ru-RU" altLang="ru-RU" sz="1400" dirty="0" err="1">
                <a:solidFill>
                  <a:srgbClr val="E2E3E7"/>
                </a:solidFill>
              </a:rPr>
              <a:t>псевдоэлемента</a:t>
            </a:r>
            <a:r>
              <a:rPr lang="ru-RU" altLang="ru-RU" sz="1400" dirty="0">
                <a:solidFill>
                  <a:srgbClr val="E2E3E7"/>
                </a:solidFill>
              </a:rPr>
              <a:t>, например ::</a:t>
            </a:r>
            <a:r>
              <a:rPr lang="ru-RU" altLang="ru-RU" sz="1400" dirty="0" err="1">
                <a:solidFill>
                  <a:srgbClr val="E2E3E7"/>
                </a:solidFill>
              </a:rPr>
              <a:t>before</a:t>
            </a:r>
            <a:r>
              <a:rPr lang="ru-RU" altLang="ru-RU" sz="1400" dirty="0">
                <a:solidFill>
                  <a:srgbClr val="E2E3E7"/>
                </a:solidFill>
              </a:rPr>
              <a:t>. </a:t>
            </a:r>
          </a:p>
          <a:p>
            <a:pPr marL="157162" indent="-4572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Пустая строка или отсутствие аргумента означают сам элемент.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Результат вызова – объект со стилями, похожий на </a:t>
            </a:r>
            <a:r>
              <a:rPr lang="ru-RU" altLang="ru-RU" sz="1400" dirty="0" err="1">
                <a:solidFill>
                  <a:srgbClr val="FFFF00"/>
                </a:solidFill>
              </a:rPr>
              <a:t>elem.style</a:t>
            </a:r>
            <a:r>
              <a:rPr lang="ru-RU" altLang="ru-RU" sz="1400" dirty="0">
                <a:solidFill>
                  <a:srgbClr val="E2E3E7"/>
                </a:solidFill>
              </a:rPr>
              <a:t>, но с учётом всех CSS-классов.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Например: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style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 body {color: red; margin: 5px} &lt;/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style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computedStyle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getComputedStyle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сейчас можно прочитать отступ и цвет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computedStyle.margin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5px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computedStyle.color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rgb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(255, 0, 0)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91B9B4A0-5B0A-410D-92CF-43F635D3B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Добавление стилей. Работа с  CSS-классами.</a:t>
            </a:r>
          </a:p>
        </p:txBody>
      </p:sp>
    </p:spTree>
    <p:extLst>
      <p:ext uri="{BB962C8B-B14F-4D97-AF65-F5344CB8AC3E}">
        <p14:creationId xmlns:p14="http://schemas.microsoft.com/office/powerpoint/2010/main" val="15012712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>
                <a:solidFill>
                  <a:srgbClr val="FFFF00"/>
                </a:solidFill>
              </a:rPr>
              <a:t>И</a:t>
            </a:r>
            <a:r>
              <a:rPr lang="ru-RU" altLang="ru-RU" sz="1450" dirty="0" bmk="">
                <a:solidFill>
                  <a:srgbClr val="FFFF00"/>
                </a:solidFill>
              </a:rPr>
              <a:t>того</a:t>
            </a:r>
            <a:endParaRPr lang="ru-RU" altLang="ru-RU" sz="145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50" dirty="0">
                <a:solidFill>
                  <a:schemeClr val="tx1"/>
                </a:solidFill>
              </a:rPr>
              <a:t>Для управления классами существуют два DOM-свойства: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50" dirty="0" err="1">
                <a:solidFill>
                  <a:srgbClr val="FFFF00"/>
                </a:solidFill>
              </a:rPr>
              <a:t>className</a:t>
            </a:r>
            <a:r>
              <a:rPr lang="ru-RU" altLang="ru-RU" sz="1450" dirty="0">
                <a:solidFill>
                  <a:srgbClr val="E2E3E7"/>
                </a:solidFill>
              </a:rPr>
              <a:t> – </a:t>
            </a:r>
            <a:r>
              <a:rPr lang="ru-RU" altLang="ru-RU" sz="1450" dirty="0">
                <a:solidFill>
                  <a:schemeClr val="tx1"/>
                </a:solidFill>
              </a:rPr>
              <a:t>строковое значение, удобно для управления всем набором классов.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50" dirty="0" err="1">
                <a:solidFill>
                  <a:srgbClr val="FFFF00"/>
                </a:solidFill>
              </a:rPr>
              <a:t>classList</a:t>
            </a:r>
            <a:r>
              <a:rPr lang="ru-RU" altLang="ru-RU" sz="1450" dirty="0">
                <a:solidFill>
                  <a:srgbClr val="E2E3E7"/>
                </a:solidFill>
              </a:rPr>
              <a:t> – </a:t>
            </a:r>
            <a:r>
              <a:rPr lang="ru-RU" altLang="ru-RU" sz="1450" dirty="0">
                <a:solidFill>
                  <a:schemeClr val="tx1"/>
                </a:solidFill>
              </a:rPr>
              <a:t>объект с методами </a:t>
            </a:r>
            <a:r>
              <a:rPr lang="ru-RU" altLang="ru-RU" sz="1450" dirty="0" err="1">
                <a:solidFill>
                  <a:schemeClr val="tx1"/>
                </a:solidFill>
              </a:rPr>
              <a:t>add</a:t>
            </a:r>
            <a:r>
              <a:rPr lang="ru-RU" altLang="ru-RU" sz="1450" dirty="0">
                <a:solidFill>
                  <a:schemeClr val="tx1"/>
                </a:solidFill>
              </a:rPr>
              <a:t>/</a:t>
            </a:r>
            <a:r>
              <a:rPr lang="ru-RU" altLang="ru-RU" sz="1450" dirty="0" err="1">
                <a:solidFill>
                  <a:schemeClr val="tx1"/>
                </a:solidFill>
              </a:rPr>
              <a:t>remove</a:t>
            </a:r>
            <a:r>
              <a:rPr lang="ru-RU" altLang="ru-RU" sz="1450" dirty="0">
                <a:solidFill>
                  <a:schemeClr val="tx1"/>
                </a:solidFill>
              </a:rPr>
              <a:t>/</a:t>
            </a:r>
            <a:r>
              <a:rPr lang="ru-RU" altLang="ru-RU" sz="1450" dirty="0" err="1">
                <a:solidFill>
                  <a:schemeClr val="tx1"/>
                </a:solidFill>
              </a:rPr>
              <a:t>toggle</a:t>
            </a:r>
            <a:r>
              <a:rPr lang="ru-RU" altLang="ru-RU" sz="1450" dirty="0">
                <a:solidFill>
                  <a:schemeClr val="tx1"/>
                </a:solidFill>
              </a:rPr>
              <a:t>/</a:t>
            </a:r>
            <a:r>
              <a:rPr lang="ru-RU" altLang="ru-RU" sz="1450" dirty="0" err="1">
                <a:solidFill>
                  <a:schemeClr val="tx1"/>
                </a:solidFill>
              </a:rPr>
              <a:t>contains</a:t>
            </a:r>
            <a:r>
              <a:rPr lang="ru-RU" altLang="ru-RU" sz="1450" dirty="0">
                <a:solidFill>
                  <a:schemeClr val="tx1"/>
                </a:solidFill>
              </a:rPr>
              <a:t>, удобно для управления отдельными классами.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>
                <a:solidFill>
                  <a:srgbClr val="FFFF00"/>
                </a:solidFill>
              </a:rPr>
              <a:t>Чтобы изменить стили: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50" dirty="0">
                <a:solidFill>
                  <a:schemeClr val="tx1"/>
                </a:solidFill>
              </a:rPr>
              <a:t>Свойство </a:t>
            </a:r>
            <a:r>
              <a:rPr lang="ru-RU" altLang="ru-RU" sz="1450" dirty="0" err="1">
                <a:solidFill>
                  <a:schemeClr val="tx1"/>
                </a:solidFill>
              </a:rPr>
              <a:t>style</a:t>
            </a:r>
            <a:r>
              <a:rPr lang="ru-RU" altLang="ru-RU" sz="1450" dirty="0">
                <a:solidFill>
                  <a:schemeClr val="tx1"/>
                </a:solidFill>
              </a:rPr>
              <a:t> является объектом со стилями в формате </a:t>
            </a:r>
            <a:r>
              <a:rPr lang="ru-RU" altLang="ru-RU" sz="1450" dirty="0" err="1">
                <a:solidFill>
                  <a:schemeClr val="tx1"/>
                </a:solidFill>
              </a:rPr>
              <a:t>camelCase</a:t>
            </a:r>
            <a:r>
              <a:rPr lang="ru-RU" altLang="ru-RU" sz="1450" dirty="0">
                <a:solidFill>
                  <a:schemeClr val="tx1"/>
                </a:solidFill>
              </a:rPr>
              <a:t>. Чтение и запись в него работают так же, как изменение соответствующих свойств в атрибуте "</a:t>
            </a:r>
            <a:r>
              <a:rPr lang="ru-RU" altLang="ru-RU" sz="1450" dirty="0" err="1">
                <a:solidFill>
                  <a:schemeClr val="tx1"/>
                </a:solidFill>
              </a:rPr>
              <a:t>style</a:t>
            </a:r>
            <a:r>
              <a:rPr lang="ru-RU" altLang="ru-RU" sz="1450" dirty="0">
                <a:solidFill>
                  <a:schemeClr val="tx1"/>
                </a:solidFill>
              </a:rPr>
              <a:t>". Чтобы узнать, как добавить в него </a:t>
            </a:r>
            <a:r>
              <a:rPr lang="ru-RU" altLang="ru-RU" sz="1450" dirty="0" err="1">
                <a:solidFill>
                  <a:schemeClr val="tx1"/>
                </a:solidFill>
              </a:rPr>
              <a:t>important</a:t>
            </a:r>
            <a:r>
              <a:rPr lang="ru-RU" altLang="ru-RU" sz="1450" dirty="0">
                <a:solidFill>
                  <a:schemeClr val="tx1"/>
                </a:solidFill>
              </a:rPr>
              <a:t> и делать некоторые другие редкие вещи – смотрите документацию.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50" dirty="0">
                <a:solidFill>
                  <a:schemeClr val="tx1"/>
                </a:solidFill>
              </a:rPr>
              <a:t>Свойство </a:t>
            </a:r>
            <a:r>
              <a:rPr lang="ru-RU" altLang="ru-RU" sz="1450" dirty="0" err="1">
                <a:solidFill>
                  <a:schemeClr val="tx1"/>
                </a:solidFill>
              </a:rPr>
              <a:t>style.cssText</a:t>
            </a:r>
            <a:r>
              <a:rPr lang="ru-RU" altLang="ru-RU" sz="1450" dirty="0">
                <a:solidFill>
                  <a:schemeClr val="tx1"/>
                </a:solidFill>
              </a:rPr>
              <a:t> соответствует всему атрибуту "</a:t>
            </a:r>
            <a:r>
              <a:rPr lang="ru-RU" altLang="ru-RU" sz="1450" dirty="0" err="1">
                <a:solidFill>
                  <a:schemeClr val="tx1"/>
                </a:solidFill>
              </a:rPr>
              <a:t>style</a:t>
            </a:r>
            <a:r>
              <a:rPr lang="ru-RU" altLang="ru-RU" sz="1450" dirty="0">
                <a:solidFill>
                  <a:schemeClr val="tx1"/>
                </a:solidFill>
              </a:rPr>
              <a:t>", полной строке стилей.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>
                <a:solidFill>
                  <a:srgbClr val="FFFF00"/>
                </a:solidFill>
              </a:rPr>
              <a:t>Для чтения окончательных стилей (с учётом всех классов, после применения CSS и вычисления окончательных значений) используется: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50" dirty="0">
                <a:solidFill>
                  <a:schemeClr val="tx1"/>
                </a:solidFill>
              </a:rPr>
              <a:t>Метод </a:t>
            </a:r>
            <a:r>
              <a:rPr lang="ru-RU" altLang="ru-RU" sz="1450" dirty="0" err="1">
                <a:solidFill>
                  <a:schemeClr val="tx1"/>
                </a:solidFill>
              </a:rPr>
              <a:t>getComputedStyle</a:t>
            </a:r>
            <a:r>
              <a:rPr lang="ru-RU" altLang="ru-RU" sz="1450" dirty="0">
                <a:solidFill>
                  <a:schemeClr val="tx1"/>
                </a:solidFill>
              </a:rPr>
              <a:t>(</a:t>
            </a:r>
            <a:r>
              <a:rPr lang="ru-RU" altLang="ru-RU" sz="1450" dirty="0" err="1">
                <a:solidFill>
                  <a:schemeClr val="tx1"/>
                </a:solidFill>
              </a:rPr>
              <a:t>elem</a:t>
            </a:r>
            <a:r>
              <a:rPr lang="ru-RU" altLang="ru-RU" sz="1450" dirty="0">
                <a:solidFill>
                  <a:schemeClr val="tx1"/>
                </a:solidFill>
              </a:rPr>
              <a:t>, [</a:t>
            </a:r>
            <a:r>
              <a:rPr lang="ru-RU" altLang="ru-RU" sz="1450" dirty="0" err="1">
                <a:solidFill>
                  <a:schemeClr val="tx1"/>
                </a:solidFill>
              </a:rPr>
              <a:t>pseudo</a:t>
            </a:r>
            <a:r>
              <a:rPr lang="ru-RU" altLang="ru-RU" sz="1450" dirty="0">
                <a:solidFill>
                  <a:schemeClr val="tx1"/>
                </a:solidFill>
              </a:rPr>
              <a:t>]) возвращает объект, похожий по формату на </a:t>
            </a:r>
            <a:r>
              <a:rPr lang="ru-RU" altLang="ru-RU" sz="1450" dirty="0" err="1">
                <a:solidFill>
                  <a:schemeClr val="tx1"/>
                </a:solidFill>
              </a:rPr>
              <a:t>style</a:t>
            </a:r>
            <a:r>
              <a:rPr lang="ru-RU" altLang="ru-RU" sz="1450" dirty="0">
                <a:solidFill>
                  <a:schemeClr val="tx1"/>
                </a:solidFill>
              </a:rPr>
              <a:t>. Только для чтения.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DBD5405-28F1-445E-B160-7B7A687F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Добавление стилей. Работа с  CSS-классами.</a:t>
            </a:r>
          </a:p>
        </p:txBody>
      </p:sp>
    </p:spTree>
    <p:extLst>
      <p:ext uri="{BB962C8B-B14F-4D97-AF65-F5344CB8AC3E}">
        <p14:creationId xmlns:p14="http://schemas.microsoft.com/office/powerpoint/2010/main" val="1424940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/>
              <a:t>1. Установить цвет фона для элемента с классом </a:t>
            </a:r>
            <a:r>
              <a:rPr lang="ru-RU" sz="1500" dirty="0" err="1"/>
              <a:t>searchBarContainer</a:t>
            </a:r>
            <a:r>
              <a:rPr lang="ru-RU" sz="1500" dirty="0"/>
              <a:t> на #f5f5f5.</a:t>
            </a:r>
          </a:p>
          <a:p>
            <a:pPr marL="0" indent="0"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2. С помощью </a:t>
            </a:r>
            <a:r>
              <a:rPr lang="en-US" altLang="ru-RU" sz="1500" dirty="0">
                <a:solidFill>
                  <a:schemeClr val="tx1"/>
                </a:solidFill>
              </a:rPr>
              <a:t>JavaScript </a:t>
            </a:r>
            <a:r>
              <a:rPr lang="ru-RU" altLang="ru-RU" sz="1500" dirty="0">
                <a:solidFill>
                  <a:schemeClr val="tx1"/>
                </a:solidFill>
              </a:rPr>
              <a:t>добавить </a:t>
            </a:r>
            <a:r>
              <a:rPr lang="ru-RU" sz="1500" dirty="0"/>
              <a:t>сразу несколько стилей для </a:t>
            </a:r>
            <a:r>
              <a:rPr lang="ru-RU" altLang="ru-RU" sz="1500" dirty="0">
                <a:solidFill>
                  <a:schemeClr val="tx1"/>
                </a:solidFill>
              </a:rPr>
              <a:t>элемента с классом </a:t>
            </a:r>
            <a:r>
              <a:rPr lang="en-US" altLang="ru-RU" sz="1500" dirty="0">
                <a:solidFill>
                  <a:schemeClr val="tx1"/>
                </a:solidFill>
              </a:rPr>
              <a:t>“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  <a:r>
              <a:rPr lang="en-US" altLang="ru-RU" sz="1500" dirty="0">
                <a:solidFill>
                  <a:schemeClr val="tx1"/>
                </a:solidFill>
              </a:rPr>
              <a:t>notification” </a:t>
            </a:r>
            <a:r>
              <a:rPr lang="ru-RU" altLang="ru-RU" sz="1500" dirty="0">
                <a:solidFill>
                  <a:schemeClr val="tx1"/>
                </a:solidFill>
              </a:rPr>
              <a:t>со следующими значениями</a:t>
            </a:r>
            <a:r>
              <a:rPr lang="en-US" altLang="ru-RU" sz="1500" dirty="0">
                <a:solidFill>
                  <a:schemeClr val="tx1"/>
                </a:solidFill>
              </a:rPr>
              <a:t>:</a:t>
            </a:r>
            <a:endParaRPr lang="ru-RU" altLang="ru-RU" sz="15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display: flex;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width: 100%;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display: flex;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flex-direction: column.</a:t>
            </a:r>
            <a:endParaRPr lang="ru-RU" altLang="ru-RU" sz="1500" dirty="0">
              <a:solidFill>
                <a:schemeClr val="tx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DBD5405-28F1-445E-B160-7B7A687F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Наши любимые задачки </a:t>
            </a:r>
            <a:r>
              <a:rPr lang="ru-RU" sz="2400" dirty="0">
                <a:sym typeface="Wingdings" panose="05000000000000000000" pitchFamily="2" charset="2"/>
              </a:rPr>
              <a:t>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2603201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10379</TotalTime>
  <Words>1725</Words>
  <Application>Microsoft Office PowerPoint</Application>
  <PresentationFormat>Экран (16:9)</PresentationFormat>
  <Paragraphs>294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5" baseType="lpstr">
      <vt:lpstr>Arial</vt:lpstr>
      <vt:lpstr>Calibri</vt:lpstr>
      <vt:lpstr>Consolas</vt:lpstr>
      <vt:lpstr>Trebuchet MS</vt:lpstr>
      <vt:lpstr>Wingdings</vt:lpstr>
      <vt:lpstr>Wingdings 3</vt:lpstr>
      <vt:lpstr>Аспект</vt:lpstr>
      <vt:lpstr>Создание элементов. Добавление стилей. Работа с  CSS-классами.    </vt:lpstr>
      <vt:lpstr>Массивы </vt:lpstr>
      <vt:lpstr>Лайфкодинг    </vt:lpstr>
      <vt:lpstr>Лайфкодинг</vt:lpstr>
      <vt:lpstr>Создание, вставка элементов, удаление узлов</vt:lpstr>
      <vt:lpstr>Создание, вставка элементов, удаление узлов</vt:lpstr>
      <vt:lpstr>Создание, вставка элементов, удаление узлов</vt:lpstr>
      <vt:lpstr>Создание, вставка элементов, удаление узлов</vt:lpstr>
      <vt:lpstr>Создание, вставка элементов, удаление узлов</vt:lpstr>
      <vt:lpstr>Создание, вставка элементов, удаление узлов</vt:lpstr>
      <vt:lpstr>Создание, вставка элементов, удаление узлов</vt:lpstr>
      <vt:lpstr>Создание, вставка элементов, удаление узлов</vt:lpstr>
      <vt:lpstr>Создание, вставка элементов, удаление узлов</vt:lpstr>
      <vt:lpstr>Создание, вставка элементов, удаление узлов</vt:lpstr>
      <vt:lpstr>Создание, вставка элементов, удаление узлов</vt:lpstr>
      <vt:lpstr>Наши любимые задачки </vt:lpstr>
      <vt:lpstr>Добавление стилей. Работа с  CSS-классами.</vt:lpstr>
      <vt:lpstr>Добавление стилей. Работа с  CSS-классами.</vt:lpstr>
      <vt:lpstr>Добавление стилей. Работа с  CSS-классами.</vt:lpstr>
      <vt:lpstr>Добавление стилей. Работа с  CSS-классами.</vt:lpstr>
      <vt:lpstr>Добавление стилей. Работа с  CSS-классами.</vt:lpstr>
      <vt:lpstr>Добавление стилей. Работа с  CSS-классами.</vt:lpstr>
      <vt:lpstr>Добавление стилей. Работа с  CSS-классами.</vt:lpstr>
      <vt:lpstr>Добавление стилей. Работа с  CSS-классами.</vt:lpstr>
      <vt:lpstr>Добавление стилей. Работа с  CSS-классами.</vt:lpstr>
      <vt:lpstr>Добавление стилей. Работа с  CSS-классами.</vt:lpstr>
      <vt:lpstr>Добавление стилей. Работа с  CSS-классами.</vt:lpstr>
      <vt:lpstr>Наши любимые задачки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JavaScript</dc:title>
  <dc:creator>БушмелеваЕА</dc:creator>
  <cp:lastModifiedBy>Mikhail Matveichuk</cp:lastModifiedBy>
  <cp:revision>447</cp:revision>
  <dcterms:created xsi:type="dcterms:W3CDTF">2021-11-26T04:54:28Z</dcterms:created>
  <dcterms:modified xsi:type="dcterms:W3CDTF">2024-12-22T07:43:35Z</dcterms:modified>
</cp:coreProperties>
</file>