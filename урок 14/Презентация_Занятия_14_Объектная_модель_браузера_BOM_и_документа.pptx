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6">
  <p:sldMasterIdLst>
    <p:sldMasterId id="2147483727" r:id="rId1"/>
  </p:sldMasterIdLst>
  <p:notesMasterIdLst>
    <p:notesMasterId r:id="rId34"/>
  </p:notesMasterIdLst>
  <p:sldIdLst>
    <p:sldId id="388" r:id="rId2"/>
    <p:sldId id="367" r:id="rId3"/>
    <p:sldId id="672" r:id="rId4"/>
    <p:sldId id="573" r:id="rId5"/>
    <p:sldId id="658" r:id="rId6"/>
    <p:sldId id="659" r:id="rId7"/>
    <p:sldId id="660" r:id="rId8"/>
    <p:sldId id="652" r:id="rId9"/>
    <p:sldId id="656" r:id="rId10"/>
    <p:sldId id="662" r:id="rId11"/>
    <p:sldId id="663" r:id="rId12"/>
    <p:sldId id="657" r:id="rId13"/>
    <p:sldId id="664" r:id="rId14"/>
    <p:sldId id="665" r:id="rId15"/>
    <p:sldId id="666" r:id="rId16"/>
    <p:sldId id="667" r:id="rId17"/>
    <p:sldId id="668" r:id="rId18"/>
    <p:sldId id="669" r:id="rId19"/>
    <p:sldId id="670" r:id="rId20"/>
    <p:sldId id="552" r:id="rId21"/>
    <p:sldId id="671" r:id="rId22"/>
    <p:sldId id="673" r:id="rId23"/>
    <p:sldId id="674" r:id="rId24"/>
    <p:sldId id="675" r:id="rId25"/>
    <p:sldId id="676" r:id="rId26"/>
    <p:sldId id="677" r:id="rId27"/>
    <p:sldId id="678" r:id="rId28"/>
    <p:sldId id="679" r:id="rId29"/>
    <p:sldId id="680" r:id="rId30"/>
    <p:sldId id="681" r:id="rId31"/>
    <p:sldId id="682" r:id="rId32"/>
    <p:sldId id="683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Matveichuk" initials="MM" lastIdx="1" clrIdx="0">
    <p:extLst>
      <p:ext uri="{19B8F6BF-5375-455C-9EA6-DF929625EA0E}">
        <p15:presenceInfo xmlns:p15="http://schemas.microsoft.com/office/powerpoint/2012/main" userId="a99a9a51dadd0b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7B2"/>
    <a:srgbClr val="FF0066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269" autoAdjust="0"/>
  </p:normalViewPr>
  <p:slideViewPr>
    <p:cSldViewPr>
      <p:cViewPr varScale="1">
        <p:scale>
          <a:sx n="151" d="100"/>
          <a:sy n="151" d="100"/>
        </p:scale>
        <p:origin x="678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DF2A5-73EA-4FCB-B5AE-B8580AC4EEA4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74F-DCBC-4EDB-9D62-895E1B66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190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12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3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3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1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01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24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9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89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7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1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1175-608E-4CF0-AFCE-88287FB87CEA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97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javascript.ru/dom-nod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learn.javascript.ru/dom-node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9592" y="1995686"/>
            <a:ext cx="7056784" cy="1440160"/>
          </a:xfrm>
        </p:spPr>
        <p:txBody>
          <a:bodyPr anchor="t"/>
          <a:lstStyle/>
          <a:p>
            <a:pPr algn="ctr" fontAlgn="t"/>
            <a:r>
              <a:rPr lang="ru-RU" sz="2800" dirty="0"/>
              <a:t>Объектная модель браузера (BOM) и документа (DOM)</a:t>
            </a:r>
            <a:r>
              <a:rPr lang="en-US" sz="2800" dirty="0"/>
              <a:t>. </a:t>
            </a:r>
            <a:r>
              <a:rPr lang="ru-RU" sz="2800" dirty="0"/>
              <a:t>Поиск</a:t>
            </a:r>
            <a:r>
              <a:rPr lang="en-US" sz="2800" dirty="0"/>
              <a:t> </a:t>
            </a:r>
            <a:r>
              <a:rPr lang="ru-RU" sz="2800" dirty="0"/>
              <a:t>и получение элементов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b="1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17AB04-330B-455B-B5F8-13F8090D8F72}"/>
              </a:ext>
            </a:extLst>
          </p:cNvPr>
          <p:cNvSpPr txBox="1">
            <a:spLocks/>
          </p:cNvSpPr>
          <p:nvPr/>
        </p:nvSpPr>
        <p:spPr>
          <a:xfrm>
            <a:off x="323528" y="3939902"/>
            <a:ext cx="1835696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342900" rtl="0" eaLnBrk="1" latinLnBrk="0" hangingPunct="1">
              <a:spcBef>
                <a:spcPct val="0"/>
              </a:spcBef>
              <a:buNone/>
              <a:defRPr sz="405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1400" dirty="0">
                <a:solidFill>
                  <a:schemeClr val="tx1"/>
                </a:solidFill>
              </a:rPr>
              <a:t>Матвейчук Михаил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Frontend Team Lead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Codes Commanders 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09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Массивы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Объект </a:t>
            </a:r>
            <a:r>
              <a:rPr lang="en-US" sz="1800" dirty="0">
                <a:solidFill>
                  <a:schemeClr val="tx1"/>
                </a:solidFill>
              </a:rPr>
              <a:t>Math</a:t>
            </a:r>
            <a:r>
              <a:rPr lang="ru-RU" sz="1800" dirty="0">
                <a:solidFill>
                  <a:schemeClr val="tx1"/>
                </a:solidFill>
              </a:rPr>
              <a:t>, методы и свойства</a:t>
            </a:r>
            <a:r>
              <a:rPr lang="ru-RU" altLang="ru-RU" sz="1800" dirty="0">
                <a:solidFill>
                  <a:schemeClr val="tx1"/>
                </a:solidFill>
              </a:rPr>
              <a:t>?</a:t>
            </a:r>
            <a:endParaRPr lang="en-US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Объект </a:t>
            </a:r>
            <a:r>
              <a:rPr lang="ru-RU" sz="1800" dirty="0" err="1">
                <a:solidFill>
                  <a:schemeClr val="tx1"/>
                </a:solidFill>
              </a:rPr>
              <a:t>Date</a:t>
            </a:r>
            <a:r>
              <a:rPr lang="ru-RU" sz="1800" dirty="0">
                <a:solidFill>
                  <a:schemeClr val="tx1"/>
                </a:solidFill>
              </a:rPr>
              <a:t>, методы и свойства?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Объект </a:t>
            </a:r>
            <a:r>
              <a:rPr lang="ru-RU" sz="1800" dirty="0" err="1">
                <a:solidFill>
                  <a:schemeClr val="tx1"/>
                </a:solidFill>
              </a:rPr>
              <a:t>RegExp</a:t>
            </a:r>
            <a:r>
              <a:rPr lang="ru-RU" sz="1800" dirty="0">
                <a:solidFill>
                  <a:schemeClr val="tx1"/>
                </a:solidFill>
              </a:rPr>
              <a:t>, методы и свойства?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Объект JSON, методы и свойства</a:t>
            </a:r>
            <a:r>
              <a:rPr lang="ru-RU" altLang="ru-RU" sz="1800" dirty="0">
                <a:solidFill>
                  <a:schemeClr val="tx1"/>
                </a:solidFill>
              </a:rPr>
              <a:t>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Объект </a:t>
            </a:r>
            <a:r>
              <a:rPr lang="ru-RU" sz="1800" dirty="0" err="1">
                <a:solidFill>
                  <a:schemeClr val="tx1"/>
                </a:solidFill>
              </a:rPr>
              <a:t>Global</a:t>
            </a:r>
            <a:r>
              <a:rPr lang="ru-RU" sz="1800" dirty="0">
                <a:solidFill>
                  <a:schemeClr val="tx1"/>
                </a:solidFill>
              </a:rPr>
              <a:t>, методы и свойства</a:t>
            </a:r>
            <a:r>
              <a:rPr lang="ru-RU" altLang="ru-RU" sz="1800" dirty="0">
                <a:solidFill>
                  <a:schemeClr val="tx1"/>
                </a:solidFill>
              </a:rPr>
              <a:t>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Объект </a:t>
            </a:r>
            <a:r>
              <a:rPr lang="ru-RU" sz="1800" dirty="0" err="1">
                <a:solidFill>
                  <a:schemeClr val="tx1"/>
                </a:solidFill>
              </a:rPr>
              <a:t>Error</a:t>
            </a:r>
            <a:r>
              <a:rPr lang="ru-RU" sz="1800" dirty="0">
                <a:solidFill>
                  <a:schemeClr val="tx1"/>
                </a:solidFill>
              </a:rPr>
              <a:t>, методы и свойства</a:t>
            </a:r>
            <a:r>
              <a:rPr lang="ru-RU" altLang="ru-RU" sz="1800" dirty="0">
                <a:solidFill>
                  <a:schemeClr val="tx1"/>
                </a:solidFill>
              </a:rPr>
              <a:t>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Объект </a:t>
            </a:r>
            <a:r>
              <a:rPr lang="ru-RU" sz="1800" dirty="0" err="1">
                <a:solidFill>
                  <a:schemeClr val="tx1"/>
                </a:solidFill>
              </a:rPr>
              <a:t>Console</a:t>
            </a:r>
            <a:r>
              <a:rPr lang="ru-RU" sz="1800" dirty="0">
                <a:solidFill>
                  <a:schemeClr val="tx1"/>
                </a:solidFill>
              </a:rPr>
              <a:t>, методы и свойства</a:t>
            </a:r>
            <a:r>
              <a:rPr lang="ru-RU" altLang="ru-RU" sz="1800" dirty="0">
                <a:solidFill>
                  <a:schemeClr val="tx1"/>
                </a:solidFill>
              </a:rPr>
              <a:t>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Область видимости переменных, какие есть области видимости?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Что такое лексическое окружение?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Что такое замыкание?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Модульность в </a:t>
            </a:r>
            <a:r>
              <a:rPr lang="en-US" altLang="ru-RU" sz="1800" dirty="0">
                <a:solidFill>
                  <a:schemeClr val="tx1"/>
                </a:solidFill>
              </a:rPr>
              <a:t>JavaScript</a:t>
            </a:r>
            <a:r>
              <a:rPr lang="ru-RU" altLang="ru-RU" sz="1800" dirty="0">
                <a:solidFill>
                  <a:schemeClr val="tx1"/>
                </a:solidFill>
              </a:rPr>
              <a:t>. Директивы </a:t>
            </a:r>
            <a:r>
              <a:rPr lang="en-US" altLang="ru-RU" sz="1800" dirty="0">
                <a:solidFill>
                  <a:schemeClr val="tx1"/>
                </a:solidFill>
              </a:rPr>
              <a:t>import </a:t>
            </a:r>
            <a:r>
              <a:rPr lang="ru-RU" altLang="ru-RU" sz="1800" dirty="0">
                <a:solidFill>
                  <a:schemeClr val="tx1"/>
                </a:solidFill>
              </a:rPr>
              <a:t>и </a:t>
            </a:r>
            <a:r>
              <a:rPr lang="en-US" altLang="ru-RU" sz="1800" dirty="0">
                <a:solidFill>
                  <a:schemeClr val="tx1"/>
                </a:solidFill>
              </a:rPr>
              <a:t>export. </a:t>
            </a:r>
            <a:endParaRPr lang="ru-RU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Что такое сборщики модулей?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endParaRPr lang="ru-RU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endParaRPr lang="ru-RU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endParaRPr lang="ru-RU" alt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19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186804"/>
            <a:ext cx="7056784" cy="1008112"/>
          </a:xfrm>
        </p:spPr>
        <p:txBody>
          <a:bodyPr anchor="t"/>
          <a:lstStyle/>
          <a:p>
            <a:pPr algn="ctr" fontAlgn="t"/>
            <a:r>
              <a:rPr lang="ru-RU" sz="2800" dirty="0"/>
              <a:t>Объектная модель браузера (BOM) и документа (DOM)</a:t>
            </a:r>
            <a:r>
              <a:rPr lang="en-US" sz="2800" dirty="0"/>
              <a:t>. 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3118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320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500" dirty="0">
                <a:solidFill>
                  <a:srgbClr val="FFFF00"/>
                </a:solidFill>
              </a:rPr>
              <a:t>Браузерное окружение, спецификации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500" dirty="0">
                <a:solidFill>
                  <a:schemeClr val="tx1"/>
                </a:solidFill>
              </a:rPr>
              <a:t>Окружение предоставляет свои объекты и дополнительные функции, в дополнение базовым языковым. Браузеры, например, дают средства для управления веб-страницами. Node.js делает доступными какие-то серверные возможности и так далее.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83906D-2AAC-4E0F-99FC-BBD373B1E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9000"/>
                    </a14:imgEffect>
                    <a14:imgEffect>
                      <a14:brightnessContrast contrast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139702"/>
            <a:ext cx="3029480" cy="2736304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6410852-DD58-4CA1-B94B-FFAD9EFAD422}"/>
              </a:ext>
            </a:extLst>
          </p:cNvPr>
          <p:cNvGraphicFramePr>
            <a:graphicFrameLocks noGrp="1"/>
          </p:cNvGraphicFramePr>
          <p:nvPr/>
        </p:nvGraphicFramePr>
        <p:xfrm>
          <a:off x="4067944" y="2067694"/>
          <a:ext cx="3741844" cy="273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1844">
                  <a:extLst>
                    <a:ext uri="{9D8B030D-6E8A-4147-A177-3AD203B41FA5}">
                      <a16:colId xmlns:a16="http://schemas.microsoft.com/office/drawing/2014/main" val="708400314"/>
                    </a:ext>
                  </a:extLst>
                </a:gridCol>
              </a:tblGrid>
              <a:tr h="2736304">
                <a:tc>
                  <a:txBody>
                    <a:bodyPr/>
                    <a:lstStyle/>
                    <a:p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Корневой объект </a:t>
                      </a:r>
                      <a:r>
                        <a:rPr lang="ru-RU" sz="15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</a:t>
                      </a:r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выступает в 2 ролях: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Это глобальный объект для </a:t>
                      </a:r>
                      <a:r>
                        <a:rPr lang="ru-RU" sz="15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-кода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ru-RU" sz="15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Он также представляет собой окно браузера и располагает методами для управления им.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60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4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</a:rPr>
              <a:t>BOM (Browser Object Model)</a:t>
            </a:r>
            <a:endParaRPr lang="ru-RU" altLang="ru-RU" sz="15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Объектная модель браузера 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Browser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</a:rPr>
              <a:t>Object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</a:rPr>
              <a:t>Model</a:t>
            </a:r>
            <a:r>
              <a:rPr lang="ru-RU" altLang="ru-RU" sz="1500" dirty="0">
                <a:solidFill>
                  <a:srgbClr val="FFFF00"/>
                </a:solidFill>
              </a:rPr>
              <a:t>, BOM) </a:t>
            </a:r>
            <a:r>
              <a:rPr lang="ru-RU" altLang="ru-RU" sz="1500" dirty="0">
                <a:solidFill>
                  <a:schemeClr val="tx1"/>
                </a:solidFill>
              </a:rPr>
              <a:t>– это дополнительные объекты, предоставляемые браузером (окружением), чтобы работать со всем, кроме документа.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Например: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Объект </a:t>
            </a:r>
            <a:r>
              <a:rPr lang="ru-RU" altLang="ru-RU" sz="1500" dirty="0" err="1">
                <a:solidFill>
                  <a:srgbClr val="FFFF00"/>
                </a:solidFill>
              </a:rPr>
              <a:t>navigator</a:t>
            </a:r>
            <a:r>
              <a:rPr lang="ru-RU" altLang="ru-RU" sz="1500" dirty="0">
                <a:solidFill>
                  <a:schemeClr val="tx1"/>
                </a:solidFill>
              </a:rPr>
              <a:t> даёт информацию о самом браузере и операционной системе. Среди множества его свойств самыми известными являются: </a:t>
            </a:r>
            <a:r>
              <a:rPr lang="ru-RU" altLang="ru-RU" sz="1500" dirty="0" err="1">
                <a:solidFill>
                  <a:srgbClr val="FFFF00"/>
                </a:solidFill>
              </a:rPr>
              <a:t>navigator.userAgent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>
                <a:solidFill>
                  <a:schemeClr val="tx1"/>
                </a:solidFill>
              </a:rPr>
              <a:t>– информация о текущем браузере, и </a:t>
            </a:r>
            <a:r>
              <a:rPr lang="ru-RU" altLang="ru-RU" sz="1500" dirty="0" err="1">
                <a:solidFill>
                  <a:srgbClr val="FFFF00"/>
                </a:solidFill>
              </a:rPr>
              <a:t>navigator.platform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>
                <a:solidFill>
                  <a:schemeClr val="tx1"/>
                </a:solidFill>
              </a:rPr>
              <a:t>– информация о платформе (может помочь в понимании того, в какой ОС открыт браузер – </a:t>
            </a:r>
            <a:r>
              <a:rPr lang="ru-RU" altLang="ru-RU" sz="1500" dirty="0" err="1">
                <a:solidFill>
                  <a:schemeClr val="tx1"/>
                </a:solidFill>
              </a:rPr>
              <a:t>Windows</a:t>
            </a:r>
            <a:r>
              <a:rPr lang="ru-RU" altLang="ru-RU" sz="1500" dirty="0">
                <a:solidFill>
                  <a:schemeClr val="tx1"/>
                </a:solidFill>
              </a:rPr>
              <a:t>/</a:t>
            </a:r>
            <a:r>
              <a:rPr lang="ru-RU" altLang="ru-RU" sz="1500" dirty="0" err="1">
                <a:solidFill>
                  <a:schemeClr val="tx1"/>
                </a:solidFill>
              </a:rPr>
              <a:t>Linux</a:t>
            </a:r>
            <a:r>
              <a:rPr lang="ru-RU" altLang="ru-RU" sz="1500" dirty="0">
                <a:solidFill>
                  <a:schemeClr val="tx1"/>
                </a:solidFill>
              </a:rPr>
              <a:t>/</a:t>
            </a:r>
            <a:r>
              <a:rPr lang="ru-RU" altLang="ru-RU" sz="1500" dirty="0" err="1">
                <a:solidFill>
                  <a:schemeClr val="tx1"/>
                </a:solidFill>
              </a:rPr>
              <a:t>Mac</a:t>
            </a:r>
            <a:r>
              <a:rPr lang="ru-RU" altLang="ru-RU" sz="1500" dirty="0">
                <a:solidFill>
                  <a:schemeClr val="tx1"/>
                </a:solidFill>
              </a:rPr>
              <a:t> и так далее).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Объект </a:t>
            </a:r>
            <a:r>
              <a:rPr lang="ru-RU" altLang="ru-RU" sz="1500" dirty="0" err="1">
                <a:solidFill>
                  <a:srgbClr val="FFFF00"/>
                </a:solidFill>
              </a:rPr>
              <a:t>location</a:t>
            </a:r>
            <a:r>
              <a:rPr lang="ru-RU" altLang="ru-RU" sz="1500" dirty="0">
                <a:solidFill>
                  <a:schemeClr val="tx1"/>
                </a:solidFill>
              </a:rPr>
              <a:t> позволяет получить текущий URL и перенаправить браузер по новому адресу.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Также предоставляет возможность взаимодействия с разными свойствами окна браузера. </a:t>
            </a:r>
          </a:p>
        </p:txBody>
      </p:sp>
    </p:spTree>
    <p:extLst>
      <p:ext uri="{BB962C8B-B14F-4D97-AF65-F5344CB8AC3E}">
        <p14:creationId xmlns:p14="http://schemas.microsoft.com/office/powerpoint/2010/main" val="42831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cs typeface="Arial" panose="020B0604020202020204" pitchFamily="34" charset="0"/>
              </a:rPr>
              <a:t>Примеры приложений, где BOM может быть полезна: 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b="1" dirty="0">
                <a:solidFill>
                  <a:schemeClr val="tx1"/>
                </a:solidFill>
                <a:cs typeface="Arial" panose="020B0604020202020204" pitchFamily="34" charset="0"/>
              </a:rPr>
              <a:t>1. </a:t>
            </a:r>
            <a:r>
              <a:rPr lang="ru-RU" altLang="ru-RU" sz="1400" dirty="0">
                <a:solidFill>
                  <a:schemeClr val="tx1"/>
                </a:solidFill>
                <a:cs typeface="Arial" panose="020B0604020202020204" pitchFamily="34" charset="0"/>
              </a:rPr>
              <a:t>Изменение размера окна браузера: </a:t>
            </a:r>
            <a:endParaRPr lang="en-US" altLang="ru-RU" sz="14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i="1" dirty="0">
                <a:solidFill>
                  <a:srgbClr val="92D050"/>
                </a:solidFill>
                <a:cs typeface="Arial" panose="020B0604020202020204" pitchFamily="34" charset="0"/>
              </a:rPr>
              <a:t>// Получение текущего размера окна</a:t>
            </a:r>
            <a:r>
              <a:rPr lang="ru-RU" altLang="ru-RU" sz="1400" dirty="0">
                <a:solidFill>
                  <a:srgbClr val="92D050"/>
                </a:solidFill>
                <a:cs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width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00" dirty="0" err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window</a:t>
            </a:r>
            <a:r>
              <a:rPr lang="ru-RU" altLang="ru-RU" sz="1400" dirty="0" err="1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innerWidth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en-US" altLang="ru-RU" sz="14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height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00" dirty="0" err="1">
                <a:solidFill>
                  <a:schemeClr val="accent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window</a:t>
            </a:r>
            <a:r>
              <a:rPr lang="ru-RU" altLang="ru-RU" sz="1400" dirty="0" err="1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innerHeight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endParaRPr lang="en-US" altLang="ru-RU" sz="1400" dirty="0">
              <a:solidFill>
                <a:srgbClr val="DCDCDC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i="1" dirty="0">
                <a:solidFill>
                  <a:srgbClr val="92D050"/>
                </a:solidFill>
                <a:cs typeface="Arial" panose="020B0604020202020204" pitchFamily="34" charset="0"/>
              </a:rPr>
              <a:t>// Изменение размера окна</a:t>
            </a:r>
            <a:r>
              <a:rPr lang="ru-RU" altLang="ru-RU" sz="1400" dirty="0">
                <a:solidFill>
                  <a:srgbClr val="92D050"/>
                </a:solidFill>
                <a:cs typeface="Arial" panose="020B0604020202020204" pitchFamily="34" charset="0"/>
              </a:rPr>
              <a:t> </a:t>
            </a:r>
            <a:endParaRPr lang="en-US" altLang="ru-RU" sz="1400" dirty="0">
              <a:solidFill>
                <a:srgbClr val="92D050"/>
              </a:solidFill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chemeClr val="accent2"/>
                </a:solidFill>
                <a:cs typeface="Arial" panose="020B0604020202020204" pitchFamily="34" charset="0"/>
              </a:rPr>
              <a:t>window</a:t>
            </a:r>
            <a:r>
              <a:rPr lang="ru-RU" altLang="ru-RU" sz="1400" dirty="0" err="1">
                <a:solidFill>
                  <a:srgbClr val="DCDCDC"/>
                </a:solidFill>
                <a:cs typeface="Arial" panose="020B0604020202020204" pitchFamily="34" charset="0"/>
              </a:rPr>
              <a:t>.</a:t>
            </a:r>
            <a:r>
              <a:rPr lang="ru-RU" altLang="ru-RU" sz="1400" dirty="0" err="1">
                <a:solidFill>
                  <a:schemeClr val="tx1"/>
                </a:solidFill>
                <a:cs typeface="Arial" panose="020B0604020202020204" pitchFamily="34" charset="0"/>
              </a:rPr>
              <a:t>resizeTo</a:t>
            </a:r>
            <a:r>
              <a:rPr lang="ru-RU" altLang="ru-RU" sz="1400" dirty="0">
                <a:solidFill>
                  <a:srgbClr val="DCDCDC"/>
                </a:solidFill>
                <a:cs typeface="Arial" panose="020B0604020202020204" pitchFamily="34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cs typeface="Arial" panose="020B0604020202020204" pitchFamily="34" charset="0"/>
              </a:rPr>
              <a:t>width</a:t>
            </a:r>
            <a:r>
              <a:rPr lang="ru-RU" altLang="ru-RU" sz="1400" dirty="0">
                <a:solidFill>
                  <a:srgbClr val="DCDCDC"/>
                </a:solidFill>
                <a:cs typeface="Arial" panose="020B0604020202020204" pitchFamily="34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cs typeface="Arial" panose="020B0604020202020204" pitchFamily="34" charset="0"/>
              </a:rPr>
              <a:t>*</a:t>
            </a:r>
            <a:r>
              <a:rPr lang="ru-RU" altLang="ru-RU" sz="1400" dirty="0">
                <a:solidFill>
                  <a:srgbClr val="DCDCDC"/>
                </a:solidFill>
                <a:cs typeface="Arial" panose="020B0604020202020204" pitchFamily="34" charset="0"/>
              </a:rPr>
              <a:t> </a:t>
            </a:r>
            <a:r>
              <a:rPr lang="ru-RU" altLang="ru-RU" sz="1400" dirty="0">
                <a:solidFill>
                  <a:srgbClr val="B8D7A3"/>
                </a:solidFill>
                <a:cs typeface="Arial" panose="020B0604020202020204" pitchFamily="34" charset="0"/>
              </a:rPr>
              <a:t>2</a:t>
            </a:r>
            <a:r>
              <a:rPr lang="ru-RU" altLang="ru-RU" sz="1400" dirty="0">
                <a:solidFill>
                  <a:srgbClr val="DCDCDC"/>
                </a:solidFill>
                <a:cs typeface="Arial" panose="020B0604020202020204" pitchFamily="34" charset="0"/>
              </a:rPr>
              <a:t>, </a:t>
            </a:r>
            <a:r>
              <a:rPr lang="ru-RU" altLang="ru-RU" sz="1400" dirty="0" err="1">
                <a:solidFill>
                  <a:schemeClr val="tx1"/>
                </a:solidFill>
                <a:cs typeface="Arial" panose="020B0604020202020204" pitchFamily="34" charset="0"/>
              </a:rPr>
              <a:t>height</a:t>
            </a:r>
            <a:r>
              <a:rPr lang="ru-RU" altLang="ru-RU" sz="1400" dirty="0">
                <a:solidFill>
                  <a:srgbClr val="DCDCDC"/>
                </a:solidFill>
                <a:cs typeface="Arial" panose="020B0604020202020204" pitchFamily="34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cs typeface="Arial" panose="020B0604020202020204" pitchFamily="34" charset="0"/>
              </a:rPr>
              <a:t>*</a:t>
            </a:r>
            <a:r>
              <a:rPr lang="ru-RU" altLang="ru-RU" sz="1400" dirty="0">
                <a:solidFill>
                  <a:srgbClr val="DCDCDC"/>
                </a:solidFill>
                <a:cs typeface="Arial" panose="020B0604020202020204" pitchFamily="34" charset="0"/>
              </a:rPr>
              <a:t> </a:t>
            </a:r>
            <a:r>
              <a:rPr lang="ru-RU" altLang="ru-RU" sz="1400" dirty="0">
                <a:solidFill>
                  <a:srgbClr val="B8D7A3"/>
                </a:solidFill>
                <a:cs typeface="Arial" panose="020B0604020202020204" pitchFamily="34" charset="0"/>
              </a:rPr>
              <a:t>2</a:t>
            </a:r>
            <a:r>
              <a:rPr lang="ru-RU" altLang="ru-RU" sz="1400" dirty="0">
                <a:solidFill>
                  <a:srgbClr val="DCDCDC"/>
                </a:solidFill>
                <a:cs typeface="Arial" panose="020B0604020202020204" pitchFamily="34" charset="0"/>
              </a:rPr>
              <a:t>);</a:t>
            </a:r>
            <a:endParaRPr lang="en-US" altLang="ru-RU" sz="1400" dirty="0">
              <a:solidFill>
                <a:srgbClr val="DCDCDC"/>
              </a:solidFill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/>
              <a:t>2. </a:t>
            </a:r>
            <a:r>
              <a:rPr lang="ru-RU" sz="1400" dirty="0"/>
              <a:t>Получение информации о пользователе:</a:t>
            </a:r>
            <a:endParaRPr lang="en-US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i="1" dirty="0">
                <a:solidFill>
                  <a:srgbClr val="92D050"/>
                </a:solidFill>
                <a:latin typeface="var(--monaco-monospace-font)"/>
              </a:rPr>
              <a:t>/ Получение информации о пользователе и браузере</a:t>
            </a:r>
            <a:r>
              <a:rPr lang="ru-RU" altLang="ru-RU" sz="1400" dirty="0">
                <a:solidFill>
                  <a:srgbClr val="92D050"/>
                </a:solidFill>
                <a:latin typeface="var(--monaco-monospace-font)"/>
              </a:rPr>
              <a:t> </a:t>
            </a:r>
            <a:endParaRPr lang="en-US" altLang="ru-RU" sz="1400" dirty="0">
              <a:solidFill>
                <a:srgbClr val="92D050"/>
              </a:solidFill>
              <a:latin typeface="var(--monaco-monospace-font)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userAgent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navigator.userAgent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en-US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platform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navigator.platform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endParaRPr lang="en-US" altLang="ru-RU" sz="1400" dirty="0">
              <a:solidFill>
                <a:srgbClr val="DCDCDC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accent2"/>
                </a:solidFill>
                <a:latin typeface="Consolas" panose="020B0609020204030204" pitchFamily="49" charset="0"/>
              </a:rPr>
              <a:t>console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log(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Agent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: "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userAgent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endParaRPr lang="en-US" altLang="ru-RU" sz="1400" dirty="0">
              <a:solidFill>
                <a:srgbClr val="DCDCDC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accent2"/>
                </a:solidFill>
                <a:latin typeface="Consolas" panose="020B0609020204030204" pitchFamily="49" charset="0"/>
              </a:rPr>
              <a:t>console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log(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Platform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: "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platform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endParaRPr lang="en-US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dirty="0"/>
              <a:t>3. </a:t>
            </a:r>
            <a:r>
              <a:rPr lang="ru-RU" sz="1400" dirty="0"/>
              <a:t>Управление вкладками и окнами: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i="1" dirty="0">
                <a:solidFill>
                  <a:srgbClr val="92D050"/>
                </a:solidFill>
                <a:latin typeface="Consolas" panose="020B0609020204030204" pitchFamily="49" charset="0"/>
              </a:rPr>
              <a:t>// Открытие новой вкладки и переход по URL</a:t>
            </a:r>
            <a:r>
              <a:rPr lang="ru-RU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endParaRPr lang="en-US" altLang="ru-RU" sz="14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newTab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window</a:t>
            </a:r>
            <a:r>
              <a:rPr lang="ru-RU" altLang="ru-RU" sz="1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open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"https://example.com"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, 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"_</a:t>
            </a:r>
            <a:r>
              <a:rPr lang="ru-RU" altLang="ru-RU" sz="1400" dirty="0" err="1">
                <a:solidFill>
                  <a:srgbClr val="D69D85"/>
                </a:solidFill>
                <a:latin typeface="Consolas" panose="020B0609020204030204" pitchFamily="49" charset="0"/>
              </a:rPr>
              <a:t>blank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endParaRPr lang="en-US" altLang="ru-RU" sz="1400" dirty="0">
              <a:solidFill>
                <a:srgbClr val="DCDCDC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i="1" dirty="0">
                <a:solidFill>
                  <a:srgbClr val="92D050"/>
                </a:solidFill>
                <a:latin typeface="Consolas" panose="020B0609020204030204" pitchFamily="49" charset="0"/>
              </a:rPr>
              <a:t>// Закрытие текущей вкладки</a:t>
            </a:r>
            <a:r>
              <a:rPr lang="ru-RU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window</a:t>
            </a:r>
            <a:r>
              <a:rPr lang="ru-RU" altLang="ru-RU" sz="1400" dirty="0" err="1">
                <a:solidFill>
                  <a:srgbClr val="DCDCDC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close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155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400" dirty="0">
                <a:solidFill>
                  <a:schemeClr val="tx1"/>
                </a:solidFill>
              </a:rPr>
              <a:t>4. </a:t>
            </a:r>
            <a:r>
              <a:rPr lang="ru-RU" sz="1400" dirty="0">
                <a:solidFill>
                  <a:schemeClr val="tx1"/>
                </a:solidFill>
              </a:rPr>
              <a:t>Получение и изменение </a:t>
            </a:r>
            <a:r>
              <a:rPr lang="en-US" sz="1400" dirty="0">
                <a:solidFill>
                  <a:schemeClr val="tx1"/>
                </a:solidFill>
              </a:rPr>
              <a:t>URL: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i="1" dirty="0">
                <a:solidFill>
                  <a:srgbClr val="92D050"/>
                </a:solidFill>
                <a:latin typeface="Consolas" panose="020B0609020204030204" pitchFamily="49" charset="0"/>
              </a:rPr>
              <a:t>// Получение текущего URL</a:t>
            </a:r>
            <a:r>
              <a:rPr lang="ru-RU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endParaRPr lang="en-US" altLang="ru-RU" sz="14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currentURL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location.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href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endParaRPr lang="en-US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i="1" dirty="0">
                <a:solidFill>
                  <a:srgbClr val="92D050"/>
                </a:solidFill>
                <a:latin typeface="Consolas" panose="020B0609020204030204" pitchFamily="49" charset="0"/>
              </a:rPr>
              <a:t>// Переход по новому URL</a:t>
            </a:r>
            <a:endParaRPr lang="en-US" altLang="ru-RU" sz="1400" i="1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location.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href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rgbClr val="D69D85"/>
                </a:solidFill>
                <a:latin typeface="Consolas" panose="020B0609020204030204" pitchFamily="49" charset="0"/>
              </a:rPr>
              <a:t>"https://example.com"</a:t>
            </a:r>
            <a:r>
              <a:rPr lang="ru-RU" altLang="ru-RU" sz="1400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400" dirty="0"/>
              <a:t>Объект </a:t>
            </a:r>
            <a:r>
              <a:rPr lang="ru-RU" sz="1400" dirty="0" err="1">
                <a:solidFill>
                  <a:srgbClr val="FFFF00"/>
                </a:solidFill>
              </a:rPr>
              <a:t>location</a:t>
            </a:r>
            <a:r>
              <a:rPr lang="en-US" sz="1400" dirty="0"/>
              <a:t> </a:t>
            </a:r>
            <a:r>
              <a:rPr lang="ru-RU" sz="1400" dirty="0"/>
              <a:t>содержит информацию о текущем URL и позволяет изменять его.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400" dirty="0"/>
              <a:t>Можно использовать свойства объекта </a:t>
            </a:r>
            <a:r>
              <a:rPr lang="ru-RU" sz="1400" dirty="0" err="1">
                <a:solidFill>
                  <a:srgbClr val="FFFF00"/>
                </a:solidFill>
              </a:rPr>
              <a:t>location</a:t>
            </a:r>
            <a:r>
              <a:rPr lang="ru-RU" sz="1400" dirty="0"/>
              <a:t>, такие как </a:t>
            </a:r>
            <a:r>
              <a:rPr lang="ru-RU" sz="1400" dirty="0" err="1">
                <a:solidFill>
                  <a:srgbClr val="FFFF00"/>
                </a:solidFill>
              </a:rPr>
              <a:t>location.href</a:t>
            </a:r>
            <a:r>
              <a:rPr lang="ru-RU" sz="1400" dirty="0"/>
              <a:t>, </a:t>
            </a:r>
            <a:r>
              <a:rPr lang="ru-RU" sz="1400" dirty="0" err="1">
                <a:solidFill>
                  <a:srgbClr val="FFFF00"/>
                </a:solidFill>
              </a:rPr>
              <a:t>location.protocol</a:t>
            </a:r>
            <a:r>
              <a:rPr lang="ru-RU" sz="1400" dirty="0"/>
              <a:t>, и </a:t>
            </a:r>
            <a:r>
              <a:rPr lang="ru-RU" sz="1400" dirty="0" err="1">
                <a:solidFill>
                  <a:srgbClr val="FFFF00"/>
                </a:solidFill>
              </a:rPr>
              <a:t>location.hostname</a:t>
            </a:r>
            <a:r>
              <a:rPr lang="ru-RU" sz="1400" dirty="0"/>
              <a:t>, для получения и изменения URL.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FFFF00"/>
                </a:solidFill>
              </a:rPr>
              <a:t>CSSOM для стилей</a:t>
            </a:r>
            <a:endParaRPr lang="ru-RU" sz="1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Правила стилей CSS структурированы иначе чем HTML. Для них есть отдельная спецификация CSSOM, которая объясняет, как стили должны представляться в виде объектов, как их читать и писать.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CSSOM используется вместе с DOM при изменении стилей документа. В реальности CSSOM требуется редко, обычно правила CSS статичны. Мы редко добавляем/удаляем стили из </a:t>
            </a:r>
            <a:r>
              <a:rPr lang="ru-RU" sz="1400" dirty="0" err="1">
                <a:solidFill>
                  <a:schemeClr val="tx1"/>
                </a:solidFill>
              </a:rPr>
              <a:t>JavaScript</a:t>
            </a:r>
            <a:r>
              <a:rPr lang="ru-RU" sz="1400" dirty="0">
                <a:solidFill>
                  <a:schemeClr val="tx1"/>
                </a:solidFill>
              </a:rPr>
              <a:t>, но и это возможно.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047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FFFF00"/>
                </a:solidFill>
              </a:rPr>
              <a:t>DOM (Document Object Model)</a:t>
            </a:r>
            <a:endParaRPr lang="ru-RU" sz="1400" dirty="0">
              <a:solidFill>
                <a:srgbClr val="FFFF00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400" dirty="0" err="1">
                <a:solidFill>
                  <a:srgbClr val="FFFF00"/>
                </a:solidFill>
              </a:rPr>
              <a:t>Document</a:t>
            </a:r>
            <a:r>
              <a:rPr lang="ru-RU" sz="1400" dirty="0">
                <a:solidFill>
                  <a:srgbClr val="FFFF00"/>
                </a:solidFill>
              </a:rPr>
              <a:t> </a:t>
            </a:r>
            <a:r>
              <a:rPr lang="ru-RU" sz="1400" dirty="0" err="1">
                <a:solidFill>
                  <a:srgbClr val="FFFF00"/>
                </a:solidFill>
              </a:rPr>
              <a:t>Object</a:t>
            </a:r>
            <a:r>
              <a:rPr lang="ru-RU" sz="1400" dirty="0">
                <a:solidFill>
                  <a:srgbClr val="FFFF00"/>
                </a:solidFill>
              </a:rPr>
              <a:t> </a:t>
            </a:r>
            <a:r>
              <a:rPr lang="ru-RU" sz="1400" dirty="0" err="1">
                <a:solidFill>
                  <a:srgbClr val="FFFF00"/>
                </a:solidFill>
              </a:rPr>
              <a:t>Model</a:t>
            </a:r>
            <a:r>
              <a:rPr lang="ru-RU" sz="1400" dirty="0"/>
              <a:t>, сокращённо </a:t>
            </a:r>
            <a:r>
              <a:rPr lang="ru-RU" sz="1400" dirty="0">
                <a:solidFill>
                  <a:srgbClr val="FFFF00"/>
                </a:solidFill>
              </a:rPr>
              <a:t>DOM</a:t>
            </a:r>
            <a:r>
              <a:rPr lang="ru-RU" sz="1400" dirty="0"/>
              <a:t> – объектная модель документа, которая представляет все содержимое страницы в виде объектов, которые можно менять.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dirty="0">
                <a:solidFill>
                  <a:schemeClr val="tx1"/>
                </a:solidFill>
              </a:rPr>
              <a:t>DOM представляет веб-страницу как дерево, где каждый HTML-элемент является узлом этого дерева. Например, 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</a:t>
            </a:r>
            <a:r>
              <a:rPr lang="ru-RU" sz="1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html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&gt; </a:t>
            </a:r>
            <a:r>
              <a:rPr lang="ru-RU" sz="1400" dirty="0">
                <a:solidFill>
                  <a:schemeClr val="tx1"/>
                </a:solidFill>
              </a:rPr>
              <a:t>- это корневой узел, 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</a:t>
            </a:r>
            <a:r>
              <a:rPr lang="ru-RU" sz="1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head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&gt; </a:t>
            </a:r>
            <a:r>
              <a:rPr lang="ru-RU" sz="1400" dirty="0">
                <a:solidFill>
                  <a:schemeClr val="tx1"/>
                </a:solidFill>
              </a:rPr>
              <a:t>и 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</a:t>
            </a:r>
            <a:r>
              <a:rPr lang="ru-RU" sz="1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body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&gt;</a:t>
            </a:r>
            <a:r>
              <a:rPr lang="ru-RU" sz="1400" dirty="0">
                <a:solidFill>
                  <a:schemeClr val="tx1"/>
                </a:solidFill>
              </a:rPr>
              <a:t> - его дочерние узлы, а 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&lt;h1&gt;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&lt;p&gt;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</a:t>
            </a:r>
            <a:r>
              <a:rPr lang="ru-RU" sz="1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img</a:t>
            </a:r>
            <a:r>
              <a:rPr 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&gt; </a:t>
            </a:r>
            <a:r>
              <a:rPr lang="ru-RU" sz="1400" dirty="0">
                <a:solidFill>
                  <a:schemeClr val="tx1"/>
                </a:solidFill>
              </a:rPr>
              <a:t>- их потомки.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ru-RU" sz="1500" dirty="0">
              <a:solidFill>
                <a:srgbClr val="FFFF00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AAD6A7-6608-48E1-AF1A-39387341A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6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337599"/>
            <a:ext cx="2664296" cy="2550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87BDD03-18CD-46AA-86A6-05D1BF3403B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64" t="3199" r="7895"/>
          <a:stretch/>
        </p:blipFill>
        <p:spPr>
          <a:xfrm>
            <a:off x="3923928" y="2337599"/>
            <a:ext cx="2592288" cy="25595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8699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Текст внутри элементов образует </a:t>
            </a:r>
            <a:r>
              <a:rPr lang="ru-RU" altLang="ru-RU" sz="1400" i="1" dirty="0">
                <a:solidFill>
                  <a:srgbClr val="FFFF00"/>
                </a:solidFill>
              </a:rPr>
              <a:t>текстовые узлы</a:t>
            </a:r>
            <a:r>
              <a:rPr lang="ru-RU" altLang="ru-RU" sz="1400" dirty="0">
                <a:solidFill>
                  <a:schemeClr val="tx1"/>
                </a:solidFill>
              </a:rPr>
              <a:t>. 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Например, в теге 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</a:t>
            </a: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h1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</a:rPr>
              <a:t> есть текстовый узел </a:t>
            </a:r>
            <a:r>
              <a:rPr lang="ru-RU" altLang="ru-RU" sz="1400" dirty="0">
                <a:solidFill>
                  <a:srgbClr val="FFFF00"/>
                </a:solidFill>
              </a:rPr>
              <a:t>"Заголовок".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Есть также специальные символы в текстовых узлах: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перевод строки</a:t>
            </a:r>
            <a:r>
              <a:rPr lang="en-US" altLang="ru-RU" sz="1400" dirty="0">
                <a:solidFill>
                  <a:schemeClr val="tx1"/>
                </a:solidFill>
              </a:rPr>
              <a:t>;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пробел</a:t>
            </a:r>
            <a:r>
              <a:rPr lang="en-US" altLang="ru-RU" sz="1400" dirty="0">
                <a:solidFill>
                  <a:schemeClr val="tx1"/>
                </a:solidFill>
              </a:rPr>
              <a:t>.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Пробелы и переводы строки – это полноправные символы, как буквы и цифры. Они образуют текстовые узлы и становятся частью дерева DOM. 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Существует всего два исключения из этого правила: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По историческим причинам пробелы и перевод строки перед тегом 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</a:t>
            </a:r>
            <a:r>
              <a:rPr lang="ru-RU" altLang="ru-RU" sz="1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head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</a:rPr>
              <a:t> игнорируются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Если мы записываем что-либо после закрывающего тега 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&lt;/</a:t>
            </a:r>
            <a:r>
              <a:rPr lang="ru-RU" altLang="ru-RU" sz="1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body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</a:rPr>
              <a:t>, браузер автоматически перемещает эту запись в конец </a:t>
            </a:r>
            <a:r>
              <a:rPr lang="ru-RU" altLang="ru-RU" sz="1400" dirty="0" err="1">
                <a:solidFill>
                  <a:schemeClr val="tx1"/>
                </a:solidFill>
              </a:rPr>
              <a:t>body</a:t>
            </a:r>
            <a:r>
              <a:rPr lang="ru-RU" altLang="ru-RU" sz="1400" dirty="0">
                <a:solidFill>
                  <a:schemeClr val="tx1"/>
                </a:solidFill>
              </a:rPr>
              <a:t>, поскольку спецификация HTML требует, чтобы всё содержимое было внутри 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</a:t>
            </a:r>
            <a:r>
              <a:rPr lang="ru-RU" altLang="ru-RU" sz="1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body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Поэтому после закрывающего тега 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&lt;/</a:t>
            </a:r>
            <a:r>
              <a:rPr lang="ru-RU" altLang="ru-RU" sz="1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body</a:t>
            </a:r>
            <a:r>
              <a:rPr lang="ru-RU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</a:rPr>
              <a:t> не может быть никаких пробелов.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остальных случаях всё просто – если в документе есть пробелы (или любые другие символы), они становятся текстовыми узлами дерева DOM, и если их удалить, то в DOM их тоже не будет. </a:t>
            </a:r>
            <a:endParaRPr lang="ru-RU" altLang="ru-RU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50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Автоисправление</a:t>
            </a:r>
            <a:endParaRPr lang="ru-RU" altLang="ru-RU" sz="15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Если браузер сталкивается с некорректно написанным HTML-кодом, он автоматически корректирует его при построении DOM.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Например, в начале документа всегда должен быть тег &lt;</a:t>
            </a:r>
            <a:r>
              <a:rPr lang="ru-RU" altLang="ru-RU" sz="1500" dirty="0" err="1">
                <a:solidFill>
                  <a:schemeClr val="tx1"/>
                </a:solidFill>
              </a:rPr>
              <a:t>html</a:t>
            </a:r>
            <a:r>
              <a:rPr lang="ru-RU" altLang="ru-RU" sz="1500" dirty="0">
                <a:solidFill>
                  <a:schemeClr val="tx1"/>
                </a:solidFill>
              </a:rPr>
              <a:t>&gt;. Даже если его нет в документе – он будет в дереве DOM, браузер его создаст. То же самое касается и тега &lt;</a:t>
            </a:r>
            <a:r>
              <a:rPr lang="ru-RU" altLang="ru-RU" sz="1500" dirty="0" err="1">
                <a:solidFill>
                  <a:schemeClr val="tx1"/>
                </a:solidFill>
              </a:rPr>
              <a:t>body</a:t>
            </a:r>
            <a:r>
              <a:rPr lang="ru-RU" altLang="ru-RU" sz="1500" dirty="0">
                <a:solidFill>
                  <a:schemeClr val="tx1"/>
                </a:solidFill>
              </a:rPr>
              <a:t>&gt;. Например, если HTML-файл состоит из единственного слова "Привет", браузер обернёт его в теги &lt;</a:t>
            </a:r>
            <a:r>
              <a:rPr lang="ru-RU" altLang="ru-RU" sz="1500" dirty="0" err="1">
                <a:solidFill>
                  <a:schemeClr val="tx1"/>
                </a:solidFill>
              </a:rPr>
              <a:t>html</a:t>
            </a:r>
            <a:r>
              <a:rPr lang="ru-RU" altLang="ru-RU" sz="1500" dirty="0">
                <a:solidFill>
                  <a:schemeClr val="tx1"/>
                </a:solidFill>
              </a:rPr>
              <a:t>&gt; и &lt;</a:t>
            </a:r>
            <a:r>
              <a:rPr lang="ru-RU" altLang="ru-RU" sz="1500" dirty="0" err="1">
                <a:solidFill>
                  <a:schemeClr val="tx1"/>
                </a:solidFill>
              </a:rPr>
              <a:t>body</a:t>
            </a:r>
            <a:r>
              <a:rPr lang="ru-RU" altLang="ru-RU" sz="1500" dirty="0">
                <a:solidFill>
                  <a:schemeClr val="tx1"/>
                </a:solidFill>
              </a:rPr>
              <a:t>&gt;, добавит необходимый тег &lt;</a:t>
            </a:r>
            <a:r>
              <a:rPr lang="ru-RU" altLang="ru-RU" sz="1500" dirty="0" err="1">
                <a:solidFill>
                  <a:schemeClr val="tx1"/>
                </a:solidFill>
              </a:rPr>
              <a:t>head</a:t>
            </a:r>
            <a:r>
              <a:rPr lang="ru-RU" altLang="ru-RU" sz="1500" dirty="0">
                <a:solidFill>
                  <a:schemeClr val="tx1"/>
                </a:solidFill>
              </a:rPr>
              <a:t>&gt;.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При генерации DOM браузер самостоятельно обрабатывает ошибки в документе, закрывает теги и так далее.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Есть такой документ с незакрытыми тегами: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&lt;p&gt;</a:t>
            </a:r>
            <a:r>
              <a:rPr lang="ru-RU" altLang="ru-RU" sz="1400" dirty="0">
                <a:solidFill>
                  <a:schemeClr val="tx1"/>
                </a:solidFill>
              </a:rPr>
              <a:t>Привет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li</a:t>
            </a: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</a:rPr>
              <a:t>Мама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li</a:t>
            </a: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</a:rPr>
              <a:t>и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li</a:t>
            </a: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&gt;</a:t>
            </a:r>
            <a:r>
              <a:rPr lang="ru-RU" altLang="ru-RU" sz="1400" dirty="0">
                <a:solidFill>
                  <a:schemeClr val="tx1"/>
                </a:solidFill>
              </a:rPr>
              <a:t>Папа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168900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Другие типы узлов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Есть и некоторые другие типы узлов, кроме элементов и текстовых узлов.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Например, узел-комментарий: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Существует 12 типов узлов. Но на практике в основном работают с 4 из них: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 err="1">
                <a:solidFill>
                  <a:srgbClr val="FFFF00"/>
                </a:solidFill>
              </a:rPr>
              <a:t>document</a:t>
            </a:r>
            <a:r>
              <a:rPr lang="ru-RU" altLang="ru-RU" sz="1400" dirty="0">
                <a:solidFill>
                  <a:schemeClr val="tx1"/>
                </a:solidFill>
              </a:rPr>
              <a:t> – «входная точка» в DOM.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FFFF00"/>
                </a:solidFill>
              </a:rPr>
              <a:t>узлы-элементы</a:t>
            </a:r>
            <a:r>
              <a:rPr lang="ru-RU" altLang="ru-RU" sz="1400" dirty="0">
                <a:solidFill>
                  <a:schemeClr val="tx1"/>
                </a:solidFill>
              </a:rPr>
              <a:t> – HTML-теги, основные строительные блоки.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FFFF00"/>
                </a:solidFill>
              </a:rPr>
              <a:t>текстовые узлы</a:t>
            </a:r>
            <a:r>
              <a:rPr lang="ru-RU" altLang="ru-RU" sz="1400" dirty="0">
                <a:solidFill>
                  <a:schemeClr val="tx1"/>
                </a:solidFill>
              </a:rPr>
              <a:t> – содержат текст.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FFFF00"/>
                </a:solidFill>
              </a:rPr>
              <a:t>комментарии</a:t>
            </a:r>
            <a:r>
              <a:rPr lang="ru-RU" altLang="ru-RU" sz="1400" dirty="0">
                <a:solidFill>
                  <a:schemeClr val="tx1"/>
                </a:solidFill>
              </a:rPr>
              <a:t> – иногда в них можно включить информацию, которая не будет показана, но доступна в DOM для чтения JS.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4412F3-D632-40E2-B9AC-B2ED34945A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8" t="7383" r="2374" b="5141"/>
          <a:stretch/>
        </p:blipFill>
        <p:spPr>
          <a:xfrm>
            <a:off x="899592" y="1563638"/>
            <a:ext cx="2952328" cy="188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54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Все </a:t>
            </a:r>
            <a:r>
              <a:rPr lang="en-US" altLang="ru-RU" sz="1400" dirty="0">
                <a:solidFill>
                  <a:schemeClr val="tx1"/>
                </a:solidFill>
              </a:rPr>
              <a:t>HTML </a:t>
            </a:r>
            <a:r>
              <a:rPr lang="ru-RU" altLang="ru-RU" sz="1400" dirty="0">
                <a:solidFill>
                  <a:schemeClr val="tx1"/>
                </a:solidFill>
              </a:rPr>
              <a:t>теги доступны при помощи </a:t>
            </a:r>
            <a:r>
              <a:rPr lang="en-US" altLang="ru-RU" sz="1400" dirty="0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. Можно использовать их для изменения страницы.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Объект </a:t>
            </a:r>
            <a:r>
              <a:rPr lang="ru-RU" altLang="ru-RU" sz="1400" dirty="0" err="1">
                <a:solidFill>
                  <a:srgbClr val="FFFF00"/>
                </a:solidFill>
              </a:rPr>
              <a:t>document</a:t>
            </a:r>
            <a:r>
              <a:rPr lang="ru-RU" altLang="ru-RU" sz="1400" dirty="0">
                <a:solidFill>
                  <a:schemeClr val="tx1"/>
                </a:solidFill>
              </a:rPr>
              <a:t> – основная «входная точка». С его помощью мы можем что-то создавать или менять на странице. 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Например, </a:t>
            </a:r>
            <a:r>
              <a:rPr lang="en-US" altLang="ru-RU" sz="1400" dirty="0" err="1">
                <a:solidFill>
                  <a:srgbClr val="FFFF00"/>
                </a:solidFill>
              </a:rPr>
              <a:t>document.body</a:t>
            </a:r>
            <a:r>
              <a:rPr lang="en-US" altLang="ru-RU" sz="1400" dirty="0">
                <a:solidFill>
                  <a:srgbClr val="FFFF00"/>
                </a:solidFill>
              </a:rPr>
              <a:t> </a:t>
            </a:r>
            <a:r>
              <a:rPr lang="en-US" altLang="ru-RU" sz="1400" dirty="0">
                <a:solidFill>
                  <a:schemeClr val="tx1"/>
                </a:solidFill>
              </a:rPr>
              <a:t>– </a:t>
            </a:r>
            <a:r>
              <a:rPr lang="ru-RU" altLang="ru-RU" sz="1400" dirty="0">
                <a:solidFill>
                  <a:schemeClr val="tx1"/>
                </a:solidFill>
              </a:rPr>
              <a:t>объект для тега </a:t>
            </a: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body&gt;.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запустить этот код, то </a:t>
            </a: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body&gt; </a:t>
            </a:r>
            <a:r>
              <a:rPr lang="ru-RU" altLang="ru-RU" sz="1400" dirty="0">
                <a:solidFill>
                  <a:schemeClr val="tx1"/>
                </a:solidFill>
              </a:rPr>
              <a:t>станет красным на 3 секунды: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.body.style.background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'red'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сделать фон красным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setTimeout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(() =&gt;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.body.style.background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3000);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вернуть назад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FFFF00"/>
                </a:solidFill>
              </a:rPr>
              <a:t>DOM – не только для браузеров</a:t>
            </a:r>
            <a:endParaRPr lang="ru-RU" sz="1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ru-RU" sz="1400" dirty="0"/>
              <a:t>Спецификация DOM описывает структуру документа и предоставляет объекты для манипуляций со страницей. Существуют и другие, отличные от браузеров, инструменты, использующие DOM.</a:t>
            </a:r>
          </a:p>
          <a:p>
            <a:pPr marL="0" indent="0">
              <a:buNone/>
            </a:pPr>
            <a:r>
              <a:rPr lang="ru-RU" sz="1400" dirty="0"/>
              <a:t>Например, серверные скрипты, которые загружают и обрабатывают HTML-страницы, также могут использовать DOM. 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170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b="1" dirty="0">
                <a:solidFill>
                  <a:srgbClr val="FFFF00"/>
                </a:solidFill>
              </a:rPr>
              <a:t>Навигация по </a:t>
            </a:r>
            <a:r>
              <a:rPr lang="en-US" sz="1400" b="1" dirty="0">
                <a:solidFill>
                  <a:srgbClr val="FFFF00"/>
                </a:solidFill>
              </a:rPr>
              <a:t>DOM-</a:t>
            </a:r>
            <a:r>
              <a:rPr lang="ru-RU" sz="1400" b="1" dirty="0">
                <a:solidFill>
                  <a:srgbClr val="FFFF00"/>
                </a:solidFill>
              </a:rPr>
              <a:t>элементам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Все операции с DOM начинаются с объекта </a:t>
            </a:r>
            <a:r>
              <a:rPr lang="ru-RU" altLang="ru-RU" sz="1400" dirty="0" err="1">
                <a:solidFill>
                  <a:srgbClr val="FFFF00"/>
                </a:solidFill>
              </a:rPr>
              <a:t>document</a:t>
            </a:r>
            <a:r>
              <a:rPr lang="ru-RU" altLang="ru-RU" sz="1400" dirty="0">
                <a:solidFill>
                  <a:srgbClr val="E2E3E7"/>
                </a:solidFill>
              </a:rPr>
              <a:t>. Это главная «точка входа» в DOM. Из него мы можем получить доступ к любому узлу.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dirty="0"/>
              <a:t>Так выглядят основные ссылки, по которым можно переходить между узлами DOM: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540133-F791-4459-942F-74E3631D4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9000"/>
                    </a14:imgEffect>
                    <a14:imgEffect>
                      <a14:brightnessContrast contras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779661"/>
            <a:ext cx="3024336" cy="303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03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Сверху: </a:t>
            </a:r>
            <a:r>
              <a:rPr lang="en-US" altLang="ru-RU" sz="1500" dirty="0" err="1">
                <a:solidFill>
                  <a:srgbClr val="FFFF00"/>
                </a:solidFill>
              </a:rPr>
              <a:t>documentElement</a:t>
            </a:r>
            <a:r>
              <a:rPr lang="en-US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>
                <a:solidFill>
                  <a:srgbClr val="FFFF00"/>
                </a:solidFill>
              </a:rPr>
              <a:t>и </a:t>
            </a:r>
            <a:r>
              <a:rPr lang="en-US" altLang="ru-RU" sz="1500" dirty="0">
                <a:solidFill>
                  <a:srgbClr val="FFFF00"/>
                </a:solidFill>
              </a:rPr>
              <a:t>body</a:t>
            </a:r>
            <a:endParaRPr lang="ru-RU" altLang="ru-RU" sz="15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Самые верхние элементы дерева доступны как свойства объекта </a:t>
            </a:r>
            <a:r>
              <a:rPr lang="en-US" altLang="ru-RU" sz="1500" dirty="0">
                <a:solidFill>
                  <a:schemeClr val="tx1"/>
                </a:solidFill>
              </a:rPr>
              <a:t>document: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&lt;html&gt; 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document.documentElement</a:t>
            </a:r>
            <a:endParaRPr lang="en-US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Самый верхний узел документа: </a:t>
            </a:r>
            <a:r>
              <a:rPr lang="en-US" altLang="ru-RU" sz="1500" dirty="0" err="1">
                <a:solidFill>
                  <a:schemeClr val="tx1"/>
                </a:solidFill>
              </a:rPr>
              <a:t>document.documentElement</a:t>
            </a:r>
            <a:r>
              <a:rPr lang="en-US" altLang="ru-RU" sz="1500" dirty="0">
                <a:solidFill>
                  <a:schemeClr val="tx1"/>
                </a:solidFill>
              </a:rPr>
              <a:t>. </a:t>
            </a:r>
            <a:r>
              <a:rPr lang="ru-RU" altLang="ru-RU" sz="1500" dirty="0">
                <a:solidFill>
                  <a:schemeClr val="tx1"/>
                </a:solidFill>
              </a:rPr>
              <a:t>В </a:t>
            </a:r>
            <a:r>
              <a:rPr lang="en-US" altLang="ru-RU" sz="1500" dirty="0">
                <a:solidFill>
                  <a:schemeClr val="tx1"/>
                </a:solidFill>
              </a:rPr>
              <a:t>DOM </a:t>
            </a:r>
            <a:r>
              <a:rPr lang="ru-RU" altLang="ru-RU" sz="1500" dirty="0">
                <a:solidFill>
                  <a:schemeClr val="tx1"/>
                </a:solidFill>
              </a:rPr>
              <a:t>он соответствует тегу &lt;</a:t>
            </a:r>
            <a:r>
              <a:rPr lang="en-US" altLang="ru-RU" sz="1500" dirty="0">
                <a:solidFill>
                  <a:schemeClr val="tx1"/>
                </a:solidFill>
              </a:rPr>
              <a:t>html&gt;.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document.body</a:t>
            </a:r>
            <a:endParaRPr lang="en-US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Другой часто используемый </a:t>
            </a:r>
            <a:r>
              <a:rPr lang="en-US" altLang="ru-RU" sz="1500" dirty="0">
                <a:solidFill>
                  <a:schemeClr val="tx1"/>
                </a:solidFill>
              </a:rPr>
              <a:t>DOM-</a:t>
            </a:r>
            <a:r>
              <a:rPr lang="ru-RU" altLang="ru-RU" sz="1500" dirty="0">
                <a:solidFill>
                  <a:schemeClr val="tx1"/>
                </a:solidFill>
              </a:rPr>
              <a:t>узел – узел тега &lt;</a:t>
            </a:r>
            <a:r>
              <a:rPr lang="en-US" altLang="ru-RU" sz="1500" dirty="0">
                <a:solidFill>
                  <a:schemeClr val="tx1"/>
                </a:solidFill>
              </a:rPr>
              <a:t>body&gt;: </a:t>
            </a:r>
            <a:r>
              <a:rPr lang="en-US" altLang="ru-RU" sz="1500" dirty="0" err="1">
                <a:solidFill>
                  <a:schemeClr val="tx1"/>
                </a:solidFill>
              </a:rPr>
              <a:t>document.body</a:t>
            </a:r>
            <a:r>
              <a:rPr lang="en-US" altLang="ru-RU" sz="15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document.head</a:t>
            </a:r>
            <a:endParaRPr lang="en-US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Тег </a:t>
            </a:r>
            <a:r>
              <a:rPr lang="ru-RU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head&gt; </a:t>
            </a:r>
            <a:r>
              <a:rPr lang="ru-RU" altLang="ru-RU" sz="1500" dirty="0">
                <a:solidFill>
                  <a:schemeClr val="tx1"/>
                </a:solidFill>
              </a:rPr>
              <a:t>доступен как </a:t>
            </a:r>
            <a:r>
              <a:rPr lang="en-US" altLang="ru-RU" sz="1500" dirty="0" err="1">
                <a:solidFill>
                  <a:schemeClr val="tx1"/>
                </a:solidFill>
              </a:rPr>
              <a:t>document.head</a:t>
            </a:r>
            <a:r>
              <a:rPr lang="en-US" altLang="ru-RU" sz="1500" dirty="0">
                <a:solidFill>
                  <a:schemeClr val="tx1"/>
                </a:solidFill>
              </a:rPr>
              <a:t>.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Дети: </a:t>
            </a:r>
            <a:r>
              <a:rPr lang="en-US" altLang="ru-RU" sz="1500" dirty="0" err="1">
                <a:solidFill>
                  <a:srgbClr val="FFFF00"/>
                </a:solidFill>
              </a:rPr>
              <a:t>childNodes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firstChild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lastChild</a:t>
            </a:r>
            <a:endParaRPr lang="ru-RU" altLang="ru-RU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b="1" dirty="0">
                <a:solidFill>
                  <a:srgbClr val="E2E3E7"/>
                </a:solidFill>
              </a:rPr>
              <a:t>Дочерние узлы (или дети)</a:t>
            </a:r>
            <a:r>
              <a:rPr lang="ru-RU" altLang="ru-RU" sz="1500" dirty="0">
                <a:solidFill>
                  <a:srgbClr val="E2E3E7"/>
                </a:solidFill>
              </a:rPr>
              <a:t> – элементы, которые являются непосредственными детьми узла. Другими словами, элементы, которые лежат непосредственно внутри данного. Например, &lt;</a:t>
            </a:r>
            <a:r>
              <a:rPr lang="ru-RU" altLang="ru-RU" sz="1500" dirty="0" err="1">
                <a:solidFill>
                  <a:srgbClr val="E2E3E7"/>
                </a:solidFill>
              </a:rPr>
              <a:t>head</a:t>
            </a:r>
            <a:r>
              <a:rPr lang="ru-RU" altLang="ru-RU" sz="1500" dirty="0">
                <a:solidFill>
                  <a:srgbClr val="E2E3E7"/>
                </a:solidFill>
              </a:rPr>
              <a:t>&gt; и &lt;</a:t>
            </a:r>
            <a:r>
              <a:rPr lang="ru-RU" altLang="ru-RU" sz="1500" dirty="0" err="1">
                <a:solidFill>
                  <a:srgbClr val="E2E3E7"/>
                </a:solidFill>
              </a:rPr>
              <a:t>body</a:t>
            </a:r>
            <a:r>
              <a:rPr lang="ru-RU" altLang="ru-RU" sz="1500" dirty="0">
                <a:solidFill>
                  <a:srgbClr val="E2E3E7"/>
                </a:solidFill>
              </a:rPr>
              <a:t>&gt; являются детьми элемента &lt;</a:t>
            </a:r>
            <a:r>
              <a:rPr lang="ru-RU" altLang="ru-RU" sz="1500" dirty="0" err="1">
                <a:solidFill>
                  <a:srgbClr val="E2E3E7"/>
                </a:solidFill>
              </a:rPr>
              <a:t>html</a:t>
            </a:r>
            <a:r>
              <a:rPr lang="ru-RU" altLang="ru-RU" sz="1500" dirty="0">
                <a:solidFill>
                  <a:srgbClr val="E2E3E7"/>
                </a:solidFill>
              </a:rPr>
              <a:t>&gt;.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b="1" dirty="0">
                <a:solidFill>
                  <a:srgbClr val="E2E3E7"/>
                </a:solidFill>
              </a:rPr>
              <a:t>Потомки</a:t>
            </a:r>
            <a:r>
              <a:rPr lang="ru-RU" altLang="ru-RU" sz="1500" dirty="0">
                <a:solidFill>
                  <a:srgbClr val="E2E3E7"/>
                </a:solidFill>
              </a:rPr>
              <a:t> – все элементы, которые лежат внутри данного, включая детей, их детей и т.д.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115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 примере ниже детьми тега &lt;</a:t>
            </a:r>
            <a:r>
              <a:rPr lang="ru-RU" altLang="ru-RU" sz="1500" dirty="0" err="1">
                <a:solidFill>
                  <a:schemeClr val="tx1"/>
                </a:solidFill>
              </a:rPr>
              <a:t>body</a:t>
            </a:r>
            <a:r>
              <a:rPr lang="ru-RU" altLang="ru-RU" sz="1500" dirty="0">
                <a:solidFill>
                  <a:schemeClr val="tx1"/>
                </a:solidFill>
              </a:rPr>
              <a:t>&gt; являются теги &lt;</a:t>
            </a:r>
            <a:r>
              <a:rPr lang="ru-RU" altLang="ru-RU" sz="1500" dirty="0" err="1">
                <a:solidFill>
                  <a:schemeClr val="tx1"/>
                </a:solidFill>
              </a:rPr>
              <a:t>div</a:t>
            </a:r>
            <a:r>
              <a:rPr lang="ru-RU" altLang="ru-RU" sz="1500" dirty="0">
                <a:solidFill>
                  <a:schemeClr val="tx1"/>
                </a:solidFill>
              </a:rPr>
              <a:t>&gt; и &lt;</a:t>
            </a:r>
            <a:r>
              <a:rPr lang="ru-RU" altLang="ru-RU" sz="1500" dirty="0" err="1">
                <a:solidFill>
                  <a:schemeClr val="tx1"/>
                </a:solidFill>
              </a:rPr>
              <a:t>ul</a:t>
            </a:r>
            <a:r>
              <a:rPr lang="ru-RU" altLang="ru-RU" sz="1500" dirty="0">
                <a:solidFill>
                  <a:schemeClr val="tx1"/>
                </a:solidFill>
              </a:rPr>
              <a:t>&gt; (и несколько пустых текстовых узлов):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AE552E-B137-4968-B250-FB7443286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9" y="1281718"/>
            <a:ext cx="2992113" cy="2442160"/>
          </a:xfrm>
          <a:prstGeom prst="rect">
            <a:avLst/>
          </a:prstGeom>
        </p:spPr>
      </p:pic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15346B58-1D27-421D-9CA6-1F464E97B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867633"/>
              </p:ext>
            </p:extLst>
          </p:nvPr>
        </p:nvGraphicFramePr>
        <p:xfrm>
          <a:off x="827585" y="3723878"/>
          <a:ext cx="6984776" cy="11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4776">
                  <a:extLst>
                    <a:ext uri="{9D8B030D-6E8A-4147-A177-3AD203B41FA5}">
                      <a16:colId xmlns:a16="http://schemas.microsoft.com/office/drawing/2014/main" val="1081389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примере детьми тега 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&lt;</a:t>
                      </a:r>
                      <a:r>
                        <a:rPr lang="ru-RU" sz="1400" dirty="0" err="1">
                          <a:solidFill>
                            <a:srgbClr val="FFFF00"/>
                          </a:solidFill>
                        </a:rPr>
                        <a:t>body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&gt;</a:t>
                      </a:r>
                      <a:r>
                        <a:rPr lang="ru-RU" sz="1400" b="0" i="0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являются теги 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&lt;</a:t>
                      </a:r>
                      <a:r>
                        <a:rPr lang="ru-RU" sz="1400" dirty="0" err="1">
                          <a:solidFill>
                            <a:srgbClr val="FFFF00"/>
                          </a:solidFill>
                        </a:rPr>
                        <a:t>div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&gt;</a:t>
                      </a:r>
                      <a:r>
                        <a:rPr lang="ru-RU" sz="1400" b="0" i="0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 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&lt;</a:t>
                      </a:r>
                      <a:r>
                        <a:rPr lang="ru-RU" sz="1400" dirty="0" err="1">
                          <a:solidFill>
                            <a:srgbClr val="FFFF00"/>
                          </a:solidFill>
                        </a:rPr>
                        <a:t>ul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&gt;</a:t>
                      </a:r>
                      <a:r>
                        <a:rPr lang="ru-RU" sz="1400" b="0" i="0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(и несколько пустых текстовых узлов). </a:t>
                      </a:r>
                    </a:p>
                    <a:p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 потомки 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&lt;</a:t>
                      </a:r>
                      <a:r>
                        <a:rPr lang="ru-RU" sz="1400" dirty="0" err="1">
                          <a:solidFill>
                            <a:srgbClr val="FFFF00"/>
                          </a:solidFill>
                        </a:rPr>
                        <a:t>body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&gt;</a:t>
                      </a:r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это и прямые дети 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&lt;</a:t>
                      </a:r>
                      <a:r>
                        <a:rPr lang="ru-RU" sz="1400" dirty="0" err="1">
                          <a:solidFill>
                            <a:srgbClr val="FFFF00"/>
                          </a:solidFill>
                        </a:rPr>
                        <a:t>div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&gt;</a:t>
                      </a:r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&lt;</a:t>
                      </a:r>
                      <a:r>
                        <a:rPr lang="ru-RU" sz="1400" dirty="0" err="1">
                          <a:solidFill>
                            <a:srgbClr val="FFFF00"/>
                          </a:solidFill>
                        </a:rPr>
                        <a:t>ul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&gt;</a:t>
                      </a:r>
                      <a:r>
                        <a:rPr lang="ru-RU" sz="1350" b="0" i="0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вложенные в них: 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&lt;</a:t>
                      </a:r>
                      <a:r>
                        <a:rPr lang="ru-RU" sz="1400" dirty="0" err="1">
                          <a:solidFill>
                            <a:srgbClr val="FFFF00"/>
                          </a:solidFill>
                        </a:rPr>
                        <a:t>li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&gt;</a:t>
                      </a:r>
                      <a:r>
                        <a:rPr lang="ru-RU" sz="1350" b="0" i="0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(ребёнок </a:t>
                      </a:r>
                      <a:r>
                        <a:rPr lang="ru-RU" sz="1400" dirty="0"/>
                        <a:t>&lt;</a:t>
                      </a:r>
                      <a:r>
                        <a:rPr lang="ru-RU" sz="1400" dirty="0" err="1"/>
                        <a:t>ul</a:t>
                      </a:r>
                      <a:r>
                        <a:rPr lang="ru-RU" sz="1400" dirty="0"/>
                        <a:t>&gt;</a:t>
                      </a:r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и 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&lt;b&gt;</a:t>
                      </a:r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(ребёнок </a:t>
                      </a:r>
                      <a:r>
                        <a:rPr lang="ru-RU" sz="1400" dirty="0"/>
                        <a:t>&lt;</a:t>
                      </a:r>
                      <a:r>
                        <a:rPr lang="ru-RU" sz="1400" dirty="0" err="1"/>
                        <a:t>li</a:t>
                      </a:r>
                      <a:r>
                        <a:rPr lang="ru-RU" sz="1400" dirty="0"/>
                        <a:t>&gt;</a:t>
                      </a:r>
                      <a:r>
                        <a:rPr lang="ru-RU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– в общем, все элементы поддерева.</a:t>
                      </a:r>
                      <a:endParaRPr lang="ru-RU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Коллекция </a:t>
                      </a:r>
                      <a:r>
                        <a:rPr lang="ru-RU" sz="1400" b="0" i="0" kern="1200" dirty="0" err="1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childNodes</a:t>
                      </a:r>
                      <a:r>
                        <a:rPr lang="ru-RU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содержит список всех детей, включая текстовые узлы.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06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597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E2E3E7"/>
              </a:solidFill>
              <a:latin typeface="BlinkMacSystemFon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E2E3E7"/>
              </a:solidFill>
              <a:latin typeface="BlinkMacSystemFon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E2E3E7"/>
              </a:solidFill>
              <a:latin typeface="BlinkMacSystemFon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E2E3E7"/>
              </a:solidFill>
              <a:latin typeface="BlinkMacSystemFon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E2E3E7"/>
              </a:solidFill>
              <a:latin typeface="BlinkMacSystemFon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E2E3E7"/>
              </a:solidFill>
              <a:latin typeface="BlinkMacSystemFon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E2E3E7"/>
              </a:solidFill>
              <a:latin typeface="BlinkMacSystemFon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E2E3E7"/>
              </a:solidFill>
              <a:latin typeface="BlinkMacSystemFon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600" dirty="0">
              <a:solidFill>
                <a:srgbClr val="E2E3E7"/>
              </a:solidFill>
              <a:latin typeface="BlinkMacSystemFont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Если запустить пример выше, то последним будет выведен элемент </a:t>
            </a: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script</a:t>
            </a:r>
            <a:r>
              <a:rPr lang="ru-RU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&gt;</a:t>
            </a:r>
            <a:r>
              <a:rPr lang="ru-RU" altLang="ru-RU" sz="1400" dirty="0">
                <a:solidFill>
                  <a:srgbClr val="E2E3E7"/>
                </a:solidFill>
              </a:rPr>
              <a:t>. На самом деле, в документе есть ещё «какой-то HTML-код», но на момент выполнения скрипта браузер ещё до него не дошёл, поэтому скрипт не видит его.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Свойства </a:t>
            </a:r>
            <a:r>
              <a:rPr lang="ru-RU" altLang="ru-RU" sz="1400" dirty="0" err="1">
                <a:solidFill>
                  <a:srgbClr val="FFFF00"/>
                </a:solidFill>
              </a:rPr>
              <a:t>firstChild</a:t>
            </a:r>
            <a:r>
              <a:rPr lang="ru-RU" altLang="ru-RU" sz="1400" dirty="0">
                <a:solidFill>
                  <a:srgbClr val="E2E3E7"/>
                </a:solidFill>
              </a:rPr>
              <a:t> и </a:t>
            </a:r>
            <a:r>
              <a:rPr lang="ru-RU" altLang="ru-RU" sz="1400" dirty="0" err="1">
                <a:solidFill>
                  <a:srgbClr val="FFFF00"/>
                </a:solidFill>
              </a:rPr>
              <a:t>lastChild</a:t>
            </a:r>
            <a:r>
              <a:rPr lang="ru-RU" altLang="ru-RU" sz="1400" dirty="0">
                <a:solidFill>
                  <a:srgbClr val="E2E3E7"/>
                </a:solidFill>
              </a:rPr>
              <a:t> обеспечивают быстрый доступ к первому и последнему дочернему элементу.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elem.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childNodes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[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]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===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elem.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firstChild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elem.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childNodes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[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elem.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childNodes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]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===</a:t>
            </a:r>
            <a:r>
              <a:rPr lang="ru-RU" altLang="ru-RU" sz="14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F8F8F2"/>
                </a:solidFill>
                <a:latin typeface="Consolas" panose="020B0609020204030204" pitchFamily="49" charset="0"/>
              </a:rPr>
              <a:t>elem.</a:t>
            </a:r>
            <a:r>
              <a:rPr lang="ru-RU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lastChild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Для проверки наличия дочерних узлов существует также специальная функция </a:t>
            </a:r>
            <a:r>
              <a:rPr lang="ru-RU" altLang="ru-RU" sz="1400" dirty="0" err="1">
                <a:solidFill>
                  <a:schemeClr val="tx1"/>
                </a:solidFill>
              </a:rPr>
              <a:t>elem.hasChildNodes</a:t>
            </a:r>
            <a:r>
              <a:rPr lang="ru-RU" altLang="ru-RU" sz="1400" dirty="0">
                <a:solidFill>
                  <a:schemeClr val="tx1"/>
                </a:solidFill>
              </a:rPr>
              <a:t>()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1F3D0D-DE4F-40A7-8F7A-CCDEC2522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5000"/>
                    </a14:imgEffect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8" y="699543"/>
            <a:ext cx="4238398" cy="2188054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0B7C3D43-F4DF-4E7C-BD64-10CE4620A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420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Соседи и родитель</a:t>
            </a:r>
            <a:endParaRPr lang="en-US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i="1" dirty="0"/>
              <a:t>Соседи</a:t>
            </a:r>
            <a:r>
              <a:rPr lang="ru-RU" sz="1400" dirty="0"/>
              <a:t> – это узлы, у которых один и тот же родитель.</a:t>
            </a:r>
            <a:endParaRPr lang="en-US" sz="1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Например, здесь &lt;</a:t>
            </a:r>
            <a:r>
              <a:rPr lang="en-US" altLang="ru-RU" sz="1400" dirty="0">
                <a:solidFill>
                  <a:schemeClr val="tx1"/>
                </a:solidFill>
              </a:rPr>
              <a:t>head&gt; </a:t>
            </a:r>
            <a:r>
              <a:rPr lang="ru-RU" altLang="ru-RU" sz="1400" dirty="0">
                <a:solidFill>
                  <a:schemeClr val="tx1"/>
                </a:solidFill>
              </a:rPr>
              <a:t>и &lt;</a:t>
            </a:r>
            <a:r>
              <a:rPr lang="en-US" altLang="ru-RU" sz="1400" dirty="0">
                <a:solidFill>
                  <a:schemeClr val="tx1"/>
                </a:solidFill>
              </a:rPr>
              <a:t>body&gt; </a:t>
            </a:r>
            <a:r>
              <a:rPr lang="ru-RU" altLang="ru-RU" sz="1400" dirty="0">
                <a:solidFill>
                  <a:schemeClr val="tx1"/>
                </a:solidFill>
              </a:rPr>
              <a:t>соседи: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0066"/>
                </a:solidFill>
              </a:rPr>
              <a:t>&lt;</a:t>
            </a:r>
            <a:r>
              <a:rPr lang="en-US" altLang="ru-RU" sz="1400" dirty="0">
                <a:solidFill>
                  <a:srgbClr val="FF0066"/>
                </a:solidFill>
              </a:rPr>
              <a:t>html&gt;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0066"/>
                </a:solidFill>
              </a:rPr>
              <a:t>  &lt;head&gt;...&lt;/head&gt;&lt;body&gt;...&lt;/body&gt;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0066"/>
                </a:solidFill>
              </a:rPr>
              <a:t>&lt;/html&gt;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говорят, что &lt;</a:t>
            </a:r>
            <a:r>
              <a:rPr lang="en-US" altLang="ru-RU" sz="1400" dirty="0">
                <a:solidFill>
                  <a:schemeClr val="tx1"/>
                </a:solidFill>
              </a:rPr>
              <a:t>body&gt; – «</a:t>
            </a:r>
            <a:r>
              <a:rPr lang="ru-RU" altLang="ru-RU" sz="1400" dirty="0">
                <a:solidFill>
                  <a:schemeClr val="tx1"/>
                </a:solidFill>
              </a:rPr>
              <a:t>следующий» или «правый» сосед &lt;</a:t>
            </a:r>
            <a:r>
              <a:rPr lang="en-US" altLang="ru-RU" sz="1400" dirty="0">
                <a:solidFill>
                  <a:schemeClr val="tx1"/>
                </a:solidFill>
              </a:rPr>
              <a:t>head&gt;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также можно сказать, что &lt;</a:t>
            </a:r>
            <a:r>
              <a:rPr lang="en-US" altLang="ru-RU" sz="1400" dirty="0">
                <a:solidFill>
                  <a:schemeClr val="tx1"/>
                </a:solidFill>
              </a:rPr>
              <a:t>head&gt; «</a:t>
            </a:r>
            <a:r>
              <a:rPr lang="ru-RU" altLang="ru-RU" sz="1400" dirty="0">
                <a:solidFill>
                  <a:schemeClr val="tx1"/>
                </a:solidFill>
              </a:rPr>
              <a:t>предыдущий» или «левый» сосед &lt;</a:t>
            </a:r>
            <a:r>
              <a:rPr lang="en-US" altLang="ru-RU" sz="1400" dirty="0">
                <a:solidFill>
                  <a:schemeClr val="tx1"/>
                </a:solidFill>
              </a:rPr>
              <a:t>body&gt;.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Следующий узел того же родителя (следующий сосед) – в свойстве </a:t>
            </a:r>
            <a:r>
              <a:rPr lang="en-US" altLang="ru-RU" sz="1400" dirty="0" err="1">
                <a:solidFill>
                  <a:schemeClr val="tx1"/>
                </a:solidFill>
              </a:rPr>
              <a:t>nextSibling</a:t>
            </a:r>
            <a:r>
              <a:rPr lang="en-US" altLang="ru-RU" sz="1400" dirty="0">
                <a:solidFill>
                  <a:schemeClr val="tx1"/>
                </a:solidFill>
              </a:rPr>
              <a:t>, </a:t>
            </a:r>
            <a:r>
              <a:rPr lang="ru-RU" altLang="ru-RU" sz="1400" dirty="0">
                <a:solidFill>
                  <a:schemeClr val="tx1"/>
                </a:solidFill>
              </a:rPr>
              <a:t>а предыдущий – в </a:t>
            </a:r>
            <a:r>
              <a:rPr lang="en-US" altLang="ru-RU" sz="1400" dirty="0" err="1">
                <a:solidFill>
                  <a:schemeClr val="tx1"/>
                </a:solidFill>
              </a:rPr>
              <a:t>previousSibling</a:t>
            </a:r>
            <a:r>
              <a:rPr lang="en-US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// родителем &lt;</a:t>
            </a:r>
            <a:r>
              <a:rPr lang="en-US" altLang="ru-RU" sz="1400" dirty="0">
                <a:solidFill>
                  <a:srgbClr val="FFFF00"/>
                </a:solidFill>
              </a:rPr>
              <a:t>body&gt; </a:t>
            </a:r>
            <a:r>
              <a:rPr lang="ru-RU" altLang="ru-RU" sz="1400" dirty="0">
                <a:solidFill>
                  <a:srgbClr val="FFFF00"/>
                </a:solidFill>
              </a:rPr>
              <a:t>является &lt;</a:t>
            </a:r>
            <a:r>
              <a:rPr lang="en-US" altLang="ru-RU" sz="1400" dirty="0">
                <a:solidFill>
                  <a:srgbClr val="FFFF00"/>
                </a:solidFill>
              </a:rPr>
              <a:t>html&gt;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parentNode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===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documentElement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после &lt;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head&gt;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идёт &lt;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body&gt;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.head.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nextSibling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HTMLBodyElement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</a:rPr>
              <a:t>перед &lt;</a:t>
            </a:r>
            <a:r>
              <a:rPr lang="en-US" altLang="ru-RU" sz="1400" dirty="0">
                <a:solidFill>
                  <a:srgbClr val="FFFF00"/>
                </a:solidFill>
              </a:rPr>
              <a:t>body&gt; </a:t>
            </a:r>
            <a:r>
              <a:rPr lang="ru-RU" altLang="ru-RU" sz="1400" dirty="0">
                <a:solidFill>
                  <a:srgbClr val="FFFF00"/>
                </a:solidFill>
              </a:rPr>
              <a:t>находится &lt;</a:t>
            </a:r>
            <a:r>
              <a:rPr lang="en-US" altLang="ru-RU" sz="1400" dirty="0">
                <a:solidFill>
                  <a:srgbClr val="FFFF00"/>
                </a:solidFill>
              </a:rPr>
              <a:t>head&gt;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previousSibling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HTMLHeadElement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308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Навигация только по элементам</a:t>
            </a:r>
            <a:endParaRPr lang="en-US" altLang="ru-RU" sz="15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Навигационные свойства, описанные выше, относятся ко всем узлам в документе. В частности, в </a:t>
            </a:r>
            <a:r>
              <a:rPr lang="ru-RU" altLang="ru-RU" sz="1500" dirty="0" err="1">
                <a:solidFill>
                  <a:schemeClr val="tx1"/>
                </a:solidFill>
              </a:rPr>
              <a:t>childNodes</a:t>
            </a:r>
            <a:r>
              <a:rPr lang="ru-RU" altLang="ru-RU" sz="1500" dirty="0">
                <a:solidFill>
                  <a:schemeClr val="tx1"/>
                </a:solidFill>
              </a:rPr>
              <a:t> находятся и текстовые узлы и узлы-элементы и узлы-комментарии, если они есть.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Но для большинства задач текстовые узлы и узлы-комментарии не нужны. Мы хотим манипулировать узлами-элементами, которые представляют собой теги и формируют структуру страницы.</a:t>
            </a:r>
            <a:endParaRPr lang="en-US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/>
              <a:t>Рассмотрим дополнительный набор ссылок, которые учитывают только </a:t>
            </a:r>
            <a:r>
              <a:rPr lang="ru-RU" sz="1500" i="1" dirty="0">
                <a:solidFill>
                  <a:srgbClr val="FFFF00"/>
                </a:solidFill>
              </a:rPr>
              <a:t>узлы-элементы</a:t>
            </a:r>
            <a:r>
              <a:rPr lang="ru-RU" sz="1500" dirty="0"/>
              <a:t>:</a:t>
            </a:r>
            <a:endParaRPr lang="ru-RU" altLang="ru-RU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children</a:t>
            </a:r>
            <a:r>
              <a:rPr lang="ru-RU" altLang="ru-RU" sz="1500" dirty="0">
                <a:solidFill>
                  <a:srgbClr val="E2E3E7"/>
                </a:solidFill>
              </a:rPr>
              <a:t> – коллекция детей, которые являются элементами.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firstElementChild</a:t>
            </a:r>
            <a:r>
              <a:rPr lang="ru-RU" altLang="ru-RU" sz="1500" dirty="0">
                <a:solidFill>
                  <a:srgbClr val="FFFF00"/>
                </a:solidFill>
              </a:rPr>
              <a:t>, </a:t>
            </a:r>
            <a:r>
              <a:rPr lang="ru-RU" altLang="ru-RU" sz="1500" dirty="0" err="1">
                <a:solidFill>
                  <a:srgbClr val="FFFF00"/>
                </a:solidFill>
              </a:rPr>
              <a:t>lastElementChild</a:t>
            </a:r>
            <a:r>
              <a:rPr lang="ru-RU" altLang="ru-RU" sz="1500" dirty="0">
                <a:solidFill>
                  <a:srgbClr val="FFFF00"/>
                </a:solidFill>
              </a:rPr>
              <a:t> </a:t>
            </a:r>
            <a:r>
              <a:rPr lang="ru-RU" altLang="ru-RU" sz="1500" dirty="0">
                <a:solidFill>
                  <a:srgbClr val="E2E3E7"/>
                </a:solidFill>
              </a:rPr>
              <a:t>– первый и последний дочерний элемент.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previousElementSibling</a:t>
            </a:r>
            <a:r>
              <a:rPr lang="ru-RU" altLang="ru-RU" sz="1500" dirty="0">
                <a:solidFill>
                  <a:srgbClr val="FFFF00"/>
                </a:solidFill>
              </a:rPr>
              <a:t>, </a:t>
            </a:r>
            <a:r>
              <a:rPr lang="ru-RU" altLang="ru-RU" sz="1500" dirty="0" err="1">
                <a:solidFill>
                  <a:srgbClr val="FFFF00"/>
                </a:solidFill>
              </a:rPr>
              <a:t>nextElementSibling</a:t>
            </a:r>
            <a:r>
              <a:rPr lang="ru-RU" altLang="ru-RU" sz="1500" dirty="0">
                <a:solidFill>
                  <a:srgbClr val="FFFF00"/>
                </a:solidFill>
              </a:rPr>
              <a:t> </a:t>
            </a:r>
            <a:r>
              <a:rPr lang="ru-RU" altLang="ru-RU" sz="1500" dirty="0">
                <a:solidFill>
                  <a:srgbClr val="E2E3E7"/>
                </a:solidFill>
              </a:rPr>
              <a:t>– соседи-элементы.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 err="1">
                <a:solidFill>
                  <a:srgbClr val="FFFF00"/>
                </a:solidFill>
              </a:rPr>
              <a:t>parentElement</a:t>
            </a:r>
            <a:r>
              <a:rPr lang="ru-RU" altLang="ru-RU" sz="1500" dirty="0">
                <a:solidFill>
                  <a:srgbClr val="E2E3E7"/>
                </a:solidFill>
              </a:rPr>
              <a:t> – родитель-элемент.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240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Объектная модель браузера (BOM) и документа (DOM)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Итого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Получив </a:t>
            </a:r>
            <a:r>
              <a:rPr lang="en-US" altLang="ru-RU" sz="1500" dirty="0">
                <a:solidFill>
                  <a:schemeClr val="tx1"/>
                </a:solidFill>
              </a:rPr>
              <a:t>DOM-</a:t>
            </a:r>
            <a:r>
              <a:rPr lang="ru-RU" altLang="ru-RU" sz="1500" dirty="0">
                <a:solidFill>
                  <a:schemeClr val="tx1"/>
                </a:solidFill>
              </a:rPr>
              <a:t>узел, мы можем перейти к его ближайшим соседям используя навигационные ссылки.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Есть два основных набора ссылок: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Для всех узлов: </a:t>
            </a:r>
            <a:r>
              <a:rPr lang="en-US" altLang="ru-RU" sz="1500" dirty="0" err="1">
                <a:solidFill>
                  <a:srgbClr val="FFFF00"/>
                </a:solidFill>
              </a:rPr>
              <a:t>parentNode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childNodes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firstChild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lastChild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previousSibling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nextSibling</a:t>
            </a:r>
            <a:r>
              <a:rPr lang="en-US" altLang="ru-RU" sz="15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</a:rPr>
              <a:t>Только для узлов-элементов: </a:t>
            </a:r>
            <a:r>
              <a:rPr lang="en-US" altLang="ru-RU" sz="1500" dirty="0" err="1">
                <a:solidFill>
                  <a:srgbClr val="FFFF00"/>
                </a:solidFill>
              </a:rPr>
              <a:t>parentElement</a:t>
            </a:r>
            <a:r>
              <a:rPr lang="en-US" altLang="ru-RU" sz="1500" dirty="0">
                <a:solidFill>
                  <a:srgbClr val="FFFF00"/>
                </a:solidFill>
              </a:rPr>
              <a:t>, children, </a:t>
            </a:r>
            <a:r>
              <a:rPr lang="en-US" altLang="ru-RU" sz="1500" dirty="0" err="1">
                <a:solidFill>
                  <a:srgbClr val="FFFF00"/>
                </a:solidFill>
              </a:rPr>
              <a:t>firstElementChild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lastElementChild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previousElementSibling</a:t>
            </a:r>
            <a:r>
              <a:rPr lang="en-US" altLang="ru-RU" sz="1500" dirty="0">
                <a:solidFill>
                  <a:srgbClr val="FFFF00"/>
                </a:solidFill>
              </a:rPr>
              <a:t>, </a:t>
            </a:r>
            <a:r>
              <a:rPr lang="en-US" altLang="ru-RU" sz="1500" dirty="0" err="1">
                <a:solidFill>
                  <a:srgbClr val="FFFF00"/>
                </a:solidFill>
              </a:rPr>
              <a:t>nextElementSibling</a:t>
            </a:r>
            <a:r>
              <a:rPr lang="en-US" altLang="ru-RU" sz="15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Некоторые виды </a:t>
            </a:r>
            <a:r>
              <a:rPr lang="en-US" altLang="ru-RU" sz="1500" dirty="0">
                <a:solidFill>
                  <a:schemeClr val="tx1"/>
                </a:solidFill>
              </a:rPr>
              <a:t>DOM-</a:t>
            </a:r>
            <a:r>
              <a:rPr lang="ru-RU" altLang="ru-RU" sz="1500" dirty="0">
                <a:solidFill>
                  <a:schemeClr val="tx1"/>
                </a:solidFill>
              </a:rPr>
              <a:t>элементов, например таблицы, предоставляют дополнительные ссылки и коллекции для доступа к своему содержимому.</a:t>
            </a:r>
          </a:p>
        </p:txBody>
      </p:sp>
    </p:spTree>
    <p:extLst>
      <p:ext uri="{BB962C8B-B14F-4D97-AF65-F5344CB8AC3E}">
        <p14:creationId xmlns:p14="http://schemas.microsoft.com/office/powerpoint/2010/main" val="1331380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707278"/>
            <a:ext cx="7632848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Дочерние элементы в </a:t>
            </a:r>
            <a:r>
              <a:rPr lang="en-US" altLang="ru-RU" sz="1600" dirty="0">
                <a:solidFill>
                  <a:schemeClr val="tx1"/>
                </a:solidFill>
              </a:rPr>
              <a:t>DOM</a:t>
            </a:r>
            <a:endParaRPr lang="ru-RU" altLang="ru-RU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Для страницы:</a:t>
            </a:r>
          </a:p>
          <a:p>
            <a:pPr marL="600075" lvl="2" indent="0">
              <a:spcBef>
                <a:spcPts val="0"/>
              </a:spcBef>
              <a:buNone/>
            </a:pPr>
            <a:r>
              <a:rPr lang="ru-RU" altLang="ru-RU" sz="1800" dirty="0">
                <a:solidFill>
                  <a:srgbClr val="92D050"/>
                </a:solidFill>
              </a:rPr>
              <a:t>&lt;</a:t>
            </a:r>
            <a:r>
              <a:rPr lang="ru-RU" altLang="ru-RU" sz="1800" dirty="0" err="1">
                <a:solidFill>
                  <a:srgbClr val="92D050"/>
                </a:solidFill>
              </a:rPr>
              <a:t>html</a:t>
            </a:r>
            <a:r>
              <a:rPr lang="ru-RU" altLang="ru-RU" sz="1800" dirty="0">
                <a:solidFill>
                  <a:srgbClr val="92D050"/>
                </a:solidFill>
              </a:rPr>
              <a:t>&gt;</a:t>
            </a:r>
          </a:p>
          <a:p>
            <a:pPr marL="600075" lvl="2" indent="0">
              <a:spcBef>
                <a:spcPts val="0"/>
              </a:spcBef>
              <a:buNone/>
            </a:pPr>
            <a:r>
              <a:rPr lang="ru-RU" altLang="ru-RU" sz="1800" dirty="0">
                <a:solidFill>
                  <a:srgbClr val="92D050"/>
                </a:solidFill>
              </a:rPr>
              <a:t>&lt;</a:t>
            </a:r>
            <a:r>
              <a:rPr lang="ru-RU" altLang="ru-RU" sz="1800" dirty="0" err="1">
                <a:solidFill>
                  <a:srgbClr val="92D050"/>
                </a:solidFill>
              </a:rPr>
              <a:t>body</a:t>
            </a:r>
            <a:r>
              <a:rPr lang="ru-RU" altLang="ru-RU" sz="1800" dirty="0">
                <a:solidFill>
                  <a:srgbClr val="92D050"/>
                </a:solidFill>
              </a:rPr>
              <a:t>&gt;</a:t>
            </a:r>
          </a:p>
          <a:p>
            <a:pPr marL="600075" lvl="2" indent="0">
              <a:spcBef>
                <a:spcPts val="0"/>
              </a:spcBef>
              <a:buNone/>
            </a:pPr>
            <a:r>
              <a:rPr lang="ru-RU" altLang="ru-RU" sz="1800" dirty="0">
                <a:solidFill>
                  <a:srgbClr val="92D050"/>
                </a:solidFill>
              </a:rPr>
              <a:t>  &lt;</a:t>
            </a:r>
            <a:r>
              <a:rPr lang="ru-RU" altLang="ru-RU" sz="1800" dirty="0" err="1">
                <a:solidFill>
                  <a:srgbClr val="92D050"/>
                </a:solidFill>
              </a:rPr>
              <a:t>div</a:t>
            </a:r>
            <a:r>
              <a:rPr lang="ru-RU" altLang="ru-RU" sz="1800" dirty="0">
                <a:solidFill>
                  <a:srgbClr val="92D050"/>
                </a:solidFill>
              </a:rPr>
              <a:t>&gt;Пользователи:&lt;/</a:t>
            </a:r>
            <a:r>
              <a:rPr lang="ru-RU" altLang="ru-RU" sz="1800" dirty="0" err="1">
                <a:solidFill>
                  <a:srgbClr val="92D050"/>
                </a:solidFill>
              </a:rPr>
              <a:t>div</a:t>
            </a:r>
            <a:r>
              <a:rPr lang="ru-RU" altLang="ru-RU" sz="1800" dirty="0">
                <a:solidFill>
                  <a:srgbClr val="92D050"/>
                </a:solidFill>
              </a:rPr>
              <a:t>&gt;</a:t>
            </a:r>
          </a:p>
          <a:p>
            <a:pPr marL="600075" lvl="2" indent="0">
              <a:spcBef>
                <a:spcPts val="0"/>
              </a:spcBef>
              <a:buNone/>
            </a:pPr>
            <a:r>
              <a:rPr lang="ru-RU" altLang="ru-RU" sz="1800" dirty="0">
                <a:solidFill>
                  <a:srgbClr val="92D050"/>
                </a:solidFill>
              </a:rPr>
              <a:t>  &lt;</a:t>
            </a:r>
            <a:r>
              <a:rPr lang="ru-RU" altLang="ru-RU" sz="1800" dirty="0" err="1">
                <a:solidFill>
                  <a:srgbClr val="92D050"/>
                </a:solidFill>
              </a:rPr>
              <a:t>ul</a:t>
            </a:r>
            <a:r>
              <a:rPr lang="ru-RU" altLang="ru-RU" sz="1800" dirty="0">
                <a:solidFill>
                  <a:srgbClr val="92D050"/>
                </a:solidFill>
              </a:rPr>
              <a:t>&gt;</a:t>
            </a:r>
          </a:p>
          <a:p>
            <a:pPr marL="600075" lvl="2" indent="0">
              <a:spcBef>
                <a:spcPts val="0"/>
              </a:spcBef>
              <a:buNone/>
            </a:pPr>
            <a:r>
              <a:rPr lang="ru-RU" altLang="ru-RU" sz="1800" dirty="0">
                <a:solidFill>
                  <a:srgbClr val="92D050"/>
                </a:solidFill>
              </a:rPr>
              <a:t>    &lt;</a:t>
            </a:r>
            <a:r>
              <a:rPr lang="ru-RU" altLang="ru-RU" sz="1800" dirty="0" err="1">
                <a:solidFill>
                  <a:srgbClr val="92D050"/>
                </a:solidFill>
              </a:rPr>
              <a:t>li</a:t>
            </a:r>
            <a:r>
              <a:rPr lang="ru-RU" altLang="ru-RU" sz="1800" dirty="0">
                <a:solidFill>
                  <a:srgbClr val="92D050"/>
                </a:solidFill>
              </a:rPr>
              <a:t>&gt;Джон&lt;/</a:t>
            </a:r>
            <a:r>
              <a:rPr lang="ru-RU" altLang="ru-RU" sz="1800" dirty="0" err="1">
                <a:solidFill>
                  <a:srgbClr val="92D050"/>
                </a:solidFill>
              </a:rPr>
              <a:t>li</a:t>
            </a:r>
            <a:r>
              <a:rPr lang="ru-RU" altLang="ru-RU" sz="1800" dirty="0">
                <a:solidFill>
                  <a:srgbClr val="92D050"/>
                </a:solidFill>
              </a:rPr>
              <a:t>&gt;</a:t>
            </a:r>
          </a:p>
          <a:p>
            <a:pPr marL="600075" lvl="2" indent="0">
              <a:spcBef>
                <a:spcPts val="0"/>
              </a:spcBef>
              <a:buNone/>
            </a:pPr>
            <a:r>
              <a:rPr lang="ru-RU" altLang="ru-RU" sz="1800" dirty="0">
                <a:solidFill>
                  <a:srgbClr val="92D050"/>
                </a:solidFill>
              </a:rPr>
              <a:t>    &lt;</a:t>
            </a:r>
            <a:r>
              <a:rPr lang="ru-RU" altLang="ru-RU" sz="1800" dirty="0" err="1">
                <a:solidFill>
                  <a:srgbClr val="92D050"/>
                </a:solidFill>
              </a:rPr>
              <a:t>li</a:t>
            </a:r>
            <a:r>
              <a:rPr lang="ru-RU" altLang="ru-RU" sz="1800" dirty="0">
                <a:solidFill>
                  <a:srgbClr val="92D050"/>
                </a:solidFill>
              </a:rPr>
              <a:t>&gt;Пит&lt;/</a:t>
            </a:r>
            <a:r>
              <a:rPr lang="ru-RU" altLang="ru-RU" sz="1800" dirty="0" err="1">
                <a:solidFill>
                  <a:srgbClr val="92D050"/>
                </a:solidFill>
              </a:rPr>
              <a:t>li</a:t>
            </a:r>
            <a:r>
              <a:rPr lang="ru-RU" altLang="ru-RU" sz="1800" dirty="0">
                <a:solidFill>
                  <a:srgbClr val="92D050"/>
                </a:solidFill>
              </a:rPr>
              <a:t>&gt;</a:t>
            </a:r>
          </a:p>
          <a:p>
            <a:pPr marL="600075" lvl="2" indent="0">
              <a:spcBef>
                <a:spcPts val="0"/>
              </a:spcBef>
              <a:buNone/>
            </a:pPr>
            <a:r>
              <a:rPr lang="ru-RU" altLang="ru-RU" sz="1800" dirty="0">
                <a:solidFill>
                  <a:srgbClr val="92D050"/>
                </a:solidFill>
              </a:rPr>
              <a:t>  &lt;/</a:t>
            </a:r>
            <a:r>
              <a:rPr lang="ru-RU" altLang="ru-RU" sz="1800" dirty="0" err="1">
                <a:solidFill>
                  <a:srgbClr val="92D050"/>
                </a:solidFill>
              </a:rPr>
              <a:t>ul</a:t>
            </a:r>
            <a:r>
              <a:rPr lang="ru-RU" altLang="ru-RU" sz="1800" dirty="0">
                <a:solidFill>
                  <a:srgbClr val="92D050"/>
                </a:solidFill>
              </a:rPr>
              <a:t>&gt;</a:t>
            </a:r>
          </a:p>
          <a:p>
            <a:pPr marL="600075" lvl="2" indent="0">
              <a:spcBef>
                <a:spcPts val="0"/>
              </a:spcBef>
              <a:buNone/>
            </a:pPr>
            <a:r>
              <a:rPr lang="ru-RU" altLang="ru-RU" sz="1800" dirty="0">
                <a:solidFill>
                  <a:srgbClr val="92D050"/>
                </a:solidFill>
              </a:rPr>
              <a:t>&lt;/</a:t>
            </a:r>
            <a:r>
              <a:rPr lang="ru-RU" altLang="ru-RU" sz="1800" dirty="0" err="1">
                <a:solidFill>
                  <a:srgbClr val="92D050"/>
                </a:solidFill>
              </a:rPr>
              <a:t>body</a:t>
            </a:r>
            <a:r>
              <a:rPr lang="ru-RU" altLang="ru-RU" sz="1800" dirty="0">
                <a:solidFill>
                  <a:srgbClr val="92D050"/>
                </a:solidFill>
              </a:rPr>
              <a:t>&gt;</a:t>
            </a:r>
          </a:p>
          <a:p>
            <a:pPr marL="600075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800" dirty="0">
                <a:solidFill>
                  <a:srgbClr val="92D050"/>
                </a:solidFill>
              </a:rPr>
              <a:t>&lt;/</a:t>
            </a:r>
            <a:r>
              <a:rPr lang="ru-RU" altLang="ru-RU" sz="1800" dirty="0" err="1">
                <a:solidFill>
                  <a:srgbClr val="92D050"/>
                </a:solidFill>
              </a:rPr>
              <a:t>html</a:t>
            </a:r>
            <a:r>
              <a:rPr lang="ru-RU" altLang="ru-RU" sz="1800" dirty="0">
                <a:solidFill>
                  <a:srgbClr val="92D050"/>
                </a:solidFill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Напишите код, как получить элемент &lt;</a:t>
            </a:r>
            <a:r>
              <a:rPr lang="ru-RU" altLang="ru-RU" sz="1600" dirty="0" err="1">
                <a:solidFill>
                  <a:schemeClr val="tx1"/>
                </a:solidFill>
              </a:rPr>
              <a:t>div</a:t>
            </a:r>
            <a:r>
              <a:rPr lang="ru-RU" altLang="ru-RU" sz="1600" dirty="0">
                <a:solidFill>
                  <a:schemeClr val="tx1"/>
                </a:solidFill>
              </a:rPr>
              <a:t>&gt;, &lt;</a:t>
            </a:r>
            <a:r>
              <a:rPr lang="ru-RU" altLang="ru-RU" sz="1600" dirty="0" err="1">
                <a:solidFill>
                  <a:schemeClr val="tx1"/>
                </a:solidFill>
              </a:rPr>
              <a:t>ul</a:t>
            </a:r>
            <a:r>
              <a:rPr lang="ru-RU" altLang="ru-RU" sz="1600" dirty="0">
                <a:solidFill>
                  <a:schemeClr val="tx1"/>
                </a:solidFill>
              </a:rPr>
              <a:t>&gt;, второй &lt;</a:t>
            </a:r>
            <a:r>
              <a:rPr lang="ru-RU" altLang="ru-RU" sz="1600" dirty="0" err="1">
                <a:solidFill>
                  <a:schemeClr val="tx1"/>
                </a:solidFill>
              </a:rPr>
              <a:t>li</a:t>
            </a:r>
            <a:r>
              <a:rPr lang="ru-RU" altLang="ru-RU" sz="1600" dirty="0">
                <a:solidFill>
                  <a:schemeClr val="tx1"/>
                </a:solidFill>
              </a:rPr>
              <a:t>&gt; (с именем Пит).</a:t>
            </a:r>
            <a:endParaRPr lang="en-US" altLang="ru-RU" sz="16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98867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DOM-</a:t>
            </a:r>
            <a:r>
              <a:rPr lang="ru-RU" altLang="ru-RU" sz="1400" dirty="0">
                <a:solidFill>
                  <a:schemeClr val="tx1"/>
                </a:solidFill>
              </a:rPr>
              <a:t>узел элемента &lt;</a:t>
            </a:r>
            <a:r>
              <a:rPr lang="en-US" altLang="ru-RU" sz="1400" dirty="0">
                <a:solidFill>
                  <a:schemeClr val="tx1"/>
                </a:solidFill>
              </a:rPr>
              <a:t>div&gt;: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firstElementChild</a:t>
            </a:r>
            <a:endParaRPr lang="en-US" altLang="ru-RU" sz="1400" dirty="0">
              <a:solidFill>
                <a:schemeClr val="accent5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>
                <a:solidFill>
                  <a:srgbClr val="FFFF00"/>
                </a:solidFill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</a:rPr>
              <a:t>или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children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[0]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>
                <a:solidFill>
                  <a:srgbClr val="FFFF00"/>
                </a:solidFill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</a:rPr>
              <a:t>или (первый узел пробел, поэтому выбираем второй)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childNodes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[1]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DOM-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узел элемента &lt;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ul&gt;: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lastElementChild</a:t>
            </a:r>
            <a:endParaRPr lang="en-US" altLang="ru-RU" sz="1400" dirty="0">
              <a:solidFill>
                <a:schemeClr val="accent5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>
                <a:solidFill>
                  <a:srgbClr val="FFFF00"/>
                </a:solidFill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</a:rPr>
              <a:t>или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children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[1]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Второй &lt;</a:t>
            </a:r>
            <a:r>
              <a:rPr lang="en-US" altLang="ru-RU" sz="1400" dirty="0">
                <a:solidFill>
                  <a:schemeClr val="tx1"/>
                </a:solidFill>
              </a:rPr>
              <a:t>li&gt; (</a:t>
            </a:r>
            <a:r>
              <a:rPr lang="ru-RU" altLang="ru-RU" sz="1400" dirty="0">
                <a:solidFill>
                  <a:schemeClr val="tx1"/>
                </a:solidFill>
              </a:rPr>
              <a:t>с именем Пит):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// получаем &lt;</a:t>
            </a:r>
            <a:r>
              <a:rPr lang="en-US" altLang="ru-RU" sz="1400" dirty="0">
                <a:solidFill>
                  <a:srgbClr val="FFFF00"/>
                </a:solidFill>
              </a:rPr>
              <a:t>ul&gt;, </a:t>
            </a:r>
            <a:r>
              <a:rPr lang="ru-RU" altLang="ru-RU" sz="1400" dirty="0">
                <a:solidFill>
                  <a:srgbClr val="FFFF00"/>
                </a:solidFill>
              </a:rPr>
              <a:t>и его последнего ребёнка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lastElementChild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lastElementChild</a:t>
            </a:r>
            <a:endParaRPr lang="en-US" altLang="ru-RU" sz="1400" dirty="0">
              <a:solidFill>
                <a:schemeClr val="accent5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08714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2390500"/>
            <a:ext cx="7056784" cy="600970"/>
          </a:xfrm>
        </p:spPr>
        <p:txBody>
          <a:bodyPr anchor="t"/>
          <a:lstStyle/>
          <a:p>
            <a:pPr algn="ctr" fontAlgn="t"/>
            <a:r>
              <a:rPr lang="ru-RU" sz="3200" dirty="0"/>
              <a:t>Поиск и получение элементов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13239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Поиск: </a:t>
            </a:r>
            <a:r>
              <a:rPr lang="en-US" altLang="ru-RU" sz="1400" dirty="0" err="1">
                <a:solidFill>
                  <a:srgbClr val="FFFF00"/>
                </a:solidFill>
              </a:rPr>
              <a:t>getElement</a:t>
            </a:r>
            <a:r>
              <a:rPr lang="en-US" altLang="ru-RU" sz="1400" dirty="0">
                <a:solidFill>
                  <a:srgbClr val="FFFF00"/>
                </a:solidFill>
              </a:rPr>
              <a:t>*, </a:t>
            </a:r>
            <a:r>
              <a:rPr lang="en-US" altLang="ru-RU" sz="1400" dirty="0" err="1">
                <a:solidFill>
                  <a:srgbClr val="FFFF00"/>
                </a:solidFill>
              </a:rPr>
              <a:t>querySelector</a:t>
            </a:r>
            <a:r>
              <a:rPr lang="en-US" altLang="ru-RU" sz="1400" dirty="0">
                <a:solidFill>
                  <a:srgbClr val="FFFF00"/>
                </a:solidFill>
              </a:rPr>
              <a:t>*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Методы поиска элементов: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400" dirty="0" err="1">
                <a:solidFill>
                  <a:srgbClr val="FFFF00"/>
                </a:solidFill>
              </a:rPr>
              <a:t>document.getElementById</a:t>
            </a:r>
            <a:r>
              <a:rPr lang="en-US" sz="1400" dirty="0">
                <a:solidFill>
                  <a:srgbClr val="FFFF00"/>
                </a:solidFill>
              </a:rPr>
              <a:t> </a:t>
            </a:r>
            <a:r>
              <a:rPr lang="ru-RU" sz="1400" dirty="0">
                <a:solidFill>
                  <a:srgbClr val="FFFF00"/>
                </a:solidFill>
              </a:rPr>
              <a:t>или просто </a:t>
            </a:r>
            <a:r>
              <a:rPr lang="en-US" sz="1400" dirty="0">
                <a:solidFill>
                  <a:srgbClr val="FFFF00"/>
                </a:solidFill>
              </a:rPr>
              <a:t>id</a:t>
            </a:r>
            <a:endParaRPr 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у элемента есть атрибут </a:t>
            </a:r>
            <a:r>
              <a:rPr lang="en-US" altLang="ru-RU" sz="1400" dirty="0">
                <a:solidFill>
                  <a:schemeClr val="tx1"/>
                </a:solidFill>
              </a:rPr>
              <a:t>id, </a:t>
            </a:r>
            <a:r>
              <a:rPr lang="ru-RU" altLang="ru-RU" sz="1400" dirty="0">
                <a:solidFill>
                  <a:schemeClr val="tx1"/>
                </a:solidFill>
              </a:rPr>
              <a:t>то мы можем получить его вызовом </a:t>
            </a:r>
            <a:r>
              <a:rPr lang="en-US" altLang="ru-RU" sz="1400" dirty="0" err="1">
                <a:solidFill>
                  <a:schemeClr val="tx1"/>
                </a:solidFill>
              </a:rPr>
              <a:t>document.getElementById</a:t>
            </a:r>
            <a:r>
              <a:rPr lang="en-US" altLang="ru-RU" sz="1400" dirty="0">
                <a:solidFill>
                  <a:schemeClr val="tx1"/>
                </a:solidFill>
              </a:rPr>
              <a:t>(id), </a:t>
            </a:r>
            <a:r>
              <a:rPr lang="ru-RU" altLang="ru-RU" sz="1400" dirty="0">
                <a:solidFill>
                  <a:schemeClr val="tx1"/>
                </a:solidFill>
              </a:rPr>
              <a:t>где бы он ни находился.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div id="</a:t>
            </a:r>
            <a:r>
              <a:rPr lang="en-US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elem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"&gt;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  &lt;div </a:t>
            </a:r>
            <a:r>
              <a:rPr lang="en-US" altLang="ru-RU" sz="1400" dirty="0">
                <a:solidFill>
                  <a:srgbClr val="FF0066"/>
                </a:solidFill>
                <a:latin typeface="Consolas" panose="020B0609020204030204" pitchFamily="49" charset="0"/>
              </a:rPr>
              <a:t>id="</a:t>
            </a:r>
            <a:r>
              <a:rPr lang="en-US" altLang="ru-RU" sz="1400" dirty="0" err="1">
                <a:solidFill>
                  <a:srgbClr val="FF0066"/>
                </a:solidFill>
                <a:latin typeface="Consolas" panose="020B0609020204030204" pitchFamily="49" charset="0"/>
              </a:rPr>
              <a:t>elem</a:t>
            </a:r>
            <a:r>
              <a:rPr lang="en-US" altLang="ru-RU" sz="1400" dirty="0">
                <a:solidFill>
                  <a:srgbClr val="FF0066"/>
                </a:solidFill>
                <a:latin typeface="Consolas" panose="020B0609020204030204" pitchFamily="49" charset="0"/>
              </a:rPr>
              <a:t>-content"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&gt;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Element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&lt;/div&gt;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&lt;/div&gt;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&lt;script&gt;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 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получить элемент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elem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getElementById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elem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 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сделать его фон красным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elem.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style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.background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'red'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&lt;/script&gt;</a:t>
            </a:r>
            <a:endParaRPr lang="ru-RU" altLang="ru-RU" sz="14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Не используйте такие глобальные переменные для доступа к элементам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rgbClr val="92D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962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Значение </a:t>
            </a:r>
            <a:r>
              <a:rPr lang="ru-RU" altLang="ru-RU" sz="1400" b="1" dirty="0" err="1">
                <a:solidFill>
                  <a:srgbClr val="FFFF00"/>
                </a:solidFill>
              </a:rPr>
              <a:t>id</a:t>
            </a:r>
            <a:r>
              <a:rPr lang="ru-RU" altLang="ru-RU" sz="1400" b="1" dirty="0">
                <a:solidFill>
                  <a:srgbClr val="FFFF00"/>
                </a:solidFill>
              </a:rPr>
              <a:t> должно быть уникальным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Значение </a:t>
            </a:r>
            <a:r>
              <a:rPr lang="ru-RU" altLang="ru-RU" sz="1400" dirty="0" err="1">
                <a:solidFill>
                  <a:schemeClr val="tx1"/>
                </a:solidFill>
              </a:rPr>
              <a:t>id</a:t>
            </a:r>
            <a:r>
              <a:rPr lang="ru-RU" altLang="ru-RU" sz="1400" dirty="0">
                <a:solidFill>
                  <a:schemeClr val="tx1"/>
                </a:solidFill>
              </a:rPr>
              <a:t> должно быть уникальным. В документе может быть только один элемент с данным </a:t>
            </a:r>
            <a:r>
              <a:rPr lang="ru-RU" altLang="ru-RU" sz="1400" dirty="0" err="1">
                <a:solidFill>
                  <a:schemeClr val="tx1"/>
                </a:solidFill>
              </a:rPr>
              <a:t>id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  <a:r>
              <a:rPr lang="en-US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Если в документе есть несколько элементов с одинаковым значением </a:t>
            </a:r>
            <a:r>
              <a:rPr lang="ru-RU" altLang="ru-RU" sz="1400" dirty="0" err="1">
                <a:solidFill>
                  <a:schemeClr val="tx1"/>
                </a:solidFill>
              </a:rPr>
              <a:t>id</a:t>
            </a:r>
            <a:r>
              <a:rPr lang="ru-RU" altLang="ru-RU" sz="1400" dirty="0">
                <a:solidFill>
                  <a:schemeClr val="tx1"/>
                </a:solidFill>
              </a:rPr>
              <a:t>, то поведение методов поиска непредсказуемо. Браузер может вернуть любой из них случайным образом. 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FFFF00"/>
                </a:solidFill>
              </a:rPr>
              <a:t>querySelectorAll</a:t>
            </a:r>
            <a:endParaRPr lang="en-US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Самый универсальный метод поиска – это </a:t>
            </a:r>
            <a:r>
              <a:rPr lang="ru-RU" altLang="ru-RU" sz="1400" dirty="0" err="1">
                <a:solidFill>
                  <a:schemeClr val="tx1"/>
                </a:solidFill>
              </a:rPr>
              <a:t>elem.querySelectorAll</a:t>
            </a:r>
            <a:r>
              <a:rPr lang="ru-RU" altLang="ru-RU" sz="1400" dirty="0">
                <a:solidFill>
                  <a:schemeClr val="tx1"/>
                </a:solidFill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</a:rPr>
              <a:t>css</a:t>
            </a:r>
            <a:r>
              <a:rPr lang="ru-RU" altLang="ru-RU" sz="1400" dirty="0">
                <a:solidFill>
                  <a:schemeClr val="tx1"/>
                </a:solidFill>
              </a:rPr>
              <a:t>), он возвращает все элементы внутри </a:t>
            </a:r>
            <a:r>
              <a:rPr lang="ru-RU" altLang="ru-RU" sz="1400" dirty="0" err="1">
                <a:solidFill>
                  <a:schemeClr val="tx1"/>
                </a:solidFill>
              </a:rPr>
              <a:t>elem</a:t>
            </a:r>
            <a:r>
              <a:rPr lang="ru-RU" altLang="ru-RU" sz="1400" dirty="0">
                <a:solidFill>
                  <a:schemeClr val="tx1"/>
                </a:solidFill>
              </a:rPr>
              <a:t>, удовлетворяющие данному CSS-селектору.</a:t>
            </a:r>
            <a:r>
              <a:rPr lang="en-US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Следующий запрос получает все элементы &lt;</a:t>
            </a:r>
            <a:r>
              <a:rPr lang="ru-RU" altLang="ru-RU" sz="1400" dirty="0" err="1">
                <a:solidFill>
                  <a:schemeClr val="tx1"/>
                </a:solidFill>
              </a:rPr>
              <a:t>li</a:t>
            </a:r>
            <a:r>
              <a:rPr lang="ru-RU" altLang="ru-RU" sz="1400" dirty="0">
                <a:solidFill>
                  <a:schemeClr val="tx1"/>
                </a:solidFill>
              </a:rPr>
              <a:t>&gt;, которые являются последними потомками в &lt;</a:t>
            </a:r>
            <a:r>
              <a:rPr lang="ru-RU" altLang="ru-RU" sz="1400" dirty="0" err="1">
                <a:solidFill>
                  <a:schemeClr val="tx1"/>
                </a:solidFill>
              </a:rPr>
              <a:t>ul</a:t>
            </a:r>
            <a:r>
              <a:rPr lang="ru-RU" altLang="ru-RU" sz="1400" dirty="0">
                <a:solidFill>
                  <a:schemeClr val="tx1"/>
                </a:solidFill>
              </a:rPr>
              <a:t>&gt;: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D51F1E0-5588-4506-8A0B-CA6394F7F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"/>
                    </a14:imgEffect>
                    <a14:imgEffect>
                      <a14:brightnessContrast contras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931790"/>
            <a:ext cx="4055544" cy="197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03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FFFF00"/>
                </a:solidFill>
              </a:rPr>
              <a:t>querySelector</a:t>
            </a:r>
            <a:endParaRPr lang="en-US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Метод </a:t>
            </a:r>
            <a:r>
              <a:rPr lang="ru-RU" altLang="ru-RU" sz="1400" dirty="0" err="1">
                <a:solidFill>
                  <a:srgbClr val="FFFF00"/>
                </a:solidFill>
              </a:rPr>
              <a:t>elem.querySelector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css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возвращает первый элемент, соответствующий данному CSS-селектору.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Иначе говоря, результат такой же, как при вызове </a:t>
            </a:r>
            <a:r>
              <a:rPr lang="ru-RU" altLang="ru-RU" sz="1400" dirty="0" err="1">
                <a:solidFill>
                  <a:srgbClr val="FFFF00"/>
                </a:solidFill>
              </a:rPr>
              <a:t>elem.querySelectorAll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css</a:t>
            </a:r>
            <a:r>
              <a:rPr lang="ru-RU" altLang="ru-RU" sz="1400" dirty="0">
                <a:solidFill>
                  <a:srgbClr val="FFFF00"/>
                </a:solidFill>
              </a:rPr>
              <a:t>)[0]</a:t>
            </a:r>
            <a:r>
              <a:rPr lang="ru-RU" altLang="ru-RU" sz="1400" dirty="0">
                <a:solidFill>
                  <a:schemeClr val="tx1"/>
                </a:solidFill>
              </a:rPr>
              <a:t>, но он сначала найдёт все элементы, а потом возьмёт первый, в то время как </a:t>
            </a:r>
            <a:r>
              <a:rPr lang="ru-RU" altLang="ru-RU" sz="1400" dirty="0" err="1">
                <a:solidFill>
                  <a:srgbClr val="FFFF00"/>
                </a:solidFill>
              </a:rPr>
              <a:t>elem.querySelector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найдёт только первый и остановится. Это быстрее, кроме того, его короче писать.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matches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Предыдущие методы искали по DOM.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Метод </a:t>
            </a:r>
            <a:r>
              <a:rPr lang="ru-RU" altLang="ru-RU" sz="1400" dirty="0" err="1">
                <a:solidFill>
                  <a:srgbClr val="FFFF00"/>
                </a:solidFill>
              </a:rPr>
              <a:t>elem.matches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css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ничего не ищет, а проверяет, удовлетворяет ли </a:t>
            </a:r>
            <a:r>
              <a:rPr lang="ru-RU" altLang="ru-RU" sz="1400" dirty="0" err="1">
                <a:solidFill>
                  <a:schemeClr val="tx1"/>
                </a:solidFill>
              </a:rPr>
              <a:t>elem</a:t>
            </a:r>
            <a:r>
              <a:rPr lang="ru-RU" altLang="ru-RU" sz="1400" dirty="0">
                <a:solidFill>
                  <a:schemeClr val="tx1"/>
                </a:solidFill>
              </a:rPr>
              <a:t> CSS-селектору, и возвращает </a:t>
            </a:r>
            <a:r>
              <a:rPr lang="ru-RU" altLang="ru-RU" sz="1400" dirty="0" err="1">
                <a:solidFill>
                  <a:schemeClr val="tx1"/>
                </a:solidFill>
              </a:rPr>
              <a:t>true</a:t>
            </a:r>
            <a:r>
              <a:rPr lang="ru-RU" altLang="ru-RU" sz="1400" dirty="0">
                <a:solidFill>
                  <a:schemeClr val="tx1"/>
                </a:solidFill>
              </a:rPr>
              <a:t> или </a:t>
            </a:r>
            <a:r>
              <a:rPr lang="ru-RU" altLang="ru-RU" sz="1400" dirty="0" err="1">
                <a:solidFill>
                  <a:schemeClr val="tx1"/>
                </a:solidFill>
              </a:rPr>
              <a:t>false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Этот метод удобен, когда мы перебираем элементы (например, в массиве или в чём-то подобном) и пытаемся выбрать те из них, которые нас интересуют.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pt-BR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&lt;a href="http://example.com/file.zip"&gt;...&lt;/a&gt;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pt-BR" altLang="ru-RU" sz="1400" dirty="0">
                <a:solidFill>
                  <a:srgbClr val="92D050"/>
                </a:solidFill>
                <a:latin typeface="Consolas" panose="020B0609020204030204" pitchFamily="49" charset="0"/>
              </a:rPr>
              <a:t>&lt;a href="http://ya.ru"&gt;...&lt;/a&gt;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elem.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matches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'a[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href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$="zip"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]'))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alert(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Ссылка на архив: "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elem.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href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679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closest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Предки элемента – родитель, родитель родителя, его родитель и так далее. Вместе они образуют цепочку иерархии от элемента до вершины.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Метод </a:t>
            </a:r>
            <a:r>
              <a:rPr lang="ru-RU" altLang="ru-RU" sz="1400" dirty="0" err="1">
                <a:solidFill>
                  <a:srgbClr val="FFFF00"/>
                </a:solidFill>
              </a:rPr>
              <a:t>elem.closest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css</a:t>
            </a:r>
            <a:r>
              <a:rPr lang="ru-RU" altLang="ru-RU" sz="1400" dirty="0">
                <a:solidFill>
                  <a:srgbClr val="FFFF00"/>
                </a:solidFill>
              </a:rPr>
              <a:t>) </a:t>
            </a:r>
            <a:r>
              <a:rPr lang="ru-RU" altLang="ru-RU" sz="1400" dirty="0">
                <a:solidFill>
                  <a:schemeClr val="tx1"/>
                </a:solidFill>
              </a:rPr>
              <a:t>ищет ближайшего предка, который соответствует CSS-селектору. Сам элемент также включается в поиск.</a:t>
            </a:r>
            <a:r>
              <a:rPr lang="en-US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Другими словами, метод </a:t>
            </a:r>
            <a:r>
              <a:rPr lang="ru-RU" altLang="ru-RU" sz="1400" dirty="0" err="1">
                <a:solidFill>
                  <a:srgbClr val="FFFF00"/>
                </a:solidFill>
              </a:rPr>
              <a:t>closest</a:t>
            </a:r>
            <a:r>
              <a:rPr lang="ru-RU" altLang="ru-RU" sz="1400" dirty="0">
                <a:solidFill>
                  <a:schemeClr val="tx1"/>
                </a:solidFill>
              </a:rPr>
              <a:t> поднимается вверх от элемента и проверяет каждого из родителей. Если он соответствует селектору, поиск прекращается. Метод возвращает либо предка, либо </a:t>
            </a:r>
            <a:r>
              <a:rPr lang="ru-RU" altLang="ru-RU" sz="1400" dirty="0" err="1">
                <a:solidFill>
                  <a:srgbClr val="FFFF00"/>
                </a:solidFill>
              </a:rPr>
              <a:t>null</a:t>
            </a:r>
            <a:r>
              <a:rPr lang="ru-RU" altLang="ru-RU" sz="1400" dirty="0">
                <a:solidFill>
                  <a:schemeClr val="tx1"/>
                </a:solidFill>
              </a:rPr>
              <a:t>, если такой элемент не найден.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EFD7FD-85B3-4F7D-A5F9-C2EB14EDD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193" y="2570758"/>
            <a:ext cx="4240039" cy="22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00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 err="1">
                <a:solidFill>
                  <a:srgbClr val="FFFF00"/>
                </a:solidFill>
              </a:rPr>
              <a:t>getElementsBy</a:t>
            </a:r>
            <a:r>
              <a:rPr lang="en-US" altLang="ru-RU" sz="1500" dirty="0">
                <a:solidFill>
                  <a:srgbClr val="FFFF00"/>
                </a:solidFill>
              </a:rPr>
              <a:t>*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Существуют также другие методы поиска элементов по тегу, классу и так далее.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Они скорее исторические, так как </a:t>
            </a:r>
            <a:r>
              <a:rPr lang="ru-RU" altLang="ru-RU" sz="1500" dirty="0" err="1">
                <a:solidFill>
                  <a:srgbClr val="FFFF00"/>
                </a:solidFill>
              </a:rPr>
              <a:t>querySelector</a:t>
            </a:r>
            <a:r>
              <a:rPr lang="ru-RU" altLang="ru-RU" sz="1500" dirty="0">
                <a:solidFill>
                  <a:schemeClr val="tx1"/>
                </a:solidFill>
              </a:rPr>
              <a:t> более чем эффективен.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elem.getElementsByTagName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tag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ищет элементы с данным тегом и возвращает их коллекцию. Передав "*" вместо тега, можно получить всех потомков.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elem.getElementsByClassName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className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возвращает элементы, которые имеют данный CSS-класс.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FFFF00"/>
                </a:solidFill>
              </a:rPr>
              <a:t>document.getElementsByName</a:t>
            </a:r>
            <a:r>
              <a:rPr lang="ru-RU" altLang="ru-RU" sz="1500" dirty="0">
                <a:solidFill>
                  <a:srgbClr val="FFFF00"/>
                </a:solidFill>
              </a:rPr>
              <a:t>(</a:t>
            </a:r>
            <a:r>
              <a:rPr lang="ru-RU" altLang="ru-RU" sz="1500" dirty="0" err="1">
                <a:solidFill>
                  <a:srgbClr val="FFFF00"/>
                </a:solidFill>
              </a:rPr>
              <a:t>name</a:t>
            </a:r>
            <a:r>
              <a:rPr lang="ru-RU" altLang="ru-RU" sz="1500" dirty="0">
                <a:solidFill>
                  <a:srgbClr val="FFFF00"/>
                </a:solidFill>
              </a:rPr>
              <a:t>) </a:t>
            </a:r>
            <a:r>
              <a:rPr lang="ru-RU" altLang="ru-RU" sz="1500" dirty="0">
                <a:solidFill>
                  <a:schemeClr val="tx1"/>
                </a:solidFill>
              </a:rPr>
              <a:t>возвращает элементы с заданным атрибутом </a:t>
            </a:r>
            <a:r>
              <a:rPr lang="ru-RU" altLang="ru-RU" sz="1500" dirty="0" err="1">
                <a:solidFill>
                  <a:schemeClr val="tx1"/>
                </a:solidFill>
              </a:rPr>
              <a:t>name</a:t>
            </a:r>
            <a:r>
              <a:rPr lang="ru-RU" altLang="ru-RU" sz="1500" dirty="0">
                <a:solidFill>
                  <a:schemeClr val="tx1"/>
                </a:solidFill>
              </a:rPr>
              <a:t>. Очень редко используется.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получить все элементы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в документе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divs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getElementsByTagName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70555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Живые коллекции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Все методы </a:t>
            </a:r>
            <a:r>
              <a:rPr lang="ru-RU" altLang="ru-RU" sz="1500" dirty="0">
                <a:solidFill>
                  <a:srgbClr val="FFFF00"/>
                </a:solidFill>
              </a:rPr>
              <a:t>"</a:t>
            </a:r>
            <a:r>
              <a:rPr lang="ru-RU" altLang="ru-RU" sz="1500" dirty="0" err="1">
                <a:solidFill>
                  <a:srgbClr val="FFFF00"/>
                </a:solidFill>
              </a:rPr>
              <a:t>getElementsBy</a:t>
            </a:r>
            <a:r>
              <a:rPr lang="ru-RU" altLang="ru-RU" sz="1500" dirty="0">
                <a:solidFill>
                  <a:srgbClr val="FFFF00"/>
                </a:solidFill>
              </a:rPr>
              <a:t>*" </a:t>
            </a:r>
            <a:r>
              <a:rPr lang="ru-RU" altLang="ru-RU" sz="1500" dirty="0">
                <a:solidFill>
                  <a:schemeClr val="tx1"/>
                </a:solidFill>
              </a:rPr>
              <a:t>возвращают живую коллекцию. Такие коллекции всегда отражают текущее состояние документа и автоматически обновляются при его изменении.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 приведённом ниже примере есть два скрипта.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Первый создаёт ссылку на коллекцию &lt;</a:t>
            </a:r>
            <a:r>
              <a:rPr lang="ru-RU" altLang="ru-RU" sz="1500" dirty="0" err="1">
                <a:solidFill>
                  <a:schemeClr val="tx1"/>
                </a:solidFill>
              </a:rPr>
              <a:t>div</a:t>
            </a:r>
            <a:r>
              <a:rPr lang="ru-RU" altLang="ru-RU" sz="1500" dirty="0">
                <a:solidFill>
                  <a:schemeClr val="tx1"/>
                </a:solidFill>
              </a:rPr>
              <a:t>&gt;. На этот момент её длина равна 1.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Второй скрипт запускается после того, как браузер встречает ещё один &lt;</a:t>
            </a:r>
            <a:r>
              <a:rPr lang="ru-RU" altLang="ru-RU" sz="1500" dirty="0" err="1">
                <a:solidFill>
                  <a:schemeClr val="tx1"/>
                </a:solidFill>
              </a:rPr>
              <a:t>div</a:t>
            </a:r>
            <a:r>
              <a:rPr lang="ru-RU" altLang="ru-RU" sz="1500" dirty="0">
                <a:solidFill>
                  <a:schemeClr val="tx1"/>
                </a:solidFill>
              </a:rPr>
              <a:t>&gt;, теперь её длина – 2.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&gt;First div&lt;/</a:t>
            </a:r>
            <a:r>
              <a:rPr lang="en-US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divs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getElementsByTagName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('div');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divs.</a:t>
            </a:r>
            <a:r>
              <a:rPr lang="en-US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1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&gt;Second div&lt;/</a:t>
            </a:r>
            <a:r>
              <a:rPr lang="en-US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divs.</a:t>
            </a:r>
            <a:r>
              <a:rPr lang="en-US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2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842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Напротив, </a:t>
            </a:r>
            <a:r>
              <a:rPr lang="ru-RU" altLang="ru-RU" sz="1400" dirty="0" err="1">
                <a:solidFill>
                  <a:srgbClr val="FFFF00"/>
                </a:solidFill>
              </a:rPr>
              <a:t>querySelectorAll</a:t>
            </a:r>
            <a:r>
              <a:rPr lang="ru-RU" altLang="ru-RU" sz="1400" dirty="0">
                <a:solidFill>
                  <a:srgbClr val="FFFF00"/>
                </a:solidFill>
              </a:rPr>
              <a:t> </a:t>
            </a:r>
            <a:r>
              <a:rPr lang="ru-RU" altLang="ru-RU" sz="1400" dirty="0">
                <a:solidFill>
                  <a:srgbClr val="E2E3E7"/>
                </a:solidFill>
              </a:rPr>
              <a:t>возвращает </a:t>
            </a:r>
            <a:r>
              <a:rPr lang="ru-RU" altLang="ru-RU" sz="1400" i="1" dirty="0">
                <a:solidFill>
                  <a:srgbClr val="FFFF00"/>
                </a:solidFill>
              </a:rPr>
              <a:t>статическую</a:t>
            </a:r>
            <a:r>
              <a:rPr lang="ru-RU" altLang="ru-RU" sz="1400" dirty="0">
                <a:solidFill>
                  <a:srgbClr val="E2E3E7"/>
                </a:solidFill>
              </a:rPr>
              <a:t> коллекцию. Это похоже на фиксированный массив элементов.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мы будем использовать его в примере выше, то оба скрипта вернут длину коллекции, равную 1: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First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divs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querySelectorAll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divs.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Second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divs.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Теперь легко видно разницу. Длина статической коллекции не изменилась после появления нового </a:t>
            </a:r>
            <a:r>
              <a:rPr lang="ru-RU" altLang="ru-RU" sz="1400" dirty="0" err="1">
                <a:solidFill>
                  <a:schemeClr val="tx1"/>
                </a:solidFill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</a:rPr>
              <a:t> в документе.</a:t>
            </a:r>
          </a:p>
        </p:txBody>
      </p:sp>
    </p:spTree>
    <p:extLst>
      <p:ext uri="{BB962C8B-B14F-4D97-AF65-F5344CB8AC3E}">
        <p14:creationId xmlns:p14="http://schemas.microsoft.com/office/powerpoint/2010/main" val="572323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Напротив, </a:t>
            </a:r>
            <a:r>
              <a:rPr lang="ru-RU" altLang="ru-RU" sz="1400" dirty="0" err="1">
                <a:solidFill>
                  <a:srgbClr val="FFFF00"/>
                </a:solidFill>
              </a:rPr>
              <a:t>querySelectorAll</a:t>
            </a:r>
            <a:r>
              <a:rPr lang="ru-RU" altLang="ru-RU" sz="1400" dirty="0">
                <a:solidFill>
                  <a:srgbClr val="FFFF00"/>
                </a:solidFill>
              </a:rPr>
              <a:t> </a:t>
            </a:r>
            <a:r>
              <a:rPr lang="ru-RU" altLang="ru-RU" sz="1400" dirty="0">
                <a:solidFill>
                  <a:srgbClr val="E2E3E7"/>
                </a:solidFill>
              </a:rPr>
              <a:t>возвращает </a:t>
            </a:r>
            <a:r>
              <a:rPr lang="ru-RU" altLang="ru-RU" sz="1400" i="1" dirty="0">
                <a:solidFill>
                  <a:srgbClr val="FFFF00"/>
                </a:solidFill>
              </a:rPr>
              <a:t>статическую</a:t>
            </a:r>
            <a:r>
              <a:rPr lang="ru-RU" altLang="ru-RU" sz="1400" dirty="0">
                <a:solidFill>
                  <a:srgbClr val="E2E3E7"/>
                </a:solidFill>
              </a:rPr>
              <a:t> коллекцию. Это похоже на фиксированный массив элементов.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мы будем использовать его в примере выше, то оба скрипта вернут длину коллекции, равную 1: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First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divs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querySelectorAll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divs.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Second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divs.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Теперь легко видно разницу. Длина статической коллекции не изменилась после появления нового </a:t>
            </a:r>
            <a:r>
              <a:rPr lang="ru-RU" altLang="ru-RU" sz="1400" dirty="0" err="1">
                <a:solidFill>
                  <a:schemeClr val="tx1"/>
                </a:solidFill>
              </a:rPr>
              <a:t>div</a:t>
            </a:r>
            <a:r>
              <a:rPr lang="ru-RU" altLang="ru-RU" sz="1400" dirty="0">
                <a:solidFill>
                  <a:schemeClr val="tx1"/>
                </a:solidFill>
              </a:rPr>
              <a:t> в документе.</a:t>
            </a:r>
          </a:p>
        </p:txBody>
      </p:sp>
    </p:spTree>
    <p:extLst>
      <p:ext uri="{BB962C8B-B14F-4D97-AF65-F5344CB8AC3E}">
        <p14:creationId xmlns:p14="http://schemas.microsoft.com/office/powerpoint/2010/main" val="3899922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Итого: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Есть 6 основных методов поиска элементов в DOM: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Наиболее часто используемыми в настоящее время: </a:t>
            </a:r>
            <a:r>
              <a:rPr lang="ru-RU" sz="1400" dirty="0" err="1">
                <a:solidFill>
                  <a:schemeClr val="tx1"/>
                </a:solidFill>
              </a:rPr>
              <a:t>querySelector</a:t>
            </a:r>
            <a:r>
              <a:rPr lang="ru-RU" sz="1400" dirty="0">
                <a:solidFill>
                  <a:schemeClr val="tx1"/>
                </a:solidFill>
              </a:rPr>
              <a:t> и </a:t>
            </a:r>
            <a:r>
              <a:rPr lang="ru-RU" sz="1400" dirty="0" err="1">
                <a:solidFill>
                  <a:schemeClr val="tx1"/>
                </a:solidFill>
              </a:rPr>
              <a:t>querySelectorAll</a:t>
            </a:r>
            <a:endParaRPr 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Кроме того: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 err="1">
                <a:solidFill>
                  <a:srgbClr val="FFFF00"/>
                </a:solidFill>
              </a:rPr>
              <a:t>elem.matches</a:t>
            </a:r>
            <a:r>
              <a:rPr lang="ru-RU" sz="1400" dirty="0">
                <a:solidFill>
                  <a:srgbClr val="FFFF00"/>
                </a:solidFill>
              </a:rPr>
              <a:t>(</a:t>
            </a:r>
            <a:r>
              <a:rPr lang="ru-RU" sz="1400" dirty="0" err="1">
                <a:solidFill>
                  <a:srgbClr val="FFFF00"/>
                </a:solidFill>
              </a:rPr>
              <a:t>css</a:t>
            </a:r>
            <a:r>
              <a:rPr lang="ru-RU" sz="1400" dirty="0">
                <a:solidFill>
                  <a:srgbClr val="FFFF00"/>
                </a:solidFill>
              </a:rPr>
              <a:t>), </a:t>
            </a:r>
            <a:r>
              <a:rPr lang="ru-RU" sz="1400" dirty="0">
                <a:solidFill>
                  <a:schemeClr val="tx1"/>
                </a:solidFill>
              </a:rPr>
              <a:t>который проверяет, удовлетворяет ли элемент CSS-селектору.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 err="1">
                <a:solidFill>
                  <a:schemeClr val="tx1"/>
                </a:solidFill>
              </a:rPr>
              <a:t>ele</a:t>
            </a:r>
            <a:r>
              <a:rPr lang="ru-RU" sz="1400" dirty="0" err="1">
                <a:solidFill>
                  <a:srgbClr val="FFFF00"/>
                </a:solidFill>
              </a:rPr>
              <a:t>m.closest</a:t>
            </a:r>
            <a:r>
              <a:rPr lang="ru-RU" sz="1400" dirty="0">
                <a:solidFill>
                  <a:srgbClr val="FFFF00"/>
                </a:solidFill>
              </a:rPr>
              <a:t>(</a:t>
            </a:r>
            <a:r>
              <a:rPr lang="ru-RU" sz="1400" dirty="0" err="1">
                <a:solidFill>
                  <a:srgbClr val="FFFF00"/>
                </a:solidFill>
              </a:rPr>
              <a:t>css</a:t>
            </a:r>
            <a:r>
              <a:rPr lang="ru-RU" sz="1400" dirty="0">
                <a:solidFill>
                  <a:schemeClr val="tx1"/>
                </a:solidFill>
              </a:rPr>
              <a:t>) ищет ближайшего по иерархии предка, соответствующему данному CSS-селектору. </a:t>
            </a:r>
            <a:endParaRPr lang="ru-RU" altLang="ru-RU" sz="1400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E0CE00-CBFD-479D-BAC5-88217521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6000"/>
                    </a14:imgEffect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298864"/>
            <a:ext cx="6896506" cy="184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0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Поиск и получение элементов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104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ru-RU" sz="1600" dirty="0"/>
              <a:t>Найти все кнопки на странице и изменить их текст на "Нажми меня".</a:t>
            </a:r>
            <a:endParaRPr lang="en-US" sz="16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ru-RU" sz="1600" dirty="0"/>
              <a:t>Найти первый элемент с классом "</a:t>
            </a:r>
            <a:r>
              <a:rPr lang="ru-RU" sz="1600" dirty="0" err="1"/>
              <a:t>container</a:t>
            </a:r>
            <a:r>
              <a:rPr lang="ru-RU" sz="1600" dirty="0"/>
              <a:t>" и добавить ему класс "</a:t>
            </a:r>
            <a:r>
              <a:rPr lang="ru-RU" sz="1600" dirty="0" err="1"/>
              <a:t>active</a:t>
            </a:r>
            <a:r>
              <a:rPr lang="ru-RU" sz="1600" dirty="0"/>
              <a:t>".</a:t>
            </a:r>
            <a:endParaRPr lang="en-US" sz="16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3"/>
            </a:pPr>
            <a:r>
              <a:rPr lang="ru-RU" sz="1600" dirty="0"/>
              <a:t>Найти всех потомков элемента с идентификатором "</a:t>
            </a:r>
            <a:r>
              <a:rPr lang="ru-RU" sz="1600" dirty="0" err="1"/>
              <a:t>parent</a:t>
            </a:r>
            <a:r>
              <a:rPr lang="ru-RU" sz="1600" dirty="0"/>
              <a:t>" и вывести их количество в консоль.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3"/>
            </a:pPr>
            <a:r>
              <a:rPr lang="ru-RU" sz="1500" dirty="0"/>
              <a:t>Найти всех соседних элементов с классом "</a:t>
            </a:r>
            <a:r>
              <a:rPr lang="ru-RU" sz="1500" dirty="0" err="1"/>
              <a:t>sibling</a:t>
            </a:r>
            <a:r>
              <a:rPr lang="ru-RU" sz="1500" dirty="0"/>
              <a:t>" для элемента с идентификатором "</a:t>
            </a:r>
            <a:r>
              <a:rPr lang="ru-RU" sz="1500" dirty="0" err="1"/>
              <a:t>target</a:t>
            </a:r>
            <a:r>
              <a:rPr lang="ru-RU" sz="1500" dirty="0"/>
              <a:t>" и вывести их в консоль.</a:t>
            </a:r>
            <a:endParaRPr lang="en-US" sz="15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01453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9680</TotalTime>
  <Words>2186</Words>
  <Application>Microsoft Office PowerPoint</Application>
  <PresentationFormat>Экран (16:9)</PresentationFormat>
  <Paragraphs>330</Paragraphs>
  <Slides>32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1" baseType="lpstr">
      <vt:lpstr>Arial</vt:lpstr>
      <vt:lpstr>BlinkMacSystemFont</vt:lpstr>
      <vt:lpstr>Calibri</vt:lpstr>
      <vt:lpstr>Consolas</vt:lpstr>
      <vt:lpstr>Trebuchet MS</vt:lpstr>
      <vt:lpstr>var(--monaco-monospace-font)</vt:lpstr>
      <vt:lpstr>Wingdings</vt:lpstr>
      <vt:lpstr>Wingdings 3</vt:lpstr>
      <vt:lpstr>Аспект</vt:lpstr>
      <vt:lpstr>Объектная модель браузера (BOM) и документа (DOM). Поиск и получение элементов    </vt:lpstr>
      <vt:lpstr>Массивы </vt:lpstr>
      <vt:lpstr>Объектная модель браузера (BOM) и документа (DOM).     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Объектная модель браузера (BOM) и документа (DOM)</vt:lpstr>
      <vt:lpstr>Наши любимые задачки </vt:lpstr>
      <vt:lpstr>Наши любимые задачки </vt:lpstr>
      <vt:lpstr>Поиск и получение элементов    </vt:lpstr>
      <vt:lpstr>Поиск и получение элементов</vt:lpstr>
      <vt:lpstr>Поиск и получение элементов</vt:lpstr>
      <vt:lpstr>Поиск и получение элементов</vt:lpstr>
      <vt:lpstr>Поиск и получение элементов</vt:lpstr>
      <vt:lpstr>Поиск и получение элементов</vt:lpstr>
      <vt:lpstr>Поиск и получение элементов</vt:lpstr>
      <vt:lpstr>Поиск и получение элементов</vt:lpstr>
      <vt:lpstr>Поиск и получение элементов</vt:lpstr>
      <vt:lpstr>Поиск и получение элементов</vt:lpstr>
      <vt:lpstr>Поиск и получение элементов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JavaScript</dc:title>
  <dc:creator>БушмелеваЕА</dc:creator>
  <cp:lastModifiedBy>Mikhail Matveichuk</cp:lastModifiedBy>
  <cp:revision>414</cp:revision>
  <dcterms:created xsi:type="dcterms:W3CDTF">2021-11-26T04:54:28Z</dcterms:created>
  <dcterms:modified xsi:type="dcterms:W3CDTF">2024-12-16T15:22:37Z</dcterms:modified>
</cp:coreProperties>
</file>